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2 opens the first four pieces of the harness: the model, the context, the tools and the skills. These are the pieces the model sees; Session 3 builds the loop and the checks around them. Class question to open: what did the loop in notebook 01 put into the model's context that the bare prompt did not?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40 minutes of theory, one piece at a time, each with its plain-words line and the published rules behind it. Class question: which of the four do you think costs the most tokens in a long task?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contract, not the vendor. A model takes the system prompt, the messages so far and the tool schemas, and returns one message: text, or a request to call a tool. That is all a harness needs to know. On the Claude API the contract is one call, client.messages.create, and the response carries content, stop_reason and usage. The three plugs are the three models notebook 02 reads from the Models API: two with a million-token window, one smaller and cheaper that rejects the effort parameter. Class question: which of the three inputs would you expect to grow the most during a long task?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tiers are qualitative on purpose: prices and speeds change every quarter, the shape of the decision does not. The research system is the canonical example: the expensive model plans and synthesizes, cheaper models do the parallel legwork. Routing is the workflow pattern that makes this automatic: a small model labels the input, the harness picks the path. This module routes by role: claude-opus-5 for main agents, claude-sonnet-5 for workers, judges, routers and planners. Class question: which steps of notebook 01's loop would you hand to the cheapest tier?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the model sees competes for the same window, and attention gets worse as it fills. Anthropic's post names three techniques and we build all three in this module: compaction today, notes today, sub-agents in Session 4. Class question: in notebook 01's loop, which segment of this window was the largest?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findings and one rule. Findings: a short, human-written file helps a little; a long, generated one hurts, because it buries the three rules that matter under fifty that do not. Rule: when everything is important, nothing is. The 4.4% number connects to Session 3: a rule in a markdown file is not a guardrail until something outside the model checks it. The lab folder ships a CLAUDE.md of about twenty lines. Class question: what are the three lines you would put in your project's instruction file?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never sees your code; it sees the name, the description and the argument schema. Those are a prompt, and the same care applies: say when to use the tool, what it returns, and what the arguments look like. The '2025' story is the best illustration: a behavior bug fixed by rewriting a sentence. Class question: how would you rewrite the description 'lookup: Searches.'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tool schema is pasted into the context on every call, and every extra tool is one more way to pick the wrong one. Vercel cut 80% of theirs and got faster, cheaper and more reliable at once. Class question: notebook 02's agents carry two to five tools - which one would you remove, and what would break?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 calling gave us structured tool calls in 2023, but every vendor and every tool needed its own adapter. MCP standardizes the socket: a server lists its tools, a client calls them, results come back as text. When the second big vendor adopted it four months later, it became the plug. An MCP tool is still a name, a description and a JSON schema, so everything on the tools slides applies over the plug. Class question: what is the USB of your daily life, and what did the world look like before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Progressive disclosure is the context-budget idea applied to instructions. The agent always sees the catalog, a few tens of tokens per skill; it opens the body when the task matches, and the resources only while executing. The two skills live in lab/.claude/skills/, where Claude Code looks for them, and notebook 02 measures them with the API's token counter. Skills became an open standard in December 2025 and are supported by more than forty platforms. Class question: which of your own recurring procedures would you write as a SKILL.md first?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mix these three up for weeks, so draw the line hard. A prompt is the task. A tool is an ability the harness executes. A skill is a procedure: which tools, in which order, with which checks. Class question: 'always end with a Source: line naming the file' - prompt, tool or skill?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notebook 02; it needs the ANTHROPIC_API_KEY in the repository .env or the Colab secret, and it stops with one sentence if none is found. Every number that follows is from the run recorded in the notebook on 30 September 2026: 49 model calls, 0.4797 USD in total (section 9). Live runs vary; say so whenever a student's number differs. Class question: which of the four pieces do you expect to be the easiest to get wrong in your own project?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tables from the notebook on one slide. The left half is read from the Models API, not remembered: display name, window, maximum output, and a capability tree. The smallest model does not accept the effort parameter at all, the API answers 400 if you send it, and it has no adaptive thinking or server-side compaction; all three support structured outputs. That is why the notebook builds each request from the capability table. The right half is the same document and question on all three: identical answers, three prices, and note that the two large models count 1,321 input tokens while Haiku counts 945 for the same text, because each family has its own tokenizer. Class question: when would the cheapest row be the wrong choice even though it answered correctly here?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this section live if you can: the loop prints every tool call and the answer to each question, and the chart shows the real input tokens of each call. The steps are file reads entering the conversation and staying there: after the README read during question 4 the prompt jumps from 3,255 to 8,088 tokens. Point out the first table too: the first tool you add costs 438 tokens because the API prepends its tool-use preamble, both tools 609, and one README read costs more than fifty system prompts. Class question: what would the eleventh bar look like after fifty questions, and what would you do about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Compaction done the real way, in three visible steps: split the history at the last question, ask the worker model for a summary that keeps facts, sources and files read but drops raw file contents, and rebuild the message list with the summary in front. Read the summary the model wrote aloud: it lists the three files and every fact. Then the sixth question proves the session still works. Notes are the second technique: two plain tools and a file in the temporary folder; a brand-new context reads both facts back. That is the mechanism behind CLAUDE.md and auto-memory in coding agents. Class question: what would you lose if the compaction summary were just 'earlier conversation omitted'?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rows as five experiments on the same two tools. Rows one and two are the vague-tool experiment as it actually went: both runs reached the right answer and named the file, so the vague description did not break the agent, it made it pay: the first lookup call sent 'python-version notebook workflow' as q and failed, and the guess cost 2 extra model calls, 2,267 extra input tokens and 0.0142 USD more. Row three: the error message named the next step, so the model listed the folder and answered honestly that the file does not exist. Row four: strict tools guarantee the arguments, not the choice of tool. Row five is the honest one: the gate denied docs/ as designed, but our denial text offered 'use other files', the model took the offer and kept searching until max_turns stopped it with no answer. A gate should say exactly what to do instead, and max_turns is itself a brake. Class question: rewrite the denial message so the model stops and reports instead of searching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skills are real files in the lab folder, parsed with plain Python and counted with the API's token counter. Level 1 is one line per skill, level 2 the body: 152 against 580 tokens for the two, 3.8 times more. Then the notebook appends the catalog to the system prompt and adds a load_skill tool: on the licence question the model's first action was load_skill for repo-answers, and it followed the procedure it had just read, ending with a Source line. Exercise 1's count-things skill measured 54 and 112 tokens. Class question: which of the two descriptions would you rewrite, and why?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from the notebook to the terminal. The lab folder is a complete Claude Code project: an instruction file, two skills, three documents. The json output format hides the steps, so the lab uses stream-json with verbose to see one event per line, the way run_agent printed the loop. The first event the model produced was the Skill tool call for repo-answers, which is exactly the load_skill call of section 4.3; then it followed the procedure and cited two files. The 0.41 USD is honest and worth a minute: the author's default model was the most expensive tier and the machine carried many plugins whose tool descriptions sat in the context; a fresh install on sonnet pays cents. Class question: what in the description of repo-answers made this question match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command writes a JSON entry, and the server's tools appear next to the built-in ones with the mcp__server__tool naming. Three harness behaviours show themselves in the recorded runs. Project servers wait for a one-time approval, because a .mcp.json arrives with a clone and could start anything. Tool calls wait for permission: in print mode nobody answers, so the first run was denied and the model asked instead of guessing. And max-turns stopped the second run one turn before the final sentence, the same brake as the gated run in the notebook. Class question: which of the fourteen filesystem tools would you never pre-approve, and why?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places show what a session cost. Interactively, /usage prints a session block with the total at list price and one line per model; some documents still call it /cost, but on 2.1.278 the listed command is /usage. Non-interactively, every json and stream-json result carries the same numbers, and a script pulls them with jq -r '.total_cost_usd'. Read row three against row two: almost the whole prompt came from the cache because the second run repeated the first run's prefix within five minutes; that is the caching the notebook's cost_usd function priced at one tenth. Class question: which of the four token counts would you watch to catch a runaway agent, and why not the cost alone?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seven lines and point at notebook 02's exercises: write a skill, tune the vague description, make an error message helpful, count what a long tool result costs. Then the lab's three tries: a third skill, a trap question, the MCP run with max-turns 6. Next session: the harness package, hooks and permissions, the five workflow patterns, and evals. Class question to close: if you could add one tool and one skill to notebook 02's agent, which would they be?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65960"/>
            <a:ext cx="10058400" cy="365760"/>
          </a:xfrm>
          <a:prstGeom prst="rect">
            <a:avLst/>
          </a:prstGeom>
          <a:noFill/>
        </p:spPr>
        <p:txBody>
          <a:bodyPr wrap="square">
            <a:spAutoFit/>
          </a:bodyPr>
          <a:lstStyle/>
          <a:p>
            <a:pPr algn="l">
              <a:spcAft>
                <a:spcPts val="600"/>
              </a:spcAft>
              <a:buNone/>
            </a:pPr>
            <a:r>
              <a:rPr sz="1400" b="1">
                <a:solidFill>
                  <a:srgbClr val="1E5EF3"/>
                </a:solidFill>
                <a:latin typeface="Arial"/>
              </a:rPr>
              <a:t>SESSION 2 OF 4</a:t>
            </a:r>
          </a:p>
        </p:txBody>
      </p:sp>
      <p:sp>
        <p:nvSpPr>
          <p:cNvPr id="5" name="TextBox 4"/>
          <p:cNvSpPr txBox="1"/>
          <p:nvPr/>
        </p:nvSpPr>
        <p:spPr>
          <a:xfrm>
            <a:off x="914400" y="2377440"/>
            <a:ext cx="10332720" cy="1737360"/>
          </a:xfrm>
          <a:prstGeom prst="rect">
            <a:avLst/>
          </a:prstGeom>
          <a:noFill/>
        </p:spPr>
        <p:txBody>
          <a:bodyPr wrap="square">
            <a:spAutoFit/>
          </a:bodyPr>
          <a:lstStyle/>
          <a:p>
            <a:pPr algn="l">
              <a:spcAft>
                <a:spcPts val="0"/>
              </a:spcAft>
              <a:buNone/>
            </a:pPr>
            <a:r>
              <a:rPr sz="4400" b="1">
                <a:solidFill>
                  <a:srgbClr val="0A2540"/>
                </a:solidFill>
                <a:latin typeface="Arial"/>
              </a:rPr>
              <a:t>Models, Context, Tools and Skills</a:t>
            </a:r>
          </a:p>
        </p:txBody>
      </p:sp>
      <p:sp>
        <p:nvSpPr>
          <p:cNvPr id="6" name="TextBox 5"/>
          <p:cNvSpPr txBox="1"/>
          <p:nvPr/>
        </p:nvSpPr>
        <p:spPr>
          <a:xfrm>
            <a:off x="914400" y="4114800"/>
            <a:ext cx="9601200" cy="822960"/>
          </a:xfrm>
          <a:prstGeom prst="rect">
            <a:avLst/>
          </a:prstGeom>
          <a:noFill/>
        </p:spPr>
        <p:txBody>
          <a:bodyPr wrap="square">
            <a:spAutoFit/>
          </a:bodyPr>
          <a:lstStyle/>
          <a:p>
            <a:pPr algn="l">
              <a:spcAft>
                <a:spcPts val="600"/>
              </a:spcAft>
              <a:buNone/>
            </a:pPr>
            <a:r>
              <a:rPr sz="1800" b="0">
                <a:solidFill>
                  <a:srgbClr val="5B6774"/>
                </a:solidFill>
                <a:latin typeface="Arial"/>
              </a:rPr>
              <a:t>The four pieces the model sees: an engine behind one interface, a window with a budget, functions it may call, and manuals it opens only when needed. First the rules, then notebook 02 and lab 2.</a:t>
            </a:r>
          </a:p>
        </p:txBody>
      </p:sp>
      <p:sp>
        <p:nvSpPr>
          <p:cNvPr id="7" name="TextBox 6"/>
          <p:cNvSpPr txBox="1"/>
          <p:nvPr/>
        </p:nvSpPr>
        <p:spPr>
          <a:xfrm>
            <a:off x="914400" y="6035040"/>
            <a:ext cx="9144000" cy="365760"/>
          </a:xfrm>
          <a:prstGeom prst="rect">
            <a:avLst/>
          </a:prstGeom>
          <a:noFill/>
        </p:spPr>
        <p:txBody>
          <a:bodyPr wrap="square">
            <a:spAutoFit/>
          </a:bodyPr>
          <a:lstStyle/>
          <a:p>
            <a:pPr algn="l">
              <a:spcAft>
                <a:spcPts val="600"/>
              </a:spcAft>
              <a:buNone/>
            </a:pPr>
            <a:r>
              <a:rPr sz="1200" b="0">
                <a:solidFill>
                  <a:srgbClr val="5B6774"/>
                </a:solidFill>
                <a:latin typeface="Arial"/>
              </a:rPr>
              <a:t>Harness Engineering - Module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3657600" cy="2011680"/>
          </a:xfrm>
          <a:prstGeom prst="rect">
            <a:avLst/>
          </a:prstGeom>
          <a:noFill/>
        </p:spPr>
        <p:txBody>
          <a:bodyPr wrap="square">
            <a:spAutoFit/>
          </a:bodyPr>
          <a:lstStyle/>
          <a:p>
            <a:pPr algn="l">
              <a:spcAft>
                <a:spcPts val="600"/>
              </a:spcAft>
              <a:buNone/>
            </a:pPr>
            <a:r>
              <a:rPr sz="11000" b="1">
                <a:solidFill>
                  <a:srgbClr val="1E5EF3"/>
                </a:solidFill>
                <a:latin typeface="Arial"/>
              </a:rPr>
              <a:t>01</a:t>
            </a:r>
          </a:p>
        </p:txBody>
      </p:sp>
      <p:sp>
        <p:nvSpPr>
          <p:cNvPr id="4" name="TextBox 3"/>
          <p:cNvSpPr txBox="1"/>
          <p:nvPr/>
        </p:nvSpPr>
        <p:spPr>
          <a:xfrm>
            <a:off x="868680" y="3566160"/>
            <a:ext cx="10424160" cy="1280160"/>
          </a:xfrm>
          <a:prstGeom prst="rect">
            <a:avLst/>
          </a:prstGeom>
          <a:noFill/>
        </p:spPr>
        <p:txBody>
          <a:bodyPr wrap="square">
            <a:spAutoFit/>
          </a:bodyPr>
          <a:lstStyle/>
          <a:p>
            <a:pPr algn="l">
              <a:spcAft>
                <a:spcPts val="600"/>
              </a:spcAft>
              <a:buNone/>
            </a:pPr>
            <a:r>
              <a:rPr sz="3400" b="1">
                <a:solidFill>
                  <a:srgbClr val="FFFFFF"/>
                </a:solidFill>
                <a:latin typeface="Arial"/>
              </a:rPr>
              <a:t>Part 1 - The theory: the four pieces the model sees</a:t>
            </a:r>
          </a:p>
        </p:txBody>
      </p:sp>
      <p:sp>
        <p:nvSpPr>
          <p:cNvPr id="5" name="TextBox 4"/>
          <p:cNvSpPr txBox="1"/>
          <p:nvPr/>
        </p:nvSpPr>
        <p:spPr>
          <a:xfrm>
            <a:off x="868680" y="4709160"/>
            <a:ext cx="10058400" cy="914400"/>
          </a:xfrm>
          <a:prstGeom prst="rect">
            <a:avLst/>
          </a:prstGeom>
          <a:noFill/>
        </p:spPr>
        <p:txBody>
          <a:bodyPr wrap="square">
            <a:spAutoFit/>
          </a:bodyPr>
          <a:lstStyle/>
          <a:p>
            <a:pPr algn="l">
              <a:spcAft>
                <a:spcPts val="600"/>
              </a:spcAft>
              <a:buNone/>
            </a:pPr>
            <a:r>
              <a:rPr sz="1600" b="0">
                <a:solidFill>
                  <a:srgbClr val="B9D0FA"/>
                </a:solidFill>
                <a:latin typeface="Arial"/>
              </a:rPr>
              <a:t>Pieces 1 to 4 of the harness: model, context, tools, skills. Each with its plain-words line and its design rules.</a:t>
            </a:r>
          </a:p>
        </p:txBody>
      </p:sp>
      <p:sp>
        <p:nvSpPr>
          <p:cNvPr id="6" name="TextBox 5"/>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B9D0FA"/>
                </a:solidFill>
                <a:latin typeface="Arial"/>
              </a:rPr>
              <a:t>M5 Session 2 - Models, Context, Tools and Skills</a:t>
            </a:r>
          </a:p>
        </p:txBody>
      </p:sp>
      <p:sp>
        <p:nvSpPr>
          <p:cNvPr id="7" name="TextBox 6"/>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B9D0FA"/>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PIECE 1 - THE MODEL</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The model sits behind one interface: context in, next message out</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How to read it: the blue box is the whole contract; any model id that fits the request fills it</a:t>
            </a:r>
          </a:p>
          <a:p>
            <a:pPr algn="l" indent="-228600" marL="228600">
              <a:spcAft>
                <a:spcPts val="800"/>
              </a:spcAft>
              <a:buClr>
                <a:srgbClr val="1E5EF3"/>
              </a:buClr>
              <a:buChar char="—"/>
            </a:pPr>
            <a:r>
              <a:rPr sz="1450" b="0">
                <a:solidFill>
                  <a:srgbClr val="202B38"/>
                </a:solidFill>
                <a:latin typeface="Arial"/>
              </a:rPr>
              <a:t>In plain words: the model is the text-in, text-out engine; it never runs a tool, it asks for one by name with JSON arguments</a:t>
            </a:r>
          </a:p>
          <a:p>
            <a:pPr algn="l" indent="-228600" marL="228600">
              <a:spcAft>
                <a:spcPts val="800"/>
              </a:spcAft>
              <a:buClr>
                <a:srgbClr val="1E5EF3"/>
              </a:buClr>
              <a:buChar char="—"/>
            </a:pPr>
            <a:r>
              <a:rPr sz="1450" b="0">
                <a:solidFill>
                  <a:srgbClr val="202B38"/>
                </a:solidFill>
                <a:latin typeface="Arial"/>
              </a:rPr>
              <a:t>One request: model, max_tokens, system, messages, tools, output_config (effort) - nothing else reaches the model</a:t>
            </a:r>
          </a:p>
          <a:p>
            <a:pPr algn="l" indent="-228600" marL="228600">
              <a:spcAft>
                <a:spcPts val="800"/>
              </a:spcAft>
              <a:buClr>
                <a:srgbClr val="1E5EF3"/>
              </a:buClr>
              <a:buChar char="—"/>
            </a:pPr>
            <a:r>
              <a:rPr sz="1450" b="0">
                <a:solidFill>
                  <a:srgbClr val="202B38"/>
                </a:solidFill>
                <a:latin typeface="Arial"/>
              </a:rPr>
              <a:t>One response: content blocks (text or tool_use), stop_reason (end_turn, tool_use, max_tokens, refusal) and usage</a:t>
            </a:r>
          </a:p>
          <a:p>
            <a:pPr algn="l" indent="-228600" marL="228600">
              <a:spcAft>
                <a:spcPts val="800"/>
              </a:spcAft>
              <a:buClr>
                <a:srgbClr val="1E5EF3"/>
              </a:buClr>
              <a:buChar char="—"/>
            </a:pPr>
            <a:r>
              <a:rPr sz="1450" b="0">
                <a:solidFill>
                  <a:srgbClr val="202B38"/>
                </a:solidFill>
                <a:latin typeface="Arial"/>
              </a:rPr>
              <a:t>client.models.retrieve says what a model can do: read it before you send a parameter it may reject</a:t>
            </a:r>
          </a:p>
          <a:p>
            <a:pPr algn="l" indent="-228600" marL="228600">
              <a:spcAft>
                <a:spcPts val="800"/>
              </a:spcAft>
              <a:buClr>
                <a:srgbClr val="1E5EF3"/>
              </a:buClr>
              <a:buChar char="—"/>
            </a:pPr>
            <a:r>
              <a:rPr sz="1450" b="0">
                <a:solidFill>
                  <a:srgbClr val="202B38"/>
                </a:solidFill>
                <a:latin typeface="Arial"/>
              </a:rPr>
              <a:t>The harness does not change when the model id does - that is the point of the interface</a:t>
            </a:r>
          </a:p>
        </p:txBody>
      </p:sp>
      <p:pic>
        <p:nvPicPr>
          <p:cNvPr id="8" name="Picture 7" descr="s2_model_interface.png"/>
          <p:cNvPicPr>
            <a:picLocks noChangeAspect="1"/>
          </p:cNvPicPr>
          <p:nvPr/>
        </p:nvPicPr>
        <p:blipFill>
          <a:blip r:embed="rId2"/>
          <a:stretch>
            <a:fillRect/>
          </a:stretch>
        </p:blipFill>
        <p:spPr>
          <a:xfrm>
            <a:off x="5149927" y="1874519"/>
            <a:ext cx="6433666" cy="4114800"/>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Illustration. Model facts from client.models.retrieve in notebook 02 (section 1.2). The key lives in .env, never in a cell, never committed.</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2 - Models, Context, Tools and Skills</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PIECE 1 - TIERS AND ROUTING</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Choose a model by capability, cost and latency - and route cheap models to easy steps</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874519"/>
          <a:ext cx="11091669" cy="1828800"/>
        </p:xfrm>
        <a:graphic>
          <a:graphicData uri="http://schemas.openxmlformats.org/drawingml/2006/table">
            <a:tbl>
              <a:tblPr firstRow="1" bandRow="1">
                <a:tableStyleId>{5C22544A-7EE6-4342-B048-85BDC9FD1C3A}</a:tableStyleId>
              </a:tblPr>
              <a:tblGrid>
                <a:gridCol w="2112699"/>
                <a:gridCol w="2904961"/>
                <a:gridCol w="1452480"/>
                <a:gridCol w="1188393"/>
                <a:gridCol w="3433136"/>
              </a:tblGrid>
              <a:tr h="457200">
                <a:tc>
                  <a:txBody>
                    <a:bodyPr wrap="square"/>
                    <a:lstStyle/>
                    <a:p>
                      <a:pPr algn="l">
                        <a:spcAft>
                          <a:spcPts val="0"/>
                        </a:spcAft>
                        <a:buNone/>
                      </a:pPr>
                      <a:r>
                        <a:rPr sz="1300" b="1">
                          <a:solidFill>
                            <a:srgbClr val="FFFFFF"/>
                          </a:solidFill>
                          <a:latin typeface="Arial"/>
                        </a:rPr>
                        <a:t>Tier</a:t>
                      </a:r>
                    </a:p>
                  </a:txBody>
                  <a:tcPr>
                    <a:solidFill>
                      <a:srgbClr val="0A2540"/>
                    </a:solidFill>
                  </a:tcPr>
                </a:tc>
                <a:tc>
                  <a:txBody>
                    <a:bodyPr wrap="square"/>
                    <a:lstStyle/>
                    <a:p>
                      <a:pPr algn="l">
                        <a:spcAft>
                          <a:spcPts val="0"/>
                        </a:spcAft>
                        <a:buNone/>
                      </a:pPr>
                      <a:r>
                        <a:rPr sz="1300" b="1">
                          <a:solidFill>
                            <a:srgbClr val="FFFFFF"/>
                          </a:solidFill>
                          <a:latin typeface="Arial"/>
                        </a:rPr>
                        <a:t>Capability</a:t>
                      </a:r>
                    </a:p>
                  </a:txBody>
                  <a:tcPr>
                    <a:solidFill>
                      <a:srgbClr val="0A2540"/>
                    </a:solidFill>
                  </a:tcPr>
                </a:tc>
                <a:tc>
                  <a:txBody>
                    <a:bodyPr wrap="square"/>
                    <a:lstStyle/>
                    <a:p>
                      <a:pPr algn="l">
                        <a:spcAft>
                          <a:spcPts val="0"/>
                        </a:spcAft>
                        <a:buNone/>
                      </a:pPr>
                      <a:r>
                        <a:rPr sz="1300" b="1">
                          <a:solidFill>
                            <a:srgbClr val="FFFFFF"/>
                          </a:solidFill>
                          <a:latin typeface="Arial"/>
                        </a:rPr>
                        <a:t>Cost per token</a:t>
                      </a:r>
                    </a:p>
                  </a:txBody>
                  <a:tcPr>
                    <a:solidFill>
                      <a:srgbClr val="0A2540"/>
                    </a:solidFill>
                  </a:tcPr>
                </a:tc>
                <a:tc>
                  <a:txBody>
                    <a:bodyPr wrap="square"/>
                    <a:lstStyle/>
                    <a:p>
                      <a:pPr algn="l">
                        <a:spcAft>
                          <a:spcPts val="0"/>
                        </a:spcAft>
                        <a:buNone/>
                      </a:pPr>
                      <a:r>
                        <a:rPr sz="1300" b="1">
                          <a:solidFill>
                            <a:srgbClr val="FFFFFF"/>
                          </a:solidFill>
                          <a:latin typeface="Arial"/>
                        </a:rPr>
                        <a:t>Latency</a:t>
                      </a:r>
                    </a:p>
                  </a:txBody>
                  <a:tcPr>
                    <a:solidFill>
                      <a:srgbClr val="0A2540"/>
                    </a:solidFill>
                  </a:tcPr>
                </a:tc>
                <a:tc>
                  <a:txBody>
                    <a:bodyPr wrap="square"/>
                    <a:lstStyle/>
                    <a:p>
                      <a:pPr algn="l">
                        <a:spcAft>
                          <a:spcPts val="0"/>
                        </a:spcAft>
                        <a:buNone/>
                      </a:pPr>
                      <a:r>
                        <a:rPr sz="1300" b="1">
                          <a:solidFill>
                            <a:srgbClr val="FFFFFF"/>
                          </a:solidFill>
                          <a:latin typeface="Arial"/>
                        </a:rPr>
                        <a:t>Give it these steps</a:t>
                      </a:r>
                    </a:p>
                  </a:txBody>
                  <a:tcPr>
                    <a:solidFill>
                      <a:srgbClr val="0A2540"/>
                    </a:solidFill>
                  </a:tcPr>
                </a:tc>
              </a:tr>
              <a:tr h="457200">
                <a:tc>
                  <a:txBody>
                    <a:bodyPr wrap="square"/>
                    <a:lstStyle/>
                    <a:p>
                      <a:pPr algn="l">
                        <a:spcAft>
                          <a:spcPts val="0"/>
                        </a:spcAft>
                        <a:buNone/>
                      </a:pPr>
                      <a:r>
                        <a:rPr sz="1250" b="0">
                          <a:solidFill>
                            <a:srgbClr val="202B38"/>
                          </a:solidFill>
                          <a:latin typeface="Arial"/>
                        </a:rPr>
                        <a:t>Frontier (e.g. Opus-class)</a:t>
                      </a:r>
                    </a:p>
                  </a:txBody>
                  <a:tcPr>
                    <a:solidFill>
                      <a:srgbClr val="FFFFFF"/>
                    </a:solidFill>
                  </a:tcPr>
                </a:tc>
                <a:tc>
                  <a:txBody>
                    <a:bodyPr wrap="square"/>
                    <a:lstStyle/>
                    <a:p>
                      <a:pPr algn="l">
                        <a:spcAft>
                          <a:spcPts val="0"/>
                        </a:spcAft>
                        <a:buNone/>
                      </a:pPr>
                      <a:r>
                        <a:rPr sz="1250" b="0">
                          <a:solidFill>
                            <a:srgbClr val="202B38"/>
                          </a:solidFill>
                          <a:latin typeface="Arial"/>
                        </a:rPr>
                        <a:t>Highest: planning, synthesis, hard reasoning</a:t>
                      </a:r>
                    </a:p>
                  </a:txBody>
                  <a:tcPr>
                    <a:solidFill>
                      <a:srgbClr val="FFFFFF"/>
                    </a:solidFill>
                  </a:tcPr>
                </a:tc>
                <a:tc>
                  <a:txBody>
                    <a:bodyPr wrap="square"/>
                    <a:lstStyle/>
                    <a:p>
                      <a:pPr algn="l">
                        <a:spcAft>
                          <a:spcPts val="0"/>
                        </a:spcAft>
                        <a:buNone/>
                      </a:pPr>
                      <a:r>
                        <a:rPr sz="1250" b="0">
                          <a:solidFill>
                            <a:srgbClr val="202B38"/>
                          </a:solidFill>
                          <a:latin typeface="Arial"/>
                        </a:rPr>
                        <a:t>Highest</a:t>
                      </a:r>
                    </a:p>
                  </a:txBody>
                  <a:tcPr>
                    <a:solidFill>
                      <a:srgbClr val="FFFFFF"/>
                    </a:solidFill>
                  </a:tcPr>
                </a:tc>
                <a:tc>
                  <a:txBody>
                    <a:bodyPr wrap="square"/>
                    <a:lstStyle/>
                    <a:p>
                      <a:pPr algn="l">
                        <a:spcAft>
                          <a:spcPts val="0"/>
                        </a:spcAft>
                        <a:buNone/>
                      </a:pPr>
                      <a:r>
                        <a:rPr sz="1250" b="0">
                          <a:solidFill>
                            <a:srgbClr val="202B38"/>
                          </a:solidFill>
                          <a:latin typeface="Arial"/>
                        </a:rPr>
                        <a:t>Slowest</a:t>
                      </a:r>
                    </a:p>
                  </a:txBody>
                  <a:tcPr>
                    <a:solidFill>
                      <a:srgbClr val="FFFFFF"/>
                    </a:solidFill>
                  </a:tcPr>
                </a:tc>
                <a:tc>
                  <a:txBody>
                    <a:bodyPr wrap="square"/>
                    <a:lstStyle/>
                    <a:p>
                      <a:pPr algn="l">
                        <a:spcAft>
                          <a:spcPts val="0"/>
                        </a:spcAft>
                        <a:buNone/>
                      </a:pPr>
                      <a:r>
                        <a:rPr sz="1250" b="0">
                          <a:solidFill>
                            <a:srgbClr val="202B38"/>
                          </a:solidFill>
                          <a:latin typeface="Arial"/>
                        </a:rPr>
                        <a:t>Lead agent: plan, delegate, write the final answer</a:t>
                      </a:r>
                    </a:p>
                  </a:txBody>
                  <a:tcPr>
                    <a:solidFill>
                      <a:srgbClr val="FFFFFF"/>
                    </a:solidFill>
                  </a:tcPr>
                </a:tc>
              </a:tr>
              <a:tr h="457200">
                <a:tc>
                  <a:txBody>
                    <a:bodyPr wrap="square"/>
                    <a:lstStyle/>
                    <a:p>
                      <a:pPr algn="l">
                        <a:spcAft>
                          <a:spcPts val="0"/>
                        </a:spcAft>
                        <a:buNone/>
                      </a:pPr>
                      <a:r>
                        <a:rPr sz="1250" b="0">
                          <a:solidFill>
                            <a:srgbClr val="202B38"/>
                          </a:solidFill>
                          <a:latin typeface="Arial"/>
                        </a:rPr>
                        <a:t>Mid (e.g. Sonnet-class)</a:t>
                      </a:r>
                    </a:p>
                  </a:txBody>
                  <a:tcPr>
                    <a:solidFill>
                      <a:srgbClr val="EEF3FD"/>
                    </a:solidFill>
                  </a:tcPr>
                </a:tc>
                <a:tc>
                  <a:txBody>
                    <a:bodyPr wrap="square"/>
                    <a:lstStyle/>
                    <a:p>
                      <a:pPr algn="l">
                        <a:spcAft>
                          <a:spcPts val="0"/>
                        </a:spcAft>
                        <a:buNone/>
                      </a:pPr>
                      <a:r>
                        <a:rPr sz="1250" b="0">
                          <a:solidFill>
                            <a:srgbClr val="202B38"/>
                          </a:solidFill>
                          <a:latin typeface="Arial"/>
                        </a:rPr>
                        <a:t>High: focused tasks with tools</a:t>
                      </a:r>
                    </a:p>
                  </a:txBody>
                  <a:tcPr>
                    <a:solidFill>
                      <a:srgbClr val="EEF3FD"/>
                    </a:solidFill>
                  </a:tcPr>
                </a:tc>
                <a:tc>
                  <a:txBody>
                    <a:bodyPr wrap="square"/>
                    <a:lstStyle/>
                    <a:p>
                      <a:pPr algn="l">
                        <a:spcAft>
                          <a:spcPts val="0"/>
                        </a:spcAft>
                        <a:buNone/>
                      </a:pPr>
                      <a:r>
                        <a:rPr sz="1250" b="0">
                          <a:solidFill>
                            <a:srgbClr val="202B38"/>
                          </a:solidFill>
                          <a:latin typeface="Arial"/>
                        </a:rPr>
                        <a:t>Lower</a:t>
                      </a:r>
                    </a:p>
                  </a:txBody>
                  <a:tcPr>
                    <a:solidFill>
                      <a:srgbClr val="EEF3FD"/>
                    </a:solidFill>
                  </a:tcPr>
                </a:tc>
                <a:tc>
                  <a:txBody>
                    <a:bodyPr wrap="square"/>
                    <a:lstStyle/>
                    <a:p>
                      <a:pPr algn="l">
                        <a:spcAft>
                          <a:spcPts val="0"/>
                        </a:spcAft>
                        <a:buNone/>
                      </a:pPr>
                      <a:r>
                        <a:rPr sz="1250" b="0">
                          <a:solidFill>
                            <a:srgbClr val="202B38"/>
                          </a:solidFill>
                          <a:latin typeface="Arial"/>
                        </a:rPr>
                        <a:t>Faster</a:t>
                      </a:r>
                    </a:p>
                  </a:txBody>
                  <a:tcPr>
                    <a:solidFill>
                      <a:srgbClr val="EEF3FD"/>
                    </a:solidFill>
                  </a:tcPr>
                </a:tc>
                <a:tc>
                  <a:txBody>
                    <a:bodyPr wrap="square"/>
                    <a:lstStyle/>
                    <a:p>
                      <a:pPr algn="l">
                        <a:spcAft>
                          <a:spcPts val="0"/>
                        </a:spcAft>
                        <a:buNone/>
                      </a:pPr>
                      <a:r>
                        <a:rPr sz="1250" b="0">
                          <a:solidFill>
                            <a:srgbClr val="202B38"/>
                          </a:solidFill>
                          <a:latin typeface="Arial"/>
                        </a:rPr>
                        <a:t>Workers: search, read, summarize one sub-question</a:t>
                      </a:r>
                    </a:p>
                  </a:txBody>
                  <a:tcPr>
                    <a:solidFill>
                      <a:srgbClr val="EEF3FD"/>
                    </a:solidFill>
                  </a:tcPr>
                </a:tc>
              </a:tr>
              <a:tr h="457200">
                <a:tc>
                  <a:txBody>
                    <a:bodyPr wrap="square"/>
                    <a:lstStyle/>
                    <a:p>
                      <a:pPr algn="l">
                        <a:spcAft>
                          <a:spcPts val="0"/>
                        </a:spcAft>
                        <a:buNone/>
                      </a:pPr>
                      <a:r>
                        <a:rPr sz="1250" b="0">
                          <a:solidFill>
                            <a:srgbClr val="202B38"/>
                          </a:solidFill>
                          <a:latin typeface="Arial"/>
                        </a:rPr>
                        <a:t>Small (e.g. Haiku-class)</a:t>
                      </a:r>
                    </a:p>
                  </a:txBody>
                  <a:tcPr>
                    <a:solidFill>
                      <a:srgbClr val="FFFFFF"/>
                    </a:solidFill>
                  </a:tcPr>
                </a:tc>
                <a:tc>
                  <a:txBody>
                    <a:bodyPr wrap="square"/>
                    <a:lstStyle/>
                    <a:p>
                      <a:pPr algn="l">
                        <a:spcAft>
                          <a:spcPts val="0"/>
                        </a:spcAft>
                        <a:buNone/>
                      </a:pPr>
                      <a:r>
                        <a:rPr sz="1250" b="0">
                          <a:solidFill>
                            <a:srgbClr val="202B38"/>
                          </a:solidFill>
                          <a:latin typeface="Arial"/>
                        </a:rPr>
                        <a:t>Good at narrow, well-specified steps</a:t>
                      </a:r>
                    </a:p>
                  </a:txBody>
                  <a:tcPr>
                    <a:solidFill>
                      <a:srgbClr val="FFFFFF"/>
                    </a:solidFill>
                  </a:tcPr>
                </a:tc>
                <a:tc>
                  <a:txBody>
                    <a:bodyPr wrap="square"/>
                    <a:lstStyle/>
                    <a:p>
                      <a:pPr algn="l">
                        <a:spcAft>
                          <a:spcPts val="0"/>
                        </a:spcAft>
                        <a:buNone/>
                      </a:pPr>
                      <a:r>
                        <a:rPr sz="1250" b="0">
                          <a:solidFill>
                            <a:srgbClr val="202B38"/>
                          </a:solidFill>
                          <a:latin typeface="Arial"/>
                        </a:rPr>
                        <a:t>Lowest</a:t>
                      </a:r>
                    </a:p>
                  </a:txBody>
                  <a:tcPr>
                    <a:solidFill>
                      <a:srgbClr val="FFFFFF"/>
                    </a:solidFill>
                  </a:tcPr>
                </a:tc>
                <a:tc>
                  <a:txBody>
                    <a:bodyPr wrap="square"/>
                    <a:lstStyle/>
                    <a:p>
                      <a:pPr algn="l">
                        <a:spcAft>
                          <a:spcPts val="0"/>
                        </a:spcAft>
                        <a:buNone/>
                      </a:pPr>
                      <a:r>
                        <a:rPr sz="1250" b="0">
                          <a:solidFill>
                            <a:srgbClr val="202B38"/>
                          </a:solidFill>
                          <a:latin typeface="Arial"/>
                        </a:rPr>
                        <a:t>Fastest</a:t>
                      </a:r>
                    </a:p>
                  </a:txBody>
                  <a:tcPr>
                    <a:solidFill>
                      <a:srgbClr val="FFFFFF"/>
                    </a:solidFill>
                  </a:tcPr>
                </a:tc>
                <a:tc>
                  <a:txBody>
                    <a:bodyPr wrap="square"/>
                    <a:lstStyle/>
                    <a:p>
                      <a:pPr algn="l">
                        <a:spcAft>
                          <a:spcPts val="0"/>
                        </a:spcAft>
                        <a:buNone/>
                      </a:pPr>
                      <a:r>
                        <a:rPr sz="1250" b="0">
                          <a:solidFill>
                            <a:srgbClr val="202B38"/>
                          </a:solidFill>
                          <a:latin typeface="Arial"/>
                        </a:rPr>
                        <a:t>Classify, route, extract fields, check a format</a:t>
                      </a:r>
                    </a:p>
                  </a:txBody>
                  <a:tcPr>
                    <a:solidFill>
                      <a:srgbClr val="FFFFFF"/>
                    </a:solidFill>
                  </a:tcPr>
                </a:tc>
              </a:tr>
            </a:tbl>
          </a:graphicData>
        </a:graphic>
      </p:graphicFrame>
      <p:sp>
        <p:nvSpPr>
          <p:cNvPr id="8" name="TextBox 7"/>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Anthropic, How we built our multi-agent research system, 13 Jun 2025: an Opus lead plans and spawns 3-5 Sonnet workers. Anthropic, Building effective agents, Dec 2024: routing sends each input to the specialized step.</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2 - Models, Context, Tools and Skills</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PIECE 2 - CONTEXT</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Context is a finite budget: what goes in, what stays out, when to summarize</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How to read it: the window fills from the bottom; the dashed line is the budget</a:t>
            </a:r>
          </a:p>
          <a:p>
            <a:pPr algn="l" indent="-228600" marL="228600">
              <a:spcAft>
                <a:spcPts val="800"/>
              </a:spcAft>
              <a:buClr>
                <a:srgbClr val="1E5EF3"/>
              </a:buClr>
              <a:buChar char="—"/>
            </a:pPr>
            <a:r>
              <a:rPr sz="1450" b="0">
                <a:solidFill>
                  <a:srgbClr val="202B38"/>
                </a:solidFill>
                <a:latin typeface="Arial"/>
              </a:rPr>
              <a:t>In plain words: context is everything the model sees in one call</a:t>
            </a:r>
          </a:p>
          <a:p>
            <a:pPr algn="l" indent="-228600" marL="228600">
              <a:spcAft>
                <a:spcPts val="800"/>
              </a:spcAft>
              <a:buClr>
                <a:srgbClr val="1E5EF3"/>
              </a:buClr>
              <a:buChar char="—"/>
            </a:pPr>
            <a:r>
              <a:rPr sz="1450" b="0">
                <a:solidFill>
                  <a:srgbClr val="202B38"/>
                </a:solidFill>
                <a:latin typeface="Arial"/>
              </a:rPr>
              <a:t>System prompt, instruction files, history, tool results, retrieved documents, notes - all compete</a:t>
            </a:r>
          </a:p>
          <a:p>
            <a:pPr algn="l" indent="-228600" marL="228600">
              <a:spcAft>
                <a:spcPts val="800"/>
              </a:spcAft>
              <a:buClr>
                <a:srgbClr val="1E5EF3"/>
              </a:buClr>
              <a:buChar char="—"/>
            </a:pPr>
            <a:r>
              <a:rPr sz="1450" b="0">
                <a:solidFill>
                  <a:srgbClr val="202B38"/>
                </a:solidFill>
                <a:latin typeface="Arial"/>
              </a:rPr>
              <a:t>Compaction folds old turns into one note; structured notes move memory to a file</a:t>
            </a:r>
          </a:p>
          <a:p>
            <a:pPr algn="l" indent="-228600" marL="228600">
              <a:spcAft>
                <a:spcPts val="800"/>
              </a:spcAft>
              <a:buClr>
                <a:srgbClr val="1E5EF3"/>
              </a:buClr>
              <a:buChar char="—"/>
            </a:pPr>
            <a:r>
              <a:rPr sz="1450" b="0">
                <a:solidFill>
                  <a:srgbClr val="202B38"/>
                </a:solidFill>
                <a:latin typeface="Arial"/>
              </a:rPr>
              <a:t>Sub-agents spend tens of thousands of tokens and return 1,000-2,000 token summaries</a:t>
            </a:r>
          </a:p>
          <a:p>
            <a:pPr algn="l" indent="-228600" marL="228600">
              <a:spcAft>
                <a:spcPts val="800"/>
              </a:spcAft>
              <a:buClr>
                <a:srgbClr val="1E5EF3"/>
              </a:buClr>
              <a:buChar char="—"/>
            </a:pPr>
            <a:r>
              <a:rPr sz="1450" b="0">
                <a:solidFill>
                  <a:srgbClr val="202B38"/>
                </a:solidFill>
                <a:latin typeface="Arial"/>
              </a:rPr>
              <a:t>Karpathy, Jun 2025: 'filling the context window with just the right information for the next step'</a:t>
            </a:r>
          </a:p>
        </p:txBody>
      </p:sp>
      <p:pic>
        <p:nvPicPr>
          <p:cNvPr id="8" name="Picture 7" descr="s2_context_budget.png"/>
          <p:cNvPicPr>
            <a:picLocks noChangeAspect="1"/>
          </p:cNvPicPr>
          <p:nvPr/>
        </p:nvPicPr>
        <p:blipFill>
          <a:blip r:embed="rId2"/>
          <a:stretch>
            <a:fillRect/>
          </a:stretch>
        </p:blipFill>
        <p:spPr>
          <a:xfrm>
            <a:off x="5154051" y="1874519"/>
            <a:ext cx="6425418" cy="4114800"/>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Illustration; segment sizes not to scale. Anthropic, Effective context engineering for AI agents, 29 Sep 2025; Karpathy, 25 Jun 2025.</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2 - Models, Context, Tools and Skills</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PIECE 2 - INSTRUCTION FILES</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Instruction files: short, human-written, and enforced - or not at all</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What they are</a:t>
            </a:r>
          </a:p>
        </p:txBody>
      </p:sp>
      <p:sp>
        <p:nvSpPr>
          <p:cNvPr id="9" name="TextBox 8"/>
          <p:cNvSpPr txBox="1"/>
          <p:nvPr/>
        </p:nvSpPr>
        <p:spPr>
          <a:xfrm>
            <a:off x="777240"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CLAUDE.md, AGENTS.md: a file the harness pastes into every call</a:t>
            </a:r>
          </a:p>
          <a:p>
            <a:pPr algn="l" indent="-228600" marL="228600">
              <a:spcAft>
                <a:spcPts val="600"/>
              </a:spcAft>
              <a:buClr>
                <a:srgbClr val="1E5EF3"/>
              </a:buClr>
              <a:buChar char="—"/>
            </a:pPr>
            <a:r>
              <a:rPr sz="1300" b="0">
                <a:solidFill>
                  <a:srgbClr val="202B38"/>
                </a:solidFill>
                <a:latin typeface="Arial"/>
              </a:rPr>
              <a:t>In plain words: the standing orders the model reads before every task</a:t>
            </a:r>
          </a:p>
          <a:p>
            <a:pPr algn="l" indent="-228600" marL="228600">
              <a:spcAft>
                <a:spcPts val="600"/>
              </a:spcAft>
              <a:buClr>
                <a:srgbClr val="1E5EF3"/>
              </a:buClr>
              <a:buChar char="—"/>
            </a:pPr>
            <a:r>
              <a:rPr sz="1300" b="0">
                <a:solidFill>
                  <a:srgbClr val="202B38"/>
                </a:solidFill>
                <a:latin typeface="Arial"/>
              </a:rPr>
              <a:t>63% of large projects ship one; only a handful enforce what it says</a:t>
            </a:r>
          </a:p>
          <a:p>
            <a:pPr algn="l" indent="-228600" marL="228600">
              <a:spcAft>
                <a:spcPts val="600"/>
              </a:spcAft>
              <a:buClr>
                <a:srgbClr val="1E5EF3"/>
              </a:buClr>
              <a:buChar char="—"/>
            </a:pPr>
            <a:r>
              <a:rPr sz="1300" b="0">
                <a:solidFill>
                  <a:srgbClr val="202B38"/>
                </a:solidFill>
                <a:latin typeface="Arial"/>
              </a:rPr>
              <a:t>Only 4.4% of security rules in them are backed by a real control</a:t>
            </a:r>
          </a:p>
          <a:p>
            <a:pPr algn="l" indent="-228600" marL="228600">
              <a:spcAft>
                <a:spcPts val="600"/>
              </a:spcAft>
              <a:buClr>
                <a:srgbClr val="1E5EF3"/>
              </a:buClr>
              <a:buChar char="—"/>
            </a:pPr>
            <a:r>
              <a:rPr sz="1300" b="0">
                <a:solidFill>
                  <a:srgbClr val="202B38"/>
                </a:solidFill>
                <a:latin typeface="Arial"/>
              </a:rPr>
              <a:t>A rule nobody checks is a wish, not a guardrail (Session 3)</a:t>
            </a:r>
          </a:p>
        </p:txBody>
      </p:sp>
      <p:sp>
        <p:nvSpPr>
          <p:cNvPr id="10" name="Rectangle 9"/>
          <p:cNvSpPr/>
          <p:nvPr/>
        </p:nvSpPr>
        <p:spPr>
          <a:xfrm>
            <a:off x="6245352"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What the evidence says</a:t>
            </a:r>
          </a:p>
        </p:txBody>
      </p:sp>
      <p:sp>
        <p:nvSpPr>
          <p:cNvPr id="12" name="TextBox 11"/>
          <p:cNvSpPr txBox="1"/>
          <p:nvPr/>
        </p:nvSpPr>
        <p:spPr>
          <a:xfrm>
            <a:off x="6473952"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Human-written instruction files: about +4% task success</a:t>
            </a:r>
          </a:p>
          <a:p>
            <a:pPr algn="l" indent="-228600" marL="228600">
              <a:spcAft>
                <a:spcPts val="600"/>
              </a:spcAft>
              <a:buClr>
                <a:srgbClr val="1E5EF3"/>
              </a:buClr>
              <a:buChar char="—"/>
            </a:pPr>
            <a:r>
              <a:rPr sz="1300" b="0">
                <a:solidFill>
                  <a:srgbClr val="202B38"/>
                </a:solidFill>
                <a:latin typeface="Arial"/>
              </a:rPr>
              <a:t>Machine-generated ones: worse than having none</a:t>
            </a:r>
          </a:p>
          <a:p>
            <a:pPr algn="l" indent="-228600" marL="228600">
              <a:spcAft>
                <a:spcPts val="600"/>
              </a:spcAft>
              <a:buClr>
                <a:srgbClr val="1E5EF3"/>
              </a:buClr>
              <a:buChar char="—"/>
            </a:pPr>
            <a:r>
              <a:rPr sz="1300" b="0">
                <a:solidFill>
                  <a:srgbClr val="202B38"/>
                </a:solidFill>
                <a:latin typeface="Arial"/>
              </a:rPr>
              <a:t>When everything is important, nothing is - long files dilute the rules that matter</a:t>
            </a:r>
          </a:p>
          <a:p>
            <a:pPr algn="l" indent="-228600" marL="228600">
              <a:spcAft>
                <a:spcPts val="600"/>
              </a:spcAft>
              <a:buClr>
                <a:srgbClr val="1E5EF3"/>
              </a:buClr>
              <a:buChar char="—"/>
            </a:pPr>
            <a:r>
              <a:rPr sz="1300" b="0">
                <a:solidFill>
                  <a:srgbClr val="202B38"/>
                </a:solidFill>
                <a:latin typeface="Arial"/>
              </a:rPr>
              <a:t>Keep the file short, concrete, and about this repository only</a:t>
            </a:r>
          </a:p>
          <a:p>
            <a:pPr algn="l" indent="-228600" marL="228600">
              <a:spcAft>
                <a:spcPts val="600"/>
              </a:spcAft>
              <a:buClr>
                <a:srgbClr val="1E5EF3"/>
              </a:buClr>
              <a:buChar char="—"/>
            </a:pPr>
            <a:r>
              <a:rPr sz="1300" b="0">
                <a:solidFill>
                  <a:srgbClr val="202B38"/>
                </a:solidFill>
                <a:latin typeface="Arial"/>
              </a:rPr>
              <a:t>Move procedures into skills (piece 4) so they load only when needed</a:t>
            </a:r>
          </a:p>
        </p:txBody>
      </p:sp>
      <p:sp>
        <p:nvSpPr>
          <p:cNvPr id="13" name="TextBox 12"/>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Marmelab, The State of AI Harness Engineering 2026, 24 Sep 2026. Anthropic, Effective context engineering for AI agents, 29 Sep 2025: system prompts at 'the right altitude'.</a:t>
            </a:r>
          </a:p>
        </p:txBody>
      </p:sp>
      <p:sp>
        <p:nvSpPr>
          <p:cNvPr id="14" name="TextBox 13"/>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2 - Models, Context, Tools and Skills</a:t>
            </a:r>
          </a:p>
        </p:txBody>
      </p:sp>
      <p:sp>
        <p:nvSpPr>
          <p:cNvPr id="15" name="TextBox 14"/>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PIECE 3 - TOOLS</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Tool design is prompt engineering for machines</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Anthropic's rules, Sep 2025</a:t>
            </a:r>
          </a:p>
        </p:txBody>
      </p:sp>
      <p:sp>
        <p:nvSpPr>
          <p:cNvPr id="9" name="TextBox 8"/>
          <p:cNvSpPr txBox="1"/>
          <p:nvPr/>
        </p:nvSpPr>
        <p:spPr>
          <a:xfrm>
            <a:off x="777240"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In plain words: a tool is a function the model asks for by name; the harness runs it</a:t>
            </a:r>
          </a:p>
          <a:p>
            <a:pPr algn="l" indent="-228600" marL="228600">
              <a:spcAft>
                <a:spcPts val="600"/>
              </a:spcAft>
              <a:buClr>
                <a:srgbClr val="1E5EF3"/>
              </a:buClr>
              <a:buChar char="—"/>
            </a:pPr>
            <a:r>
              <a:rPr sz="1300" b="0">
                <a:solidFill>
                  <a:srgbClr val="202B38"/>
                </a:solidFill>
                <a:latin typeface="Arial"/>
              </a:rPr>
              <a:t>The description says when to use the tool and what it returns</a:t>
            </a:r>
          </a:p>
          <a:p>
            <a:pPr algn="l" indent="-228600" marL="228600">
              <a:spcAft>
                <a:spcPts val="600"/>
              </a:spcAft>
              <a:buClr>
                <a:srgbClr val="1E5EF3"/>
              </a:buClr>
              <a:buChar char="—"/>
            </a:pPr>
            <a:r>
              <a:rPr sz="1300" b="0">
                <a:solidFill>
                  <a:srgbClr val="202B38"/>
                </a:solidFill>
                <a:latin typeface="Arial"/>
              </a:rPr>
              <a:t>Name tools as verb phrases the model can reason with: list_files, read_file, write_note - not 'lookup' with an argument 'q'</a:t>
            </a:r>
          </a:p>
          <a:p>
            <a:pPr algn="l" indent="-228600" marL="228600">
              <a:spcAft>
                <a:spcPts val="600"/>
              </a:spcAft>
              <a:buClr>
                <a:srgbClr val="1E5EF3"/>
              </a:buClr>
              <a:buChar char="—"/>
            </a:pPr>
            <a:r>
              <a:rPr sz="1300" b="0">
                <a:solidFill>
                  <a:srgbClr val="202B38"/>
                </a:solidFill>
                <a:latin typeface="Arial"/>
              </a:rPr>
              <a:t>Token-efficient results: filter, truncate, paginate; return ids, not whole documents</a:t>
            </a:r>
          </a:p>
          <a:p>
            <a:pPr algn="l" indent="-228600" marL="228600">
              <a:spcAft>
                <a:spcPts val="600"/>
              </a:spcAft>
              <a:buClr>
                <a:srgbClr val="1E5EF3"/>
              </a:buClr>
              <a:buChar char="—"/>
            </a:pPr>
            <a:r>
              <a:rPr sz="1300" b="0">
                <a:solidFill>
                  <a:srgbClr val="202B38"/>
                </a:solidFill>
                <a:latin typeface="Arial"/>
              </a:rPr>
              <a:t>Errors that teach: say what went wrong and what to try next</a:t>
            </a:r>
          </a:p>
        </p:txBody>
      </p:sp>
      <p:sp>
        <p:nvSpPr>
          <p:cNvPr id="10" name="Rectangle 9"/>
          <p:cNvSpPr/>
          <p:nvPr/>
        </p:nvSpPr>
        <p:spPr>
          <a:xfrm>
            <a:off x="6245352"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One anecdote</a:t>
            </a:r>
          </a:p>
        </p:txBody>
      </p:sp>
      <p:sp>
        <p:nvSpPr>
          <p:cNvPr id="12" name="TextBox 11"/>
          <p:cNvSpPr txBox="1"/>
          <p:nvPr/>
        </p:nvSpPr>
        <p:spPr>
          <a:xfrm>
            <a:off x="6473952"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A web-search tool kept appending '2025' to every query</a:t>
            </a:r>
          </a:p>
          <a:p>
            <a:pPr algn="l" indent="-228600" marL="228600">
              <a:spcAft>
                <a:spcPts val="600"/>
              </a:spcAft>
              <a:buClr>
                <a:srgbClr val="1E5EF3"/>
              </a:buClr>
              <a:buChar char="—"/>
            </a:pPr>
            <a:r>
              <a:rPr sz="1300" b="0">
                <a:solidFill>
                  <a:srgbClr val="202B38"/>
                </a:solidFill>
                <a:latin typeface="Arial"/>
              </a:rPr>
              <a:t>The model had learned the habit from the tool's vague description</a:t>
            </a:r>
          </a:p>
          <a:p>
            <a:pPr algn="l" indent="-228600" marL="228600">
              <a:spcAft>
                <a:spcPts val="600"/>
              </a:spcAft>
              <a:buClr>
                <a:srgbClr val="1E5EF3"/>
              </a:buClr>
              <a:buChar char="—"/>
            </a:pPr>
            <a:r>
              <a:rPr sz="1300" b="0">
                <a:solidFill>
                  <a:srgbClr val="202B38"/>
                </a:solidFill>
                <a:latin typeface="Arial"/>
              </a:rPr>
              <a:t>The fix was not code: a better description of the query argument</a:t>
            </a:r>
          </a:p>
          <a:p>
            <a:pPr algn="l" indent="-228600" marL="228600">
              <a:spcAft>
                <a:spcPts val="600"/>
              </a:spcAft>
              <a:buClr>
                <a:srgbClr val="1E5EF3"/>
              </a:buClr>
              <a:buChar char="—"/>
            </a:pPr>
            <a:r>
              <a:rPr sz="1300" b="0">
                <a:solidFill>
                  <a:srgbClr val="202B38"/>
                </a:solidFill>
                <a:latin typeface="Arial"/>
              </a:rPr>
              <a:t>Lesson: the model reads the description before every call - write it as a prompt</a:t>
            </a:r>
          </a:p>
          <a:p>
            <a:pPr algn="l" indent="-228600" marL="228600">
              <a:spcAft>
                <a:spcPts val="600"/>
              </a:spcAft>
              <a:buClr>
                <a:srgbClr val="1E5EF3"/>
              </a:buClr>
              <a:buChar char="—"/>
            </a:pPr>
            <a:r>
              <a:rPr sz="1300" b="0">
                <a:solidFill>
                  <a:srgbClr val="202B38"/>
                </a:solidFill>
                <a:latin typeface="Arial"/>
              </a:rPr>
              <a:t>Anthropic, Writing effective tools for agents, Sep 2025</a:t>
            </a:r>
          </a:p>
        </p:txBody>
      </p:sp>
      <p:sp>
        <p:nvSpPr>
          <p:cNvPr id="13" name="TextBox 12"/>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Anthropic, Building effective agents, Dec 2024: 'invest as much effort in the agent-computer interface as in the human one.'</a:t>
            </a:r>
          </a:p>
        </p:txBody>
      </p:sp>
      <p:sp>
        <p:nvSpPr>
          <p:cNvPr id="14" name="TextBox 13"/>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2 - Models, Context, Tools and Skills</a:t>
            </a:r>
          </a:p>
        </p:txBody>
      </p:sp>
      <p:sp>
        <p:nvSpPr>
          <p:cNvPr id="15" name="TextBox 14"/>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PIECE 3 - HOW MANY TOOLS</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Fewer, better tools beat many tools</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2286000"/>
            <a:ext cx="9418320" cy="2011680"/>
          </a:xfrm>
          <a:prstGeom prst="rect">
            <a:avLst/>
          </a:prstGeom>
          <a:noFill/>
        </p:spPr>
        <p:txBody>
          <a:bodyPr wrap="square">
            <a:spAutoFit/>
          </a:bodyPr>
          <a:lstStyle/>
          <a:p>
            <a:pPr algn="ctr">
              <a:spcAft>
                <a:spcPts val="600"/>
              </a:spcAft>
              <a:buNone/>
            </a:pPr>
            <a:r>
              <a:rPr sz="9600" b="1">
                <a:solidFill>
                  <a:srgbClr val="1E5EF3"/>
                </a:solidFill>
                <a:latin typeface="Arial"/>
              </a:rPr>
              <a:t>80%</a:t>
            </a:r>
          </a:p>
        </p:txBody>
      </p:sp>
      <p:sp>
        <p:nvSpPr>
          <p:cNvPr id="8" name="TextBox 7"/>
          <p:cNvSpPr txBox="1"/>
          <p:nvPr/>
        </p:nvSpPr>
        <p:spPr>
          <a:xfrm>
            <a:off x="1371600" y="4434840"/>
            <a:ext cx="9418320" cy="731520"/>
          </a:xfrm>
          <a:prstGeom prst="rect">
            <a:avLst/>
          </a:prstGeom>
          <a:noFill/>
        </p:spPr>
        <p:txBody>
          <a:bodyPr wrap="square">
            <a:spAutoFit/>
          </a:bodyPr>
          <a:lstStyle/>
          <a:p>
            <a:pPr algn="ctr">
              <a:spcAft>
                <a:spcPts val="600"/>
              </a:spcAft>
              <a:buNone/>
            </a:pPr>
            <a:r>
              <a:rPr sz="1800" b="0">
                <a:solidFill>
                  <a:srgbClr val="0A2540"/>
                </a:solidFill>
                <a:latin typeface="Arial"/>
              </a:rPr>
              <a:t>of its tools removed by Vercel: task success rose from 80% to 100%, tokens halved, latency fell from 724 s to 141 s</a:t>
            </a:r>
          </a:p>
        </p:txBody>
      </p:sp>
      <p:sp>
        <p:nvSpPr>
          <p:cNvPr id="9" name="TextBox 8"/>
          <p:cNvSpPr txBox="1"/>
          <p:nvPr/>
        </p:nvSpPr>
        <p:spPr>
          <a:xfrm>
            <a:off x="1371600" y="5257800"/>
            <a:ext cx="9418320" cy="640080"/>
          </a:xfrm>
          <a:prstGeom prst="rect">
            <a:avLst/>
          </a:prstGeom>
          <a:noFill/>
        </p:spPr>
        <p:txBody>
          <a:bodyPr wrap="square">
            <a:spAutoFit/>
          </a:bodyPr>
          <a:lstStyle/>
          <a:p>
            <a:pPr algn="ctr">
              <a:spcAft>
                <a:spcPts val="600"/>
              </a:spcAft>
              <a:buNone/>
            </a:pPr>
            <a:r>
              <a:rPr sz="1250" b="0">
                <a:solidFill>
                  <a:srgbClr val="5B6774"/>
                </a:solidFill>
                <a:latin typeface="Arial"/>
              </a:rPr>
              <a:t>Vercel's agent, as reported in Marmelab, The State of AI Harness Engineering 2026, 24 Sep 2026. In plain words: every extra tool is another schema in the context and another wrong choice to make.</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2 - Models, Context, Tools and Skills</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PIECE 3 - THE PLUG</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MCP is the standard plug: any tool server fits any model client</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How to read it: top, the plug between clients and servers; bottom, the dates</a:t>
            </a:r>
          </a:p>
          <a:p>
            <a:pPr algn="l" indent="-228600" marL="228600">
              <a:spcAft>
                <a:spcPts val="800"/>
              </a:spcAft>
              <a:buClr>
                <a:srgbClr val="1E5EF3"/>
              </a:buClr>
              <a:buChar char="—"/>
            </a:pPr>
            <a:r>
              <a:rPr sz="1450" b="0">
                <a:solidFill>
                  <a:srgbClr val="202B38"/>
                </a:solidFill>
                <a:latin typeface="Arial"/>
              </a:rPr>
              <a:t>In plain words: MCP is a standard plug, so any tool server fits any model client</a:t>
            </a:r>
          </a:p>
          <a:p>
            <a:pPr algn="l" indent="-228600" marL="228600">
              <a:spcAft>
                <a:spcPts val="800"/>
              </a:spcAft>
              <a:buClr>
                <a:srgbClr val="1E5EF3"/>
              </a:buClr>
              <a:buChar char="—"/>
            </a:pPr>
            <a:r>
              <a:rPr sz="1450" b="0">
                <a:solidFill>
                  <a:srgbClr val="202B38"/>
                </a:solidFill>
                <a:latin typeface="Arial"/>
              </a:rPr>
              <a:t>Before: each product wrote its own adapter for each tool (function calling, Jun 2023)</a:t>
            </a:r>
          </a:p>
          <a:p>
            <a:pPr algn="l" indent="-228600" marL="228600">
              <a:spcAft>
                <a:spcPts val="800"/>
              </a:spcAft>
              <a:buClr>
                <a:srgbClr val="1E5EF3"/>
              </a:buClr>
              <a:buChar char="—"/>
            </a:pPr>
            <a:r>
              <a:rPr sz="1450" b="0">
                <a:solidFill>
                  <a:srgbClr val="202B38"/>
                </a:solidFill>
                <a:latin typeface="Arial"/>
              </a:rPr>
              <a:t>25 Nov 2024: Anthropic open-sources the Model Context Protocol</a:t>
            </a:r>
          </a:p>
          <a:p>
            <a:pPr algn="l" indent="-228600" marL="228600">
              <a:spcAft>
                <a:spcPts val="800"/>
              </a:spcAft>
              <a:buClr>
                <a:srgbClr val="1E5EF3"/>
              </a:buClr>
              <a:buChar char="—"/>
            </a:pPr>
            <a:r>
              <a:rPr sz="1450" b="0">
                <a:solidFill>
                  <a:srgbClr val="202B38"/>
                </a:solidFill>
                <a:latin typeface="Arial"/>
              </a:rPr>
              <a:t>26 Mar 2025: OpenAI adopts it - Agents SDK, then ChatGPT and the Responses API</a:t>
            </a:r>
          </a:p>
          <a:p>
            <a:pPr algn="l" indent="-228600" marL="228600">
              <a:spcAft>
                <a:spcPts val="800"/>
              </a:spcAft>
              <a:buClr>
                <a:srgbClr val="1E5EF3"/>
              </a:buClr>
              <a:buChar char="—"/>
            </a:pPr>
            <a:r>
              <a:rPr sz="1450" b="0">
                <a:solidFill>
                  <a:srgbClr val="202B38"/>
                </a:solidFill>
                <a:latin typeface="Arial"/>
              </a:rPr>
              <a:t>One protocol: list the tools, call a tool, get the result as text - lab 2 plugs one in with claude mcp add</a:t>
            </a:r>
          </a:p>
        </p:txBody>
      </p:sp>
      <p:pic>
        <p:nvPicPr>
          <p:cNvPr id="8" name="Picture 7" descr="s2_mcp.png"/>
          <p:cNvPicPr>
            <a:picLocks noChangeAspect="1"/>
          </p:cNvPicPr>
          <p:nvPr/>
        </p:nvPicPr>
        <p:blipFill>
          <a:blip r:embed="rId2"/>
          <a:stretch>
            <a:fillRect/>
          </a:stretch>
        </p:blipFill>
        <p:spPr>
          <a:xfrm>
            <a:off x="5149927" y="1874519"/>
            <a:ext cx="6433666" cy="4114800"/>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Illustration. Dates: Anthropic, Introducing the Model Context Protocol, 25 Nov 2024; OpenAI Agents SDK release notes, 26 Mar 2025.</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2 - Models, Context, Tools and Skills</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PIECE 4 - SKILLS</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Skills load in three levels - the catalog is always there, the manual opens on demand</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How to read it: each step down is loaded later and costs more; numbers from the two lab skills on the real tokenizer</a:t>
            </a:r>
          </a:p>
          <a:p>
            <a:pPr algn="l" indent="-228600" marL="228600">
              <a:spcAft>
                <a:spcPts val="800"/>
              </a:spcAft>
              <a:buClr>
                <a:srgbClr val="1E5EF3"/>
              </a:buClr>
              <a:buChar char="—"/>
            </a:pPr>
            <a:r>
              <a:rPr sz="1450" b="0">
                <a:solidFill>
                  <a:srgbClr val="202B38"/>
                </a:solidFill>
                <a:latin typeface="Arial"/>
              </a:rPr>
              <a:t>In plain words: a skill is a folder with a SKILL.md and optional files; read the description first</a:t>
            </a:r>
          </a:p>
          <a:p>
            <a:pPr algn="l" indent="-228600" marL="228600">
              <a:spcAft>
                <a:spcPts val="800"/>
              </a:spcAft>
              <a:buClr>
                <a:srgbClr val="1E5EF3"/>
              </a:buClr>
              <a:buChar char="—"/>
            </a:pPr>
            <a:r>
              <a:rPr sz="1450" b="0">
                <a:solidFill>
                  <a:srgbClr val="202B38"/>
                </a:solidFill>
                <a:latin typeface="Arial"/>
              </a:rPr>
              <a:t>Level 1: name + description of every skill, 152 tokens for the two skills</a:t>
            </a:r>
          </a:p>
          <a:p>
            <a:pPr algn="l" indent="-228600" marL="228600">
              <a:spcAft>
                <a:spcPts val="800"/>
              </a:spcAft>
              <a:buClr>
                <a:srgbClr val="1E5EF3"/>
              </a:buClr>
              <a:buChar char="—"/>
            </a:pPr>
            <a:r>
              <a:rPr sz="1450" b="0">
                <a:solidFill>
                  <a:srgbClr val="202B38"/>
                </a:solidFill>
                <a:latin typeface="Arial"/>
              </a:rPr>
              <a:t>Level 2: the body of the one that matches, 580 tokens if both were loaded (3.8x)</a:t>
            </a:r>
          </a:p>
          <a:p>
            <a:pPr algn="l" indent="-228600" marL="228600">
              <a:spcAft>
                <a:spcPts val="800"/>
              </a:spcAft>
              <a:buClr>
                <a:srgbClr val="1E5EF3"/>
              </a:buClr>
              <a:buChar char="—"/>
            </a:pPr>
            <a:r>
              <a:rPr sz="1450" b="0">
                <a:solidFill>
                  <a:srgbClr val="202B38"/>
                </a:solidFill>
                <a:latin typeface="Arial"/>
              </a:rPr>
              <a:t>Level 3: docs/glossary.md and the other files a step names - opened only while executing</a:t>
            </a:r>
          </a:p>
          <a:p>
            <a:pPr algn="l" indent="-228600" marL="228600">
              <a:spcAft>
                <a:spcPts val="800"/>
              </a:spcAft>
              <a:buClr>
                <a:srgbClr val="1E5EF3"/>
              </a:buClr>
              <a:buChar char="—"/>
            </a:pPr>
            <a:r>
              <a:rPr sz="1450" b="0">
                <a:solidFill>
                  <a:srgbClr val="202B38"/>
                </a:solidFill>
                <a:latin typeface="Arial"/>
              </a:rPr>
              <a:t>Skills teach procedures; tools give abilities; prompts give the task</a:t>
            </a:r>
          </a:p>
        </p:txBody>
      </p:sp>
      <p:pic>
        <p:nvPicPr>
          <p:cNvPr id="8" name="Picture 7" descr="s2_skills_levels.png"/>
          <p:cNvPicPr>
            <a:picLocks noChangeAspect="1"/>
          </p:cNvPicPr>
          <p:nvPr/>
        </p:nvPicPr>
        <p:blipFill>
          <a:blip r:embed="rId2"/>
          <a:stretch>
            <a:fillRect/>
          </a:stretch>
        </p:blipFill>
        <p:spPr>
          <a:xfrm>
            <a:off x="5149927" y="1874519"/>
            <a:ext cx="6433666" cy="4114800"/>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Token counts with count_tokens on claude-opus-5 (notebook 02, section 4.2). Anthropic, Agent Skills, 16 Oct 2025; open standard 18 Dec 2025, 40+ platforms.</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2 - Models, Context, Tools and Skills</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PIECE 4 - THE THREE COMPARED</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Prompts give the task, tools give abilities, skills teach procedures</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874519"/>
          <a:ext cx="11091671" cy="2743200"/>
        </p:xfrm>
        <a:graphic>
          <a:graphicData uri="http://schemas.openxmlformats.org/drawingml/2006/table">
            <a:tbl>
              <a:tblPr firstRow="1" bandRow="1">
                <a:tableStyleId>{5C22544A-7EE6-4342-B048-85BDC9FD1C3A}</a:tableStyleId>
              </a:tblPr>
              <a:tblGrid>
                <a:gridCol w="1602130"/>
                <a:gridCol w="2711297"/>
                <a:gridCol w="3081020"/>
                <a:gridCol w="3697224"/>
              </a:tblGrid>
              <a:tr h="457200">
                <a:tc>
                  <a:txBody>
                    <a:bodyPr wrap="square"/>
                    <a:lstStyle/>
                    <a:p>
                      <a:pPr algn="l">
                        <a:spcAft>
                          <a:spcPts val="0"/>
                        </a:spcAft>
                        <a:buNone/>
                      </a:pPr>
                      <a:r>
                        <a:rPr sz="1300" b="1">
                          <a:solidFill>
                            <a:srgbClr val="FFFFFF"/>
                          </a:solidFill>
                          <a:latin typeface="Arial"/>
                        </a:rPr>
                        <a:t/>
                      </a:r>
                    </a:p>
                  </a:txBody>
                  <a:tcPr>
                    <a:solidFill>
                      <a:srgbClr val="0A2540"/>
                    </a:solidFill>
                  </a:tcPr>
                </a:tc>
                <a:tc>
                  <a:txBody>
                    <a:bodyPr wrap="square"/>
                    <a:lstStyle/>
                    <a:p>
                      <a:pPr algn="l">
                        <a:spcAft>
                          <a:spcPts val="0"/>
                        </a:spcAft>
                        <a:buNone/>
                      </a:pPr>
                      <a:r>
                        <a:rPr sz="1300" b="1">
                          <a:solidFill>
                            <a:srgbClr val="FFFFFF"/>
                          </a:solidFill>
                          <a:latin typeface="Arial"/>
                        </a:rPr>
                        <a:t>Prompt</a:t>
                      </a:r>
                    </a:p>
                  </a:txBody>
                  <a:tcPr>
                    <a:solidFill>
                      <a:srgbClr val="0A2540"/>
                    </a:solidFill>
                  </a:tcPr>
                </a:tc>
                <a:tc>
                  <a:txBody>
                    <a:bodyPr wrap="square"/>
                    <a:lstStyle/>
                    <a:p>
                      <a:pPr algn="l">
                        <a:spcAft>
                          <a:spcPts val="0"/>
                        </a:spcAft>
                        <a:buNone/>
                      </a:pPr>
                      <a:r>
                        <a:rPr sz="1300" b="1">
                          <a:solidFill>
                            <a:srgbClr val="FFFFFF"/>
                          </a:solidFill>
                          <a:latin typeface="Arial"/>
                        </a:rPr>
                        <a:t>Tool</a:t>
                      </a:r>
                    </a:p>
                  </a:txBody>
                  <a:tcPr>
                    <a:solidFill>
                      <a:srgbClr val="0A2540"/>
                    </a:solidFill>
                  </a:tcPr>
                </a:tc>
                <a:tc>
                  <a:txBody>
                    <a:bodyPr wrap="square"/>
                    <a:lstStyle/>
                    <a:p>
                      <a:pPr algn="l">
                        <a:spcAft>
                          <a:spcPts val="0"/>
                        </a:spcAft>
                        <a:buNone/>
                      </a:pPr>
                      <a:r>
                        <a:rPr sz="1300" b="1">
                          <a:solidFill>
                            <a:srgbClr val="FFFFFF"/>
                          </a:solidFill>
                          <a:latin typeface="Arial"/>
                        </a:rPr>
                        <a:t>Skill</a:t>
                      </a:r>
                    </a:p>
                  </a:txBody>
                  <a:tcPr>
                    <a:solidFill>
                      <a:srgbClr val="0A2540"/>
                    </a:solidFill>
                  </a:tcPr>
                </a:tc>
              </a:tr>
              <a:tr h="457200">
                <a:tc>
                  <a:txBody>
                    <a:bodyPr wrap="square"/>
                    <a:lstStyle/>
                    <a:p>
                      <a:pPr algn="l">
                        <a:spcAft>
                          <a:spcPts val="0"/>
                        </a:spcAft>
                        <a:buNone/>
                      </a:pPr>
                      <a:r>
                        <a:rPr sz="1250" b="0">
                          <a:solidFill>
                            <a:srgbClr val="202B38"/>
                          </a:solidFill>
                          <a:latin typeface="Arial"/>
                        </a:rPr>
                        <a:t>What it is</a:t>
                      </a:r>
                    </a:p>
                  </a:txBody>
                  <a:tcPr>
                    <a:solidFill>
                      <a:srgbClr val="FFFFFF"/>
                    </a:solidFill>
                  </a:tcPr>
                </a:tc>
                <a:tc>
                  <a:txBody>
                    <a:bodyPr wrap="square"/>
                    <a:lstStyle/>
                    <a:p>
                      <a:pPr algn="l">
                        <a:spcAft>
                          <a:spcPts val="0"/>
                        </a:spcAft>
                        <a:buNone/>
                      </a:pPr>
                      <a:r>
                        <a:rPr sz="1250" b="0">
                          <a:solidFill>
                            <a:srgbClr val="202B38"/>
                          </a:solidFill>
                          <a:latin typeface="Arial"/>
                        </a:rPr>
                        <a:t>The words you send for this task</a:t>
                      </a:r>
                    </a:p>
                  </a:txBody>
                  <a:tcPr>
                    <a:solidFill>
                      <a:srgbClr val="FFFFFF"/>
                    </a:solidFill>
                  </a:tcPr>
                </a:tc>
                <a:tc>
                  <a:txBody>
                    <a:bodyPr wrap="square"/>
                    <a:lstStyle/>
                    <a:p>
                      <a:pPr algn="l">
                        <a:spcAft>
                          <a:spcPts val="0"/>
                        </a:spcAft>
                        <a:buNone/>
                      </a:pPr>
                      <a:r>
                        <a:rPr sz="1250" b="0">
                          <a:solidFill>
                            <a:srgbClr val="202B38"/>
                          </a:solidFill>
                          <a:latin typeface="Arial"/>
                        </a:rPr>
                        <a:t>A function the model may call by name, with JSON arguments</a:t>
                      </a:r>
                    </a:p>
                  </a:txBody>
                  <a:tcPr>
                    <a:solidFill>
                      <a:srgbClr val="FFFFFF"/>
                    </a:solidFill>
                  </a:tcPr>
                </a:tc>
                <a:tc>
                  <a:txBody>
                    <a:bodyPr wrap="square"/>
                    <a:lstStyle/>
                    <a:p>
                      <a:pPr algn="l">
                        <a:spcAft>
                          <a:spcPts val="0"/>
                        </a:spcAft>
                        <a:buNone/>
                      </a:pPr>
                      <a:r>
                        <a:rPr sz="1250" b="0">
                          <a:solidFill>
                            <a:srgbClr val="202B38"/>
                          </a:solidFill>
                          <a:latin typeface="Arial"/>
                        </a:rPr>
                        <a:t>A folder: SKILL.md (name, description, steps) plus scripts and references</a:t>
                      </a:r>
                    </a:p>
                  </a:txBody>
                  <a:tcPr>
                    <a:solidFill>
                      <a:srgbClr val="FFFFFF"/>
                    </a:solidFill>
                  </a:tcPr>
                </a:tc>
              </a:tr>
              <a:tr h="457200">
                <a:tc>
                  <a:txBody>
                    <a:bodyPr wrap="square"/>
                    <a:lstStyle/>
                    <a:p>
                      <a:pPr algn="l">
                        <a:spcAft>
                          <a:spcPts val="0"/>
                        </a:spcAft>
                        <a:buNone/>
                      </a:pPr>
                      <a:r>
                        <a:rPr sz="1250" b="0">
                          <a:solidFill>
                            <a:srgbClr val="202B38"/>
                          </a:solidFill>
                          <a:latin typeface="Arial"/>
                        </a:rPr>
                        <a:t>What the model gets</a:t>
                      </a:r>
                    </a:p>
                  </a:txBody>
                  <a:tcPr>
                    <a:solidFill>
                      <a:srgbClr val="EEF3FD"/>
                    </a:solidFill>
                  </a:tcPr>
                </a:tc>
                <a:tc>
                  <a:txBody>
                    <a:bodyPr wrap="square"/>
                    <a:lstStyle/>
                    <a:p>
                      <a:pPr algn="l">
                        <a:spcAft>
                          <a:spcPts val="0"/>
                        </a:spcAft>
                        <a:buNone/>
                      </a:pPr>
                      <a:r>
                        <a:rPr sz="1250" b="0">
                          <a:solidFill>
                            <a:srgbClr val="202B38"/>
                          </a:solidFill>
                          <a:latin typeface="Arial"/>
                        </a:rPr>
                        <a:t>The goal and the constraints</a:t>
                      </a:r>
                    </a:p>
                  </a:txBody>
                  <a:tcPr>
                    <a:solidFill>
                      <a:srgbClr val="EEF3FD"/>
                    </a:solidFill>
                  </a:tcPr>
                </a:tc>
                <a:tc>
                  <a:txBody>
                    <a:bodyPr wrap="square"/>
                    <a:lstStyle/>
                    <a:p>
                      <a:pPr algn="l">
                        <a:spcAft>
                          <a:spcPts val="0"/>
                        </a:spcAft>
                        <a:buNone/>
                      </a:pPr>
                      <a:r>
                        <a:rPr sz="1250" b="0">
                          <a:solidFill>
                            <a:srgbClr val="202B38"/>
                          </a:solidFill>
                          <a:latin typeface="Arial"/>
                        </a:rPr>
                        <a:t>An ability: list, read, calculate, check</a:t>
                      </a:r>
                    </a:p>
                  </a:txBody>
                  <a:tcPr>
                    <a:solidFill>
                      <a:srgbClr val="EEF3FD"/>
                    </a:solidFill>
                  </a:tcPr>
                </a:tc>
                <a:tc>
                  <a:txBody>
                    <a:bodyPr wrap="square"/>
                    <a:lstStyle/>
                    <a:p>
                      <a:pPr algn="l">
                        <a:spcAft>
                          <a:spcPts val="0"/>
                        </a:spcAft>
                        <a:buNone/>
                      </a:pPr>
                      <a:r>
                        <a:rPr sz="1250" b="0">
                          <a:solidFill>
                            <a:srgbClr val="202B38"/>
                          </a:solidFill>
                          <a:latin typeface="Arial"/>
                        </a:rPr>
                        <a:t>A procedure: which tools, in which order, with which checks</a:t>
                      </a:r>
                    </a:p>
                  </a:txBody>
                  <a:tcPr>
                    <a:solidFill>
                      <a:srgbClr val="EEF3FD"/>
                    </a:solidFill>
                  </a:tcPr>
                </a:tc>
              </a:tr>
              <a:tr h="457200">
                <a:tc>
                  <a:txBody>
                    <a:bodyPr wrap="square"/>
                    <a:lstStyle/>
                    <a:p>
                      <a:pPr algn="l">
                        <a:spcAft>
                          <a:spcPts val="0"/>
                        </a:spcAft>
                        <a:buNone/>
                      </a:pPr>
                      <a:r>
                        <a:rPr sz="1250" b="0">
                          <a:solidFill>
                            <a:srgbClr val="202B38"/>
                          </a:solidFill>
                          <a:latin typeface="Arial"/>
                        </a:rPr>
                        <a:t>When it loads</a:t>
                      </a:r>
                    </a:p>
                  </a:txBody>
                  <a:tcPr>
                    <a:solidFill>
                      <a:srgbClr val="FFFFFF"/>
                    </a:solidFill>
                  </a:tcPr>
                </a:tc>
                <a:tc>
                  <a:txBody>
                    <a:bodyPr wrap="square"/>
                    <a:lstStyle/>
                    <a:p>
                      <a:pPr algn="l">
                        <a:spcAft>
                          <a:spcPts val="0"/>
                        </a:spcAft>
                        <a:buNone/>
                      </a:pPr>
                      <a:r>
                        <a:rPr sz="1250" b="0">
                          <a:solidFill>
                            <a:srgbClr val="202B38"/>
                          </a:solidFill>
                          <a:latin typeface="Arial"/>
                        </a:rPr>
                        <a:t>Every call</a:t>
                      </a:r>
                    </a:p>
                  </a:txBody>
                  <a:tcPr>
                    <a:solidFill>
                      <a:srgbClr val="FFFFFF"/>
                    </a:solidFill>
                  </a:tcPr>
                </a:tc>
                <a:tc>
                  <a:txBody>
                    <a:bodyPr wrap="square"/>
                    <a:lstStyle/>
                    <a:p>
                      <a:pPr algn="l">
                        <a:spcAft>
                          <a:spcPts val="0"/>
                        </a:spcAft>
                        <a:buNone/>
                      </a:pPr>
                      <a:r>
                        <a:rPr sz="1250" b="0">
                          <a:solidFill>
                            <a:srgbClr val="202B38"/>
                          </a:solidFill>
                          <a:latin typeface="Arial"/>
                        </a:rPr>
                        <a:t>Schema on every call; result when called</a:t>
                      </a:r>
                    </a:p>
                  </a:txBody>
                  <a:tcPr>
                    <a:solidFill>
                      <a:srgbClr val="FFFFFF"/>
                    </a:solidFill>
                  </a:tcPr>
                </a:tc>
                <a:tc>
                  <a:txBody>
                    <a:bodyPr wrap="square"/>
                    <a:lstStyle/>
                    <a:p>
                      <a:pPr algn="l">
                        <a:spcAft>
                          <a:spcPts val="0"/>
                        </a:spcAft>
                        <a:buNone/>
                      </a:pPr>
                      <a:r>
                        <a:rPr sz="1250" b="0">
                          <a:solidFill>
                            <a:srgbClr val="202B38"/>
                          </a:solidFill>
                          <a:latin typeface="Arial"/>
                        </a:rPr>
                        <a:t>Description always; body when the task matches; resources during execution</a:t>
                      </a:r>
                    </a:p>
                  </a:txBody>
                  <a:tcPr>
                    <a:solidFill>
                      <a:srgbClr val="FFFFFF"/>
                    </a:solidFill>
                  </a:tcPr>
                </a:tc>
              </a:tr>
              <a:tr h="457200">
                <a:tc>
                  <a:txBody>
                    <a:bodyPr wrap="square"/>
                    <a:lstStyle/>
                    <a:p>
                      <a:pPr algn="l">
                        <a:spcAft>
                          <a:spcPts val="0"/>
                        </a:spcAft>
                        <a:buNone/>
                      </a:pPr>
                      <a:r>
                        <a:rPr sz="1250" b="0">
                          <a:solidFill>
                            <a:srgbClr val="202B38"/>
                          </a:solidFill>
                          <a:latin typeface="Arial"/>
                        </a:rPr>
                        <a:t>In this module</a:t>
                      </a:r>
                    </a:p>
                  </a:txBody>
                  <a:tcPr>
                    <a:solidFill>
                      <a:srgbClr val="EEF3FD"/>
                    </a:solidFill>
                  </a:tcPr>
                </a:tc>
                <a:tc>
                  <a:txBody>
                    <a:bodyPr wrap="square"/>
                    <a:lstStyle/>
                    <a:p>
                      <a:pPr algn="l">
                        <a:spcAft>
                          <a:spcPts val="0"/>
                        </a:spcAft>
                        <a:buNone/>
                      </a:pPr>
                      <a:r>
                        <a:rPr sz="1250" b="0">
                          <a:solidFill>
                            <a:srgbClr val="202B38"/>
                          </a:solidFill>
                          <a:latin typeface="Arial"/>
                        </a:rPr>
                        <a:t>'Which licence does this repository use?'</a:t>
                      </a:r>
                    </a:p>
                  </a:txBody>
                  <a:tcPr>
                    <a:solidFill>
                      <a:srgbClr val="EEF3FD"/>
                    </a:solidFill>
                  </a:tcPr>
                </a:tc>
                <a:tc>
                  <a:txBody>
                    <a:bodyPr wrap="square"/>
                    <a:lstStyle/>
                    <a:p>
                      <a:pPr algn="l">
                        <a:spcAft>
                          <a:spcPts val="0"/>
                        </a:spcAft>
                        <a:buNone/>
                      </a:pPr>
                      <a:r>
                        <a:rPr sz="1250" b="0">
                          <a:solidFill>
                            <a:srgbClr val="202B38"/>
                          </a:solidFill>
                          <a:latin typeface="Arial"/>
                        </a:rPr>
                        <a:t>list_files, read_file, write_note, read_notes, load_skill</a:t>
                      </a:r>
                    </a:p>
                  </a:txBody>
                  <a:tcPr>
                    <a:solidFill>
                      <a:srgbClr val="EEF3FD"/>
                    </a:solidFill>
                  </a:tcPr>
                </a:tc>
                <a:tc>
                  <a:txBody>
                    <a:bodyPr wrap="square"/>
                    <a:lstStyle/>
                    <a:p>
                      <a:pPr algn="l">
                        <a:spcAft>
                          <a:spcPts val="0"/>
                        </a:spcAft>
                        <a:buNone/>
                      </a:pPr>
                      <a:r>
                        <a:rPr sz="1250" b="0">
                          <a:solidFill>
                            <a:srgbClr val="202B38"/>
                          </a:solidFill>
                          <a:latin typeface="Arial"/>
                        </a:rPr>
                        <a:t>repo-answers, explain-term in lab/.claude/skills/</a:t>
                      </a:r>
                    </a:p>
                  </a:txBody>
                  <a:tcPr>
                    <a:solidFill>
                      <a:srgbClr val="EEF3FD"/>
                    </a:solidFill>
                  </a:tcPr>
                </a:tc>
              </a:tr>
              <a:tr h="457200">
                <a:tc>
                  <a:txBody>
                    <a:bodyPr wrap="square"/>
                    <a:lstStyle/>
                    <a:p>
                      <a:pPr algn="l">
                        <a:spcAft>
                          <a:spcPts val="0"/>
                        </a:spcAft>
                        <a:buNone/>
                      </a:pPr>
                      <a:r>
                        <a:rPr sz="1250" b="0">
                          <a:solidFill>
                            <a:srgbClr val="202B38"/>
                          </a:solidFill>
                          <a:latin typeface="Arial"/>
                        </a:rPr>
                        <a:t>Who writes it</a:t>
                      </a:r>
                    </a:p>
                  </a:txBody>
                  <a:tcPr>
                    <a:solidFill>
                      <a:srgbClr val="FFFFFF"/>
                    </a:solidFill>
                  </a:tcPr>
                </a:tc>
                <a:tc>
                  <a:txBody>
                    <a:bodyPr wrap="square"/>
                    <a:lstStyle/>
                    <a:p>
                      <a:pPr algn="l">
                        <a:spcAft>
                          <a:spcPts val="0"/>
                        </a:spcAft>
                        <a:buNone/>
                      </a:pPr>
                      <a:r>
                        <a:rPr sz="1250" b="0">
                          <a:solidFill>
                            <a:srgbClr val="202B38"/>
                          </a:solidFill>
                          <a:latin typeface="Arial"/>
                        </a:rPr>
                        <a:t>The user, each time</a:t>
                      </a:r>
                    </a:p>
                  </a:txBody>
                  <a:tcPr>
                    <a:solidFill>
                      <a:srgbClr val="FFFFFF"/>
                    </a:solidFill>
                  </a:tcPr>
                </a:tc>
                <a:tc>
                  <a:txBody>
                    <a:bodyPr wrap="square"/>
                    <a:lstStyle/>
                    <a:p>
                      <a:pPr algn="l">
                        <a:spcAft>
                          <a:spcPts val="0"/>
                        </a:spcAft>
                        <a:buNone/>
                      </a:pPr>
                      <a:r>
                        <a:rPr sz="1250" b="0">
                          <a:solidFill>
                            <a:srgbClr val="202B38"/>
                          </a:solidFill>
                          <a:latin typeface="Arial"/>
                        </a:rPr>
                        <a:t>A developer, once</a:t>
                      </a:r>
                    </a:p>
                  </a:txBody>
                  <a:tcPr>
                    <a:solidFill>
                      <a:srgbClr val="FFFFFF"/>
                    </a:solidFill>
                  </a:tcPr>
                </a:tc>
                <a:tc>
                  <a:txBody>
                    <a:bodyPr wrap="square"/>
                    <a:lstStyle/>
                    <a:p>
                      <a:pPr algn="l">
                        <a:spcAft>
                          <a:spcPts val="0"/>
                        </a:spcAft>
                        <a:buNone/>
                      </a:pPr>
                      <a:r>
                        <a:rPr sz="1250" b="0">
                          <a:solidFill>
                            <a:srgbClr val="202B38"/>
                          </a:solidFill>
                          <a:latin typeface="Arial"/>
                        </a:rPr>
                        <a:t>A domain expert, once - reused across tasks and platforms</a:t>
                      </a:r>
                    </a:p>
                  </a:txBody>
                  <a:tcPr>
                    <a:solidFill>
                      <a:srgbClr val="FFFFFF"/>
                    </a:solidFill>
                  </a:tcPr>
                </a:tc>
              </a:tr>
            </a:tbl>
          </a:graphicData>
        </a:graphic>
      </p:graphicFrame>
      <p:sp>
        <p:nvSpPr>
          <p:cNvPr id="8" name="TextBox 7"/>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Anthropic, Agent Skills, 16 Oct 2025; Anthropic, Writing effective tools for agents, Sep 2025.</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2 - Models, Context, Tools and Skills</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3657600" cy="2011680"/>
          </a:xfrm>
          <a:prstGeom prst="rect">
            <a:avLst/>
          </a:prstGeom>
          <a:noFill/>
        </p:spPr>
        <p:txBody>
          <a:bodyPr wrap="square">
            <a:spAutoFit/>
          </a:bodyPr>
          <a:lstStyle/>
          <a:p>
            <a:pPr algn="l">
              <a:spcAft>
                <a:spcPts val="600"/>
              </a:spcAft>
              <a:buNone/>
            </a:pPr>
            <a:r>
              <a:rPr sz="11000" b="1">
                <a:solidFill>
                  <a:srgbClr val="1E5EF3"/>
                </a:solidFill>
                <a:latin typeface="Arial"/>
              </a:rPr>
              <a:t>02</a:t>
            </a:r>
          </a:p>
        </p:txBody>
      </p:sp>
      <p:sp>
        <p:nvSpPr>
          <p:cNvPr id="4" name="TextBox 3"/>
          <p:cNvSpPr txBox="1"/>
          <p:nvPr/>
        </p:nvSpPr>
        <p:spPr>
          <a:xfrm>
            <a:off x="868680" y="3566160"/>
            <a:ext cx="10424160" cy="1280160"/>
          </a:xfrm>
          <a:prstGeom prst="rect">
            <a:avLst/>
          </a:prstGeom>
          <a:noFill/>
        </p:spPr>
        <p:txBody>
          <a:bodyPr wrap="square">
            <a:spAutoFit/>
          </a:bodyPr>
          <a:lstStyle/>
          <a:p>
            <a:pPr algn="l">
              <a:spcAft>
                <a:spcPts val="600"/>
              </a:spcAft>
              <a:buNone/>
            </a:pPr>
            <a:r>
              <a:rPr sz="3400" b="1">
                <a:solidFill>
                  <a:srgbClr val="FFFFFF"/>
                </a:solidFill>
                <a:latin typeface="Arial"/>
              </a:rPr>
              <a:t>Part 2 - The practice: notebook 02 and lab 2</a:t>
            </a:r>
          </a:p>
        </p:txBody>
      </p:sp>
      <p:sp>
        <p:nvSpPr>
          <p:cNvPr id="5" name="TextBox 4"/>
          <p:cNvSpPr txBox="1"/>
          <p:nvPr/>
        </p:nvSpPr>
        <p:spPr>
          <a:xfrm>
            <a:off x="868680" y="4709160"/>
            <a:ext cx="10058400" cy="914400"/>
          </a:xfrm>
          <a:prstGeom prst="rect">
            <a:avLst/>
          </a:prstGeom>
          <a:noFill/>
        </p:spPr>
        <p:txBody>
          <a:bodyPr wrap="square">
            <a:spAutoFit/>
          </a:bodyPr>
          <a:lstStyle/>
          <a:p>
            <a:pPr algn="l">
              <a:spcAft>
                <a:spcPts val="600"/>
              </a:spcAft>
              <a:buNone/>
            </a:pPr>
            <a:r>
              <a:rPr sz="1600" b="0">
                <a:solidFill>
                  <a:srgbClr val="B9D0FA"/>
                </a:solidFill>
                <a:latin typeface="Arial"/>
              </a:rPr>
              <a:t>Three models read from the API, a session that grows and gets compacted, a vague tool against a clear one, skills measured on the real tokenizer - then Claude Code loading a skill and an MCP server.</a:t>
            </a:r>
          </a:p>
        </p:txBody>
      </p:sp>
      <p:sp>
        <p:nvSpPr>
          <p:cNvPr id="6" name="TextBox 5"/>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B9D0FA"/>
                </a:solidFill>
                <a:latin typeface="Arial"/>
              </a:rPr>
              <a:t>M5 Session 2 - Models, Context, Tools and Skills</a:t>
            </a:r>
          </a:p>
        </p:txBody>
      </p:sp>
      <p:sp>
        <p:nvSpPr>
          <p:cNvPr id="7" name="TextBox 6"/>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B9D0FA"/>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02 - THE MODEL</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Three models, read from the API and priced on the same question</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874519"/>
          <a:ext cx="11091670" cy="1828800"/>
        </p:xfrm>
        <a:graphic>
          <a:graphicData uri="http://schemas.openxmlformats.org/drawingml/2006/table">
            <a:tbl>
              <a:tblPr firstRow="1" bandRow="1">
                <a:tableStyleId>{5C22544A-7EE6-4342-B048-85BDC9FD1C3A}</a:tableStyleId>
              </a:tblPr>
              <a:tblGrid>
                <a:gridCol w="2095093"/>
                <a:gridCol w="1478889"/>
                <a:gridCol w="1232408"/>
                <a:gridCol w="1725371"/>
                <a:gridCol w="1232408"/>
                <a:gridCol w="1232408"/>
                <a:gridCol w="985926"/>
                <a:gridCol w="1109167"/>
              </a:tblGrid>
              <a:tr h="457200">
                <a:tc>
                  <a:txBody>
                    <a:bodyPr wrap="square"/>
                    <a:lstStyle/>
                    <a:p>
                      <a:pPr algn="l">
                        <a:spcAft>
                          <a:spcPts val="0"/>
                        </a:spcAft>
                        <a:buNone/>
                      </a:pPr>
                      <a:r>
                        <a:rPr sz="1300" b="1">
                          <a:solidFill>
                            <a:srgbClr val="FFFFFF"/>
                          </a:solidFill>
                          <a:latin typeface="Arial"/>
                        </a:rPr>
                        <a:t>Model</a:t>
                      </a:r>
                    </a:p>
                  </a:txBody>
                  <a:tcPr>
                    <a:solidFill>
                      <a:srgbClr val="0A2540"/>
                    </a:solidFill>
                  </a:tcPr>
                </a:tc>
                <a:tc>
                  <a:txBody>
                    <a:bodyPr wrap="square"/>
                    <a:lstStyle/>
                    <a:p>
                      <a:pPr algn="l">
                        <a:spcAft>
                          <a:spcPts val="0"/>
                        </a:spcAft>
                        <a:buNone/>
                      </a:pPr>
                      <a:r>
                        <a:rPr sz="1300" b="1">
                          <a:solidFill>
                            <a:srgbClr val="FFFFFF"/>
                          </a:solidFill>
                          <a:latin typeface="Arial"/>
                        </a:rPr>
                        <a:t>Context window</a:t>
                      </a:r>
                    </a:p>
                  </a:txBody>
                  <a:tcPr>
                    <a:solidFill>
                      <a:srgbClr val="0A2540"/>
                    </a:solidFill>
                  </a:tcPr>
                </a:tc>
                <a:tc>
                  <a:txBody>
                    <a:bodyPr wrap="square"/>
                    <a:lstStyle/>
                    <a:p>
                      <a:pPr algn="l">
                        <a:spcAft>
                          <a:spcPts val="0"/>
                        </a:spcAft>
                        <a:buNone/>
                      </a:pPr>
                      <a:r>
                        <a:rPr sz="1300" b="1">
                          <a:solidFill>
                            <a:srgbClr val="FFFFFF"/>
                          </a:solidFill>
                          <a:latin typeface="Arial"/>
                        </a:rPr>
                        <a:t>Max output</a:t>
                      </a:r>
                    </a:p>
                  </a:txBody>
                  <a:tcPr>
                    <a:solidFill>
                      <a:srgbClr val="0A2540"/>
                    </a:solidFill>
                  </a:tcPr>
                </a:tc>
                <a:tc>
                  <a:txBody>
                    <a:bodyPr wrap="square"/>
                    <a:lstStyle/>
                    <a:p>
                      <a:pPr algn="l">
                        <a:spcAft>
                          <a:spcPts val="0"/>
                        </a:spcAft>
                        <a:buNone/>
                      </a:pPr>
                      <a:r>
                        <a:rPr sz="1300" b="1">
                          <a:solidFill>
                            <a:srgbClr val="FFFFFF"/>
                          </a:solidFill>
                          <a:latin typeface="Arial"/>
                        </a:rPr>
                        <a:t>Effort parameter</a:t>
                      </a:r>
                    </a:p>
                  </a:txBody>
                  <a:tcPr>
                    <a:solidFill>
                      <a:srgbClr val="0A2540"/>
                    </a:solidFill>
                  </a:tcPr>
                </a:tc>
                <a:tc>
                  <a:txBody>
                    <a:bodyPr wrap="square"/>
                    <a:lstStyle/>
                    <a:p>
                      <a:pPr algn="l">
                        <a:spcAft>
                          <a:spcPts val="0"/>
                        </a:spcAft>
                        <a:buNone/>
                      </a:pPr>
                      <a:r>
                        <a:rPr sz="1300" b="1">
                          <a:solidFill>
                            <a:srgbClr val="FFFFFF"/>
                          </a:solidFill>
                          <a:latin typeface="Arial"/>
                        </a:rPr>
                        <a:t>Input tokens</a:t>
                      </a:r>
                    </a:p>
                  </a:txBody>
                  <a:tcPr>
                    <a:solidFill>
                      <a:srgbClr val="0A2540"/>
                    </a:solidFill>
                  </a:tcPr>
                </a:tc>
                <a:tc>
                  <a:txBody>
                    <a:bodyPr wrap="square"/>
                    <a:lstStyle/>
                    <a:p>
                      <a:pPr algn="l">
                        <a:spcAft>
                          <a:spcPts val="0"/>
                        </a:spcAft>
                        <a:buNone/>
                      </a:pPr>
                      <a:r>
                        <a:rPr sz="1300" b="1">
                          <a:solidFill>
                            <a:srgbClr val="FFFFFF"/>
                          </a:solidFill>
                          <a:latin typeface="Arial"/>
                        </a:rPr>
                        <a:t>Output tokens</a:t>
                      </a:r>
                    </a:p>
                  </a:txBody>
                  <a:tcPr>
                    <a:solidFill>
                      <a:srgbClr val="0A2540"/>
                    </a:solidFill>
                  </a:tcPr>
                </a:tc>
                <a:tc>
                  <a:txBody>
                    <a:bodyPr wrap="square"/>
                    <a:lstStyle/>
                    <a:p>
                      <a:pPr algn="l">
                        <a:spcAft>
                          <a:spcPts val="0"/>
                        </a:spcAft>
                        <a:buNone/>
                      </a:pPr>
                      <a:r>
                        <a:rPr sz="1300" b="1">
                          <a:solidFill>
                            <a:srgbClr val="FFFFFF"/>
                          </a:solidFill>
                          <a:latin typeface="Arial"/>
                        </a:rPr>
                        <a:t>Seconds</a:t>
                      </a:r>
                    </a:p>
                  </a:txBody>
                  <a:tcPr>
                    <a:solidFill>
                      <a:srgbClr val="0A2540"/>
                    </a:solidFill>
                  </a:tcPr>
                </a:tc>
                <a:tc>
                  <a:txBody>
                    <a:bodyPr wrap="square"/>
                    <a:lstStyle/>
                    <a:p>
                      <a:pPr algn="l">
                        <a:spcAft>
                          <a:spcPts val="0"/>
                        </a:spcAft>
                        <a:buNone/>
                      </a:pPr>
                      <a:r>
                        <a:rPr sz="1300" b="1">
                          <a:solidFill>
                            <a:srgbClr val="FFFFFF"/>
                          </a:solidFill>
                          <a:latin typeface="Arial"/>
                        </a:rPr>
                        <a:t>Cost USD</a:t>
                      </a:r>
                    </a:p>
                  </a:txBody>
                  <a:tcPr>
                    <a:solidFill>
                      <a:srgbClr val="0A2540"/>
                    </a:solidFill>
                  </a:tcPr>
                </a:tc>
              </a:tr>
              <a:tr h="457200">
                <a:tc>
                  <a:txBody>
                    <a:bodyPr wrap="square"/>
                    <a:lstStyle/>
                    <a:p>
                      <a:pPr algn="l">
                        <a:spcAft>
                          <a:spcPts val="0"/>
                        </a:spcAft>
                        <a:buNone/>
                      </a:pPr>
                      <a:r>
                        <a:rPr sz="1100" b="0">
                          <a:solidFill>
                            <a:srgbClr val="0A2540"/>
                          </a:solidFill>
                          <a:latin typeface="Courier New"/>
                        </a:rPr>
                        <a:t>claude-opus-5</a:t>
                      </a:r>
                    </a:p>
                  </a:txBody>
                  <a:tcPr>
                    <a:solidFill>
                      <a:srgbClr val="FFFFFF"/>
                    </a:solidFill>
                  </a:tcPr>
                </a:tc>
                <a:tc>
                  <a:txBody>
                    <a:bodyPr wrap="square"/>
                    <a:lstStyle/>
                    <a:p>
                      <a:pPr algn="l">
                        <a:spcAft>
                          <a:spcPts val="0"/>
                        </a:spcAft>
                        <a:buNone/>
                      </a:pPr>
                      <a:r>
                        <a:rPr sz="1250" b="0">
                          <a:solidFill>
                            <a:srgbClr val="202B38"/>
                          </a:solidFill>
                          <a:latin typeface="Arial"/>
                        </a:rPr>
                        <a:t>1,000,000</a:t>
                      </a:r>
                    </a:p>
                  </a:txBody>
                  <a:tcPr>
                    <a:solidFill>
                      <a:srgbClr val="FFFFFF"/>
                    </a:solidFill>
                  </a:tcPr>
                </a:tc>
                <a:tc>
                  <a:txBody>
                    <a:bodyPr wrap="square"/>
                    <a:lstStyle/>
                    <a:p>
                      <a:pPr algn="l">
                        <a:spcAft>
                          <a:spcPts val="0"/>
                        </a:spcAft>
                        <a:buNone/>
                      </a:pPr>
                      <a:r>
                        <a:rPr sz="1250" b="0">
                          <a:solidFill>
                            <a:srgbClr val="202B38"/>
                          </a:solidFill>
                          <a:latin typeface="Arial"/>
                        </a:rPr>
                        <a:t>128,000</a:t>
                      </a:r>
                    </a:p>
                  </a:txBody>
                  <a:tcPr>
                    <a:solidFill>
                      <a:srgbClr val="FFFFFF"/>
                    </a:solidFill>
                  </a:tcPr>
                </a:tc>
                <a:tc>
                  <a:txBody>
                    <a:bodyPr wrap="square"/>
                    <a:lstStyle/>
                    <a:p>
                      <a:pPr algn="l">
                        <a:spcAft>
                          <a:spcPts val="0"/>
                        </a:spcAft>
                        <a:buNone/>
                      </a:pPr>
                      <a:r>
                        <a:rPr sz="1250" b="0">
                          <a:solidFill>
                            <a:srgbClr val="202B38"/>
                          </a:solidFill>
                          <a:latin typeface="Arial"/>
                        </a:rPr>
                        <a:t>yes</a:t>
                      </a:r>
                    </a:p>
                  </a:txBody>
                  <a:tcPr>
                    <a:solidFill>
                      <a:srgbClr val="FFFFFF"/>
                    </a:solidFill>
                  </a:tcPr>
                </a:tc>
                <a:tc>
                  <a:txBody>
                    <a:bodyPr wrap="square"/>
                    <a:lstStyle/>
                    <a:p>
                      <a:pPr algn="l">
                        <a:spcAft>
                          <a:spcPts val="0"/>
                        </a:spcAft>
                        <a:buNone/>
                      </a:pPr>
                      <a:r>
                        <a:rPr sz="1250" b="0">
                          <a:solidFill>
                            <a:srgbClr val="202B38"/>
                          </a:solidFill>
                          <a:latin typeface="Arial"/>
                        </a:rPr>
                        <a:t>1,321</a:t>
                      </a:r>
                    </a:p>
                  </a:txBody>
                  <a:tcPr>
                    <a:solidFill>
                      <a:srgbClr val="FFFFFF"/>
                    </a:solidFill>
                  </a:tcPr>
                </a:tc>
                <a:tc>
                  <a:txBody>
                    <a:bodyPr wrap="square"/>
                    <a:lstStyle/>
                    <a:p>
                      <a:pPr algn="l">
                        <a:spcAft>
                          <a:spcPts val="0"/>
                        </a:spcAft>
                        <a:buNone/>
                      </a:pPr>
                      <a:r>
                        <a:rPr sz="1250" b="0">
                          <a:solidFill>
                            <a:srgbClr val="202B38"/>
                          </a:solidFill>
                          <a:latin typeface="Arial"/>
                        </a:rPr>
                        <a:t>50</a:t>
                      </a:r>
                    </a:p>
                  </a:txBody>
                  <a:tcPr>
                    <a:solidFill>
                      <a:srgbClr val="FFFFFF"/>
                    </a:solidFill>
                  </a:tcPr>
                </a:tc>
                <a:tc>
                  <a:txBody>
                    <a:bodyPr wrap="square"/>
                    <a:lstStyle/>
                    <a:p>
                      <a:pPr algn="l">
                        <a:spcAft>
                          <a:spcPts val="0"/>
                        </a:spcAft>
                        <a:buNone/>
                      </a:pPr>
                      <a:r>
                        <a:rPr sz="1250" b="0">
                          <a:solidFill>
                            <a:srgbClr val="202B38"/>
                          </a:solidFill>
                          <a:latin typeface="Arial"/>
                        </a:rPr>
                        <a:t>1.7</a:t>
                      </a:r>
                    </a:p>
                  </a:txBody>
                  <a:tcPr>
                    <a:solidFill>
                      <a:srgbClr val="FFFFFF"/>
                    </a:solidFill>
                  </a:tcPr>
                </a:tc>
                <a:tc>
                  <a:txBody>
                    <a:bodyPr wrap="square"/>
                    <a:lstStyle/>
                    <a:p>
                      <a:pPr algn="l">
                        <a:spcAft>
                          <a:spcPts val="0"/>
                        </a:spcAft>
                        <a:buNone/>
                      </a:pPr>
                      <a:r>
                        <a:rPr sz="1250" b="0">
                          <a:solidFill>
                            <a:srgbClr val="202B38"/>
                          </a:solidFill>
                          <a:latin typeface="Arial"/>
                        </a:rPr>
                        <a:t>0.00785</a:t>
                      </a:r>
                    </a:p>
                  </a:txBody>
                  <a:tcPr>
                    <a:solidFill>
                      <a:srgbClr val="FFFFFF"/>
                    </a:solidFill>
                  </a:tcPr>
                </a:tc>
              </a:tr>
              <a:tr h="457200">
                <a:tc>
                  <a:txBody>
                    <a:bodyPr wrap="square"/>
                    <a:lstStyle/>
                    <a:p>
                      <a:pPr algn="l">
                        <a:spcAft>
                          <a:spcPts val="0"/>
                        </a:spcAft>
                        <a:buNone/>
                      </a:pPr>
                      <a:r>
                        <a:rPr sz="1100" b="0">
                          <a:solidFill>
                            <a:srgbClr val="0A2540"/>
                          </a:solidFill>
                          <a:latin typeface="Courier New"/>
                        </a:rPr>
                        <a:t>claude-sonnet-5</a:t>
                      </a:r>
                    </a:p>
                  </a:txBody>
                  <a:tcPr>
                    <a:solidFill>
                      <a:srgbClr val="EEF3FD"/>
                    </a:solidFill>
                  </a:tcPr>
                </a:tc>
                <a:tc>
                  <a:txBody>
                    <a:bodyPr wrap="square"/>
                    <a:lstStyle/>
                    <a:p>
                      <a:pPr algn="l">
                        <a:spcAft>
                          <a:spcPts val="0"/>
                        </a:spcAft>
                        <a:buNone/>
                      </a:pPr>
                      <a:r>
                        <a:rPr sz="1250" b="0">
                          <a:solidFill>
                            <a:srgbClr val="202B38"/>
                          </a:solidFill>
                          <a:latin typeface="Arial"/>
                        </a:rPr>
                        <a:t>1,000,000</a:t>
                      </a:r>
                    </a:p>
                  </a:txBody>
                  <a:tcPr>
                    <a:solidFill>
                      <a:srgbClr val="EEF3FD"/>
                    </a:solidFill>
                  </a:tcPr>
                </a:tc>
                <a:tc>
                  <a:txBody>
                    <a:bodyPr wrap="square"/>
                    <a:lstStyle/>
                    <a:p>
                      <a:pPr algn="l">
                        <a:spcAft>
                          <a:spcPts val="0"/>
                        </a:spcAft>
                        <a:buNone/>
                      </a:pPr>
                      <a:r>
                        <a:rPr sz="1250" b="0">
                          <a:solidFill>
                            <a:srgbClr val="202B38"/>
                          </a:solidFill>
                          <a:latin typeface="Arial"/>
                        </a:rPr>
                        <a:t>128,000</a:t>
                      </a:r>
                    </a:p>
                  </a:txBody>
                  <a:tcPr>
                    <a:solidFill>
                      <a:srgbClr val="EEF3FD"/>
                    </a:solidFill>
                  </a:tcPr>
                </a:tc>
                <a:tc>
                  <a:txBody>
                    <a:bodyPr wrap="square"/>
                    <a:lstStyle/>
                    <a:p>
                      <a:pPr algn="l">
                        <a:spcAft>
                          <a:spcPts val="0"/>
                        </a:spcAft>
                        <a:buNone/>
                      </a:pPr>
                      <a:r>
                        <a:rPr sz="1250" b="0">
                          <a:solidFill>
                            <a:srgbClr val="202B38"/>
                          </a:solidFill>
                          <a:latin typeface="Arial"/>
                        </a:rPr>
                        <a:t>yes</a:t>
                      </a:r>
                    </a:p>
                  </a:txBody>
                  <a:tcPr>
                    <a:solidFill>
                      <a:srgbClr val="EEF3FD"/>
                    </a:solidFill>
                  </a:tcPr>
                </a:tc>
                <a:tc>
                  <a:txBody>
                    <a:bodyPr wrap="square"/>
                    <a:lstStyle/>
                    <a:p>
                      <a:pPr algn="l">
                        <a:spcAft>
                          <a:spcPts val="0"/>
                        </a:spcAft>
                        <a:buNone/>
                      </a:pPr>
                      <a:r>
                        <a:rPr sz="1250" b="0">
                          <a:solidFill>
                            <a:srgbClr val="202B38"/>
                          </a:solidFill>
                          <a:latin typeface="Arial"/>
                        </a:rPr>
                        <a:t>1,321</a:t>
                      </a:r>
                    </a:p>
                  </a:txBody>
                  <a:tcPr>
                    <a:solidFill>
                      <a:srgbClr val="EEF3FD"/>
                    </a:solidFill>
                  </a:tcPr>
                </a:tc>
                <a:tc>
                  <a:txBody>
                    <a:bodyPr wrap="square"/>
                    <a:lstStyle/>
                    <a:p>
                      <a:pPr algn="l">
                        <a:spcAft>
                          <a:spcPts val="0"/>
                        </a:spcAft>
                        <a:buNone/>
                      </a:pPr>
                      <a:r>
                        <a:rPr sz="1250" b="0">
                          <a:solidFill>
                            <a:srgbClr val="202B38"/>
                          </a:solidFill>
                          <a:latin typeface="Arial"/>
                        </a:rPr>
                        <a:t>37</a:t>
                      </a:r>
                    </a:p>
                  </a:txBody>
                  <a:tcPr>
                    <a:solidFill>
                      <a:srgbClr val="EEF3FD"/>
                    </a:solidFill>
                  </a:tcPr>
                </a:tc>
                <a:tc>
                  <a:txBody>
                    <a:bodyPr wrap="square"/>
                    <a:lstStyle/>
                    <a:p>
                      <a:pPr algn="l">
                        <a:spcAft>
                          <a:spcPts val="0"/>
                        </a:spcAft>
                        <a:buNone/>
                      </a:pPr>
                      <a:r>
                        <a:rPr sz="1250" b="0">
                          <a:solidFill>
                            <a:srgbClr val="202B38"/>
                          </a:solidFill>
                          <a:latin typeface="Arial"/>
                        </a:rPr>
                        <a:t>1.2</a:t>
                      </a:r>
                    </a:p>
                  </a:txBody>
                  <a:tcPr>
                    <a:solidFill>
                      <a:srgbClr val="EEF3FD"/>
                    </a:solidFill>
                  </a:tcPr>
                </a:tc>
                <a:tc>
                  <a:txBody>
                    <a:bodyPr wrap="square"/>
                    <a:lstStyle/>
                    <a:p>
                      <a:pPr algn="l">
                        <a:spcAft>
                          <a:spcPts val="0"/>
                        </a:spcAft>
                        <a:buNone/>
                      </a:pPr>
                      <a:r>
                        <a:rPr sz="1250" b="0">
                          <a:solidFill>
                            <a:srgbClr val="202B38"/>
                          </a:solidFill>
                          <a:latin typeface="Arial"/>
                        </a:rPr>
                        <a:t>0.00301</a:t>
                      </a:r>
                    </a:p>
                  </a:txBody>
                  <a:tcPr>
                    <a:solidFill>
                      <a:srgbClr val="EEF3FD"/>
                    </a:solidFill>
                  </a:tcPr>
                </a:tc>
              </a:tr>
              <a:tr h="457200">
                <a:tc>
                  <a:txBody>
                    <a:bodyPr wrap="square"/>
                    <a:lstStyle/>
                    <a:p>
                      <a:pPr algn="l">
                        <a:spcAft>
                          <a:spcPts val="0"/>
                        </a:spcAft>
                        <a:buNone/>
                      </a:pPr>
                      <a:r>
                        <a:rPr sz="1100" b="0">
                          <a:solidFill>
                            <a:srgbClr val="0A2540"/>
                          </a:solidFill>
                          <a:latin typeface="Courier New"/>
                        </a:rPr>
                        <a:t>claude-haiku-4-5</a:t>
                      </a:r>
                    </a:p>
                  </a:txBody>
                  <a:tcPr>
                    <a:solidFill>
                      <a:srgbClr val="FFFFFF"/>
                    </a:solidFill>
                  </a:tcPr>
                </a:tc>
                <a:tc>
                  <a:txBody>
                    <a:bodyPr wrap="square"/>
                    <a:lstStyle/>
                    <a:p>
                      <a:pPr algn="l">
                        <a:spcAft>
                          <a:spcPts val="0"/>
                        </a:spcAft>
                        <a:buNone/>
                      </a:pPr>
                      <a:r>
                        <a:rPr sz="1250" b="0">
                          <a:solidFill>
                            <a:srgbClr val="202B38"/>
                          </a:solidFill>
                          <a:latin typeface="Arial"/>
                        </a:rPr>
                        <a:t>200,000</a:t>
                      </a:r>
                    </a:p>
                  </a:txBody>
                  <a:tcPr>
                    <a:solidFill>
                      <a:srgbClr val="FFFFFF"/>
                    </a:solidFill>
                  </a:tcPr>
                </a:tc>
                <a:tc>
                  <a:txBody>
                    <a:bodyPr wrap="square"/>
                    <a:lstStyle/>
                    <a:p>
                      <a:pPr algn="l">
                        <a:spcAft>
                          <a:spcPts val="0"/>
                        </a:spcAft>
                        <a:buNone/>
                      </a:pPr>
                      <a:r>
                        <a:rPr sz="1250" b="0">
                          <a:solidFill>
                            <a:srgbClr val="202B38"/>
                          </a:solidFill>
                          <a:latin typeface="Arial"/>
                        </a:rPr>
                        <a:t>64,000</a:t>
                      </a:r>
                    </a:p>
                  </a:txBody>
                  <a:tcPr>
                    <a:solidFill>
                      <a:srgbClr val="FFFFFF"/>
                    </a:solidFill>
                  </a:tcPr>
                </a:tc>
                <a:tc>
                  <a:txBody>
                    <a:bodyPr wrap="square"/>
                    <a:lstStyle/>
                    <a:p>
                      <a:pPr algn="l">
                        <a:spcAft>
                          <a:spcPts val="0"/>
                        </a:spcAft>
                        <a:buNone/>
                      </a:pPr>
                      <a:r>
                        <a:rPr sz="1250" b="0">
                          <a:solidFill>
                            <a:srgbClr val="202B38"/>
                          </a:solidFill>
                          <a:latin typeface="Arial"/>
                        </a:rPr>
                        <a:t>no (400 if sent)</a:t>
                      </a:r>
                    </a:p>
                  </a:txBody>
                  <a:tcPr>
                    <a:solidFill>
                      <a:srgbClr val="FFFFFF"/>
                    </a:solidFill>
                  </a:tcPr>
                </a:tc>
                <a:tc>
                  <a:txBody>
                    <a:bodyPr wrap="square"/>
                    <a:lstStyle/>
                    <a:p>
                      <a:pPr algn="l">
                        <a:spcAft>
                          <a:spcPts val="0"/>
                        </a:spcAft>
                        <a:buNone/>
                      </a:pPr>
                      <a:r>
                        <a:rPr sz="1250" b="0">
                          <a:solidFill>
                            <a:srgbClr val="202B38"/>
                          </a:solidFill>
                          <a:latin typeface="Arial"/>
                        </a:rPr>
                        <a:t>945</a:t>
                      </a:r>
                    </a:p>
                  </a:txBody>
                  <a:tcPr>
                    <a:solidFill>
                      <a:srgbClr val="FFFFFF"/>
                    </a:solidFill>
                  </a:tcPr>
                </a:tc>
                <a:tc>
                  <a:txBody>
                    <a:bodyPr wrap="square"/>
                    <a:lstStyle/>
                    <a:p>
                      <a:pPr algn="l">
                        <a:spcAft>
                          <a:spcPts val="0"/>
                        </a:spcAft>
                        <a:buNone/>
                      </a:pPr>
                      <a:r>
                        <a:rPr sz="1250" b="0">
                          <a:solidFill>
                            <a:srgbClr val="202B38"/>
                          </a:solidFill>
                          <a:latin typeface="Arial"/>
                        </a:rPr>
                        <a:t>29</a:t>
                      </a:r>
                    </a:p>
                  </a:txBody>
                  <a:tcPr>
                    <a:solidFill>
                      <a:srgbClr val="FFFFFF"/>
                    </a:solidFill>
                  </a:tcPr>
                </a:tc>
                <a:tc>
                  <a:txBody>
                    <a:bodyPr wrap="square"/>
                    <a:lstStyle/>
                    <a:p>
                      <a:pPr algn="l">
                        <a:spcAft>
                          <a:spcPts val="0"/>
                        </a:spcAft>
                        <a:buNone/>
                      </a:pPr>
                      <a:r>
                        <a:rPr sz="1250" b="0">
                          <a:solidFill>
                            <a:srgbClr val="202B38"/>
                          </a:solidFill>
                          <a:latin typeface="Arial"/>
                        </a:rPr>
                        <a:t>0.9</a:t>
                      </a:r>
                    </a:p>
                  </a:txBody>
                  <a:tcPr>
                    <a:solidFill>
                      <a:srgbClr val="FFFFFF"/>
                    </a:solidFill>
                  </a:tcPr>
                </a:tc>
                <a:tc>
                  <a:txBody>
                    <a:bodyPr wrap="square"/>
                    <a:lstStyle/>
                    <a:p>
                      <a:pPr algn="l">
                        <a:spcAft>
                          <a:spcPts val="0"/>
                        </a:spcAft>
                        <a:buNone/>
                      </a:pPr>
                      <a:r>
                        <a:rPr sz="1250" b="0">
                          <a:solidFill>
                            <a:srgbClr val="202B38"/>
                          </a:solidFill>
                          <a:latin typeface="Arial"/>
                        </a:rPr>
                        <a:t>0.00109</a:t>
                      </a:r>
                    </a:p>
                  </a:txBody>
                  <a:tcPr>
                    <a:solidFill>
                      <a:srgbClr val="FFFFFF"/>
                    </a:solidFill>
                  </a:tcPr>
                </a:tc>
              </a:tr>
            </a:tbl>
          </a:graphicData>
        </a:graphic>
      </p:graphicFrame>
      <p:sp>
        <p:nvSpPr>
          <p:cNvPr id="8" name="TextBox 7"/>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Left: client.models.retrieve (1.2). Right: the same workflow file and question to all three; all answered Python 3.12 and 9 notebooks (1.3). Haiku 4.5 rejects effort, so the notebook reads capabilities first. Recorded run of 30 Sep 2026; live runs vary.</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2 - Models, Context, Tools and Skills</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02 - CONTEXT</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Every call re-sends everything before it: five questions, 11 model calls, 43,109 prompt tokens</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How to read it: one bar per model call, in order; each bar is the whole conversation so far, navy bars follow a file read</a:t>
            </a:r>
          </a:p>
          <a:p>
            <a:pPr algn="l" indent="-228600" marL="228600">
              <a:spcAft>
                <a:spcPts val="800"/>
              </a:spcAft>
              <a:buClr>
                <a:srgbClr val="1E5EF3"/>
              </a:buClr>
              <a:buChar char="—"/>
            </a:pPr>
            <a:r>
              <a:rPr sz="1450" b="0">
                <a:solidFill>
                  <a:srgbClr val="202B38"/>
                </a:solidFill>
                <a:latin typeface="Arial"/>
              </a:rPr>
              <a:t>Counted first with count_tokens: system prompt 87 tokens, the two tool schemas 609, README.md as read_file returns it 4,777</a:t>
            </a:r>
          </a:p>
          <a:p>
            <a:pPr algn="l" indent="-228600" marL="228600">
              <a:spcAft>
                <a:spcPts val="800"/>
              </a:spcAft>
              <a:buClr>
                <a:srgbClr val="1E5EF3"/>
              </a:buClr>
              <a:buChar char="—"/>
            </a:pPr>
            <a:r>
              <a:rPr sz="1450" b="0">
                <a:solidFill>
                  <a:srgbClr val="202B38"/>
                </a:solidFill>
                <a:latin typeface="Arial"/>
              </a:rPr>
              <a:t>Five questions on claude-sonnet-5 at low effort: 11 model calls, 43,109 prompt tokens, 0.0953 USD, 22 messages in the history</a:t>
            </a:r>
          </a:p>
          <a:p>
            <a:pPr algn="l" indent="-228600" marL="228600">
              <a:spcAft>
                <a:spcPts val="800"/>
              </a:spcAft>
              <a:buClr>
                <a:srgbClr val="1E5EF3"/>
              </a:buClr>
              <a:buChar char="—"/>
            </a:pPr>
            <a:r>
              <a:rPr sz="1450" b="0">
                <a:solidFill>
                  <a:srgbClr val="202B38"/>
                </a:solidFill>
                <a:latin typeface="Arial"/>
              </a:rPr>
              <a:t>Question 1 took 3 calls and 3,828 input tokens; question 5 took 2 calls and 17,460, because every earlier file read rode along</a:t>
            </a:r>
          </a:p>
          <a:p>
            <a:pPr algn="l" indent="-228600" marL="228600">
              <a:spcAft>
                <a:spcPts val="800"/>
              </a:spcAft>
              <a:buClr>
                <a:srgbClr val="1E5EF3"/>
              </a:buClr>
              <a:buChar char="—"/>
            </a:pPr>
            <a:r>
              <a:rPr sz="1450" b="0">
                <a:solidFill>
                  <a:srgbClr val="202B38"/>
                </a:solidFill>
                <a:latin typeface="Arial"/>
              </a:rPr>
              <a:t>The same README counts 4,777 tokens on opus-5 and sonnet-5 but 3,557 on haiku-4-5: always count with the model you will call</a:t>
            </a:r>
          </a:p>
          <a:p>
            <a:pPr algn="l" indent="-228600" marL="228600">
              <a:spcAft>
                <a:spcPts val="800"/>
              </a:spcAft>
              <a:buClr>
                <a:srgbClr val="1E5EF3"/>
              </a:buClr>
              <a:buChar char="—"/>
            </a:pPr>
            <a:r>
              <a:rPr sz="1450" b="0">
                <a:solidFill>
                  <a:srgbClr val="202B38"/>
                </a:solidFill>
                <a:latin typeface="Arial"/>
              </a:rPr>
              <a:t>In plain words: a file you read once is paid for again on every later call of the session</a:t>
            </a:r>
          </a:p>
        </p:txBody>
      </p:sp>
      <p:pic>
        <p:nvPicPr>
          <p:cNvPr id="8" name="Picture 7" descr="s2_session_growth.png"/>
          <p:cNvPicPr>
            <a:picLocks noChangeAspect="1"/>
          </p:cNvPicPr>
          <p:nvPr/>
        </p:nvPicPr>
        <p:blipFill>
          <a:blip r:embed="rId2"/>
          <a:stretch>
            <a:fillRect/>
          </a:stretch>
        </p:blipFill>
        <p:spPr>
          <a:xfrm>
            <a:off x="5120640" y="1874519"/>
            <a:ext cx="6492240" cy="4042835"/>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Notebook 02, sections 2.1 and 2.2, values as printed by the notebook; recorded run of 30 Sep 2026; live runs vary.</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2 - Models, Context, Tools and Skills</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02 - CONTEXT</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Compaction cuts the next prompt from 9,465 to 2,681 tokens; notes survive a fresh session</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How to read it: the same session counted twice; bar 2 keeps the last question plus a summary</a:t>
            </a:r>
          </a:p>
          <a:p>
            <a:pPr algn="l" indent="-228600" marL="228600">
              <a:spcAft>
                <a:spcPts val="800"/>
              </a:spcAft>
              <a:buClr>
                <a:srgbClr val="1E5EF3"/>
              </a:buClr>
              <a:buChar char="—"/>
            </a:pPr>
            <a:r>
              <a:rPr sz="1450" b="0">
                <a:solidFill>
                  <a:srgbClr val="202B38"/>
                </a:solidFill>
                <a:latin typeface="Arial"/>
              </a:rPr>
              <a:t>The summary by claude-sonnet-5: 1,296 in, 586 out, 0.0085 USD; 22 messages became 6, 72% smaller</a:t>
            </a:r>
          </a:p>
          <a:p>
            <a:pPr algn="l" indent="-228600" marL="228600">
              <a:spcAft>
                <a:spcPts val="800"/>
              </a:spcAft>
              <a:buClr>
                <a:srgbClr val="1E5EF3"/>
              </a:buClr>
              <a:buChar char="—"/>
            </a:pPr>
            <a:r>
              <a:rPr sz="1450" b="0">
                <a:solidFill>
                  <a:srgbClr val="202B38"/>
                </a:solidFill>
                <a:latin typeface="Arial"/>
              </a:rPr>
              <a:t>A sixth question answered from the summary alone: 1 model call, 0 tool calls, 2,781 input tokens</a:t>
            </a:r>
          </a:p>
          <a:p>
            <a:pPr algn="l" indent="-228600" marL="228600">
              <a:spcAft>
                <a:spcPts val="800"/>
              </a:spcAft>
              <a:buClr>
                <a:srgbClr val="1E5EF3"/>
              </a:buClr>
              <a:buChar char="—"/>
            </a:pPr>
            <a:r>
              <a:rPr sz="1450" b="0">
                <a:solidFill>
                  <a:srgbClr val="202B38"/>
                </a:solidFill>
                <a:latin typeface="Arial"/>
              </a:rPr>
              <a:t>Lossy on purpose: what the summary drops is gone; the summarizing prompt is context engineering</a:t>
            </a:r>
          </a:p>
          <a:p>
            <a:pPr algn="l" indent="-228600" marL="228600">
              <a:spcAft>
                <a:spcPts val="800"/>
              </a:spcAft>
              <a:buClr>
                <a:srgbClr val="1E5EF3"/>
              </a:buClr>
              <a:buChar char="—"/>
            </a:pPr>
            <a:r>
              <a:rPr sz="1450" b="0">
                <a:solidFill>
                  <a:srgbClr val="202B38"/>
                </a:solidFill>
                <a:latin typeface="Arial"/>
              </a:rPr>
              <a:t>Notes are two ordinary tools, write_note and read_notes; the agent saved 2 facts with their sources</a:t>
            </a:r>
          </a:p>
          <a:p>
            <a:pPr algn="l" indent="-228600" marL="228600">
              <a:spcAft>
                <a:spcPts val="800"/>
              </a:spcAft>
              <a:buClr>
                <a:srgbClr val="1E5EF3"/>
              </a:buClr>
              <a:buChar char="—"/>
            </a:pPr>
            <a:r>
              <a:rPr sz="1450" b="0">
                <a:solidFill>
                  <a:srgbClr val="202B38"/>
                </a:solidFill>
                <a:latin typeface="Arial"/>
              </a:rPr>
              <a:t>A fresh session read them back: 2 model calls, 1 tool call, 2,096 input tokens, 0.0156 USD</a:t>
            </a:r>
          </a:p>
        </p:txBody>
      </p:sp>
      <p:pic>
        <p:nvPicPr>
          <p:cNvPr id="8" name="Picture 7" descr="s2_compaction.png"/>
          <p:cNvPicPr>
            <a:picLocks noChangeAspect="1"/>
          </p:cNvPicPr>
          <p:nvPr/>
        </p:nvPicPr>
        <p:blipFill>
          <a:blip r:embed="rId2"/>
          <a:stretch>
            <a:fillRect/>
          </a:stretch>
        </p:blipFill>
        <p:spPr>
          <a:xfrm>
            <a:off x="5120640" y="1874519"/>
            <a:ext cx="6492240" cy="4045570"/>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Notebook 02, section 2.3 (compaction) and 2.4 (notes); recorded run of 30 Sep 2026; live runs vary. Anthropic, Effective context engineering, 29 Sep 2025.</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2 - Models, Context, Tools and Skills</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02 - TOOLS</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Five recorded runs on the same tools: the description, the error text and the gate decide the outcome</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874519"/>
          <a:ext cx="11091667" cy="2743200"/>
        </p:xfrm>
        <a:graphic>
          <a:graphicData uri="http://schemas.openxmlformats.org/drawingml/2006/table">
            <a:tbl>
              <a:tblPr firstRow="1" bandRow="1">
                <a:tableStyleId>{5C22544A-7EE6-4342-B048-85BDC9FD1C3A}</a:tableStyleId>
              </a:tblPr>
              <a:tblGrid>
                <a:gridCol w="2156714"/>
                <a:gridCol w="718904"/>
                <a:gridCol w="718904"/>
                <a:gridCol w="872955"/>
                <a:gridCol w="872955"/>
                <a:gridCol w="872955"/>
                <a:gridCol w="821605"/>
                <a:gridCol w="821605"/>
                <a:gridCol w="3235070"/>
              </a:tblGrid>
              <a:tr h="457200">
                <a:tc>
                  <a:txBody>
                    <a:bodyPr wrap="square"/>
                    <a:lstStyle/>
                    <a:p>
                      <a:pPr algn="l">
                        <a:spcAft>
                          <a:spcPts val="0"/>
                        </a:spcAft>
                        <a:buNone/>
                      </a:pPr>
                      <a:r>
                        <a:rPr sz="1150" b="1">
                          <a:solidFill>
                            <a:srgbClr val="FFFFFF"/>
                          </a:solidFill>
                          <a:latin typeface="Arial"/>
                        </a:rPr>
                        <a:t>Run (section)</a:t>
                      </a:r>
                    </a:p>
                  </a:txBody>
                  <a:tcPr>
                    <a:solidFill>
                      <a:srgbClr val="0A2540"/>
                    </a:solidFill>
                  </a:tcPr>
                </a:tc>
                <a:tc>
                  <a:txBody>
                    <a:bodyPr wrap="square"/>
                    <a:lstStyle/>
                    <a:p>
                      <a:pPr algn="l">
                        <a:spcAft>
                          <a:spcPts val="0"/>
                        </a:spcAft>
                        <a:buNone/>
                      </a:pPr>
                      <a:r>
                        <a:rPr sz="1150" b="1">
                          <a:solidFill>
                            <a:srgbClr val="FFFFFF"/>
                          </a:solidFill>
                          <a:latin typeface="Arial"/>
                        </a:rPr>
                        <a:t>Model calls</a:t>
                      </a:r>
                    </a:p>
                  </a:txBody>
                  <a:tcPr>
                    <a:solidFill>
                      <a:srgbClr val="0A2540"/>
                    </a:solidFill>
                  </a:tcPr>
                </a:tc>
                <a:tc>
                  <a:txBody>
                    <a:bodyPr wrap="square"/>
                    <a:lstStyle/>
                    <a:p>
                      <a:pPr algn="l">
                        <a:spcAft>
                          <a:spcPts val="0"/>
                        </a:spcAft>
                        <a:buNone/>
                      </a:pPr>
                      <a:r>
                        <a:rPr sz="1150" b="1">
                          <a:solidFill>
                            <a:srgbClr val="FFFFFF"/>
                          </a:solidFill>
                          <a:latin typeface="Arial"/>
                        </a:rPr>
                        <a:t>Tool calls</a:t>
                      </a:r>
                    </a:p>
                  </a:txBody>
                  <a:tcPr>
                    <a:solidFill>
                      <a:srgbClr val="0A2540"/>
                    </a:solidFill>
                  </a:tcPr>
                </a:tc>
                <a:tc>
                  <a:txBody>
                    <a:bodyPr wrap="square"/>
                    <a:lstStyle/>
                    <a:p>
                      <a:pPr algn="l">
                        <a:spcAft>
                          <a:spcPts val="0"/>
                        </a:spcAft>
                        <a:buNone/>
                      </a:pPr>
                      <a:r>
                        <a:rPr sz="1150" b="1">
                          <a:solidFill>
                            <a:srgbClr val="FFFFFF"/>
                          </a:solidFill>
                          <a:latin typeface="Arial"/>
                        </a:rPr>
                        <a:t>Failed or denied</a:t>
                      </a:r>
                    </a:p>
                  </a:txBody>
                  <a:tcPr>
                    <a:solidFill>
                      <a:srgbClr val="0A2540"/>
                    </a:solidFill>
                  </a:tcPr>
                </a:tc>
                <a:tc>
                  <a:txBody>
                    <a:bodyPr wrap="square"/>
                    <a:lstStyle/>
                    <a:p>
                      <a:pPr algn="l">
                        <a:spcAft>
                          <a:spcPts val="0"/>
                        </a:spcAft>
                        <a:buNone/>
                      </a:pPr>
                      <a:r>
                        <a:rPr sz="1150" b="1">
                          <a:solidFill>
                            <a:srgbClr val="FFFFFF"/>
                          </a:solidFill>
                          <a:latin typeface="Arial"/>
                        </a:rPr>
                        <a:t>Input tokens</a:t>
                      </a:r>
                    </a:p>
                  </a:txBody>
                  <a:tcPr>
                    <a:solidFill>
                      <a:srgbClr val="0A2540"/>
                    </a:solidFill>
                  </a:tcPr>
                </a:tc>
                <a:tc>
                  <a:txBody>
                    <a:bodyPr wrap="square"/>
                    <a:lstStyle/>
                    <a:p>
                      <a:pPr algn="l">
                        <a:spcAft>
                          <a:spcPts val="0"/>
                        </a:spcAft>
                        <a:buNone/>
                      </a:pPr>
                      <a:r>
                        <a:rPr sz="1150" b="1">
                          <a:solidFill>
                            <a:srgbClr val="FFFFFF"/>
                          </a:solidFill>
                          <a:latin typeface="Arial"/>
                        </a:rPr>
                        <a:t>Output tokens</a:t>
                      </a:r>
                    </a:p>
                  </a:txBody>
                  <a:tcPr>
                    <a:solidFill>
                      <a:srgbClr val="0A2540"/>
                    </a:solidFill>
                  </a:tcPr>
                </a:tc>
                <a:tc>
                  <a:txBody>
                    <a:bodyPr wrap="square"/>
                    <a:lstStyle/>
                    <a:p>
                      <a:pPr algn="l">
                        <a:spcAft>
                          <a:spcPts val="0"/>
                        </a:spcAft>
                        <a:buNone/>
                      </a:pPr>
                      <a:r>
                        <a:rPr sz="1150" b="1">
                          <a:solidFill>
                            <a:srgbClr val="FFFFFF"/>
                          </a:solidFill>
                          <a:latin typeface="Arial"/>
                        </a:rPr>
                        <a:t>Cost USD</a:t>
                      </a:r>
                    </a:p>
                  </a:txBody>
                  <a:tcPr>
                    <a:solidFill>
                      <a:srgbClr val="0A2540"/>
                    </a:solidFill>
                  </a:tcPr>
                </a:tc>
                <a:tc>
                  <a:txBody>
                    <a:bodyPr wrap="square"/>
                    <a:lstStyle/>
                    <a:p>
                      <a:pPr algn="l">
                        <a:spcAft>
                          <a:spcPts val="0"/>
                        </a:spcAft>
                        <a:buNone/>
                      </a:pPr>
                      <a:r>
                        <a:rPr sz="1150" b="1">
                          <a:solidFill>
                            <a:srgbClr val="FFFFFF"/>
                          </a:solidFill>
                          <a:latin typeface="Arial"/>
                        </a:rPr>
                        <a:t>Time (s)</a:t>
                      </a:r>
                    </a:p>
                  </a:txBody>
                  <a:tcPr>
                    <a:solidFill>
                      <a:srgbClr val="0A2540"/>
                    </a:solidFill>
                  </a:tcPr>
                </a:tc>
                <a:tc>
                  <a:txBody>
                    <a:bodyPr wrap="square"/>
                    <a:lstStyle/>
                    <a:p>
                      <a:pPr algn="l">
                        <a:spcAft>
                          <a:spcPts val="0"/>
                        </a:spcAft>
                        <a:buNone/>
                      </a:pPr>
                      <a:r>
                        <a:rPr sz="1150" b="1">
                          <a:solidFill>
                            <a:srgbClr val="FFFFFF"/>
                          </a:solidFill>
                          <a:latin typeface="Arial"/>
                        </a:rPr>
                        <a:t>What happened</a:t>
                      </a:r>
                    </a:p>
                  </a:txBody>
                  <a:tcPr>
                    <a:solidFill>
                      <a:srgbClr val="0A2540"/>
                    </a:solidFill>
                  </a:tcPr>
                </a:tc>
              </a:tr>
              <a:tr h="457200">
                <a:tc>
                  <a:txBody>
                    <a:bodyPr wrap="square"/>
                    <a:lstStyle/>
                    <a:p>
                      <a:pPr algn="l">
                        <a:spcAft>
                          <a:spcPts val="0"/>
                        </a:spcAft>
                        <a:buNone/>
                      </a:pPr>
                      <a:r>
                        <a:rPr sz="1100" b="0">
                          <a:solidFill>
                            <a:srgbClr val="202B38"/>
                          </a:solidFill>
                          <a:latin typeface="Arial"/>
                        </a:rPr>
                        <a:t>vague lookup: 'Searches.', argument q (3.2)</a:t>
                      </a:r>
                    </a:p>
                  </a:txBody>
                  <a:tcPr>
                    <a:solidFill>
                      <a:srgbClr val="FFFFFF"/>
                    </a:solidFill>
                  </a:tcPr>
                </a:tc>
                <a:tc>
                  <a:txBody>
                    <a:bodyPr wrap="square"/>
                    <a:lstStyle/>
                    <a:p>
                      <a:pPr algn="l">
                        <a:spcAft>
                          <a:spcPts val="0"/>
                        </a:spcAft>
                        <a:buNone/>
                      </a:pPr>
                      <a:r>
                        <a:rPr sz="1100" b="0">
                          <a:solidFill>
                            <a:srgbClr val="202B38"/>
                          </a:solidFill>
                          <a:latin typeface="Arial"/>
                        </a:rPr>
                        <a:t>5</a:t>
                      </a:r>
                    </a:p>
                  </a:txBody>
                  <a:tcPr>
                    <a:solidFill>
                      <a:srgbClr val="FFFFFF"/>
                    </a:solidFill>
                  </a:tcPr>
                </a:tc>
                <a:tc>
                  <a:txBody>
                    <a:bodyPr wrap="square"/>
                    <a:lstStyle/>
                    <a:p>
                      <a:pPr algn="l">
                        <a:spcAft>
                          <a:spcPts val="0"/>
                        </a:spcAft>
                        <a:buNone/>
                      </a:pPr>
                      <a:r>
                        <a:rPr sz="1100" b="0">
                          <a:solidFill>
                            <a:srgbClr val="202B38"/>
                          </a:solidFill>
                          <a:latin typeface="Arial"/>
                        </a:rPr>
                        <a:t>5</a:t>
                      </a:r>
                    </a:p>
                  </a:txBody>
                  <a:tcPr>
                    <a:solidFill>
                      <a:srgbClr val="FFFFFF"/>
                    </a:solidFill>
                  </a:tcPr>
                </a:tc>
                <a:tc>
                  <a:txBody>
                    <a:bodyPr wrap="square"/>
                    <a:lstStyle/>
                    <a:p>
                      <a:pPr algn="l">
                        <a:spcAft>
                          <a:spcPts val="0"/>
                        </a:spcAft>
                        <a:buNone/>
                      </a:pPr>
                      <a:r>
                        <a:rPr sz="1100" b="0">
                          <a:solidFill>
                            <a:srgbClr val="202B38"/>
                          </a:solidFill>
                          <a:latin typeface="Arial"/>
                        </a:rPr>
                        <a:t>1 failed</a:t>
                      </a:r>
                    </a:p>
                  </a:txBody>
                  <a:tcPr>
                    <a:solidFill>
                      <a:srgbClr val="FFFFFF"/>
                    </a:solidFill>
                  </a:tcPr>
                </a:tc>
                <a:tc>
                  <a:txBody>
                    <a:bodyPr wrap="square"/>
                    <a:lstStyle/>
                    <a:p>
                      <a:pPr algn="l">
                        <a:spcAft>
                          <a:spcPts val="0"/>
                        </a:spcAft>
                        <a:buNone/>
                      </a:pPr>
                      <a:r>
                        <a:rPr sz="1100" b="0">
                          <a:solidFill>
                            <a:srgbClr val="202B38"/>
                          </a:solidFill>
                          <a:latin typeface="Arial"/>
                        </a:rPr>
                        <a:t>6,474</a:t>
                      </a:r>
                    </a:p>
                  </a:txBody>
                  <a:tcPr>
                    <a:solidFill>
                      <a:srgbClr val="FFFFFF"/>
                    </a:solidFill>
                  </a:tcPr>
                </a:tc>
                <a:tc>
                  <a:txBody>
                    <a:bodyPr wrap="square"/>
                    <a:lstStyle/>
                    <a:p>
                      <a:pPr algn="l">
                        <a:spcAft>
                          <a:spcPts val="0"/>
                        </a:spcAft>
                        <a:buNone/>
                      </a:pPr>
                      <a:r>
                        <a:rPr sz="1100" b="0">
                          <a:solidFill>
                            <a:srgbClr val="202B38"/>
                          </a:solidFill>
                          <a:latin typeface="Arial"/>
                        </a:rPr>
                        <a:t>399</a:t>
                      </a:r>
                    </a:p>
                  </a:txBody>
                  <a:tcPr>
                    <a:solidFill>
                      <a:srgbClr val="FFFFFF"/>
                    </a:solidFill>
                  </a:tcPr>
                </a:tc>
                <a:tc>
                  <a:txBody>
                    <a:bodyPr wrap="square"/>
                    <a:lstStyle/>
                    <a:p>
                      <a:pPr algn="l">
                        <a:spcAft>
                          <a:spcPts val="0"/>
                        </a:spcAft>
                        <a:buNone/>
                      </a:pPr>
                      <a:r>
                        <a:rPr sz="1100" b="0">
                          <a:solidFill>
                            <a:srgbClr val="202B38"/>
                          </a:solidFill>
                          <a:latin typeface="Arial"/>
                        </a:rPr>
                        <a:t>0.0423</a:t>
                      </a:r>
                    </a:p>
                  </a:txBody>
                  <a:tcPr>
                    <a:solidFill>
                      <a:srgbClr val="FFFFFF"/>
                    </a:solidFill>
                  </a:tcPr>
                </a:tc>
                <a:tc>
                  <a:txBody>
                    <a:bodyPr wrap="square"/>
                    <a:lstStyle/>
                    <a:p>
                      <a:pPr algn="l">
                        <a:spcAft>
                          <a:spcPts val="0"/>
                        </a:spcAft>
                        <a:buNone/>
                      </a:pPr>
                      <a:r>
                        <a:rPr sz="1100" b="0">
                          <a:solidFill>
                            <a:srgbClr val="202B38"/>
                          </a:solidFill>
                          <a:latin typeface="Arial"/>
                        </a:rPr>
                        <a:t>19.1</a:t>
                      </a:r>
                    </a:p>
                  </a:txBody>
                  <a:tcPr>
                    <a:solidFill>
                      <a:srgbClr val="FFFFFF"/>
                    </a:solidFill>
                  </a:tcPr>
                </a:tc>
                <a:tc>
                  <a:txBody>
                    <a:bodyPr wrap="square"/>
                    <a:lstStyle/>
                    <a:p>
                      <a:pPr algn="l">
                        <a:spcAft>
                          <a:spcPts val="0"/>
                        </a:spcAft>
                        <a:buNone/>
                      </a:pPr>
                      <a:r>
                        <a:rPr sz="1100" b="0">
                          <a:solidFill>
                            <a:srgbClr val="202B38"/>
                          </a:solidFill>
                          <a:latin typeface="Arial"/>
                        </a:rPr>
                        <a:t>First call sent a search phrase, not a path; the error text taught it; answered 3.12 and named the file</a:t>
                      </a:r>
                    </a:p>
                  </a:txBody>
                  <a:tcPr>
                    <a:solidFill>
                      <a:srgbClr val="FFFFFF"/>
                    </a:solidFill>
                  </a:tcPr>
                </a:tc>
              </a:tr>
              <a:tr h="457200">
                <a:tc>
                  <a:txBody>
                    <a:bodyPr wrap="square"/>
                    <a:lstStyle/>
                    <a:p>
                      <a:pPr algn="l">
                        <a:spcAft>
                          <a:spcPts val="0"/>
                        </a:spcAft>
                        <a:buNone/>
                      </a:pPr>
                      <a:r>
                        <a:rPr sz="1100" b="0">
                          <a:solidFill>
                            <a:srgbClr val="202B38"/>
                          </a:solidFill>
                          <a:latin typeface="Arial"/>
                        </a:rPr>
                        <a:t>clear read_file (3.2)</a:t>
                      </a:r>
                    </a:p>
                  </a:txBody>
                  <a:tcPr>
                    <a:solidFill>
                      <a:srgbClr val="EEF3FD"/>
                    </a:solidFill>
                  </a:tcPr>
                </a:tc>
                <a:tc>
                  <a:txBody>
                    <a:bodyPr wrap="square"/>
                    <a:lstStyle/>
                    <a:p>
                      <a:pPr algn="l">
                        <a:spcAft>
                          <a:spcPts val="0"/>
                        </a:spcAft>
                        <a:buNone/>
                      </a:pPr>
                      <a:r>
                        <a:rPr sz="1100" b="0">
                          <a:solidFill>
                            <a:srgbClr val="202B38"/>
                          </a:solidFill>
                          <a:latin typeface="Arial"/>
                        </a:rPr>
                        <a:t>3</a:t>
                      </a:r>
                    </a:p>
                  </a:txBody>
                  <a:tcPr>
                    <a:solidFill>
                      <a:srgbClr val="EEF3FD"/>
                    </a:solidFill>
                  </a:tcPr>
                </a:tc>
                <a:tc>
                  <a:txBody>
                    <a:bodyPr wrap="square"/>
                    <a:lstStyle/>
                    <a:p>
                      <a:pPr algn="l">
                        <a:spcAft>
                          <a:spcPts val="0"/>
                        </a:spcAft>
                        <a:buNone/>
                      </a:pPr>
                      <a:r>
                        <a:rPr sz="1100" b="0">
                          <a:solidFill>
                            <a:srgbClr val="202B38"/>
                          </a:solidFill>
                          <a:latin typeface="Arial"/>
                        </a:rPr>
                        <a:t>3</a:t>
                      </a:r>
                    </a:p>
                  </a:txBody>
                  <a:tcPr>
                    <a:solidFill>
                      <a:srgbClr val="EEF3FD"/>
                    </a:solidFill>
                  </a:tcPr>
                </a:tc>
                <a:tc>
                  <a:txBody>
                    <a:bodyPr wrap="square"/>
                    <a:lstStyle/>
                    <a:p>
                      <a:pPr algn="l">
                        <a:spcAft>
                          <a:spcPts val="0"/>
                        </a:spcAft>
                        <a:buNone/>
                      </a:pPr>
                      <a:r>
                        <a:rPr sz="1100" b="0">
                          <a:solidFill>
                            <a:srgbClr val="202B38"/>
                          </a:solidFill>
                          <a:latin typeface="Arial"/>
                        </a:rPr>
                        <a:t>0</a:t>
                      </a:r>
                    </a:p>
                  </a:txBody>
                  <a:tcPr>
                    <a:solidFill>
                      <a:srgbClr val="EEF3FD"/>
                    </a:solidFill>
                  </a:tcPr>
                </a:tc>
                <a:tc>
                  <a:txBody>
                    <a:bodyPr wrap="square"/>
                    <a:lstStyle/>
                    <a:p>
                      <a:pPr algn="l">
                        <a:spcAft>
                          <a:spcPts val="0"/>
                        </a:spcAft>
                        <a:buNone/>
                      </a:pPr>
                      <a:r>
                        <a:rPr sz="1100" b="0">
                          <a:solidFill>
                            <a:srgbClr val="202B38"/>
                          </a:solidFill>
                          <a:latin typeface="Arial"/>
                        </a:rPr>
                        <a:t>4,207</a:t>
                      </a:r>
                    </a:p>
                  </a:txBody>
                  <a:tcPr>
                    <a:solidFill>
                      <a:srgbClr val="EEF3FD"/>
                    </a:solidFill>
                  </a:tcPr>
                </a:tc>
                <a:tc>
                  <a:txBody>
                    <a:bodyPr wrap="square"/>
                    <a:lstStyle/>
                    <a:p>
                      <a:pPr algn="l">
                        <a:spcAft>
                          <a:spcPts val="0"/>
                        </a:spcAft>
                        <a:buNone/>
                      </a:pPr>
                      <a:r>
                        <a:rPr sz="1100" b="0">
                          <a:solidFill>
                            <a:srgbClr val="202B38"/>
                          </a:solidFill>
                          <a:latin typeface="Arial"/>
                        </a:rPr>
                        <a:t>284</a:t>
                      </a:r>
                    </a:p>
                  </a:txBody>
                  <a:tcPr>
                    <a:solidFill>
                      <a:srgbClr val="EEF3FD"/>
                    </a:solidFill>
                  </a:tcPr>
                </a:tc>
                <a:tc>
                  <a:txBody>
                    <a:bodyPr wrap="square"/>
                    <a:lstStyle/>
                    <a:p>
                      <a:pPr algn="l">
                        <a:spcAft>
                          <a:spcPts val="0"/>
                        </a:spcAft>
                        <a:buNone/>
                      </a:pPr>
                      <a:r>
                        <a:rPr sz="1100" b="0">
                          <a:solidFill>
                            <a:srgbClr val="202B38"/>
                          </a:solidFill>
                          <a:latin typeface="Arial"/>
                        </a:rPr>
                        <a:t>0.0281</a:t>
                      </a:r>
                    </a:p>
                  </a:txBody>
                  <a:tcPr>
                    <a:solidFill>
                      <a:srgbClr val="EEF3FD"/>
                    </a:solidFill>
                  </a:tcPr>
                </a:tc>
                <a:tc>
                  <a:txBody>
                    <a:bodyPr wrap="square"/>
                    <a:lstStyle/>
                    <a:p>
                      <a:pPr algn="l">
                        <a:spcAft>
                          <a:spcPts val="0"/>
                        </a:spcAft>
                        <a:buNone/>
                      </a:pPr>
                      <a:r>
                        <a:rPr sz="1100" b="0">
                          <a:solidFill>
                            <a:srgbClr val="202B38"/>
                          </a:solidFill>
                          <a:latin typeface="Arial"/>
                        </a:rPr>
                        <a:t>5.4</a:t>
                      </a:r>
                    </a:p>
                  </a:txBody>
                  <a:tcPr>
                    <a:solidFill>
                      <a:srgbClr val="EEF3FD"/>
                    </a:solidFill>
                  </a:tcPr>
                </a:tc>
                <a:tc>
                  <a:txBody>
                    <a:bodyPr wrap="square"/>
                    <a:lstStyle/>
                    <a:p>
                      <a:pPr algn="l">
                        <a:spcAft>
                          <a:spcPts val="0"/>
                        </a:spcAft>
                        <a:buNone/>
                      </a:pPr>
                      <a:r>
                        <a:rPr sz="1100" b="0">
                          <a:solidFill>
                            <a:srgbClr val="202B38"/>
                          </a:solidFill>
                          <a:latin typeface="Arial"/>
                        </a:rPr>
                        <a:t>Listed the folder, read the file, answered 3.12 and named the file</a:t>
                      </a:r>
                    </a:p>
                  </a:txBody>
                  <a:tcPr>
                    <a:solidFill>
                      <a:srgbClr val="EEF3FD"/>
                    </a:solidFill>
                  </a:tcPr>
                </a:tc>
              </a:tr>
              <a:tr h="457200">
                <a:tc>
                  <a:txBody>
                    <a:bodyPr wrap="square"/>
                    <a:lstStyle/>
                    <a:p>
                      <a:pPr algn="l">
                        <a:spcAft>
                          <a:spcPts val="0"/>
                        </a:spcAft>
                        <a:buNone/>
                      </a:pPr>
                      <a:r>
                        <a:rPr sz="1100" b="0">
                          <a:solidFill>
                            <a:srgbClr val="202B38"/>
                          </a:solidFill>
                          <a:latin typeface="Arial"/>
                        </a:rPr>
                        <a:t>error recovery: read docs/README.md (3.3)</a:t>
                      </a:r>
                    </a:p>
                  </a:txBody>
                  <a:tcPr>
                    <a:solidFill>
                      <a:srgbClr val="FFFFFF"/>
                    </a:solidFill>
                  </a:tcPr>
                </a:tc>
                <a:tc>
                  <a:txBody>
                    <a:bodyPr wrap="square"/>
                    <a:lstStyle/>
                    <a:p>
                      <a:pPr algn="l">
                        <a:spcAft>
                          <a:spcPts val="0"/>
                        </a:spcAft>
                        <a:buNone/>
                      </a:pPr>
                      <a:r>
                        <a:rPr sz="1100" b="0">
                          <a:solidFill>
                            <a:srgbClr val="202B38"/>
                          </a:solidFill>
                          <a:latin typeface="Arial"/>
                        </a:rPr>
                        <a:t>4</a:t>
                      </a:r>
                    </a:p>
                  </a:txBody>
                  <a:tcPr>
                    <a:solidFill>
                      <a:srgbClr val="FFFFFF"/>
                    </a:solidFill>
                  </a:tcPr>
                </a:tc>
                <a:tc>
                  <a:txBody>
                    <a:bodyPr wrap="square"/>
                    <a:lstStyle/>
                    <a:p>
                      <a:pPr algn="l">
                        <a:spcAft>
                          <a:spcPts val="0"/>
                        </a:spcAft>
                        <a:buNone/>
                      </a:pPr>
                      <a:r>
                        <a:rPr sz="1100" b="0">
                          <a:solidFill>
                            <a:srgbClr val="202B38"/>
                          </a:solidFill>
                          <a:latin typeface="Arial"/>
                        </a:rPr>
                        <a:t>4</a:t>
                      </a:r>
                    </a:p>
                  </a:txBody>
                  <a:tcPr>
                    <a:solidFill>
                      <a:srgbClr val="FFFFFF"/>
                    </a:solidFill>
                  </a:tcPr>
                </a:tc>
                <a:tc>
                  <a:txBody>
                    <a:bodyPr wrap="square"/>
                    <a:lstStyle/>
                    <a:p>
                      <a:pPr algn="l">
                        <a:spcAft>
                          <a:spcPts val="0"/>
                        </a:spcAft>
                        <a:buNone/>
                      </a:pPr>
                      <a:r>
                        <a:rPr sz="1100" b="0">
                          <a:solidFill>
                            <a:srgbClr val="202B38"/>
                          </a:solidFill>
                          <a:latin typeface="Arial"/>
                        </a:rPr>
                        <a:t>1 failed</a:t>
                      </a:r>
                    </a:p>
                  </a:txBody>
                  <a:tcPr>
                    <a:solidFill>
                      <a:srgbClr val="FFFFFF"/>
                    </a:solidFill>
                  </a:tcPr>
                </a:tc>
                <a:tc>
                  <a:txBody>
                    <a:bodyPr wrap="square"/>
                    <a:lstStyle/>
                    <a:p>
                      <a:pPr algn="l">
                        <a:spcAft>
                          <a:spcPts val="0"/>
                        </a:spcAft>
                        <a:buNone/>
                      </a:pPr>
                      <a:r>
                        <a:rPr sz="1100" b="0">
                          <a:solidFill>
                            <a:srgbClr val="202B38"/>
                          </a:solidFill>
                          <a:latin typeface="Arial"/>
                        </a:rPr>
                        <a:t>9,176</a:t>
                      </a:r>
                    </a:p>
                  </a:txBody>
                  <a:tcPr>
                    <a:solidFill>
                      <a:srgbClr val="FFFFFF"/>
                    </a:solidFill>
                  </a:tcPr>
                </a:tc>
                <a:tc>
                  <a:txBody>
                    <a:bodyPr wrap="square"/>
                    <a:lstStyle/>
                    <a:p>
                      <a:pPr algn="l">
                        <a:spcAft>
                          <a:spcPts val="0"/>
                        </a:spcAft>
                        <a:buNone/>
                      </a:pPr>
                      <a:r>
                        <a:rPr sz="1100" b="0">
                          <a:solidFill>
                            <a:srgbClr val="202B38"/>
                          </a:solidFill>
                          <a:latin typeface="Arial"/>
                        </a:rPr>
                        <a:t>626</a:t>
                      </a:r>
                    </a:p>
                  </a:txBody>
                  <a:tcPr>
                    <a:solidFill>
                      <a:srgbClr val="FFFFFF"/>
                    </a:solidFill>
                  </a:tcPr>
                </a:tc>
                <a:tc>
                  <a:txBody>
                    <a:bodyPr wrap="square"/>
                    <a:lstStyle/>
                    <a:p>
                      <a:pPr algn="l">
                        <a:spcAft>
                          <a:spcPts val="0"/>
                        </a:spcAft>
                        <a:buNone/>
                      </a:pPr>
                      <a:r>
                        <a:rPr sz="1100" b="0">
                          <a:solidFill>
                            <a:srgbClr val="202B38"/>
                          </a:solidFill>
                          <a:latin typeface="Arial"/>
                        </a:rPr>
                        <a:t>0.0615</a:t>
                      </a:r>
                    </a:p>
                  </a:txBody>
                  <a:tcPr>
                    <a:solidFill>
                      <a:srgbClr val="FFFFFF"/>
                    </a:solidFill>
                  </a:tcPr>
                </a:tc>
                <a:tc>
                  <a:txBody>
                    <a:bodyPr wrap="square"/>
                    <a:lstStyle/>
                    <a:p>
                      <a:pPr algn="l">
                        <a:spcAft>
                          <a:spcPts val="0"/>
                        </a:spcAft>
                        <a:buNone/>
                      </a:pPr>
                      <a:r>
                        <a:rPr sz="1100" b="0">
                          <a:solidFill>
                            <a:srgbClr val="202B38"/>
                          </a:solidFill>
                          <a:latin typeface="Arial"/>
                        </a:rPr>
                        <a:t>10.4</a:t>
                      </a:r>
                    </a:p>
                  </a:txBody>
                  <a:tcPr>
                    <a:solidFill>
                      <a:srgbClr val="FFFFFF"/>
                    </a:solidFill>
                  </a:tcPr>
                </a:tc>
                <a:tc>
                  <a:txBody>
                    <a:bodyPr wrap="square"/>
                    <a:lstStyle/>
                    <a:p>
                      <a:pPr algn="l">
                        <a:spcAft>
                          <a:spcPts val="0"/>
                        </a:spcAft>
                        <a:buNone/>
                      </a:pPr>
                      <a:r>
                        <a:rPr sz="1100" b="0">
                          <a:solidFill>
                            <a:srgbClr val="202B38"/>
                          </a:solidFill>
                          <a:latin typeface="Arial"/>
                        </a:rPr>
                        <a:t>Error said 'call list_files'; it listed docs/, said the file does not exist, answered from docs/index.html</a:t>
                      </a:r>
                    </a:p>
                  </a:txBody>
                  <a:tcPr>
                    <a:solidFill>
                      <a:srgbClr val="FFFFFF"/>
                    </a:solidFill>
                  </a:tcPr>
                </a:tc>
              </a:tr>
              <a:tr h="457200">
                <a:tc>
                  <a:txBody>
                    <a:bodyPr wrap="square"/>
                    <a:lstStyle/>
                    <a:p>
                      <a:pPr algn="l">
                        <a:spcAft>
                          <a:spcPts val="0"/>
                        </a:spcAft>
                        <a:buNone/>
                      </a:pPr>
                      <a:r>
                        <a:rPr sz="1100" b="0">
                          <a:solidFill>
                            <a:srgbClr val="202B38"/>
                          </a:solidFill>
                          <a:latin typeface="Arial"/>
                        </a:rPr>
                        <a:t>strict tools, claude-sonnet-5 (3.4)</a:t>
                      </a:r>
                    </a:p>
                  </a:txBody>
                  <a:tcPr>
                    <a:solidFill>
                      <a:srgbClr val="EEF3FD"/>
                    </a:solidFill>
                  </a:tcPr>
                </a:tc>
                <a:tc>
                  <a:txBody>
                    <a:bodyPr wrap="square"/>
                    <a:lstStyle/>
                    <a:p>
                      <a:pPr algn="l">
                        <a:spcAft>
                          <a:spcPts val="0"/>
                        </a:spcAft>
                        <a:buNone/>
                      </a:pPr>
                      <a:r>
                        <a:rPr sz="1100" b="0">
                          <a:solidFill>
                            <a:srgbClr val="202B38"/>
                          </a:solidFill>
                          <a:latin typeface="Arial"/>
                        </a:rPr>
                        <a:t>3</a:t>
                      </a:r>
                    </a:p>
                  </a:txBody>
                  <a:tcPr>
                    <a:solidFill>
                      <a:srgbClr val="EEF3FD"/>
                    </a:solidFill>
                  </a:tcPr>
                </a:tc>
                <a:tc>
                  <a:txBody>
                    <a:bodyPr wrap="square"/>
                    <a:lstStyle/>
                    <a:p>
                      <a:pPr algn="l">
                        <a:spcAft>
                          <a:spcPts val="0"/>
                        </a:spcAft>
                        <a:buNone/>
                      </a:pPr>
                      <a:r>
                        <a:rPr sz="1100" b="0">
                          <a:solidFill>
                            <a:srgbClr val="202B38"/>
                          </a:solidFill>
                          <a:latin typeface="Arial"/>
                        </a:rPr>
                        <a:t>2</a:t>
                      </a:r>
                    </a:p>
                  </a:txBody>
                  <a:tcPr>
                    <a:solidFill>
                      <a:srgbClr val="EEF3FD"/>
                    </a:solidFill>
                  </a:tcPr>
                </a:tc>
                <a:tc>
                  <a:txBody>
                    <a:bodyPr wrap="square"/>
                    <a:lstStyle/>
                    <a:p>
                      <a:pPr algn="l">
                        <a:spcAft>
                          <a:spcPts val="0"/>
                        </a:spcAft>
                        <a:buNone/>
                      </a:pPr>
                      <a:r>
                        <a:rPr sz="1100" b="0">
                          <a:solidFill>
                            <a:srgbClr val="202B38"/>
                          </a:solidFill>
                          <a:latin typeface="Arial"/>
                        </a:rPr>
                        <a:t>0</a:t>
                      </a:r>
                    </a:p>
                  </a:txBody>
                  <a:tcPr>
                    <a:solidFill>
                      <a:srgbClr val="EEF3FD"/>
                    </a:solidFill>
                  </a:tcPr>
                </a:tc>
                <a:tc>
                  <a:txBody>
                    <a:bodyPr wrap="square"/>
                    <a:lstStyle/>
                    <a:p>
                      <a:pPr algn="l">
                        <a:spcAft>
                          <a:spcPts val="0"/>
                        </a:spcAft>
                        <a:buNone/>
                      </a:pPr>
                      <a:r>
                        <a:rPr sz="1100" b="0">
                          <a:solidFill>
                            <a:srgbClr val="202B38"/>
                          </a:solidFill>
                          <a:latin typeface="Arial"/>
                        </a:rPr>
                        <a:t>3,158</a:t>
                      </a:r>
                    </a:p>
                  </a:txBody>
                  <a:tcPr>
                    <a:solidFill>
                      <a:srgbClr val="EEF3FD"/>
                    </a:solidFill>
                  </a:tcPr>
                </a:tc>
                <a:tc>
                  <a:txBody>
                    <a:bodyPr wrap="square"/>
                    <a:lstStyle/>
                    <a:p>
                      <a:pPr algn="l">
                        <a:spcAft>
                          <a:spcPts val="0"/>
                        </a:spcAft>
                        <a:buNone/>
                      </a:pPr>
                      <a:r>
                        <a:rPr sz="1100" b="0">
                          <a:solidFill>
                            <a:srgbClr val="202B38"/>
                          </a:solidFill>
                          <a:latin typeface="Arial"/>
                        </a:rPr>
                        <a:t>170</a:t>
                      </a:r>
                    </a:p>
                  </a:txBody>
                  <a:tcPr>
                    <a:solidFill>
                      <a:srgbClr val="EEF3FD"/>
                    </a:solidFill>
                  </a:tcPr>
                </a:tc>
                <a:tc>
                  <a:txBody>
                    <a:bodyPr wrap="square"/>
                    <a:lstStyle/>
                    <a:p>
                      <a:pPr algn="l">
                        <a:spcAft>
                          <a:spcPts val="0"/>
                        </a:spcAft>
                        <a:buNone/>
                      </a:pPr>
                      <a:r>
                        <a:rPr sz="1100" b="0">
                          <a:solidFill>
                            <a:srgbClr val="202B38"/>
                          </a:solidFill>
                          <a:latin typeface="Arial"/>
                        </a:rPr>
                        <a:t>0.0080</a:t>
                      </a:r>
                    </a:p>
                  </a:txBody>
                  <a:tcPr>
                    <a:solidFill>
                      <a:srgbClr val="EEF3FD"/>
                    </a:solidFill>
                  </a:tcPr>
                </a:tc>
                <a:tc>
                  <a:txBody>
                    <a:bodyPr wrap="square"/>
                    <a:lstStyle/>
                    <a:p>
                      <a:pPr algn="l">
                        <a:spcAft>
                          <a:spcPts val="0"/>
                        </a:spcAft>
                        <a:buNone/>
                      </a:pPr>
                      <a:r>
                        <a:rPr sz="1100" b="0">
                          <a:solidFill>
                            <a:srgbClr val="202B38"/>
                          </a:solidFill>
                          <a:latin typeface="Arial"/>
                        </a:rPr>
                        <a:t>4.7</a:t>
                      </a:r>
                    </a:p>
                  </a:txBody>
                  <a:tcPr>
                    <a:solidFill>
                      <a:srgbClr val="EEF3FD"/>
                    </a:solidFill>
                  </a:tcPr>
                </a:tc>
                <a:tc>
                  <a:txBody>
                    <a:bodyPr wrap="square"/>
                    <a:lstStyle/>
                    <a:p>
                      <a:pPr algn="l">
                        <a:spcAft>
                          <a:spcPts val="0"/>
                        </a:spcAft>
                        <a:buNone/>
                      </a:pPr>
                      <a:r>
                        <a:rPr sz="1100" b="0">
                          <a:solidFill>
                            <a:srgbClr val="202B38"/>
                          </a:solidFill>
                          <a:latin typeface="Arial"/>
                        </a:rPr>
                        <a:t>Arguments guaranteed to match the schema; quoted anthropic, python-dotenv, pyyaml from requirements.txt</a:t>
                      </a:r>
                    </a:p>
                  </a:txBody>
                  <a:tcPr>
                    <a:solidFill>
                      <a:srgbClr val="EEF3FD"/>
                    </a:solidFill>
                  </a:tcPr>
                </a:tc>
              </a:tr>
              <a:tr h="457200">
                <a:tc>
                  <a:txBody>
                    <a:bodyPr wrap="square"/>
                    <a:lstStyle/>
                    <a:p>
                      <a:pPr algn="l">
                        <a:spcAft>
                          <a:spcPts val="0"/>
                        </a:spcAft>
                        <a:buNone/>
                      </a:pPr>
                      <a:r>
                        <a:rPr sz="1100" b="0">
                          <a:solidFill>
                            <a:srgbClr val="202B38"/>
                          </a:solidFill>
                          <a:latin typeface="Arial"/>
                        </a:rPr>
                        <a:t>gated: deny the docs/ folder (3.5)</a:t>
                      </a:r>
                    </a:p>
                  </a:txBody>
                  <a:tcPr>
                    <a:solidFill>
                      <a:srgbClr val="FFFFFF"/>
                    </a:solidFill>
                  </a:tcPr>
                </a:tc>
                <a:tc>
                  <a:txBody>
                    <a:bodyPr wrap="square"/>
                    <a:lstStyle/>
                    <a:p>
                      <a:pPr algn="l">
                        <a:spcAft>
                          <a:spcPts val="0"/>
                        </a:spcAft>
                        <a:buNone/>
                      </a:pPr>
                      <a:r>
                        <a:rPr sz="1100" b="0">
                          <a:solidFill>
                            <a:srgbClr val="202B38"/>
                          </a:solidFill>
                          <a:latin typeface="Arial"/>
                        </a:rPr>
                        <a:t>4</a:t>
                      </a:r>
                    </a:p>
                  </a:txBody>
                  <a:tcPr>
                    <a:solidFill>
                      <a:srgbClr val="FFFFFF"/>
                    </a:solidFill>
                  </a:tcPr>
                </a:tc>
                <a:tc>
                  <a:txBody>
                    <a:bodyPr wrap="square"/>
                    <a:lstStyle/>
                    <a:p>
                      <a:pPr algn="l">
                        <a:spcAft>
                          <a:spcPts val="0"/>
                        </a:spcAft>
                        <a:buNone/>
                      </a:pPr>
                      <a:r>
                        <a:rPr sz="1100" b="0">
                          <a:solidFill>
                            <a:srgbClr val="202B38"/>
                          </a:solidFill>
                          <a:latin typeface="Arial"/>
                        </a:rPr>
                        <a:t>7</a:t>
                      </a:r>
                    </a:p>
                  </a:txBody>
                  <a:tcPr>
                    <a:solidFill>
                      <a:srgbClr val="FFFFFF"/>
                    </a:solidFill>
                  </a:tcPr>
                </a:tc>
                <a:tc>
                  <a:txBody>
                    <a:bodyPr wrap="square"/>
                    <a:lstStyle/>
                    <a:p>
                      <a:pPr algn="l">
                        <a:spcAft>
                          <a:spcPts val="0"/>
                        </a:spcAft>
                        <a:buNone/>
                      </a:pPr>
                      <a:r>
                        <a:rPr sz="1100" b="0">
                          <a:solidFill>
                            <a:srgbClr val="202B38"/>
                          </a:solidFill>
                          <a:latin typeface="Arial"/>
                        </a:rPr>
                        <a:t>1 denied</a:t>
                      </a:r>
                    </a:p>
                  </a:txBody>
                  <a:tcPr>
                    <a:solidFill>
                      <a:srgbClr val="FFFFFF"/>
                    </a:solidFill>
                  </a:tcPr>
                </a:tc>
                <a:tc>
                  <a:txBody>
                    <a:bodyPr wrap="square"/>
                    <a:lstStyle/>
                    <a:p>
                      <a:pPr algn="l">
                        <a:spcAft>
                          <a:spcPts val="0"/>
                        </a:spcAft>
                        <a:buNone/>
                      </a:pPr>
                      <a:r>
                        <a:rPr sz="1100" b="0">
                          <a:solidFill>
                            <a:srgbClr val="202B38"/>
                          </a:solidFill>
                          <a:latin typeface="Arial"/>
                        </a:rPr>
                        <a:t>14,407</a:t>
                      </a:r>
                    </a:p>
                  </a:txBody>
                  <a:tcPr>
                    <a:solidFill>
                      <a:srgbClr val="FFFFFF"/>
                    </a:solidFill>
                  </a:tcPr>
                </a:tc>
                <a:tc>
                  <a:txBody>
                    <a:bodyPr wrap="square"/>
                    <a:lstStyle/>
                    <a:p>
                      <a:pPr algn="l">
                        <a:spcAft>
                          <a:spcPts val="0"/>
                        </a:spcAft>
                        <a:buNone/>
                      </a:pPr>
                      <a:r>
                        <a:rPr sz="1100" b="0">
                          <a:solidFill>
                            <a:srgbClr val="202B38"/>
                          </a:solidFill>
                          <a:latin typeface="Arial"/>
                        </a:rPr>
                        <a:t>523</a:t>
                      </a:r>
                    </a:p>
                  </a:txBody>
                  <a:tcPr>
                    <a:solidFill>
                      <a:srgbClr val="FFFFFF"/>
                    </a:solidFill>
                  </a:tcPr>
                </a:tc>
                <a:tc>
                  <a:txBody>
                    <a:bodyPr wrap="square"/>
                    <a:lstStyle/>
                    <a:p>
                      <a:pPr algn="l">
                        <a:spcAft>
                          <a:spcPts val="0"/>
                        </a:spcAft>
                        <a:buNone/>
                      </a:pPr>
                      <a:r>
                        <a:rPr sz="1100" b="0">
                          <a:solidFill>
                            <a:srgbClr val="202B38"/>
                          </a:solidFill>
                          <a:latin typeface="Arial"/>
                        </a:rPr>
                        <a:t>0.0851</a:t>
                      </a:r>
                    </a:p>
                  </a:txBody>
                  <a:tcPr>
                    <a:solidFill>
                      <a:srgbClr val="FFFFFF"/>
                    </a:solidFill>
                  </a:tcPr>
                </a:tc>
                <a:tc>
                  <a:txBody>
                    <a:bodyPr wrap="square"/>
                    <a:lstStyle/>
                    <a:p>
                      <a:pPr algn="l">
                        <a:spcAft>
                          <a:spcPts val="0"/>
                        </a:spcAft>
                        <a:buNone/>
                      </a:pPr>
                      <a:r>
                        <a:rPr sz="1100" b="0">
                          <a:solidFill>
                            <a:srgbClr val="202B38"/>
                          </a:solidFill>
                          <a:latin typeface="Arial"/>
                        </a:rPr>
                        <a:t>15.8</a:t>
                      </a:r>
                    </a:p>
                  </a:txBody>
                  <a:tcPr>
                    <a:solidFill>
                      <a:srgbClr val="FFFFFF"/>
                    </a:solidFill>
                  </a:tcPr>
                </a:tc>
                <a:tc>
                  <a:txBody>
                    <a:bodyPr wrap="square"/>
                    <a:lstStyle/>
                    <a:p>
                      <a:pPr algn="l">
                        <a:spcAft>
                          <a:spcPts val="0"/>
                        </a:spcAft>
                        <a:buNone/>
                      </a:pPr>
                      <a:r>
                        <a:rPr sz="1100" b="0">
                          <a:solidFill>
                            <a:srgbClr val="202B38"/>
                          </a:solidFill>
                          <a:latin typeface="Arial"/>
                        </a:rPr>
                        <a:t>DENIED on list_files('docs'); kept searching other files; max_turns=4 stopped it with no answer</a:t>
                      </a:r>
                    </a:p>
                  </a:txBody>
                  <a:tcPr>
                    <a:solidFill>
                      <a:srgbClr val="FFFFFF"/>
                    </a:solidFill>
                  </a:tcPr>
                </a:tc>
              </a:tr>
            </a:tbl>
          </a:graphicData>
        </a:graphic>
      </p:graphicFrame>
      <p:sp>
        <p:nvSpPr>
          <p:cNvPr id="8" name="TextBox 7"/>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One row per run on the repository; rows 1-3 and 5 on claude-opus-5, row 4 on claude-sonnet-5. The two tool schemas add 609 tokens to every call, 438 for the first alone (3.1). Recorded run of 30 Sep 2026; live runs vary.</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2 - Models, Context, Tools and Skills</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02 - SKILLS</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Skills on the real tokenizer: 152 tokens of catalog on every call, 580 of bodies opened on demand</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874519"/>
          <a:ext cx="11091670" cy="1828800"/>
        </p:xfrm>
        <a:graphic>
          <a:graphicData uri="http://schemas.openxmlformats.org/drawingml/2006/table">
            <a:tbl>
              <a:tblPr firstRow="1" bandRow="1">
                <a:tableStyleId>{5C22544A-7EE6-4342-B048-85BDC9FD1C3A}</a:tableStyleId>
              </a:tblPr>
              <a:tblGrid>
                <a:gridCol w="2218334"/>
                <a:gridCol w="1971852"/>
                <a:gridCol w="1971852"/>
                <a:gridCol w="4929632"/>
              </a:tblGrid>
              <a:tr h="457200">
                <a:tc>
                  <a:txBody>
                    <a:bodyPr wrap="square"/>
                    <a:lstStyle/>
                    <a:p>
                      <a:pPr algn="l">
                        <a:spcAft>
                          <a:spcPts val="0"/>
                        </a:spcAft>
                        <a:buNone/>
                      </a:pPr>
                      <a:r>
                        <a:rPr sz="1300" b="1">
                          <a:solidFill>
                            <a:srgbClr val="FFFFFF"/>
                          </a:solidFill>
                          <a:latin typeface="Arial"/>
                        </a:rPr>
                        <a:t>Skill (lab/.claude/skills/)</a:t>
                      </a:r>
                    </a:p>
                  </a:txBody>
                  <a:tcPr>
                    <a:solidFill>
                      <a:srgbClr val="0A2540"/>
                    </a:solidFill>
                  </a:tcPr>
                </a:tc>
                <a:tc>
                  <a:txBody>
                    <a:bodyPr wrap="square"/>
                    <a:lstStyle/>
                    <a:p>
                      <a:pPr algn="l">
                        <a:spcAft>
                          <a:spcPts val="0"/>
                        </a:spcAft>
                        <a:buNone/>
                      </a:pPr>
                      <a:r>
                        <a:rPr sz="1300" b="1">
                          <a:solidFill>
                            <a:srgbClr val="FFFFFF"/>
                          </a:solidFill>
                          <a:latin typeface="Arial"/>
                        </a:rPr>
                        <a:t>Level 1 - catalog line (tokens)</a:t>
                      </a:r>
                    </a:p>
                  </a:txBody>
                  <a:tcPr>
                    <a:solidFill>
                      <a:srgbClr val="0A2540"/>
                    </a:solidFill>
                  </a:tcPr>
                </a:tc>
                <a:tc>
                  <a:txBody>
                    <a:bodyPr wrap="square"/>
                    <a:lstStyle/>
                    <a:p>
                      <a:pPr algn="l">
                        <a:spcAft>
                          <a:spcPts val="0"/>
                        </a:spcAft>
                        <a:buNone/>
                      </a:pPr>
                      <a:r>
                        <a:rPr sz="1300" b="1">
                          <a:solidFill>
                            <a:srgbClr val="FFFFFF"/>
                          </a:solidFill>
                          <a:latin typeface="Arial"/>
                        </a:rPr>
                        <a:t>Level 2 - full body (tokens)</a:t>
                      </a:r>
                    </a:p>
                  </a:txBody>
                  <a:tcPr>
                    <a:solidFill>
                      <a:srgbClr val="0A2540"/>
                    </a:solidFill>
                  </a:tcPr>
                </a:tc>
                <a:tc>
                  <a:txBody>
                    <a:bodyPr wrap="square"/>
                    <a:lstStyle/>
                    <a:p>
                      <a:pPr algn="l">
                        <a:spcAft>
                          <a:spcPts val="0"/>
                        </a:spcAft>
                        <a:buNone/>
                      </a:pPr>
                      <a:r>
                        <a:rPr sz="1300" b="1">
                          <a:solidFill>
                            <a:srgbClr val="FFFFFF"/>
                          </a:solidFill>
                          <a:latin typeface="Arial"/>
                        </a:rPr>
                        <a:t>What the description triggers on</a:t>
                      </a:r>
                    </a:p>
                  </a:txBody>
                  <a:tcPr>
                    <a:solidFill>
                      <a:srgbClr val="0A2540"/>
                    </a:solidFill>
                  </a:tcPr>
                </a:tc>
              </a:tr>
              <a:tr h="457200">
                <a:tc>
                  <a:txBody>
                    <a:bodyPr wrap="square"/>
                    <a:lstStyle/>
                    <a:p>
                      <a:pPr algn="l">
                        <a:spcAft>
                          <a:spcPts val="0"/>
                        </a:spcAft>
                        <a:buNone/>
                      </a:pPr>
                      <a:r>
                        <a:rPr sz="1100" b="0">
                          <a:solidFill>
                            <a:srgbClr val="0A2540"/>
                          </a:solidFill>
                          <a:latin typeface="Courier New"/>
                        </a:rPr>
                        <a:t>repo-answers</a:t>
                      </a:r>
                    </a:p>
                  </a:txBody>
                  <a:tcPr>
                    <a:solidFill>
                      <a:srgbClr val="FFFFFF"/>
                    </a:solidFill>
                  </a:tcPr>
                </a:tc>
                <a:tc>
                  <a:txBody>
                    <a:bodyPr wrap="square"/>
                    <a:lstStyle/>
                    <a:p>
                      <a:pPr algn="l">
                        <a:spcAft>
                          <a:spcPts val="0"/>
                        </a:spcAft>
                        <a:buNone/>
                      </a:pPr>
                      <a:r>
                        <a:rPr sz="1250" b="0">
                          <a:solidFill>
                            <a:srgbClr val="202B38"/>
                          </a:solidFill>
                          <a:latin typeface="Arial"/>
                        </a:rPr>
                        <a:t>68</a:t>
                      </a:r>
                    </a:p>
                  </a:txBody>
                  <a:tcPr>
                    <a:solidFill>
                      <a:srgbClr val="FFFFFF"/>
                    </a:solidFill>
                  </a:tcPr>
                </a:tc>
                <a:tc>
                  <a:txBody>
                    <a:bodyPr wrap="square"/>
                    <a:lstStyle/>
                    <a:p>
                      <a:pPr algn="l">
                        <a:spcAft>
                          <a:spcPts val="0"/>
                        </a:spcAft>
                        <a:buNone/>
                      </a:pPr>
                      <a:r>
                        <a:rPr sz="1250" b="0">
                          <a:solidFill>
                            <a:srgbClr val="202B38"/>
                          </a:solidFill>
                          <a:latin typeface="Arial"/>
                        </a:rPr>
                        <a:t>306</a:t>
                      </a:r>
                    </a:p>
                  </a:txBody>
                  <a:tcPr>
                    <a:solidFill>
                      <a:srgbClr val="FFFFFF"/>
                    </a:solidFill>
                  </a:tcPr>
                </a:tc>
                <a:tc>
                  <a:txBody>
                    <a:bodyPr wrap="square"/>
                    <a:lstStyle/>
                    <a:p>
                      <a:pPr algn="l">
                        <a:spcAft>
                          <a:spcPts val="0"/>
                        </a:spcAft>
                        <a:buNone/>
                      </a:pPr>
                      <a:r>
                        <a:rPr sz="1250" b="0">
                          <a:solidFill>
                            <a:srgbClr val="202B38"/>
                          </a:solidFill>
                          <a:latin typeface="Arial"/>
                        </a:rPr>
                        <a:t>what the project, its docs or its configuration say; a fact to look up rather than remember</a:t>
                      </a:r>
                    </a:p>
                  </a:txBody>
                  <a:tcPr>
                    <a:solidFill>
                      <a:srgbClr val="FFFFFF"/>
                    </a:solidFill>
                  </a:tcPr>
                </a:tc>
              </a:tr>
              <a:tr h="457200">
                <a:tc>
                  <a:txBody>
                    <a:bodyPr wrap="square"/>
                    <a:lstStyle/>
                    <a:p>
                      <a:pPr algn="l">
                        <a:spcAft>
                          <a:spcPts val="0"/>
                        </a:spcAft>
                        <a:buNone/>
                      </a:pPr>
                      <a:r>
                        <a:rPr sz="1100" b="0">
                          <a:solidFill>
                            <a:srgbClr val="0A2540"/>
                          </a:solidFill>
                          <a:latin typeface="Courier New"/>
                        </a:rPr>
                        <a:t>explain-term</a:t>
                      </a:r>
                    </a:p>
                  </a:txBody>
                  <a:tcPr>
                    <a:solidFill>
                      <a:srgbClr val="EEF3FD"/>
                    </a:solidFill>
                  </a:tcPr>
                </a:tc>
                <a:tc>
                  <a:txBody>
                    <a:bodyPr wrap="square"/>
                    <a:lstStyle/>
                    <a:p>
                      <a:pPr algn="l">
                        <a:spcAft>
                          <a:spcPts val="0"/>
                        </a:spcAft>
                        <a:buNone/>
                      </a:pPr>
                      <a:r>
                        <a:rPr sz="1250" b="0">
                          <a:solidFill>
                            <a:srgbClr val="202B38"/>
                          </a:solidFill>
                          <a:latin typeface="Arial"/>
                        </a:rPr>
                        <a:t>84</a:t>
                      </a:r>
                    </a:p>
                  </a:txBody>
                  <a:tcPr>
                    <a:solidFill>
                      <a:srgbClr val="EEF3FD"/>
                    </a:solidFill>
                  </a:tcPr>
                </a:tc>
                <a:tc>
                  <a:txBody>
                    <a:bodyPr wrap="square"/>
                    <a:lstStyle/>
                    <a:p>
                      <a:pPr algn="l">
                        <a:spcAft>
                          <a:spcPts val="0"/>
                        </a:spcAft>
                        <a:buNone/>
                      </a:pPr>
                      <a:r>
                        <a:rPr sz="1250" b="0">
                          <a:solidFill>
                            <a:srgbClr val="202B38"/>
                          </a:solidFill>
                          <a:latin typeface="Arial"/>
                        </a:rPr>
                        <a:t>274</a:t>
                      </a:r>
                    </a:p>
                  </a:txBody>
                  <a:tcPr>
                    <a:solidFill>
                      <a:srgbClr val="EEF3FD"/>
                    </a:solidFill>
                  </a:tcPr>
                </a:tc>
                <a:tc>
                  <a:txBody>
                    <a:bodyPr wrap="square"/>
                    <a:lstStyle/>
                    <a:p>
                      <a:pPr algn="l">
                        <a:spcAft>
                          <a:spcPts val="0"/>
                        </a:spcAft>
                        <a:buNone/>
                      </a:pPr>
                      <a:r>
                        <a:rPr sz="1250" b="0">
                          <a:solidFill>
                            <a:srgbClr val="202B38"/>
                          </a:solidFill>
                          <a:latin typeface="Arial"/>
                        </a:rPr>
                        <a:t>what a term means, a plain-words explanation, how a concept fits the car metaphor</a:t>
                      </a:r>
                    </a:p>
                  </a:txBody>
                  <a:tcPr>
                    <a:solidFill>
                      <a:srgbClr val="EEF3FD"/>
                    </a:solidFill>
                  </a:tcPr>
                </a:tc>
              </a:tr>
              <a:tr h="457200">
                <a:tc>
                  <a:txBody>
                    <a:bodyPr wrap="square"/>
                    <a:lstStyle/>
                    <a:p>
                      <a:pPr algn="l">
                        <a:spcAft>
                          <a:spcPts val="0"/>
                        </a:spcAft>
                        <a:buNone/>
                      </a:pPr>
                      <a:r>
                        <a:rPr sz="1100" b="0">
                          <a:solidFill>
                            <a:srgbClr val="0A2540"/>
                          </a:solidFill>
                          <a:latin typeface="Courier New"/>
                        </a:rPr>
                        <a:t>both skills</a:t>
                      </a:r>
                    </a:p>
                  </a:txBody>
                  <a:tcPr>
                    <a:solidFill>
                      <a:srgbClr val="FFFFFF"/>
                    </a:solidFill>
                  </a:tcPr>
                </a:tc>
                <a:tc>
                  <a:txBody>
                    <a:bodyPr wrap="square"/>
                    <a:lstStyle/>
                    <a:p>
                      <a:pPr algn="l">
                        <a:spcAft>
                          <a:spcPts val="0"/>
                        </a:spcAft>
                        <a:buNone/>
                      </a:pPr>
                      <a:r>
                        <a:rPr sz="1250" b="0">
                          <a:solidFill>
                            <a:srgbClr val="202B38"/>
                          </a:solidFill>
                          <a:latin typeface="Arial"/>
                        </a:rPr>
                        <a:t>152</a:t>
                      </a:r>
                    </a:p>
                  </a:txBody>
                  <a:tcPr>
                    <a:solidFill>
                      <a:srgbClr val="FFFFFF"/>
                    </a:solidFill>
                  </a:tcPr>
                </a:tc>
                <a:tc>
                  <a:txBody>
                    <a:bodyPr wrap="square"/>
                    <a:lstStyle/>
                    <a:p>
                      <a:pPr algn="l">
                        <a:spcAft>
                          <a:spcPts val="0"/>
                        </a:spcAft>
                        <a:buNone/>
                      </a:pPr>
                      <a:r>
                        <a:rPr sz="1250" b="0">
                          <a:solidFill>
                            <a:srgbClr val="202B38"/>
                          </a:solidFill>
                          <a:latin typeface="Arial"/>
                        </a:rPr>
                        <a:t>580 (3.8x)</a:t>
                      </a:r>
                    </a:p>
                  </a:txBody>
                  <a:tcPr>
                    <a:solidFill>
                      <a:srgbClr val="FFFFFF"/>
                    </a:solidFill>
                  </a:tcPr>
                </a:tc>
                <a:tc>
                  <a:txBody>
                    <a:bodyPr wrap="square"/>
                    <a:lstStyle/>
                    <a:p>
                      <a:pPr algn="l">
                        <a:spcAft>
                          <a:spcPts val="0"/>
                        </a:spcAft>
                        <a:buNone/>
                      </a:pPr>
                      <a:r>
                        <a:rPr sz="1250" b="0">
                          <a:solidFill>
                            <a:srgbClr val="202B38"/>
                          </a:solidFill>
                          <a:latin typeface="Arial"/>
                        </a:rPr>
                        <a:t>the catalog rides along on every call; a body only when a task matches its description</a:t>
                      </a:r>
                    </a:p>
                  </a:txBody>
                  <a:tcPr>
                    <a:solidFill>
                      <a:srgbClr val="FFFFFF"/>
                    </a:solidFill>
                  </a:tcPr>
                </a:tc>
              </a:tr>
            </a:tbl>
          </a:graphicData>
        </a:graphic>
      </p:graphicFrame>
      <p:sp>
        <p:nvSpPr>
          <p:cNvPr id="8" name="TextBox 7"/>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count_tokens on claude-opus-5 (4.2). The load_skill run (4.3): turn 1 load_skill('repo-answers'), then list, read, cite; 3 model calls, 5,007 input tokens, 0.0303 USD, answer ends 'Source: LICENSE'. Recorded run of 30 Sep 2026; live runs vary.</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2 - Models, Context, Tools and Skills</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LAB 2 - SKILLS IN CLAUDE CODE</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Lab 2: Claude Code loads the same skill from lab/.claude/skills/ - watch it happen in stream-json</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What you type, from the lab/ folder</a:t>
            </a:r>
          </a:p>
        </p:txBody>
      </p:sp>
      <p:sp>
        <p:nvSpPr>
          <p:cNvPr id="9" name="TextBox 8"/>
          <p:cNvSpPr txBox="1"/>
          <p:nvPr/>
        </p:nvSpPr>
        <p:spPr>
          <a:xfrm>
            <a:off x="777240" y="2441447"/>
            <a:ext cx="4937760" cy="3246119"/>
          </a:xfrm>
          <a:prstGeom prst="rect">
            <a:avLst/>
          </a:prstGeom>
          <a:noFill/>
        </p:spPr>
        <p:txBody>
          <a:bodyPr wrap="square">
            <a:spAutoFit/>
          </a:bodyPr>
          <a:lstStyle/>
          <a:p>
            <a:pPr algn="l" indent="-228600" marL="228600">
              <a:spcAft>
                <a:spcPts val="600"/>
              </a:spcAft>
              <a:buClr>
                <a:srgbClr val="1E5EF3"/>
              </a:buClr>
              <a:buChar char="—"/>
            </a:pPr>
            <a:r>
              <a:rPr sz="1200" b="0">
                <a:solidFill>
                  <a:srgbClr val="202B38"/>
                </a:solidFill>
                <a:latin typeface="Arial"/>
              </a:rPr>
              <a:t>claude --version -&gt; 2.1.278 (Claude Code); claude auth status -&gt; "loggedIn": true (Claude Code does not read the repository .env)</a:t>
            </a:r>
          </a:p>
          <a:p>
            <a:pPr algn="l" indent="-228600" marL="228600">
              <a:spcAft>
                <a:spcPts val="600"/>
              </a:spcAft>
              <a:buClr>
                <a:srgbClr val="1E5EF3"/>
              </a:buClr>
              <a:buChar char="—"/>
            </a:pPr>
            <a:r>
              <a:rPr sz="1200" b="0">
                <a:solidFill>
                  <a:srgbClr val="202B38"/>
                </a:solidFill>
                <a:latin typeface="Arial"/>
              </a:rPr>
              <a:t>The project: CLAUDE.md, .claude/skills/repo-answers/SKILL.md, .claude/skills/explain-term/SKILL.md, docs/ with three files</a:t>
            </a:r>
          </a:p>
          <a:p>
            <a:pPr algn="l" indent="-228600" marL="228600">
              <a:spcAft>
                <a:spcPts val="600"/>
              </a:spcAft>
              <a:buClr>
                <a:srgbClr val="1E5EF3"/>
              </a:buClr>
              <a:buChar char="—"/>
            </a:pPr>
            <a:r>
              <a:rPr sz="1200" b="0">
                <a:solidFill>
                  <a:srgbClr val="202B38"/>
                </a:solidFill>
                <a:latin typeface="Arial"/>
              </a:rPr>
              <a:t>claude -p "Which two Claude models does this module use, and for which roles?" --max-turns 3 --output-format stream-json --verbose</a:t>
            </a:r>
          </a:p>
          <a:p>
            <a:pPr algn="l" indent="-228600" marL="228600">
              <a:spcAft>
                <a:spcPts val="600"/>
              </a:spcAft>
              <a:buClr>
                <a:srgbClr val="1E5EF3"/>
              </a:buClr>
              <a:buChar char="—"/>
            </a:pPr>
            <a:r>
              <a:rPr sz="1200" b="0">
                <a:solidFill>
                  <a:srgbClr val="202B38"/>
                </a:solidFill>
                <a:latin typeface="Arial"/>
              </a:rPr>
              <a:t>Interactively: /explain-term compaction invokes a skill by name; /skills and /context show what each one costs</a:t>
            </a:r>
          </a:p>
        </p:txBody>
      </p:sp>
      <p:sp>
        <p:nvSpPr>
          <p:cNvPr id="10" name="Rectangle 9"/>
          <p:cNvSpPr/>
          <p:nvPr/>
        </p:nvSpPr>
        <p:spPr>
          <a:xfrm>
            <a:off x="6245352"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What you see (observed on 30 Sep 2026)</a:t>
            </a:r>
          </a:p>
        </p:txBody>
      </p:sp>
      <p:sp>
        <p:nvSpPr>
          <p:cNvPr id="12" name="TextBox 11"/>
          <p:cNvSpPr txBox="1"/>
          <p:nvPr/>
        </p:nvSpPr>
        <p:spPr>
          <a:xfrm>
            <a:off x="6473952" y="2441447"/>
            <a:ext cx="4937760" cy="3246119"/>
          </a:xfrm>
          <a:prstGeom prst="rect">
            <a:avLst/>
          </a:prstGeom>
          <a:noFill/>
        </p:spPr>
        <p:txBody>
          <a:bodyPr wrap="square">
            <a:spAutoFit/>
          </a:bodyPr>
          <a:lstStyle/>
          <a:p>
            <a:pPr algn="l" indent="-228600" marL="228600">
              <a:spcAft>
                <a:spcPts val="600"/>
              </a:spcAft>
              <a:buClr>
                <a:srgbClr val="1E5EF3"/>
              </a:buClr>
              <a:buChar char="—"/>
            </a:pPr>
            <a:r>
              <a:rPr sz="1200" b="0">
                <a:solidFill>
                  <a:srgbClr val="202B38"/>
                </a:solidFill>
                <a:latin typeface="Arial"/>
              </a:rPr>
              <a:t>system/init lists both project skills by name: the level-1 catalog</a:t>
            </a:r>
          </a:p>
          <a:p>
            <a:pPr algn="l" indent="-228600" marL="228600">
              <a:spcAft>
                <a:spcPts val="600"/>
              </a:spcAft>
              <a:buClr>
                <a:srgbClr val="1E5EF3"/>
              </a:buClr>
              <a:buChar char="—"/>
            </a:pPr>
            <a:r>
              <a:rPr sz="1200" b="0">
                <a:solidFill>
                  <a:srgbClr val="202B38"/>
                </a:solidFill>
                <a:latin typeface="Arial"/>
              </a:rPr>
              <a:t>First action: the Skill tool with {"skill": "repo-answers"} -&gt; 'Launching skill: repo-answers' - the level-2 load, Claude Code's load_skill</a:t>
            </a:r>
          </a:p>
          <a:p>
            <a:pPr algn="l" indent="-228600" marL="228600">
              <a:spcAft>
                <a:spcPts val="600"/>
              </a:spcAft>
              <a:buClr>
                <a:srgbClr val="1E5EF3"/>
              </a:buClr>
              <a:buChar char="—"/>
            </a:pPr>
            <a:r>
              <a:rPr sz="1200" b="0">
                <a:solidFill>
                  <a:srgbClr val="202B38"/>
                </a:solidFill>
                <a:latin typeface="Arial"/>
              </a:rPr>
              <a:t>Then the procedure: grep over docs/ through Bash, an answer naming claude-opus-5 and claude-sonnet-5, two Source: lines</a:t>
            </a:r>
          </a:p>
          <a:p>
            <a:pPr algn="l" indent="-228600" marL="228600">
              <a:spcAft>
                <a:spcPts val="600"/>
              </a:spcAft>
              <a:buClr>
                <a:srgbClr val="1E5EF3"/>
              </a:buClr>
              <a:buChar char="—"/>
            </a:pPr>
            <a:r>
              <a:rPr sz="1200" b="0">
                <a:solidFill>
                  <a:srgbClr val="202B38"/>
                </a:solidFill>
                <a:latin typeface="Arial"/>
              </a:rPr>
              <a:t>result: num_turns 4, total_cost_usd 0.4069 on claude-fable-5-1 with about 82,000 cached tokens of plugins; --model sonnet costs cents</a:t>
            </a:r>
          </a:p>
          <a:p>
            <a:pPr algn="l" indent="-228600" marL="228600">
              <a:spcAft>
                <a:spcPts val="600"/>
              </a:spcAft>
              <a:buClr>
                <a:srgbClr val="1E5EF3"/>
              </a:buClr>
              <a:buChar char="—"/>
            </a:pPr>
            <a:r>
              <a:rPr sz="1200" b="0">
                <a:solidFill>
                  <a:srgbClr val="202B38"/>
                </a:solidFill>
                <a:latin typeface="Arial"/>
              </a:rPr>
              <a:t>Nothing forced the load: the description matched, so it opened the manual</a:t>
            </a:r>
          </a:p>
        </p:txBody>
      </p:sp>
      <p:sp>
        <p:nvSpPr>
          <p:cNvPr id="13" name="TextBox 12"/>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Lab guide: lab/02-lab-claude-code-skills-and-mcp.md, parts 0 to 2. Every claude -p run costs real money on the student's own login; the recorded runs cost 0.04 to 0.41 USD each.</a:t>
            </a:r>
          </a:p>
        </p:txBody>
      </p:sp>
      <p:sp>
        <p:nvSpPr>
          <p:cNvPr id="14" name="TextBox 13"/>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2 - Models, Context, Tools and Skills</a:t>
            </a:r>
          </a:p>
        </p:txBody>
      </p:sp>
      <p:sp>
        <p:nvSpPr>
          <p:cNvPr id="15" name="TextBox 14"/>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LAB 2 - MCP IN CLAUDE CODE</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Lab 2: one command adds an MCP server; approval and permissions still gate every call</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What you type</a:t>
            </a:r>
          </a:p>
        </p:txBody>
      </p:sp>
      <p:sp>
        <p:nvSpPr>
          <p:cNvPr id="9" name="TextBox 8"/>
          <p:cNvSpPr txBox="1"/>
          <p:nvPr/>
        </p:nvSpPr>
        <p:spPr>
          <a:xfrm>
            <a:off x="777240" y="2441447"/>
            <a:ext cx="4937760" cy="3246119"/>
          </a:xfrm>
          <a:prstGeom prst="rect">
            <a:avLst/>
          </a:prstGeom>
          <a:noFill/>
        </p:spPr>
        <p:txBody>
          <a:bodyPr wrap="square">
            <a:spAutoFit/>
          </a:bodyPr>
          <a:lstStyle/>
          <a:p>
            <a:pPr algn="l" indent="-228600" marL="228600">
              <a:spcAft>
                <a:spcPts val="600"/>
              </a:spcAft>
              <a:buClr>
                <a:srgbClr val="1E5EF3"/>
              </a:buClr>
              <a:buChar char="—"/>
            </a:pPr>
            <a:r>
              <a:rPr sz="1150" b="0">
                <a:solidFill>
                  <a:srgbClr val="202B38"/>
                </a:solidFill>
                <a:latin typeface="Arial"/>
              </a:rPr>
              <a:t>claude mcp add -s project filesystem -- npx -y @modelcontextprotocol/server-filesystem docs -&gt; writes .mcp.json (type stdio; only docs/ is exposed)</a:t>
            </a:r>
          </a:p>
          <a:p>
            <a:pPr algn="l" indent="-228600" marL="228600">
              <a:spcAft>
                <a:spcPts val="600"/>
              </a:spcAft>
              <a:buClr>
                <a:srgbClr val="1E5EF3"/>
              </a:buClr>
              <a:buChar char="—"/>
            </a:pPr>
            <a:r>
              <a:rPr sz="1150" b="0">
                <a:solidFill>
                  <a:srgbClr val="202B38"/>
                </a:solidFill>
                <a:latin typeface="Arial"/>
              </a:rPr>
              <a:t>claude mcp list -&gt; 'filesystem: ... Pending approval (run claude to approve)': a project server never starts until you approve it once</a:t>
            </a:r>
          </a:p>
          <a:p>
            <a:pPr algn="l" indent="-228600" marL="228600">
              <a:spcAft>
                <a:spcPts val="600"/>
              </a:spcAft>
              <a:buClr>
                <a:srgbClr val="1E5EF3"/>
              </a:buClr>
              <a:buChar char="—"/>
            </a:pPr>
            <a:r>
              <a:rPr sz="1150" b="0">
                <a:solidFill>
                  <a:srgbClr val="202B38"/>
                </a:solidFill>
                <a:latin typeface="Arial"/>
              </a:rPr>
              <a:t>claude -p "Using only the filesystem MCP server's tools, list the docs folder and tell me the first heading of each file." --max-turns 4 --output-format stream-json --verbose --mcp-config .mcp.json --strict-mcp-config --model sonnet</a:t>
            </a:r>
          </a:p>
          <a:p>
            <a:pPr algn="l" indent="-228600" marL="228600">
              <a:spcAft>
                <a:spcPts val="600"/>
              </a:spcAft>
              <a:buClr>
                <a:srgbClr val="1E5EF3"/>
              </a:buClr>
              <a:buChar char="—"/>
            </a:pPr>
            <a:r>
              <a:rPr sz="1150" b="0">
                <a:solidFill>
                  <a:srgbClr val="202B38"/>
                </a:solidFill>
                <a:latin typeface="Arial"/>
              </a:rPr>
              <a:t>Second run adds --allowedTools mcp__filesystem__list_directory mcp__filesystem__read_text_file</a:t>
            </a:r>
          </a:p>
        </p:txBody>
      </p:sp>
      <p:sp>
        <p:nvSpPr>
          <p:cNvPr id="10" name="Rectangle 9"/>
          <p:cNvSpPr/>
          <p:nvPr/>
        </p:nvSpPr>
        <p:spPr>
          <a:xfrm>
            <a:off x="6245352"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What you see (observed, claude-sonnet-5)</a:t>
            </a:r>
          </a:p>
        </p:txBody>
      </p:sp>
      <p:sp>
        <p:nvSpPr>
          <p:cNvPr id="12" name="TextBox 11"/>
          <p:cNvSpPr txBox="1"/>
          <p:nvPr/>
        </p:nvSpPr>
        <p:spPr>
          <a:xfrm>
            <a:off x="6473952" y="2441447"/>
            <a:ext cx="4937760" cy="3246119"/>
          </a:xfrm>
          <a:prstGeom prst="rect">
            <a:avLst/>
          </a:prstGeom>
          <a:noFill/>
        </p:spPr>
        <p:txBody>
          <a:bodyPr wrap="square">
            <a:spAutoFit/>
          </a:bodyPr>
          <a:lstStyle/>
          <a:p>
            <a:pPr algn="l" indent="-228600" marL="228600">
              <a:spcAft>
                <a:spcPts val="600"/>
              </a:spcAft>
              <a:buClr>
                <a:srgbClr val="1E5EF3"/>
              </a:buClr>
              <a:buChar char="—"/>
            </a:pPr>
            <a:r>
              <a:rPr sz="1150" b="0">
                <a:solidFill>
                  <a:srgbClr val="202B38"/>
                </a:solidFill>
                <a:latin typeface="Arial"/>
              </a:rPr>
              <a:t>init: mcp_servers filesystem connected; 14 new tools named mcp__filesystem__&lt;tool&gt;, schemas fetched with ToolSearch</a:t>
            </a:r>
          </a:p>
          <a:p>
            <a:pPr algn="l" indent="-228600" marL="228600">
              <a:spcAft>
                <a:spcPts val="600"/>
              </a:spcAft>
              <a:buClr>
                <a:srgbClr val="1E5EF3"/>
              </a:buClr>
              <a:buChar char="—"/>
            </a:pPr>
            <a:r>
              <a:rPr sz="1150" b="0">
                <a:solidFill>
                  <a:srgbClr val="202B38"/>
                </a:solidFill>
                <a:latin typeface="Arial"/>
              </a:rPr>
              <a:t>Run 1: list_directory denied twice ('you haven't granted it yet'); the model stopped and asked - num_turns 4, 0.1132 USD</a:t>
            </a:r>
          </a:p>
          <a:p>
            <a:pPr algn="l" indent="-228600" marL="228600">
              <a:spcAft>
                <a:spcPts val="600"/>
              </a:spcAft>
              <a:buClr>
                <a:srgbClr val="1E5EF3"/>
              </a:buClr>
              <a:buChar char="—"/>
            </a:pPr>
            <a:r>
              <a:rPr sz="1150" b="0">
                <a:solidFill>
                  <a:srgbClr val="202B38"/>
                </a:solidFill>
                <a:latin typeface="Arial"/>
              </a:rPr>
              <a:t>Run 2: the listing came through the plug (faq.md, glossary.md, module-overview.md); read_multiple_files denied, read_text_file with head 5 allowed</a:t>
            </a:r>
          </a:p>
          <a:p>
            <a:pPr algn="l" indent="-228600" marL="228600">
              <a:spcAft>
                <a:spcPts val="600"/>
              </a:spcAft>
              <a:buClr>
                <a:srgbClr val="1E5EF3"/>
              </a:buClr>
              <a:buChar char="—"/>
            </a:pPr>
            <a:r>
              <a:rPr sz="1150" b="0">
                <a:solidFill>
                  <a:srgbClr val="202B38"/>
                </a:solidFill>
                <a:latin typeface="Arial"/>
              </a:rPr>
              <a:t>--max-turns 4 cut run 2 one turn before the answer: error_max_turns, num_turns 5, 0.0406 USD; --max-turns 6 lets it finish</a:t>
            </a:r>
          </a:p>
          <a:p>
            <a:pPr algn="l" indent="-228600" marL="228600">
              <a:spcAft>
                <a:spcPts val="600"/>
              </a:spcAft>
              <a:buClr>
                <a:srgbClr val="1E5EF3"/>
              </a:buClr>
              <a:buChar char="—"/>
            </a:pPr>
            <a:r>
              <a:rPr sz="1150" b="0">
                <a:solidFill>
                  <a:srgbClr val="202B38"/>
                </a:solidFill>
                <a:latin typeface="Arial"/>
              </a:rPr>
              <a:t>In plain words: the trailer hitch fits, and the brakes still work on whatever is towed</a:t>
            </a:r>
          </a:p>
        </p:txBody>
      </p:sp>
      <p:sp>
        <p:nvSpPr>
          <p:cNvPr id="13" name="TextBox 12"/>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Lab guide parts 3 and 4. Reference server: @modelcontextprotocol/server-filesystem. Undo with claude mcp remove filesystem -s project.</a:t>
            </a:r>
          </a:p>
        </p:txBody>
      </p:sp>
      <p:sp>
        <p:nvSpPr>
          <p:cNvPr id="14" name="TextBox 13"/>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2 - Models, Context, Tools and Skills</a:t>
            </a:r>
          </a:p>
        </p:txBody>
      </p:sp>
      <p:sp>
        <p:nvSpPr>
          <p:cNvPr id="15" name="TextBox 14"/>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LAB 2 - THE BILL</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Lab 2: read the bill from the JSON result (total_cost_usd, usage, modelUsage) or type /usage</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874519"/>
          <a:ext cx="11091668" cy="2286000"/>
        </p:xfrm>
        <a:graphic>
          <a:graphicData uri="http://schemas.openxmlformats.org/drawingml/2006/table">
            <a:tbl>
              <a:tblPr firstRow="1" bandRow="1">
                <a:tableStyleId>{5C22544A-7EE6-4342-B048-85BDC9FD1C3A}</a:tableStyleId>
              </a:tblPr>
              <a:tblGrid>
                <a:gridCol w="1610823"/>
                <a:gridCol w="1472753"/>
                <a:gridCol w="828423"/>
                <a:gridCol w="966494"/>
                <a:gridCol w="2025035"/>
                <a:gridCol w="1886964"/>
                <a:gridCol w="1058541"/>
                <a:gridCol w="1242635"/>
              </a:tblGrid>
              <a:tr h="457200">
                <a:tc>
                  <a:txBody>
                    <a:bodyPr wrap="square"/>
                    <a:lstStyle/>
                    <a:p>
                      <a:pPr algn="l">
                        <a:spcAft>
                          <a:spcPts val="0"/>
                        </a:spcAft>
                        <a:buNone/>
                      </a:pPr>
                      <a:r>
                        <a:rPr sz="1150" b="1">
                          <a:solidFill>
                            <a:srgbClr val="FFFFFF"/>
                          </a:solidFill>
                          <a:latin typeface="Arial"/>
                        </a:rPr>
                        <a:t>Run</a:t>
                      </a:r>
                    </a:p>
                  </a:txBody>
                  <a:tcPr>
                    <a:solidFill>
                      <a:srgbClr val="0A2540"/>
                    </a:solidFill>
                  </a:tcPr>
                </a:tc>
                <a:tc>
                  <a:txBody>
                    <a:bodyPr wrap="square"/>
                    <a:lstStyle/>
                    <a:p>
                      <a:pPr algn="l">
                        <a:spcAft>
                          <a:spcPts val="0"/>
                        </a:spcAft>
                        <a:buNone/>
                      </a:pPr>
                      <a:r>
                        <a:rPr sz="1150" b="1">
                          <a:solidFill>
                            <a:srgbClr val="FFFFFF"/>
                          </a:solidFill>
                          <a:latin typeface="Arial"/>
                        </a:rPr>
                        <a:t>Model</a:t>
                      </a:r>
                    </a:p>
                  </a:txBody>
                  <a:tcPr>
                    <a:solidFill>
                      <a:srgbClr val="0A2540"/>
                    </a:solidFill>
                  </a:tcPr>
                </a:tc>
                <a:tc>
                  <a:txBody>
                    <a:bodyPr wrap="square"/>
                    <a:lstStyle/>
                    <a:p>
                      <a:pPr algn="l">
                        <a:spcAft>
                          <a:spcPts val="0"/>
                        </a:spcAft>
                        <a:buNone/>
                      </a:pPr>
                      <a:r>
                        <a:rPr sz="1150" b="1">
                          <a:solidFill>
                            <a:srgbClr val="FFFFFF"/>
                          </a:solidFill>
                          <a:latin typeface="Arial"/>
                        </a:rPr>
                        <a:t>Turns</a:t>
                      </a:r>
                    </a:p>
                  </a:txBody>
                  <a:tcPr>
                    <a:solidFill>
                      <a:srgbClr val="0A2540"/>
                    </a:solidFill>
                  </a:tcPr>
                </a:tc>
                <a:tc>
                  <a:txBody>
                    <a:bodyPr wrap="square"/>
                    <a:lstStyle/>
                    <a:p>
                      <a:pPr algn="l">
                        <a:spcAft>
                          <a:spcPts val="0"/>
                        </a:spcAft>
                        <a:buNone/>
                      </a:pPr>
                      <a:r>
                        <a:rPr sz="1150" b="1">
                          <a:solidFill>
                            <a:srgbClr val="FFFFFF"/>
                          </a:solidFill>
                          <a:latin typeface="Arial"/>
                        </a:rPr>
                        <a:t>Input tokens</a:t>
                      </a:r>
                    </a:p>
                  </a:txBody>
                  <a:tcPr>
                    <a:solidFill>
                      <a:srgbClr val="0A2540"/>
                    </a:solidFill>
                  </a:tcPr>
                </a:tc>
                <a:tc>
                  <a:txBody>
                    <a:bodyPr wrap="square"/>
                    <a:lstStyle/>
                    <a:p>
                      <a:pPr algn="l">
                        <a:spcAft>
                          <a:spcPts val="0"/>
                        </a:spcAft>
                        <a:buNone/>
                      </a:pPr>
                      <a:r>
                        <a:rPr sz="1150" b="1">
                          <a:solidFill>
                            <a:srgbClr val="FFFFFF"/>
                          </a:solidFill>
                          <a:latin typeface="Arial"/>
                        </a:rPr>
                        <a:t>Cache write tokens</a:t>
                      </a:r>
                    </a:p>
                  </a:txBody>
                  <a:tcPr>
                    <a:solidFill>
                      <a:srgbClr val="0A2540"/>
                    </a:solidFill>
                  </a:tcPr>
                </a:tc>
                <a:tc>
                  <a:txBody>
                    <a:bodyPr wrap="square"/>
                    <a:lstStyle/>
                    <a:p>
                      <a:pPr algn="l">
                        <a:spcAft>
                          <a:spcPts val="0"/>
                        </a:spcAft>
                        <a:buNone/>
                      </a:pPr>
                      <a:r>
                        <a:rPr sz="1150" b="1">
                          <a:solidFill>
                            <a:srgbClr val="FFFFFF"/>
                          </a:solidFill>
                          <a:latin typeface="Arial"/>
                        </a:rPr>
                        <a:t>Cache read tokens</a:t>
                      </a:r>
                    </a:p>
                  </a:txBody>
                  <a:tcPr>
                    <a:solidFill>
                      <a:srgbClr val="0A2540"/>
                    </a:solidFill>
                  </a:tcPr>
                </a:tc>
                <a:tc>
                  <a:txBody>
                    <a:bodyPr wrap="square"/>
                    <a:lstStyle/>
                    <a:p>
                      <a:pPr algn="l">
                        <a:spcAft>
                          <a:spcPts val="0"/>
                        </a:spcAft>
                        <a:buNone/>
                      </a:pPr>
                      <a:r>
                        <a:rPr sz="1150" b="1">
                          <a:solidFill>
                            <a:srgbClr val="FFFFFF"/>
                          </a:solidFill>
                          <a:latin typeface="Arial"/>
                        </a:rPr>
                        <a:t>Output tokens</a:t>
                      </a:r>
                    </a:p>
                  </a:txBody>
                  <a:tcPr>
                    <a:solidFill>
                      <a:srgbClr val="0A2540"/>
                    </a:solidFill>
                  </a:tcPr>
                </a:tc>
                <a:tc>
                  <a:txBody>
                    <a:bodyPr wrap="square"/>
                    <a:lstStyle/>
                    <a:p>
                      <a:pPr algn="l">
                        <a:spcAft>
                          <a:spcPts val="0"/>
                        </a:spcAft>
                        <a:buNone/>
                      </a:pPr>
                      <a:r>
                        <a:rPr sz="1150" b="1">
                          <a:solidFill>
                            <a:srgbClr val="FFFFFF"/>
                          </a:solidFill>
                          <a:latin typeface="Arial"/>
                        </a:rPr>
                        <a:t>Cost USD</a:t>
                      </a:r>
                    </a:p>
                  </a:txBody>
                  <a:tcPr>
                    <a:solidFill>
                      <a:srgbClr val="0A2540"/>
                    </a:solidFill>
                  </a:tcPr>
                </a:tc>
              </a:tr>
              <a:tr h="457200">
                <a:tc>
                  <a:txBody>
                    <a:bodyPr wrap="square"/>
                    <a:lstStyle/>
                    <a:p>
                      <a:pPr algn="l">
                        <a:spcAft>
                          <a:spcPts val="0"/>
                        </a:spcAft>
                        <a:buNone/>
                      </a:pPr>
                      <a:r>
                        <a:rPr sz="800" b="0">
                          <a:solidFill>
                            <a:srgbClr val="0A2540"/>
                          </a:solidFill>
                          <a:latin typeface="Courier New"/>
                        </a:rPr>
                        <a:t>JSON key</a:t>
                      </a:r>
                    </a:p>
                  </a:txBody>
                  <a:tcPr>
                    <a:solidFill>
                      <a:srgbClr val="FFFFFF"/>
                    </a:solidFill>
                  </a:tcPr>
                </a:tc>
                <a:tc>
                  <a:txBody>
                    <a:bodyPr wrap="square"/>
                    <a:lstStyle/>
                    <a:p>
                      <a:pPr algn="l">
                        <a:spcAft>
                          <a:spcPts val="0"/>
                        </a:spcAft>
                        <a:buNone/>
                      </a:pPr>
                      <a:r>
                        <a:rPr sz="800" b="0">
                          <a:solidFill>
                            <a:srgbClr val="0A2540"/>
                          </a:solidFill>
                          <a:latin typeface="Courier New"/>
                        </a:rPr>
                        <a:t>modelUsage key</a:t>
                      </a:r>
                    </a:p>
                  </a:txBody>
                  <a:tcPr>
                    <a:solidFill>
                      <a:srgbClr val="FFFFFF"/>
                    </a:solidFill>
                  </a:tcPr>
                </a:tc>
                <a:tc>
                  <a:txBody>
                    <a:bodyPr wrap="square"/>
                    <a:lstStyle/>
                    <a:p>
                      <a:pPr algn="l">
                        <a:spcAft>
                          <a:spcPts val="0"/>
                        </a:spcAft>
                        <a:buNone/>
                      </a:pPr>
                      <a:r>
                        <a:rPr sz="800" b="0">
                          <a:solidFill>
                            <a:srgbClr val="0A2540"/>
                          </a:solidFill>
                          <a:latin typeface="Courier New"/>
                        </a:rPr>
                        <a:t>num_turns</a:t>
                      </a:r>
                    </a:p>
                  </a:txBody>
                  <a:tcPr>
                    <a:solidFill>
                      <a:srgbClr val="FFFFFF"/>
                    </a:solidFill>
                  </a:tcPr>
                </a:tc>
                <a:tc>
                  <a:txBody>
                    <a:bodyPr wrap="square"/>
                    <a:lstStyle/>
                    <a:p>
                      <a:pPr algn="l">
                        <a:spcAft>
                          <a:spcPts val="0"/>
                        </a:spcAft>
                        <a:buNone/>
                      </a:pPr>
                      <a:r>
                        <a:rPr sz="800" b="0">
                          <a:solidFill>
                            <a:srgbClr val="0A2540"/>
                          </a:solidFill>
                          <a:latin typeface="Courier New"/>
                        </a:rPr>
                        <a:t>input_tokens</a:t>
                      </a:r>
                    </a:p>
                  </a:txBody>
                  <a:tcPr>
                    <a:solidFill>
                      <a:srgbClr val="FFFFFF"/>
                    </a:solidFill>
                  </a:tcPr>
                </a:tc>
                <a:tc>
                  <a:txBody>
                    <a:bodyPr wrap="square"/>
                    <a:lstStyle/>
                    <a:p>
                      <a:pPr algn="l">
                        <a:spcAft>
                          <a:spcPts val="0"/>
                        </a:spcAft>
                        <a:buNone/>
                      </a:pPr>
                      <a:r>
                        <a:rPr sz="800" b="0">
                          <a:solidFill>
                            <a:srgbClr val="0A2540"/>
                          </a:solidFill>
                          <a:latin typeface="Courier New"/>
                        </a:rPr>
                        <a:t>cache_creation_input_tokens</a:t>
                      </a:r>
                    </a:p>
                  </a:txBody>
                  <a:tcPr>
                    <a:solidFill>
                      <a:srgbClr val="FFFFFF"/>
                    </a:solidFill>
                  </a:tcPr>
                </a:tc>
                <a:tc>
                  <a:txBody>
                    <a:bodyPr wrap="square"/>
                    <a:lstStyle/>
                    <a:p>
                      <a:pPr algn="l">
                        <a:spcAft>
                          <a:spcPts val="0"/>
                        </a:spcAft>
                        <a:buNone/>
                      </a:pPr>
                      <a:r>
                        <a:rPr sz="800" b="0">
                          <a:solidFill>
                            <a:srgbClr val="0A2540"/>
                          </a:solidFill>
                          <a:latin typeface="Courier New"/>
                        </a:rPr>
                        <a:t>cache_read_input_tokens</a:t>
                      </a:r>
                    </a:p>
                  </a:txBody>
                  <a:tcPr>
                    <a:solidFill>
                      <a:srgbClr val="FFFFFF"/>
                    </a:solidFill>
                  </a:tcPr>
                </a:tc>
                <a:tc>
                  <a:txBody>
                    <a:bodyPr wrap="square"/>
                    <a:lstStyle/>
                    <a:p>
                      <a:pPr algn="l">
                        <a:spcAft>
                          <a:spcPts val="0"/>
                        </a:spcAft>
                        <a:buNone/>
                      </a:pPr>
                      <a:r>
                        <a:rPr sz="800" b="0">
                          <a:solidFill>
                            <a:srgbClr val="0A2540"/>
                          </a:solidFill>
                          <a:latin typeface="Courier New"/>
                        </a:rPr>
                        <a:t>output_tokens</a:t>
                      </a:r>
                    </a:p>
                  </a:txBody>
                  <a:tcPr>
                    <a:solidFill>
                      <a:srgbClr val="FFFFFF"/>
                    </a:solidFill>
                  </a:tcPr>
                </a:tc>
                <a:tc>
                  <a:txBody>
                    <a:bodyPr wrap="square"/>
                    <a:lstStyle/>
                    <a:p>
                      <a:pPr algn="l">
                        <a:spcAft>
                          <a:spcPts val="0"/>
                        </a:spcAft>
                        <a:buNone/>
                      </a:pPr>
                      <a:r>
                        <a:rPr sz="800" b="0">
                          <a:solidFill>
                            <a:srgbClr val="0A2540"/>
                          </a:solidFill>
                          <a:latin typeface="Courier New"/>
                        </a:rPr>
                        <a:t>total_cost_usd</a:t>
                      </a:r>
                    </a:p>
                  </a:txBody>
                  <a:tcPr>
                    <a:solidFill>
                      <a:srgbClr val="FFFFFF"/>
                    </a:solidFill>
                  </a:tcPr>
                </a:tc>
              </a:tr>
              <a:tr h="457200">
                <a:tc>
                  <a:txBody>
                    <a:bodyPr wrap="square"/>
                    <a:lstStyle/>
                    <a:p>
                      <a:pPr algn="l">
                        <a:spcAft>
                          <a:spcPts val="0"/>
                        </a:spcAft>
                        <a:buNone/>
                      </a:pPr>
                      <a:r>
                        <a:rPr sz="1150" b="0">
                          <a:solidFill>
                            <a:srgbClr val="202B38"/>
                          </a:solidFill>
                          <a:latin typeface="Arial"/>
                        </a:rPr>
                        <a:t>Part 2, skill question</a:t>
                      </a:r>
                    </a:p>
                  </a:txBody>
                  <a:tcPr>
                    <a:solidFill>
                      <a:srgbClr val="EEF3FD"/>
                    </a:solidFill>
                  </a:tcPr>
                </a:tc>
                <a:tc>
                  <a:txBody>
                    <a:bodyPr wrap="square"/>
                    <a:lstStyle/>
                    <a:p>
                      <a:pPr algn="l">
                        <a:spcAft>
                          <a:spcPts val="0"/>
                        </a:spcAft>
                        <a:buNone/>
                      </a:pPr>
                      <a:r>
                        <a:rPr sz="1000" b="0">
                          <a:solidFill>
                            <a:srgbClr val="0A2540"/>
                          </a:solidFill>
                          <a:latin typeface="Courier New"/>
                        </a:rPr>
                        <a:t>claude-fable-5-1</a:t>
                      </a:r>
                    </a:p>
                  </a:txBody>
                  <a:tcPr>
                    <a:solidFill>
                      <a:srgbClr val="EEF3FD"/>
                    </a:solidFill>
                  </a:tcPr>
                </a:tc>
                <a:tc>
                  <a:txBody>
                    <a:bodyPr wrap="square"/>
                    <a:lstStyle/>
                    <a:p>
                      <a:pPr algn="l">
                        <a:spcAft>
                          <a:spcPts val="0"/>
                        </a:spcAft>
                        <a:buNone/>
                      </a:pPr>
                      <a:r>
                        <a:rPr sz="1150" b="0">
                          <a:solidFill>
                            <a:srgbClr val="202B38"/>
                          </a:solidFill>
                          <a:latin typeface="Arial"/>
                        </a:rPr>
                        <a:t>4</a:t>
                      </a:r>
                    </a:p>
                  </a:txBody>
                  <a:tcPr>
                    <a:solidFill>
                      <a:srgbClr val="EEF3FD"/>
                    </a:solidFill>
                  </a:tcPr>
                </a:tc>
                <a:tc>
                  <a:txBody>
                    <a:bodyPr wrap="square"/>
                    <a:lstStyle/>
                    <a:p>
                      <a:pPr algn="l">
                        <a:spcAft>
                          <a:spcPts val="0"/>
                        </a:spcAft>
                        <a:buNone/>
                      </a:pPr>
                      <a:r>
                        <a:rPr sz="1150" b="0">
                          <a:solidFill>
                            <a:srgbClr val="202B38"/>
                          </a:solidFill>
                          <a:latin typeface="Arial"/>
                        </a:rPr>
                        <a:t>37</a:t>
                      </a:r>
                    </a:p>
                  </a:txBody>
                  <a:tcPr>
                    <a:solidFill>
                      <a:srgbClr val="EEF3FD"/>
                    </a:solidFill>
                  </a:tcPr>
                </a:tc>
                <a:tc>
                  <a:txBody>
                    <a:bodyPr wrap="square"/>
                    <a:lstStyle/>
                    <a:p>
                      <a:pPr algn="l">
                        <a:spcAft>
                          <a:spcPts val="0"/>
                        </a:spcAft>
                        <a:buNone/>
                      </a:pPr>
                      <a:r>
                        <a:rPr sz="1150" b="0">
                          <a:solidFill>
                            <a:srgbClr val="202B38"/>
                          </a:solidFill>
                          <a:latin typeface="Arial"/>
                        </a:rPr>
                        <a:t>29,201</a:t>
                      </a:r>
                    </a:p>
                  </a:txBody>
                  <a:tcPr>
                    <a:solidFill>
                      <a:srgbClr val="EEF3FD"/>
                    </a:solidFill>
                  </a:tcPr>
                </a:tc>
                <a:tc>
                  <a:txBody>
                    <a:bodyPr wrap="square"/>
                    <a:lstStyle/>
                    <a:p>
                      <a:pPr algn="l">
                        <a:spcAft>
                          <a:spcPts val="0"/>
                        </a:spcAft>
                        <a:buNone/>
                      </a:pPr>
                      <a:r>
                        <a:rPr sz="1150" b="0">
                          <a:solidFill>
                            <a:srgbClr val="202B38"/>
                          </a:solidFill>
                          <a:latin typeface="Arial"/>
                        </a:rPr>
                        <a:t>52,521</a:t>
                      </a:r>
                    </a:p>
                  </a:txBody>
                  <a:tcPr>
                    <a:solidFill>
                      <a:srgbClr val="EEF3FD"/>
                    </a:solidFill>
                  </a:tcPr>
                </a:tc>
                <a:tc>
                  <a:txBody>
                    <a:bodyPr wrap="square"/>
                    <a:lstStyle/>
                    <a:p>
                      <a:pPr algn="l">
                        <a:spcAft>
                          <a:spcPts val="0"/>
                        </a:spcAft>
                        <a:buNone/>
                      </a:pPr>
                      <a:r>
                        <a:rPr sz="1150" b="0">
                          <a:solidFill>
                            <a:srgbClr val="202B38"/>
                          </a:solidFill>
                          <a:latin typeface="Arial"/>
                        </a:rPr>
                        <a:t>567</a:t>
                      </a:r>
                    </a:p>
                  </a:txBody>
                  <a:tcPr>
                    <a:solidFill>
                      <a:srgbClr val="EEF3FD"/>
                    </a:solidFill>
                  </a:tcPr>
                </a:tc>
                <a:tc>
                  <a:txBody>
                    <a:bodyPr wrap="square"/>
                    <a:lstStyle/>
                    <a:p>
                      <a:pPr algn="l">
                        <a:spcAft>
                          <a:spcPts val="0"/>
                        </a:spcAft>
                        <a:buNone/>
                      </a:pPr>
                      <a:r>
                        <a:rPr sz="1150" b="0">
                          <a:solidFill>
                            <a:srgbClr val="202B38"/>
                          </a:solidFill>
                          <a:latin typeface="Arial"/>
                        </a:rPr>
                        <a:t>0.4069</a:t>
                      </a:r>
                    </a:p>
                  </a:txBody>
                  <a:tcPr>
                    <a:solidFill>
                      <a:srgbClr val="EEF3FD"/>
                    </a:solidFill>
                  </a:tcPr>
                </a:tc>
              </a:tr>
              <a:tr h="457200">
                <a:tc>
                  <a:txBody>
                    <a:bodyPr wrap="square"/>
                    <a:lstStyle/>
                    <a:p>
                      <a:pPr algn="l">
                        <a:spcAft>
                          <a:spcPts val="0"/>
                        </a:spcAft>
                        <a:buNone/>
                      </a:pPr>
                      <a:r>
                        <a:rPr sz="1150" b="0">
                          <a:solidFill>
                            <a:srgbClr val="202B38"/>
                          </a:solidFill>
                          <a:latin typeface="Arial"/>
                        </a:rPr>
                        <a:t>Part 4, first MCP run (denied)</a:t>
                      </a:r>
                    </a:p>
                  </a:txBody>
                  <a:tcPr>
                    <a:solidFill>
                      <a:srgbClr val="FFFFFF"/>
                    </a:solidFill>
                  </a:tcPr>
                </a:tc>
                <a:tc>
                  <a:txBody>
                    <a:bodyPr wrap="square"/>
                    <a:lstStyle/>
                    <a:p>
                      <a:pPr algn="l">
                        <a:spcAft>
                          <a:spcPts val="0"/>
                        </a:spcAft>
                        <a:buNone/>
                      </a:pPr>
                      <a:r>
                        <a:rPr sz="1000" b="0">
                          <a:solidFill>
                            <a:srgbClr val="0A2540"/>
                          </a:solidFill>
                          <a:latin typeface="Courier New"/>
                        </a:rPr>
                        <a:t>claude-sonnet-5</a:t>
                      </a:r>
                    </a:p>
                  </a:txBody>
                  <a:tcPr>
                    <a:solidFill>
                      <a:srgbClr val="FFFFFF"/>
                    </a:solidFill>
                  </a:tcPr>
                </a:tc>
                <a:tc>
                  <a:txBody>
                    <a:bodyPr wrap="square"/>
                    <a:lstStyle/>
                    <a:p>
                      <a:pPr algn="l">
                        <a:spcAft>
                          <a:spcPts val="0"/>
                        </a:spcAft>
                        <a:buNone/>
                      </a:pPr>
                      <a:r>
                        <a:rPr sz="1150" b="0">
                          <a:solidFill>
                            <a:srgbClr val="202B38"/>
                          </a:solidFill>
                          <a:latin typeface="Arial"/>
                        </a:rPr>
                        <a:t>4</a:t>
                      </a:r>
                    </a:p>
                  </a:txBody>
                  <a:tcPr>
                    <a:solidFill>
                      <a:srgbClr val="FFFFFF"/>
                    </a:solidFill>
                  </a:tcPr>
                </a:tc>
                <a:tc>
                  <a:txBody>
                    <a:bodyPr wrap="square"/>
                    <a:lstStyle/>
                    <a:p>
                      <a:pPr algn="l">
                        <a:spcAft>
                          <a:spcPts val="0"/>
                        </a:spcAft>
                        <a:buNone/>
                      </a:pPr>
                      <a:r>
                        <a:rPr sz="1150" b="0">
                          <a:solidFill>
                            <a:srgbClr val="202B38"/>
                          </a:solidFill>
                          <a:latin typeface="Arial"/>
                        </a:rPr>
                        <a:t>8</a:t>
                      </a:r>
                    </a:p>
                  </a:txBody>
                  <a:tcPr>
                    <a:solidFill>
                      <a:srgbClr val="FFFFFF"/>
                    </a:solidFill>
                  </a:tcPr>
                </a:tc>
                <a:tc>
                  <a:txBody>
                    <a:bodyPr wrap="square"/>
                    <a:lstStyle/>
                    <a:p>
                      <a:pPr algn="l">
                        <a:spcAft>
                          <a:spcPts val="0"/>
                        </a:spcAft>
                        <a:buNone/>
                      </a:pPr>
                      <a:r>
                        <a:rPr sz="1150" b="0">
                          <a:solidFill>
                            <a:srgbClr val="202B38"/>
                          </a:solidFill>
                          <a:latin typeface="Arial"/>
                        </a:rPr>
                        <a:t>34,451</a:t>
                      </a:r>
                    </a:p>
                  </a:txBody>
                  <a:tcPr>
                    <a:solidFill>
                      <a:srgbClr val="FFFFFF"/>
                    </a:solidFill>
                  </a:tcPr>
                </a:tc>
                <a:tc>
                  <a:txBody>
                    <a:bodyPr wrap="square"/>
                    <a:lstStyle/>
                    <a:p>
                      <a:pPr algn="l">
                        <a:spcAft>
                          <a:spcPts val="0"/>
                        </a:spcAft>
                        <a:buNone/>
                      </a:pPr>
                      <a:r>
                        <a:rPr sz="1150" b="0">
                          <a:solidFill>
                            <a:srgbClr val="202B38"/>
                          </a:solidFill>
                          <a:latin typeface="Arial"/>
                        </a:rPr>
                        <a:t>101,472</a:t>
                      </a:r>
                    </a:p>
                  </a:txBody>
                  <a:tcPr>
                    <a:solidFill>
                      <a:srgbClr val="FFFFFF"/>
                    </a:solidFill>
                  </a:tcPr>
                </a:tc>
                <a:tc>
                  <a:txBody>
                    <a:bodyPr wrap="square"/>
                    <a:lstStyle/>
                    <a:p>
                      <a:pPr algn="l">
                        <a:spcAft>
                          <a:spcPts val="0"/>
                        </a:spcAft>
                        <a:buNone/>
                      </a:pPr>
                      <a:r>
                        <a:rPr sz="1150" b="0">
                          <a:solidFill>
                            <a:srgbClr val="202B38"/>
                          </a:solidFill>
                          <a:latin typeface="Arial"/>
                        </a:rPr>
                        <a:t>672</a:t>
                      </a:r>
                    </a:p>
                  </a:txBody>
                  <a:tcPr>
                    <a:solidFill>
                      <a:srgbClr val="FFFFFF"/>
                    </a:solidFill>
                  </a:tcPr>
                </a:tc>
                <a:tc>
                  <a:txBody>
                    <a:bodyPr wrap="square"/>
                    <a:lstStyle/>
                    <a:p>
                      <a:pPr algn="l">
                        <a:spcAft>
                          <a:spcPts val="0"/>
                        </a:spcAft>
                        <a:buNone/>
                      </a:pPr>
                      <a:r>
                        <a:rPr sz="1150" b="0">
                          <a:solidFill>
                            <a:srgbClr val="202B38"/>
                          </a:solidFill>
                          <a:latin typeface="Arial"/>
                        </a:rPr>
                        <a:t>0.1132</a:t>
                      </a:r>
                    </a:p>
                  </a:txBody>
                  <a:tcPr>
                    <a:solidFill>
                      <a:srgbClr val="FFFFFF"/>
                    </a:solidFill>
                  </a:tcPr>
                </a:tc>
              </a:tr>
              <a:tr h="457200">
                <a:tc>
                  <a:txBody>
                    <a:bodyPr wrap="square"/>
                    <a:lstStyle/>
                    <a:p>
                      <a:pPr algn="l">
                        <a:spcAft>
                          <a:spcPts val="0"/>
                        </a:spcAft>
                        <a:buNone/>
                      </a:pPr>
                      <a:r>
                        <a:rPr sz="1150" b="0">
                          <a:solidFill>
                            <a:srgbClr val="202B38"/>
                          </a:solidFill>
                          <a:latin typeface="Arial"/>
                        </a:rPr>
                        <a:t>Part 4, second MCP run (approved)</a:t>
                      </a:r>
                    </a:p>
                  </a:txBody>
                  <a:tcPr>
                    <a:solidFill>
                      <a:srgbClr val="EEF3FD"/>
                    </a:solidFill>
                  </a:tcPr>
                </a:tc>
                <a:tc>
                  <a:txBody>
                    <a:bodyPr wrap="square"/>
                    <a:lstStyle/>
                    <a:p>
                      <a:pPr algn="l">
                        <a:spcAft>
                          <a:spcPts val="0"/>
                        </a:spcAft>
                        <a:buNone/>
                      </a:pPr>
                      <a:r>
                        <a:rPr sz="1000" b="0">
                          <a:solidFill>
                            <a:srgbClr val="0A2540"/>
                          </a:solidFill>
                          <a:latin typeface="Courier New"/>
                        </a:rPr>
                        <a:t>claude-sonnet-5</a:t>
                      </a:r>
                    </a:p>
                  </a:txBody>
                  <a:tcPr>
                    <a:solidFill>
                      <a:srgbClr val="EEF3FD"/>
                    </a:solidFill>
                  </a:tcPr>
                </a:tc>
                <a:tc>
                  <a:txBody>
                    <a:bodyPr wrap="square"/>
                    <a:lstStyle/>
                    <a:p>
                      <a:pPr algn="l">
                        <a:spcAft>
                          <a:spcPts val="0"/>
                        </a:spcAft>
                        <a:buNone/>
                      </a:pPr>
                      <a:r>
                        <a:rPr sz="1150" b="0">
                          <a:solidFill>
                            <a:srgbClr val="202B38"/>
                          </a:solidFill>
                          <a:latin typeface="Arial"/>
                        </a:rPr>
                        <a:t>5</a:t>
                      </a:r>
                    </a:p>
                  </a:txBody>
                  <a:tcPr>
                    <a:solidFill>
                      <a:srgbClr val="EEF3FD"/>
                    </a:solidFill>
                  </a:tcPr>
                </a:tc>
                <a:tc>
                  <a:txBody>
                    <a:bodyPr wrap="square"/>
                    <a:lstStyle/>
                    <a:p>
                      <a:pPr algn="l">
                        <a:spcAft>
                          <a:spcPts val="0"/>
                        </a:spcAft>
                        <a:buNone/>
                      </a:pPr>
                      <a:r>
                        <a:rPr sz="1150" b="0">
                          <a:solidFill>
                            <a:srgbClr val="202B38"/>
                          </a:solidFill>
                          <a:latin typeface="Arial"/>
                        </a:rPr>
                        <a:t>8</a:t>
                      </a:r>
                    </a:p>
                  </a:txBody>
                  <a:tcPr>
                    <a:solidFill>
                      <a:srgbClr val="EEF3FD"/>
                    </a:solidFill>
                  </a:tcPr>
                </a:tc>
                <a:tc>
                  <a:txBody>
                    <a:bodyPr wrap="square"/>
                    <a:lstStyle/>
                    <a:p>
                      <a:pPr algn="l">
                        <a:spcAft>
                          <a:spcPts val="0"/>
                        </a:spcAft>
                        <a:buNone/>
                      </a:pPr>
                      <a:r>
                        <a:rPr sz="1150" b="0">
                          <a:solidFill>
                            <a:srgbClr val="202B38"/>
                          </a:solidFill>
                          <a:latin typeface="Arial"/>
                        </a:rPr>
                        <a:t>1,406</a:t>
                      </a:r>
                    </a:p>
                  </a:txBody>
                  <a:tcPr>
                    <a:solidFill>
                      <a:srgbClr val="EEF3FD"/>
                    </a:solidFill>
                  </a:tcPr>
                </a:tc>
                <a:tc>
                  <a:txBody>
                    <a:bodyPr wrap="square"/>
                    <a:lstStyle/>
                    <a:p>
                      <a:pPr algn="l">
                        <a:spcAft>
                          <a:spcPts val="0"/>
                        </a:spcAft>
                        <a:buNone/>
                      </a:pPr>
                      <a:r>
                        <a:rPr sz="1150" b="0">
                          <a:solidFill>
                            <a:srgbClr val="202B38"/>
                          </a:solidFill>
                          <a:latin typeface="Arial"/>
                        </a:rPr>
                        <a:t>135,182</a:t>
                      </a:r>
                    </a:p>
                  </a:txBody>
                  <a:tcPr>
                    <a:solidFill>
                      <a:srgbClr val="EEF3FD"/>
                    </a:solidFill>
                  </a:tcPr>
                </a:tc>
                <a:tc>
                  <a:txBody>
                    <a:bodyPr wrap="square"/>
                    <a:lstStyle/>
                    <a:p>
                      <a:pPr algn="l">
                        <a:spcAft>
                          <a:spcPts val="0"/>
                        </a:spcAft>
                        <a:buNone/>
                      </a:pPr>
                      <a:r>
                        <a:rPr sz="1150" b="0">
                          <a:solidFill>
                            <a:srgbClr val="202B38"/>
                          </a:solidFill>
                          <a:latin typeface="Arial"/>
                        </a:rPr>
                        <a:t>1,006</a:t>
                      </a:r>
                    </a:p>
                  </a:txBody>
                  <a:tcPr>
                    <a:solidFill>
                      <a:srgbClr val="EEF3FD"/>
                    </a:solidFill>
                  </a:tcPr>
                </a:tc>
                <a:tc>
                  <a:txBody>
                    <a:bodyPr wrap="square"/>
                    <a:lstStyle/>
                    <a:p>
                      <a:pPr algn="l">
                        <a:spcAft>
                          <a:spcPts val="0"/>
                        </a:spcAft>
                        <a:buNone/>
                      </a:pPr>
                      <a:r>
                        <a:rPr sz="1150" b="0">
                          <a:solidFill>
                            <a:srgbClr val="202B38"/>
                          </a:solidFill>
                          <a:latin typeface="Arial"/>
                        </a:rPr>
                        <a:t>0.0406</a:t>
                      </a:r>
                    </a:p>
                  </a:txBody>
                  <a:tcPr>
                    <a:solidFill>
                      <a:srgbClr val="EEF3FD"/>
                    </a:solidFill>
                  </a:tcPr>
                </a:tc>
              </a:tr>
            </a:tbl>
          </a:graphicData>
        </a:graphic>
      </p:graphicFrame>
      <p:sp>
        <p:nvSpPr>
          <p:cNvPr id="8" name="TextBox 7"/>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Claude Code 2.1.278: the result event carries total_cost_usd, usage and modelUsage (per model, with costUSD), plus num_turns and duration_ms; there is no cost object. In a session type /usage. Row 3 read almost everything from cache, at a tenth of the input price.</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2 - Models, Context, Tools and Skills</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332720" cy="1097280"/>
          </a:xfrm>
          <a:prstGeom prst="rect">
            <a:avLst/>
          </a:prstGeom>
          <a:noFill/>
        </p:spPr>
        <p:txBody>
          <a:bodyPr wrap="square">
            <a:spAutoFit/>
          </a:bodyPr>
          <a:lstStyle/>
          <a:p>
            <a:pPr algn="l">
              <a:spcAft>
                <a:spcPts val="600"/>
              </a:spcAft>
              <a:buNone/>
            </a:pPr>
            <a:r>
              <a:rPr sz="3400" b="1">
                <a:solidFill>
                  <a:srgbClr val="FFFFFF"/>
                </a:solidFill>
                <a:latin typeface="Arial"/>
              </a:rPr>
              <a:t>You now know the four pieces the model sees - next session you build the loop around them</a:t>
            </a:r>
          </a:p>
        </p:txBody>
      </p:sp>
      <p:sp>
        <p:nvSpPr>
          <p:cNvPr id="4" name="TextBox 3"/>
          <p:cNvSpPr txBox="1"/>
          <p:nvPr/>
        </p:nvSpPr>
        <p:spPr>
          <a:xfrm>
            <a:off x="914400" y="2651760"/>
            <a:ext cx="10058400" cy="2926080"/>
          </a:xfrm>
          <a:prstGeom prst="rect">
            <a:avLst/>
          </a:prstGeom>
          <a:noFill/>
        </p:spPr>
        <p:txBody>
          <a:bodyPr wrap="square">
            <a:spAutoFit/>
          </a:bodyPr>
          <a:lstStyle/>
          <a:p>
            <a:pPr algn="l" indent="-228600" marL="228600">
              <a:spcAft>
                <a:spcPts val="1000"/>
              </a:spcAft>
              <a:buClr>
                <a:srgbClr val="1E5EF3"/>
              </a:buClr>
              <a:buChar char="—"/>
            </a:pPr>
            <a:r>
              <a:rPr sz="1600" b="0">
                <a:solidFill>
                  <a:srgbClr val="B9D0FA"/>
                </a:solidFill>
                <a:latin typeface="Arial"/>
              </a:rPr>
              <a:t>Model: one request, one response; read capabilities first, choose by capability, cost and latency</a:t>
            </a:r>
          </a:p>
          <a:p>
            <a:pPr algn="l" indent="-228600" marL="228600">
              <a:spcAft>
                <a:spcPts val="1000"/>
              </a:spcAft>
              <a:buClr>
                <a:srgbClr val="1E5EF3"/>
              </a:buClr>
              <a:buChar char="—"/>
            </a:pPr>
            <a:r>
              <a:rPr sz="1600" b="0">
                <a:solidFill>
                  <a:srgbClr val="B9D0FA"/>
                </a:solidFill>
                <a:latin typeface="Arial"/>
              </a:rPr>
              <a:t>Context is a budget: compaction cut the next prompt by 72%; notes outside the window outlive a session</a:t>
            </a:r>
          </a:p>
          <a:p>
            <a:pPr algn="l" indent="-228600" marL="228600">
              <a:spcAft>
                <a:spcPts val="1000"/>
              </a:spcAft>
              <a:buClr>
                <a:srgbClr val="1E5EF3"/>
              </a:buClr>
              <a:buChar char="—"/>
            </a:pPr>
            <a:r>
              <a:rPr sz="1600" b="0">
                <a:solidFill>
                  <a:srgbClr val="B9D0FA"/>
                </a:solidFill>
                <a:latin typeface="Arial"/>
              </a:rPr>
              <a:t>Instruction files: short and human-written help; when everything is important, nothing is</a:t>
            </a:r>
          </a:p>
          <a:p>
            <a:pPr algn="l" indent="-228600" marL="228600">
              <a:spcAft>
                <a:spcPts val="1000"/>
              </a:spcAft>
              <a:buClr>
                <a:srgbClr val="1E5EF3"/>
              </a:buClr>
              <a:buChar char="—"/>
            </a:pPr>
            <a:r>
              <a:rPr sz="1600" b="0">
                <a:solidFill>
                  <a:srgbClr val="B9D0FA"/>
                </a:solidFill>
                <a:latin typeface="Arial"/>
              </a:rPr>
              <a:t>A tool is its description: the vague one paid 2 extra calls; errors and gates belong to the interface</a:t>
            </a:r>
          </a:p>
          <a:p>
            <a:pPr algn="l" indent="-228600" marL="228600">
              <a:spcAft>
                <a:spcPts val="1000"/>
              </a:spcAft>
              <a:buClr>
                <a:srgbClr val="1E5EF3"/>
              </a:buClr>
              <a:buChar char="—"/>
            </a:pPr>
            <a:r>
              <a:rPr sz="1600" b="0">
                <a:solidFill>
                  <a:srgbClr val="B9D0FA"/>
                </a:solidFill>
                <a:latin typeface="Arial"/>
              </a:rPr>
              <a:t>Skills load in three levels: 152 tokens of catalog for two skills, 580 of bodies on demand</a:t>
            </a:r>
          </a:p>
          <a:p>
            <a:pPr algn="l" indent="-228600" marL="228600">
              <a:spcAft>
                <a:spcPts val="1000"/>
              </a:spcAft>
              <a:buClr>
                <a:srgbClr val="1E5EF3"/>
              </a:buClr>
              <a:buChar char="—"/>
            </a:pPr>
            <a:r>
              <a:rPr sz="1600" b="0">
                <a:solidFill>
                  <a:srgbClr val="B9D0FA"/>
                </a:solidFill>
                <a:latin typeface="Arial"/>
              </a:rPr>
              <a:t>MCP is the plug: claude mcp add, approval, permissions; read the bill via total_cost_usd and /usage</a:t>
            </a:r>
          </a:p>
          <a:p>
            <a:pPr algn="l" indent="-228600" marL="228600">
              <a:spcAft>
                <a:spcPts val="1000"/>
              </a:spcAft>
              <a:buClr>
                <a:srgbClr val="1E5EF3"/>
              </a:buClr>
              <a:buChar char="—"/>
            </a:pPr>
            <a:r>
              <a:rPr sz="1600" b="0">
                <a:solidFill>
                  <a:srgbClr val="B9D0FA"/>
                </a:solidFill>
                <a:latin typeface="Arial"/>
              </a:rPr>
              <a:t>Practice now: notebook 02 with your key in .env, then lab 2 from lab/; exercises before solutions</a:t>
            </a:r>
          </a:p>
        </p:txBody>
      </p:sp>
      <p:sp>
        <p:nvSpPr>
          <p:cNvPr id="5" name="TextBox 4"/>
          <p:cNvSpPr txBox="1"/>
          <p:nvPr/>
        </p:nvSpPr>
        <p:spPr>
          <a:xfrm>
            <a:off x="914400" y="6035040"/>
            <a:ext cx="9144000" cy="365760"/>
          </a:xfrm>
          <a:prstGeom prst="rect">
            <a:avLst/>
          </a:prstGeom>
          <a:noFill/>
        </p:spPr>
        <p:txBody>
          <a:bodyPr wrap="square">
            <a:spAutoFit/>
          </a:bodyPr>
          <a:lstStyle/>
          <a:p>
            <a:pPr algn="l">
              <a:spcAft>
                <a:spcPts val="600"/>
              </a:spcAft>
              <a:buNone/>
            </a:pPr>
            <a:r>
              <a:rPr sz="1200" b="0">
                <a:solidFill>
                  <a:srgbClr val="B9D0FA"/>
                </a:solidFill>
                <a:latin typeface="Arial"/>
              </a:rPr>
              <a:t>Harness Engineering - Module 5</a:t>
            </a:r>
          </a:p>
        </p:txBody>
      </p:sp>
      <p:sp>
        <p:nvSpPr>
          <p:cNvPr id="6" name="TextBox 5"/>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B9D0FA"/>
                </a:solidFill>
                <a:latin typeface="Arial"/>
              </a:rPr>
              <a:t>M5 Session 2 - Models, Context, Tools and Skills</a:t>
            </a:r>
          </a:p>
        </p:txBody>
      </p:sp>
      <p:sp>
        <p:nvSpPr>
          <p:cNvPr id="7" name="TextBox 6"/>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B9D0FA"/>
                </a:solidFill>
                <a:latin typeface="Arial"/>
              </a:rP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M5 Session 2 - Models, Context, Tools and Skills</dc:title>
  <dc:subject/>
  <dc:creator>M5 Harness Engineering course</dc:creator>
  <cp:keywords/>
  <dc:description/>
  <cp:lastModifiedBy>M5 Harness Engineering course</cp:lastModifiedBy>
  <cp:revision>1</cp:revision>
  <dcterms:created xsi:type="dcterms:W3CDTF">2013-01-27T09:14:16Z</dcterms:created>
  <dcterms:modified xsi:type="dcterms:W3CDTF">2013-01-27T09:15:58Z</dcterms:modified>
  <cp:category/>
</cp:coreProperties>
</file>