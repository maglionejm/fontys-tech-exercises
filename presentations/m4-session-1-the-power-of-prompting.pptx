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this session has two halves. First the theory of why prompts work and a ladder of techniques. Then the notebook: a small model on your own laptop, one real job, a scoreboard, and a loop in which the model writes and improves its own instructions. Class question to open: who has been frustrated by an AI answer this week, and what did you type?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anchor on the new-colleague picture before any theory. Same colleague, two requests, two very different outputs; the colleague did not change. Class question: what would you tell a new colleague so they could not misunderstand 'extract the passenger data'?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the system message is where rules live because training taught the model to weigh it. Writing assistant turns yourself is how few-shot examples work in chat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this is the one paper to remember. The dial from zero-shot to few-shot is why examples are a rung of the ladder. Class question: if the model only predicts likely continuations, why would 'answer in JSON' work at all? Because JSON after 'answer in JSON' is the likely continuation.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the order is roughly the order of return on effort. Most real gains are rungs 1 to 3. Chain-of-thought is real and large on arithmetic with big models, but on a strict-format job with a small model it often hurts; the notebook measures it as an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this is the slide that should make prompting feel like engineering. Once there is a scorer, everything becomes a loop. Class question: what do you need before you can run this loop at all? Examples with known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name the four, then say the notebook runs all four. Students do not need to memorize authors; they need to recognize the loop in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the surprise is not the size of the gain, it is that a program found wording no human proposed. Class question: why might 'take a deep breath' help a model that does not breathe? Because in its training text those words precede careful, step-by-step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this is the industry pattern behind most production LLM systems in 2026. The author and the worker need not be the same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students who did M2 should recognize this instantly. Make them say it: dev is for choosing, test is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read the sentence and the JSON aloud. Ask the class which parts are easy (age, port) and which need a convention (husband: SibSp or Parch?).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strictness is a design decision. Ask: should the scorer accept 'Southampton'? If it did, the prompt would never learn to say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the shape repeats on every machine, the exact numbers wobble. The lesson is the size of the first step. Class question: why would examples ever make a small model worse? Longer prompts, more to attend to, and the examples may not match the case at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this chart earns the whole module its honesty. Ask students where they would spend the next hour: on the prompt, or on the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point at the model-written rows. Without a human writing a single rule, search found an instruction in the league of the human rungs. Then point at the gap to the top human rung: the small author is the weak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this is the smallest possible version of the loop that found 'take a deep breath', with the 2025 twist: traces instead of scores. Same mechanism, smaller author, smaller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the selection effect made visible. Ask: which number would you put in a report to your manager,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1E5EF3"/>
                </a:solidFill>
                <a:latin typeface="Arial"/>
              </a:rPr>
              <a:t>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400" b="1">
                <a:solidFill>
                  <a:srgbClr val="0A2540"/>
                </a:solidFill>
                <a:latin typeface="Arial"/>
              </a:rPr>
              <a:t>The Power of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5B6774"/>
                </a:solidFill>
                <a:latin typeface="Arial"/>
              </a:rPr>
              <a:t>Why the words you send a language model decide what comes back, how to measure it, and how to make the model write its own prompts.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5B6774"/>
                </a:solidFill>
                <a:latin typeface="Arial"/>
              </a:rPr>
              <a:t>Prompting and Language Models -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Part 1 - The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What a prompt is, why words work, and the loop that writes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WHAT A PROMPT REALLY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A language model continues text. The prompt is the only steering 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 model predicts the next token, given the text so far. In plain words: autocomplete that read a library.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No memory of you, no goals, no settings to change at run time. You can only write words.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So every detail you leave out is a detail the model must guess.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Concrete first: "extract the passenger data" gets whatever a stranger thinks that means.</a:t>
            </a:r>
          </a:p>
        </p:txBody>
      </p:sp>
      <p:pic>
        <p:nvPicPr>
          <p:cNvPr id="8" name="Picture 7" descr="st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656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How to read it: left to right, the only box you control is the first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WHAT A PROMPT REALLY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Chat prompts have three roles, and the model learned them as a strong convention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459"/>
                <a:gridCol w="2772918"/>
                <a:gridCol w="6932295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Who speaks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the operator (you, the developer)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who the model is, the standing rules, the output format; set 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the person asking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the actual request and the text to work on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the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its answers; you may write these yourself as examples of what you want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Under the hood a template glues the roles into one string. Roles are text, but text the model was trained to respect.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IN-CONTEXT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Why words change the output: the model learns your task from the prompt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Brown et al. 2020 (GPT-3): a large model learns a new task from a few examples placed in the prompt, with no training. They called it in-context learning.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Zero-shot, one-shot, few-shot: the number of examples became a dial, and accuracy rose with it on task after task.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In plain words: the model treats your prompt as a pattern and continues the pattern.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Under the hood: P(next token | prompt). Change the prompt, change the probability of every token that follows.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Limit: a prompt can only unlock what training put in. It cannot add a skill the model never learned.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Source: Brown et al., Language Models are Few-Shot Learners, NeurIPS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prompt ladder: each rung removes one kind of guess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444"/>
                <a:gridCol w="3697224"/>
                <a:gridCol w="3697224"/>
                <a:gridCol w="2957779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you add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The guess it removes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Where it comes from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 vague 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nothing; the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specification: task, fields, allowed values, exact format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what you want and in what shape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requirements writing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rules: your conventions and edge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how to handle the ambiguous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the model cannot know your conventions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role in a system message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how to behave when the text pulls it off course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chat training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examples: two to four input-output pairs, as conversation turns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what a perfect answer looks like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Brown et al.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reasoning steps: "think step by step"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how to solve multi-step problems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Wei et al. 2022; Kojima et al. 2022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In plain words: say what you want, say how to handle the tricky cases, say who the model is, show what good looks like. Examples get copied: keep them representative, give them as 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PROMPTS THAT WRITE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Self-generation: a prompt is text, the model writes text, so the model can write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Generate candidate prompts, score them on examples with known answers, keep the best, repeat.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This is a search loop. The prompt is the variable; the scorer is the judge.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You met this shape in M2 notebook 3: grid and random search over hyperparameters.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Two hats for one model: the worker runs the prompt, the author writes it.</a:t>
            </a:r>
          </a:p>
        </p:txBody>
      </p:sp>
      <p:pic>
        <p:nvPicPr>
          <p:cNvPr id="8" name="Picture 7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8324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How to read it: clockwise from the top left; step 4 is what turns blind search into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PROMPTS THAT WRITE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Four flavours of self-generation, each with a paper behind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353"/>
                <a:gridCol w="3262256"/>
                <a:gridCol w="2609805"/>
                <a:gridCol w="326225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Flavour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the model writes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they found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self-generated examples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its own input-output demonstrations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Kim et al. 2022 (SG-ICL); Zhang et al. 2022 (Auto-CoT)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demonstrations matter more than who wrote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self-refine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 critique of its own draft, then a revision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Madaan et al. 2023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gains across dialogue, math and code with no extra training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instruction induction (APE)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the instruction that would produce given outputs; many candidates, keep the 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Zhou et al.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 searched prompt beat the human "Let's think step by step"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optimizer loop (OPRO, GEPA)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 better instruction after reading past scores (2023) or the actual failures (2025)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Yang et al. 2023; Agrawal et al. 2025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"Take a deep breath and work on this problem step-by-step"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In plain words: the model writes the examples, grades its own homework, writes the instruction, or reads the scoreboard and writes a better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PROMPTS THAT WRITE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Prompts found by search beat prompts written by people, on the same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834"/>
                <a:gridCol w="2440167"/>
                <a:gridCol w="887333"/>
                <a:gridCol w="3993001"/>
                <a:gridCol w="887333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Benchmark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Human prompt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Prompt found by search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MultiArith (APE, Zhou et al.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"Let's think step by step"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78.7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"Let's work this out in a step by step way to be sure we have the right answer"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82.0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GSM8K (APE, Zhou et al. 2022)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"Let's think step by step"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40.7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same searched prompt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43.0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GSM8K, PaLM 2-L (OPRO, Yang et al.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"Let's think step by step"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71.8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"Take a deep breath and work on this problem step-by-step"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80.2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Scores are accuracy in percent as reported in the papers. Nobody typed the winning prompts; a loop like the one on the previous slide found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PROMPTS THAT WRITE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Where this is going: prompt optimization as software, and a division of labour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297680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Programming, not prompting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7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Khattab et al. 2023 (DSPy): declare inputs, outputs and a scorer; an optimizer writes the instructions and picks the examples.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Every major provider now ships a "generate a prompt for me" button.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The scorer is the part you cannot outsource: it encodes what good means for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394960" cy="4297680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Big writes, small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41447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A frontier model writes and tunes the prompt once.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A small, cheap model runs it millions of times.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The notebook shows why: the small model is a fair worker and a weak author.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Optional section 10 lets a frontier model be the author, key kept in memory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MEASURE, DO NOT ARGUE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honesty rule from M2 applies to prompts: choose on dev, report 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Choosing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Score every candidate prompt on a development set.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Pick the winner by that score.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That score is now optimistic: you picked the winner because it did well there.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Keep a test set the choice never touched.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Score the chosen prompt there once.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In plain words: the exam you studied from is not the exam that counts.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Ten rows is a classroom ruler: one row is ten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Selection versus assessment, exactly as in M2 notebook 2. The notebook splits 24 passengers into 4 demo, 10 dev and 10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Part 2 -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Notebook M4-01: a small model, one job, a scoreboard, and a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job: turn a sentence about a passenger into the JSON the M3 API expects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Input: "Florence Cumings, 38, travelled first class with her husband John; they embarked at Cherbourg."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Output: {"Pclass": 1, "Sex": "female", "Age": 38, "SibSp": 1, "Parch": 0, "Embarked": "C"}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24 real passengers from the course dataset, each written as one sentence; the true row is the answer key.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Conventions the model cannot guess: SibSp counts siblings and spouses, Parch parents and children, "steerage" is class 3, ports are letters.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Worker: Qwen/Qwen2.5-1.5B-Instruct, about 1.5 billion parameters, runs on a laptop GPU or Apple silicon (a 0.5B sibling on plain CPUs). Small on purpose: it is sensitive to the prompt, so the rungs show.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A frontier model would do this well with any prompt and teach nothing. Everything learned here transfers upward.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SCORER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Three numbers per prompt, and each tells a different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611"/>
                <a:gridCol w="4489486"/>
                <a:gridCol w="4753573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valid_json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did the model answer in the right shape?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no JSON means the API call fails before any field is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field_accuracy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of all fields across all passengers, what share is exactly right?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the headline number; six fields times ten passengers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perfect_rows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what share of passengers is right in all six fields?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what the API would actually accept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The scorer is strict on purpose: "Southampton" where "S" is expected is a failed request, not a near miss.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CLIMBING THE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Rung 1 alone takes the model from 0% to 90% of fields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Rung 0 produced valid JSON for 0% of passengers: prose, lists, questions back.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Specification is the cheapest rung and the largest jump: fields, allowed values, "JSON only".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Rules, examples and the role move the score by a few points on this small model, up and down.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Ten passengers: one passenger is ten points of perfect_rows. Read small gaps as noise.</a:t>
            </a:r>
          </a:p>
        </p:txBody>
      </p:sp>
      <p:pic>
        <p:nvPicPr>
          <p:cNvPr id="8" name="Picture 7" descr="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215" y="1874519"/>
            <a:ext cx="595909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How to read it: one row per rung, top to bottom; dark bar = share of fields right, light bar = passengers perfect in all six.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WHERE PROMPTING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Class, age and port are solved by rung 1 or 2; the two family counts stay near 70% on every 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Class, age and port: the specification and one rule about "steerage" settle them. Sex slips on one unusual first name.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SibSp and Parch: the model reads "with her mother and her sister" and must route each relative to the right counter, a two-step job.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Rules and examples move these two columns a little; no rung brings them level with the others.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When no wording moves a column any more, you have found a skill the model lacks: the line between a better prompt and a bigger model.</a:t>
            </a:r>
          </a:p>
        </p:txBody>
      </p:sp>
      <p:pic>
        <p:nvPicPr>
          <p:cNvPr id="8" name="Picture 7" descr="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5799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How to read it: one bar per field, rung 4, dev set; dark bars are at or above 85 percent, light bars mark the ceiling.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HONEST SCOREBOARD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Self-generated prompts, scored once on the sealed test set next to the hand-written rungs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self-examples: the model invented its own demonstrations. When they are inconsistent, the worker learns the inconsistency.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self-refine: draft, critique, revise. Fixes slips, cannot fix conventions the critic does not know.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APE best: the best of six instructions the model wrote from four input-output pairs.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OPRO best: the winner of three reflective rounds. In this run it copied dev passengers with their answers into the prompt: top score on dev, points back on test.</a:t>
            </a:r>
          </a:p>
        </p:txBody>
      </p:sp>
      <p:pic>
        <p:nvPicPr>
          <p:cNvPr id="8" name="Picture 7" descr="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482" y="1874519"/>
            <a:ext cx="4170556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How to read it: the top five rows are human-written rungs, the bottom four are model-written; longer is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OPRO WITH A REFLECTION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optimizer reads its own failures, edits the instruction, keeps the best: a climb in three rounds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Round 0 starts from the better of two seeds: the human specification and the best APE candidate.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Each round: show the best instruction and three passengers it gets wrong, ask for an edit that keeps what works and fixes the failures, sample two, score them.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line can only go up or stay flat: we always keep the best.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pure scoreboard version (OPRO 2023) stayed flat with this small author; the reflective version (GEPA 2025) climbs. Measured, not assumed.</a:t>
            </a:r>
          </a:p>
        </p:txBody>
      </p:sp>
      <p:pic>
        <p:nvPicPr>
          <p:cNvPr id="8" name="Picture 7" descr="o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725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How to read it: x is the round, y is the best dev score so far; the numbers are percent of fields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HONESTY RULE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Dev versus test: prompts chosen by their dev score lose the most 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501"/>
                <a:gridCol w="2772918"/>
                <a:gridCol w="2772918"/>
                <a:gridCol w="2218334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Prompt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dev (used to choose)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(sealed)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gap, points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 + specification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4 + examples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+3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APE 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OPRO best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Hand-written rungs were chosen by no score, so they move less. With ten rows, a gap of one row is about two points of field accuracy: read only the large gaps.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What to take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The prompt is the only steering wheel: everything you do not say, the model guesses.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In-context learning is why words work; specification, rules and examples each remove a kind of guess.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Measure, do not argue: a scored set turns prompting into engineering. Choose on dev, report on test.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Self-generation is a search loop: propose, score, keep, learn. APE and OPRO found prompts no human wrote.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A weak author writes weak prompts: big writes, small runs.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Prompting unlocks, it does not add: when no rung helps, change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B9D0FA"/>
                </a:solidFill>
                <a:latin typeface="Arial"/>
              </a:rPr>
              <a:t>Prompting and Language Models - 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M4 Session 1 - The Power of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Session 1 - The Power of Prompting</dc:title>
  <dc:subject/>
  <dc:creator>M2 Machine Learning course</dc:creator>
  <cp:keywords/>
  <dc:description/>
  <cp:lastModifiedBy>M2 Machine Learning course</cp:lastModifiedBy>
  <cp:revision>1</cp:revision>
  <dcterms:created xsi:type="dcterms:W3CDTF">2013-01-27T09:14:16Z</dcterms:created>
  <dcterms:modified xsi:type="dcterms:W3CDTF">2013-01-27T09:15:58Z</dcterms:modified>
  <cp:category/>
</cp:coreProperties>
</file>