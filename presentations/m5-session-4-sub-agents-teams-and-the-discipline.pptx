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session we built one harness and measured it. Today the question is what happens when one agent is not enough: the context fills up, the task has independent parts, or a specialist is needed. We cover the shapes - sub-agents, teams, handoffs - the failure modes, and then step back to what the discipline demands. Part 2 is notebook 04. Ask the class: when you split a job between people, what usually goes wrong first?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1 moves from one agent to many: why to isolate context, the three shapes, the failure modes, and then the discipline itself. Ask the class: what is the most agents you have seen cooperate on one task, and did it help?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from the problem, not the pattern: in Session 2 the context window was a budget, and compaction was the emergency brake. Sub-agents are the structural fix - the expensive exploration happens in a window you throw away, and only a short summary comes back. Point at the arrow widths: gray brief out, blue summary back, nothing else crosses. Ask the class: what would you lose if the sub-agent returned its whole transcript instead of a summary?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number that made multi-agent systems respectable: a lead Opus with parallel Sonnet sub-agents beat a lone Opus by 90.2% on breadth-first research questions. Then say the second half of the label louder than the first: fifteen times the tokens of a normal chat. The gain came from parallel exploration across separate context windows - exactly the isolation from the previous slide. Ask the class: which kinds of task would NOT benefit from splitting - and why?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columns, two owners. The left is prompt work for the lead: it must brief its workers like a good manager - objective, format, tools, boundaries - and decide how much effort a question deserves. The right is harness work: parallelism, memory, a citation pass, evals. Notice that the fix for wandering sub-agents was not a smarter model; it was a better brief. Ask the class: write a one-line brief for a sub-agent that should find when function calling shipped - what would you include?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three pictures every time you design a multi-agent system. Hierarchy: one lead, workers that report up and never talk sideways - simple and predictable. Flat team: a shared task list, teammates that claim work and message each other, a lead that assigns and synthesizes - more parallel, harder to reason about. Handoff: the conversation itself moves to a specialist and the first agent steps back. In plain words: a convoy, a crew with one job board, a change of drivers. Ask the class: which shape is a hospital triage desk?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table as a decision aid, row by row. The communication row is the one students miss: sub-agents cannot talk to each other by design, which is a feature - no cross-contamination - until two of them need the same fact. Teams fix that with a board and a mailbox at the price of coordination. Handoffs are different in kind: nothing is summarized, the receiver gets everything. Ask the class: you have 40 independent documents to summarize - which column, and what is the risk?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Session 3's workflow-versus-agent choice, one level up. On the left, orchestration is a Python function: the plan is a list, the loop is a for-loop, the merge is a call. On the right, orchestration is a tool the lead may call, and the structure lives in the model's head. Notebook 04 runs both on the same three-part question. Ask the class: which side would you pick for a nightly report that must look the same every day? The figures on this slide are the notebook's reference run on the deterministic stand-in; the notebook then repeats the comparison live on Claude, which varies and prints real token usage.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row is a real incident type; the last one is the notebook's own demo - a before_tool hook that denies the third delegation and saves a third of the tokens. The two survey findings deserve emphasis: chains of more than four handoffs almost always failed - each handoff loses intent - and adding a reviewer agent made things worse by eight points, probably because the reviewer second-guessed correct answers. The lesson is not 'never add agents'; it is 'never add an agent without an eval that shows it helped'. Ask the class: which of these five would a trace catch first? The figures on this slide are the notebook's reference run on the deterministic stand-in; the notebook then repeats the comparison live on Claude, which varies and prints real token usage.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column is the course in six lines; right column is the gap. Read them as pairs: instruction files exist but are not enforced; security rules exist but 4.4% have a control; permission prompts exist but 93% are waved through; and 60% of harnesses could not tell you whether their last change helped. The eleven-harness study found the same thing from the code side: the loops are hand-rolled and the retrieval is deterministic - engineering, not magic. Ask the class: which of the six did your notebook 03 harness already have?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it twice. It is the most reassuring sentence in the module: the systems students read about - Claude Code, Codex CLI, Gemini CLI, Aider, OpenHands and the rest - are loops, tool registries and file search, written by hand. The 300 lines of harness in this course are the same species, smaller. Ask the class: after four sessions, which line of the course library would you now want to read in one of those eleven?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signposts, all dated, none speculative. Repositories are being rewritten for agent readers; skills let one folder work across forty platforms; twenty-one thousand harness repos in one year says everyone is building the same car; and the discipline now has a name and a first anatomy paper. The closing line of the module: models are bought, harnesses are built. Ask the class: which of the eight pieces do you think will be standardized next, after tools (MCP) and skills?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notebook 04. Same library, same ScriptedModel, no API key; the runs are deterministic so the numbers match the slides. Ask the class: which of the three shapes do you expect to cost the most tokens, and why?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chart has two kinds of bar on purpose. The navy bars are context sizes - what one agent was carrying at the end. The sky bar is total work done by the three sub-agents, which never touched the lead's window. The solo agent is the control: on the same three-part question it filled its window and still only answered the first part. Ask the class: the sub-agent version costs roughly eight times more in total - for which question is that obviously worth it, and for which is it not? The figures on this slide are the notebook's reference run on the deterministic stand-in; the notebook then repeats the comparison live on Claude, which varies and prints real token usage.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board top to bottom: tasks one to six, owners t0, t1, t2 in rotation because each teammate claims the next open task when it finishes. The mailbox on the right is the only channel to the lead - six short messages, each carrying a source tag. Compare with the sub-agent slide: here the lead did not even plan; the board did. The four-teammate run costs exactly the same: the board holds six tasks whoever claims them. Ask the class: what breaks first if two teammates claim the same task at the same time, and which piece of the harness should prevent it? The figures on this slide are the notebook's reference run on the deterministic stand-in; the notebook then repeats the comparison live on Claude, which varies and prints real token usage.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handoff is the simplest of the three shapes and the easiest to overuse. The calculator agent gets the entire research conversation and one new instruction; it needs only the instruction, but pays for everything. That is why the survey found chains of more than four handoffs almost always fail: the history grows and the intent blurs. Ask the class: when is inheriting the full history actually necessary, and what would a summary lose in that case? The figures on this slide are the notebook's reference run on the deterministic stand-in; the notebook then repeats the comparison live on Claude, which varies and prints real token usage.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Session 3's third exit made visible. The policy is deliberately broken: it calls the same search on every turn. Because the loop re-sends the full history each time, the per-turn cost climbs by 154 tokens each time and the total reaches about 3,114 for an empty answer. The dashed line is max_turns doing its job, and the result reports stopped_because equal to 'max_turns' so the caller knows it did not finish. The dotted line is the fix: a policy that searches once and answers costs about 422 tokens for the whole run. Ask the class: what would a smarter guard look at, so it could stop this loop at turn three instead of turn six? This demo is kept on the stand-in on purpose: a real model would simply stop calling the tool, so the runaway would never show.</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the loop with Session 1's anatomy slide: the same eight pieces, now with a file name each. Students have run every one of them. The point of the middle column is that the car metaphor was never decoration - each piece answers one question a driver would ask. Ask the class: which piece would you replace first if this harness went to production, and with what?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 on capability, not theory. Every line is something they ran this module. The last line is the invitation: the notebooks' optional section connects a real model through the same interface, and nothing else in the harness changes - which is the whole argument of the module. Ask the class: what is the first agent you would build with this, and which of the eight pieces would you spend most of your time on? model_for(role) picks the engine: Claude when ANTHROPIC_API_KEY is present in the git-ignored .env, the deterministic stand-in otherwise - the harness code is identical either way.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E5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965960"/>
            <a:ext cx="10058400" cy="365760"/>
          </a:xfrm>
          <a:prstGeom prst="rect">
            <a:avLst/>
          </a:prstGeom>
          <a:noFill/>
        </p:spPr>
        <p:txBody>
          <a:bodyPr wrap="square">
            <a:spAutoFit/>
          </a:bodyPr>
          <a:lstStyle/>
          <a:p>
            <a:pPr algn="l">
              <a:spcAft>
                <a:spcPts val="600"/>
              </a:spcAft>
              <a:buNone/>
            </a:pPr>
            <a:r>
              <a:rPr sz="1400" b="1">
                <a:solidFill>
                  <a:srgbClr val="1E5EF3"/>
                </a:solidFill>
                <a:latin typeface="Arial"/>
              </a:rPr>
              <a:t>SESSION 4 OF 4</a:t>
            </a:r>
          </a:p>
        </p:txBody>
      </p:sp>
      <p:sp>
        <p:nvSpPr>
          <p:cNvPr id="5" name="TextBox 4"/>
          <p:cNvSpPr txBox="1"/>
          <p:nvPr/>
        </p:nvSpPr>
        <p:spPr>
          <a:xfrm>
            <a:off x="914400" y="2377440"/>
            <a:ext cx="10332720" cy="1737360"/>
          </a:xfrm>
          <a:prstGeom prst="rect">
            <a:avLst/>
          </a:prstGeom>
          <a:noFill/>
        </p:spPr>
        <p:txBody>
          <a:bodyPr wrap="square">
            <a:spAutoFit/>
          </a:bodyPr>
          <a:lstStyle/>
          <a:p>
            <a:pPr algn="l">
              <a:spcAft>
                <a:spcPts val="0"/>
              </a:spcAft>
              <a:buNone/>
            </a:pPr>
            <a:r>
              <a:rPr sz="4400" b="1">
                <a:solidFill>
                  <a:srgbClr val="0A2540"/>
                </a:solidFill>
                <a:latin typeface="Arial"/>
              </a:rPr>
              <a:t>Sub-agents, Teams and the Discipline</a:t>
            </a:r>
          </a:p>
        </p:txBody>
      </p:sp>
      <p:sp>
        <p:nvSpPr>
          <p:cNvPr id="6" name="TextBox 5"/>
          <p:cNvSpPr txBox="1"/>
          <p:nvPr/>
        </p:nvSpPr>
        <p:spPr>
          <a:xfrm>
            <a:off x="914400" y="4114800"/>
            <a:ext cx="9601200" cy="822960"/>
          </a:xfrm>
          <a:prstGeom prst="rect">
            <a:avLst/>
          </a:prstGeom>
          <a:noFill/>
        </p:spPr>
        <p:txBody>
          <a:bodyPr wrap="square">
            <a:spAutoFit/>
          </a:bodyPr>
          <a:lstStyle/>
          <a:p>
            <a:pPr algn="l">
              <a:spcAft>
                <a:spcPts val="600"/>
              </a:spcAft>
              <a:buNone/>
            </a:pPr>
            <a:r>
              <a:rPr sz="1800" b="0">
                <a:solidFill>
                  <a:srgbClr val="5B6774"/>
                </a:solidFill>
                <a:latin typeface="Arial"/>
              </a:rPr>
              <a:t>One agent runs out of context; several agents multiply the cost. This session shows how to split work between agents without losing control, where multi-agent systems fail, and what harness engineering asks of you as a discipline. Then notebook 04 runs a lead with sub-agents, a team, a handoff and a runaway loop.</a:t>
            </a:r>
          </a:p>
        </p:txBody>
      </p:sp>
      <p:sp>
        <p:nvSpPr>
          <p:cNvPr id="7" name="TextBox 6"/>
          <p:cNvSpPr txBox="1"/>
          <p:nvPr/>
        </p:nvSpPr>
        <p:spPr>
          <a:xfrm>
            <a:off x="914400" y="6035040"/>
            <a:ext cx="9144000" cy="365760"/>
          </a:xfrm>
          <a:prstGeom prst="rect">
            <a:avLst/>
          </a:prstGeom>
          <a:noFill/>
        </p:spPr>
        <p:txBody>
          <a:bodyPr wrap="square">
            <a:spAutoFit/>
          </a:bodyPr>
          <a:lstStyle/>
          <a:p>
            <a:pPr algn="l">
              <a:spcAft>
                <a:spcPts val="600"/>
              </a:spcAft>
              <a:buNone/>
            </a:pPr>
            <a:r>
              <a:rPr sz="1200" b="0">
                <a:solidFill>
                  <a:srgbClr val="5B6774"/>
                </a:solidFill>
                <a:latin typeface="Arial"/>
              </a:rPr>
              <a:t>Harness Engineering - Module 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463040"/>
            <a:ext cx="3657600" cy="2011680"/>
          </a:xfrm>
          <a:prstGeom prst="rect">
            <a:avLst/>
          </a:prstGeom>
          <a:noFill/>
        </p:spPr>
        <p:txBody>
          <a:bodyPr wrap="square">
            <a:spAutoFit/>
          </a:bodyPr>
          <a:lstStyle/>
          <a:p>
            <a:pPr algn="l">
              <a:spcAft>
                <a:spcPts val="600"/>
              </a:spcAft>
              <a:buNone/>
            </a:pPr>
            <a:r>
              <a:rPr sz="11000" b="1">
                <a:solidFill>
                  <a:srgbClr val="1E5EF3"/>
                </a:solidFill>
                <a:latin typeface="Arial"/>
              </a:rPr>
              <a:t>01</a:t>
            </a:r>
          </a:p>
        </p:txBody>
      </p:sp>
      <p:sp>
        <p:nvSpPr>
          <p:cNvPr id="4" name="TextBox 3"/>
          <p:cNvSpPr txBox="1"/>
          <p:nvPr/>
        </p:nvSpPr>
        <p:spPr>
          <a:xfrm>
            <a:off x="868680" y="3566160"/>
            <a:ext cx="10424160" cy="1280160"/>
          </a:xfrm>
          <a:prstGeom prst="rect">
            <a:avLst/>
          </a:prstGeom>
          <a:noFill/>
        </p:spPr>
        <p:txBody>
          <a:bodyPr wrap="square">
            <a:spAutoFit/>
          </a:bodyPr>
          <a:lstStyle/>
          <a:p>
            <a:pPr algn="l">
              <a:spcAft>
                <a:spcPts val="600"/>
              </a:spcAft>
              <a:buNone/>
            </a:pPr>
            <a:r>
              <a:rPr sz="3400" b="1">
                <a:solidFill>
                  <a:srgbClr val="FFFFFF"/>
                </a:solidFill>
                <a:latin typeface="Arial"/>
              </a:rPr>
              <a:t>Part 1 - The theory: many agents, one harness</a:t>
            </a:r>
          </a:p>
        </p:txBody>
      </p:sp>
      <p:sp>
        <p:nvSpPr>
          <p:cNvPr id="5" name="TextBox 4"/>
          <p:cNvSpPr txBox="1"/>
          <p:nvPr/>
        </p:nvSpPr>
        <p:spPr>
          <a:xfrm>
            <a:off x="868680" y="4709160"/>
            <a:ext cx="10058400" cy="914400"/>
          </a:xfrm>
          <a:prstGeom prst="rect">
            <a:avLst/>
          </a:prstGeom>
          <a:noFill/>
        </p:spPr>
        <p:txBody>
          <a:bodyPr wrap="square">
            <a:spAutoFit/>
          </a:bodyPr>
          <a:lstStyle/>
          <a:p>
            <a:pPr algn="l">
              <a:spcAft>
                <a:spcPts val="600"/>
              </a:spcAft>
              <a:buNone/>
            </a:pPr>
            <a:r>
              <a:rPr sz="1600" b="0">
                <a:solidFill>
                  <a:srgbClr val="B9D0FA"/>
                </a:solidFill>
                <a:latin typeface="Arial"/>
              </a:rPr>
              <a:t>Why to isolate context, three shapes of multi-agent work, how they fail, and what the discipline of harness engineering looks like.</a:t>
            </a:r>
          </a:p>
        </p:txBody>
      </p:sp>
      <p:sp>
        <p:nvSpPr>
          <p:cNvPr id="6" name="TextBox 5"/>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B9D0FA"/>
                </a:solidFill>
                <a:latin typeface="Arial"/>
              </a:rPr>
              <a:t>M5 Session 4 - Sub-agents, Teams and the Discipline</a:t>
            </a:r>
          </a:p>
        </p:txBody>
      </p:sp>
      <p:sp>
        <p:nvSpPr>
          <p:cNvPr id="7" name="TextBox 6"/>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B9D0FA"/>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75488"/>
            <a:ext cx="457200" cy="54864"/>
          </a:xfrm>
          <a:prstGeom prst="rect">
            <a:avLst/>
          </a:prstGeom>
          <a:solidFill>
            <a:srgbClr val="1E5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03504"/>
            <a:ext cx="11091672" cy="274320"/>
          </a:xfrm>
          <a:prstGeom prst="rect">
            <a:avLst/>
          </a:prstGeom>
          <a:noFill/>
        </p:spPr>
        <p:txBody>
          <a:bodyPr wrap="square">
            <a:spAutoFit/>
          </a:bodyPr>
          <a:lstStyle/>
          <a:p>
            <a:pPr algn="l">
              <a:spcAft>
                <a:spcPts val="600"/>
              </a:spcAft>
              <a:buNone/>
            </a:pPr>
            <a:r>
              <a:rPr sz="1100" b="1">
                <a:solidFill>
                  <a:srgbClr val="1E5EF3"/>
                </a:solidFill>
                <a:latin typeface="Arial"/>
              </a:rPr>
              <a:t>WHY ISOLATE CONTEXT</a:t>
            </a:r>
          </a:p>
        </p:txBody>
      </p:sp>
      <p:sp>
        <p:nvSpPr>
          <p:cNvPr id="5" name="TextBox 4"/>
          <p:cNvSpPr txBox="1"/>
          <p:nvPr/>
        </p:nvSpPr>
        <p:spPr>
          <a:xfrm>
            <a:off x="548640" y="868680"/>
            <a:ext cx="11091672" cy="777240"/>
          </a:xfrm>
          <a:prstGeom prst="rect">
            <a:avLst/>
          </a:prstGeom>
          <a:noFill/>
        </p:spPr>
        <p:txBody>
          <a:bodyPr wrap="square">
            <a:spAutoFit/>
          </a:bodyPr>
          <a:lstStyle/>
          <a:p>
            <a:pPr algn="l">
              <a:spcAft>
                <a:spcPts val="0"/>
              </a:spcAft>
              <a:buNone/>
            </a:pPr>
            <a:r>
              <a:rPr sz="2600" b="1">
                <a:solidFill>
                  <a:srgbClr val="0A2540"/>
                </a:solidFill>
                <a:latin typeface="Arial"/>
              </a:rPr>
              <a:t>Sub-agents exist to keep the lead's context small</a:t>
            </a:r>
          </a:p>
        </p:txBody>
      </p:sp>
      <p:sp>
        <p:nvSpPr>
          <p:cNvPr id="6" name="Rectangle 5"/>
          <p:cNvSpPr/>
          <p:nvPr/>
        </p:nvSpPr>
        <p:spPr>
          <a:xfrm>
            <a:off x="548640" y="1664208"/>
            <a:ext cx="11091672" cy="12801"/>
          </a:xfrm>
          <a:prstGeom prst="rect">
            <a:avLst/>
          </a:prstGeom>
          <a:solidFill>
            <a:srgbClr val="B9D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874519"/>
            <a:ext cx="4297680" cy="4206240"/>
          </a:xfrm>
          <a:prstGeom prst="rect">
            <a:avLst/>
          </a:prstGeom>
          <a:noFill/>
        </p:spPr>
        <p:txBody>
          <a:bodyPr wrap="square">
            <a:spAutoFit/>
          </a:bodyPr>
          <a:lstStyle/>
          <a:p>
            <a:pPr algn="l" indent="-228600" marL="228600">
              <a:spcAft>
                <a:spcPts val="800"/>
              </a:spcAft>
              <a:buClr>
                <a:srgbClr val="1E5EF3"/>
              </a:buClr>
              <a:buChar char="—"/>
            </a:pPr>
            <a:r>
              <a:rPr sz="1450" b="0">
                <a:solidFill>
                  <a:srgbClr val="202B38"/>
                </a:solidFill>
                <a:latin typeface="Arial"/>
              </a:rPr>
              <a:t>In plain words: a sub-agent is a fresh agent with a clean context, one task, a short report back</a:t>
            </a:r>
          </a:p>
          <a:p>
            <a:pPr algn="l" indent="-228600" marL="228600">
              <a:spcAft>
                <a:spcPts val="800"/>
              </a:spcAft>
              <a:buClr>
                <a:srgbClr val="1E5EF3"/>
              </a:buClr>
              <a:buChar char="—"/>
            </a:pPr>
            <a:r>
              <a:rPr sz="1450" b="0">
                <a:solidFill>
                  <a:srgbClr val="202B38"/>
                </a:solidFill>
                <a:latin typeface="Arial"/>
              </a:rPr>
              <a:t>Context is a finite budget; search results and long documents burn it fast</a:t>
            </a:r>
          </a:p>
          <a:p>
            <a:pPr algn="l" indent="-228600" marL="228600">
              <a:spcAft>
                <a:spcPts val="800"/>
              </a:spcAft>
              <a:buClr>
                <a:srgbClr val="1E5EF3"/>
              </a:buClr>
              <a:buChar char="—"/>
            </a:pPr>
            <a:r>
              <a:rPr sz="1450" b="0">
                <a:solidFill>
                  <a:srgbClr val="202B38"/>
                </a:solidFill>
                <a:latin typeface="Arial"/>
              </a:rPr>
              <a:t>A sub-agent spends tens of thousands of tokens exploring in its own window</a:t>
            </a:r>
          </a:p>
          <a:p>
            <a:pPr algn="l" indent="-228600" marL="228600">
              <a:spcAft>
                <a:spcPts val="800"/>
              </a:spcAft>
              <a:buClr>
                <a:srgbClr val="1E5EF3"/>
              </a:buClr>
              <a:buChar char="—"/>
            </a:pPr>
            <a:r>
              <a:rPr sz="1450" b="0">
                <a:solidFill>
                  <a:srgbClr val="202B38"/>
                </a:solidFill>
                <a:latin typeface="Arial"/>
              </a:rPr>
              <a:t>It returns a 1,000-2,000 token summary; only that enters the lead's context</a:t>
            </a:r>
          </a:p>
          <a:p>
            <a:pPr algn="l" indent="-228600" marL="228600">
              <a:spcAft>
                <a:spcPts val="800"/>
              </a:spcAft>
              <a:buClr>
                <a:srgbClr val="1E5EF3"/>
              </a:buClr>
              <a:buChar char="—"/>
            </a:pPr>
            <a:r>
              <a:rPr sz="1450" b="0">
                <a:solidFill>
                  <a:srgbClr val="202B38"/>
                </a:solidFill>
                <a:latin typeface="Arial"/>
              </a:rPr>
              <a:t>The lead keeps the plan; the details never pollute it</a:t>
            </a:r>
          </a:p>
          <a:p>
            <a:pPr algn="l" indent="-228600" marL="228600">
              <a:spcAft>
                <a:spcPts val="800"/>
              </a:spcAft>
              <a:buClr>
                <a:srgbClr val="1E5EF3"/>
              </a:buClr>
              <a:buChar char="—"/>
            </a:pPr>
            <a:r>
              <a:rPr sz="1450" b="0">
                <a:solidFill>
                  <a:srgbClr val="202B38"/>
                </a:solidFill>
                <a:latin typeface="Arial"/>
              </a:rPr>
              <a:t>The car: a convoy - the lead car reads the map, scouts drive the side roads</a:t>
            </a:r>
          </a:p>
        </p:txBody>
      </p:sp>
      <p:pic>
        <p:nvPicPr>
          <p:cNvPr id="8" name="Picture 7" descr="s4_isolate.png"/>
          <p:cNvPicPr>
            <a:picLocks noChangeAspect="1"/>
          </p:cNvPicPr>
          <p:nvPr/>
        </p:nvPicPr>
        <p:blipFill>
          <a:blip r:embed="rId2"/>
          <a:stretch>
            <a:fillRect/>
          </a:stretch>
        </p:blipFill>
        <p:spPr>
          <a:xfrm>
            <a:off x="5149927" y="1874519"/>
            <a:ext cx="6433666" cy="4114800"/>
          </a:xfrm>
          <a:prstGeom prst="rect">
            <a:avLst/>
          </a:prstGeom>
        </p:spPr>
      </p:pic>
      <p:sp>
        <p:nvSpPr>
          <p:cNvPr id="9" name="TextBox 8"/>
          <p:cNvSpPr txBox="1"/>
          <p:nvPr/>
        </p:nvSpPr>
        <p:spPr>
          <a:xfrm>
            <a:off x="5120640" y="6062471"/>
            <a:ext cx="6492240" cy="365760"/>
          </a:xfrm>
          <a:prstGeom prst="rect">
            <a:avLst/>
          </a:prstGeom>
          <a:noFill/>
        </p:spPr>
        <p:txBody>
          <a:bodyPr wrap="square">
            <a:spAutoFit/>
          </a:bodyPr>
          <a:lstStyle/>
          <a:p>
            <a:pPr algn="ctr">
              <a:spcAft>
                <a:spcPts val="600"/>
              </a:spcAft>
              <a:buNone/>
            </a:pPr>
            <a:r>
              <a:rPr sz="1100" b="0">
                <a:solidFill>
                  <a:srgbClr val="5B6774"/>
                </a:solidFill>
                <a:latin typeface="Arial"/>
              </a:rPr>
              <a:t>Illustration. Sub-agent architectures and the 1,000-2,000 token summaries: Anthropic, Effective context engineering for AI agents, 29 Sep 2025.</a:t>
            </a:r>
          </a:p>
        </p:txBody>
      </p:sp>
      <p:sp>
        <p:nvSpPr>
          <p:cNvPr id="10" name="TextBox 9"/>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5B6774"/>
                </a:solidFill>
                <a:latin typeface="Arial"/>
              </a:rPr>
              <a:t>M5 Session 4 - Sub-agents, Teams and the Discipline</a:t>
            </a:r>
          </a:p>
        </p:txBody>
      </p:sp>
      <p:sp>
        <p:nvSpPr>
          <p:cNvPr id="11" name="TextBox 10"/>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5B6774"/>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75488"/>
            <a:ext cx="457200" cy="54864"/>
          </a:xfrm>
          <a:prstGeom prst="rect">
            <a:avLst/>
          </a:prstGeom>
          <a:solidFill>
            <a:srgbClr val="1E5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03504"/>
            <a:ext cx="11091672" cy="274320"/>
          </a:xfrm>
          <a:prstGeom prst="rect">
            <a:avLst/>
          </a:prstGeom>
          <a:noFill/>
        </p:spPr>
        <p:txBody>
          <a:bodyPr wrap="square">
            <a:spAutoFit/>
          </a:bodyPr>
          <a:lstStyle/>
          <a:p>
            <a:pPr algn="l">
              <a:spcAft>
                <a:spcPts val="600"/>
              </a:spcAft>
              <a:buNone/>
            </a:pPr>
            <a:r>
              <a:rPr sz="1100" b="1">
                <a:solidFill>
                  <a:srgbClr val="1E5EF3"/>
                </a:solidFill>
                <a:latin typeface="Arial"/>
              </a:rPr>
              <a:t>THE RESEARCH SYSTEM</a:t>
            </a:r>
          </a:p>
        </p:txBody>
      </p:sp>
      <p:sp>
        <p:nvSpPr>
          <p:cNvPr id="5" name="TextBox 4"/>
          <p:cNvSpPr txBox="1"/>
          <p:nvPr/>
        </p:nvSpPr>
        <p:spPr>
          <a:xfrm>
            <a:off x="548640" y="868680"/>
            <a:ext cx="11091672" cy="777240"/>
          </a:xfrm>
          <a:prstGeom prst="rect">
            <a:avLst/>
          </a:prstGeom>
          <a:noFill/>
        </p:spPr>
        <p:txBody>
          <a:bodyPr wrap="square">
            <a:spAutoFit/>
          </a:bodyPr>
          <a:lstStyle/>
          <a:p>
            <a:pPr algn="l">
              <a:spcAft>
                <a:spcPts val="0"/>
              </a:spcAft>
              <a:buNone/>
            </a:pPr>
            <a:r>
              <a:rPr sz="2600" b="1">
                <a:solidFill>
                  <a:srgbClr val="0A2540"/>
                </a:solidFill>
                <a:latin typeface="Arial"/>
              </a:rPr>
              <a:t>Splitting the work beat one big agent - at a price</a:t>
            </a:r>
          </a:p>
        </p:txBody>
      </p:sp>
      <p:sp>
        <p:nvSpPr>
          <p:cNvPr id="6" name="Rectangle 5"/>
          <p:cNvSpPr/>
          <p:nvPr/>
        </p:nvSpPr>
        <p:spPr>
          <a:xfrm>
            <a:off x="548640" y="1664208"/>
            <a:ext cx="11091672" cy="12801"/>
          </a:xfrm>
          <a:prstGeom prst="rect">
            <a:avLst/>
          </a:prstGeom>
          <a:solidFill>
            <a:srgbClr val="B9D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2286000"/>
            <a:ext cx="9418320" cy="2011680"/>
          </a:xfrm>
          <a:prstGeom prst="rect">
            <a:avLst/>
          </a:prstGeom>
          <a:noFill/>
        </p:spPr>
        <p:txBody>
          <a:bodyPr wrap="square">
            <a:spAutoFit/>
          </a:bodyPr>
          <a:lstStyle/>
          <a:p>
            <a:pPr algn="ctr">
              <a:spcAft>
                <a:spcPts val="600"/>
              </a:spcAft>
              <a:buNone/>
            </a:pPr>
            <a:r>
              <a:rPr sz="9600" b="1">
                <a:solidFill>
                  <a:srgbClr val="1E5EF3"/>
                </a:solidFill>
                <a:latin typeface="Arial"/>
              </a:rPr>
              <a:t>90.2%</a:t>
            </a:r>
          </a:p>
        </p:txBody>
      </p:sp>
      <p:sp>
        <p:nvSpPr>
          <p:cNvPr id="8" name="TextBox 7"/>
          <p:cNvSpPr txBox="1"/>
          <p:nvPr/>
        </p:nvSpPr>
        <p:spPr>
          <a:xfrm>
            <a:off x="1371600" y="4434840"/>
            <a:ext cx="9418320" cy="731520"/>
          </a:xfrm>
          <a:prstGeom prst="rect">
            <a:avLst/>
          </a:prstGeom>
          <a:noFill/>
        </p:spPr>
        <p:txBody>
          <a:bodyPr wrap="square">
            <a:spAutoFit/>
          </a:bodyPr>
          <a:lstStyle/>
          <a:p>
            <a:pPr algn="ctr">
              <a:spcAft>
                <a:spcPts val="600"/>
              </a:spcAft>
              <a:buNone/>
            </a:pPr>
            <a:r>
              <a:rPr sz="1800" b="0">
                <a:solidFill>
                  <a:srgbClr val="0A2540"/>
                </a:solidFill>
                <a:latin typeface="Arial"/>
              </a:rPr>
              <a:t>better than a single Opus 4 agent on Anthropic's internal research eval - at about 15x the tokens of a chat</a:t>
            </a:r>
          </a:p>
        </p:txBody>
      </p:sp>
      <p:sp>
        <p:nvSpPr>
          <p:cNvPr id="9" name="TextBox 8"/>
          <p:cNvSpPr txBox="1"/>
          <p:nvPr/>
        </p:nvSpPr>
        <p:spPr>
          <a:xfrm>
            <a:off x="1371600" y="5257800"/>
            <a:ext cx="9418320" cy="640080"/>
          </a:xfrm>
          <a:prstGeom prst="rect">
            <a:avLst/>
          </a:prstGeom>
          <a:noFill/>
        </p:spPr>
        <p:txBody>
          <a:bodyPr wrap="square">
            <a:spAutoFit/>
          </a:bodyPr>
          <a:lstStyle/>
          <a:p>
            <a:pPr algn="ctr">
              <a:spcAft>
                <a:spcPts val="600"/>
              </a:spcAft>
              <a:buNone/>
            </a:pPr>
            <a:r>
              <a:rPr sz="1250" b="0">
                <a:solidFill>
                  <a:srgbClr val="5B6774"/>
                </a:solidFill>
                <a:latin typeface="Arial"/>
              </a:rPr>
              <a:t>A lead agent (Opus) plans and spawns 3-5 Sonnet sub-agents in parallel, each with its own context; a separate citation pass at the end. Anthropic, How we built our multi-agent research system, 13 Jun 2025.</a:t>
            </a:r>
          </a:p>
        </p:txBody>
      </p:sp>
      <p:sp>
        <p:nvSpPr>
          <p:cNvPr id="10" name="TextBox 9"/>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5B6774"/>
                </a:solidFill>
                <a:latin typeface="Arial"/>
              </a:rPr>
              <a:t>M5 Session 4 - Sub-agents, Teams and the Discipline</a:t>
            </a:r>
          </a:p>
        </p:txBody>
      </p:sp>
      <p:sp>
        <p:nvSpPr>
          <p:cNvPr id="11" name="TextBox 10"/>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5B6774"/>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75488"/>
            <a:ext cx="457200" cy="54864"/>
          </a:xfrm>
          <a:prstGeom prst="rect">
            <a:avLst/>
          </a:prstGeom>
          <a:solidFill>
            <a:srgbClr val="1E5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03504"/>
            <a:ext cx="11091672" cy="274320"/>
          </a:xfrm>
          <a:prstGeom prst="rect">
            <a:avLst/>
          </a:prstGeom>
          <a:noFill/>
        </p:spPr>
        <p:txBody>
          <a:bodyPr wrap="square">
            <a:spAutoFit/>
          </a:bodyPr>
          <a:lstStyle/>
          <a:p>
            <a:pPr algn="l">
              <a:spcAft>
                <a:spcPts val="600"/>
              </a:spcAft>
              <a:buNone/>
            </a:pPr>
            <a:r>
              <a:rPr sz="1100" b="1">
                <a:solidFill>
                  <a:srgbClr val="1E5EF3"/>
                </a:solidFill>
                <a:latin typeface="Arial"/>
              </a:rPr>
              <a:t>ORCHESTRATOR-WORKERS IN PRODUCTION</a:t>
            </a:r>
          </a:p>
        </p:txBody>
      </p:sp>
      <p:sp>
        <p:nvSpPr>
          <p:cNvPr id="5" name="TextBox 4"/>
          <p:cNvSpPr txBox="1"/>
          <p:nvPr/>
        </p:nvSpPr>
        <p:spPr>
          <a:xfrm>
            <a:off x="548640" y="868680"/>
            <a:ext cx="11091672" cy="777240"/>
          </a:xfrm>
          <a:prstGeom prst="rect">
            <a:avLst/>
          </a:prstGeom>
          <a:noFill/>
        </p:spPr>
        <p:txBody>
          <a:bodyPr wrap="square">
            <a:spAutoFit/>
          </a:bodyPr>
          <a:lstStyle/>
          <a:p>
            <a:pPr algn="l">
              <a:spcAft>
                <a:spcPts val="0"/>
              </a:spcAft>
              <a:buNone/>
            </a:pPr>
            <a:r>
              <a:rPr sz="2600" b="1">
                <a:solidFill>
                  <a:srgbClr val="0A2540"/>
                </a:solidFill>
                <a:latin typeface="Arial"/>
              </a:rPr>
              <a:t>The research system's lessons: teach delegation, scale the effort</a:t>
            </a:r>
          </a:p>
        </p:txBody>
      </p:sp>
      <p:sp>
        <p:nvSpPr>
          <p:cNvPr id="6" name="Rectangle 5"/>
          <p:cNvSpPr/>
          <p:nvPr/>
        </p:nvSpPr>
        <p:spPr>
          <a:xfrm>
            <a:off x="548640" y="1664208"/>
            <a:ext cx="11091672" cy="12801"/>
          </a:xfrm>
          <a:prstGeom prst="rect">
            <a:avLst/>
          </a:prstGeom>
          <a:solidFill>
            <a:srgbClr val="B9D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874519"/>
            <a:ext cx="5394960" cy="3977639"/>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039111"/>
            <a:ext cx="4937760" cy="365760"/>
          </a:xfrm>
          <a:prstGeom prst="rect">
            <a:avLst/>
          </a:prstGeom>
          <a:noFill/>
        </p:spPr>
        <p:txBody>
          <a:bodyPr wrap="square">
            <a:spAutoFit/>
          </a:bodyPr>
          <a:lstStyle/>
          <a:p>
            <a:pPr algn="l">
              <a:spcAft>
                <a:spcPts val="600"/>
              </a:spcAft>
              <a:buNone/>
            </a:pPr>
            <a:r>
              <a:rPr sz="1500" b="1">
                <a:solidFill>
                  <a:srgbClr val="0A2540"/>
                </a:solidFill>
                <a:latin typeface="Arial"/>
              </a:rPr>
              <a:t>What the lead agent must learn</a:t>
            </a:r>
          </a:p>
        </p:txBody>
      </p:sp>
      <p:sp>
        <p:nvSpPr>
          <p:cNvPr id="9" name="TextBox 8"/>
          <p:cNvSpPr txBox="1"/>
          <p:nvPr/>
        </p:nvSpPr>
        <p:spPr>
          <a:xfrm>
            <a:off x="777240" y="2441447"/>
            <a:ext cx="4937760" cy="3246119"/>
          </a:xfrm>
          <a:prstGeom prst="rect">
            <a:avLst/>
          </a:prstGeom>
          <a:noFill/>
        </p:spPr>
        <p:txBody>
          <a:bodyPr wrap="square">
            <a:spAutoFit/>
          </a:bodyPr>
          <a:lstStyle/>
          <a:p>
            <a:pPr algn="l" indent="-228600" marL="228600">
              <a:spcAft>
                <a:spcPts val="600"/>
              </a:spcAft>
              <a:buClr>
                <a:srgbClr val="1E5EF3"/>
              </a:buClr>
              <a:buChar char="—"/>
            </a:pPr>
            <a:r>
              <a:rPr sz="1300" b="0">
                <a:solidFill>
                  <a:srgbClr val="202B38"/>
                </a:solidFill>
                <a:latin typeface="Arial"/>
              </a:rPr>
              <a:t>Teach delegation: each sub-agent gets an objective, output format, tools and boundaries</a:t>
            </a:r>
          </a:p>
          <a:p>
            <a:pPr algn="l" indent="-228600" marL="228600">
              <a:spcAft>
                <a:spcPts val="600"/>
              </a:spcAft>
              <a:buClr>
                <a:srgbClr val="1E5EF3"/>
              </a:buClr>
              <a:buChar char="—"/>
            </a:pPr>
            <a:r>
              <a:rPr sz="1300" b="0">
                <a:solidFill>
                  <a:srgbClr val="202B38"/>
                </a:solidFill>
                <a:latin typeface="Arial"/>
              </a:rPr>
              <a:t>Vague briefs made sub-agents duplicate work or wander off</a:t>
            </a:r>
          </a:p>
          <a:p>
            <a:pPr algn="l" indent="-228600" marL="228600">
              <a:spcAft>
                <a:spcPts val="600"/>
              </a:spcAft>
              <a:buClr>
                <a:srgbClr val="1E5EF3"/>
              </a:buClr>
              <a:buChar char="—"/>
            </a:pPr>
            <a:r>
              <a:rPr sz="1300" b="0">
                <a:solidFill>
                  <a:srgbClr val="202B38"/>
                </a:solidFill>
                <a:latin typeface="Arial"/>
              </a:rPr>
              <a:t>Scale effort to complexity: a simple fact needs one agent; a survey needs ten or more</a:t>
            </a:r>
          </a:p>
          <a:p>
            <a:pPr algn="l" indent="-228600" marL="228600">
              <a:spcAft>
                <a:spcPts val="600"/>
              </a:spcAft>
              <a:buClr>
                <a:srgbClr val="1E5EF3"/>
              </a:buClr>
              <a:buChar char="—"/>
            </a:pPr>
            <a:r>
              <a:rPr sz="1300" b="0">
                <a:solidFill>
                  <a:srgbClr val="202B38"/>
                </a:solidFill>
                <a:latin typeface="Arial"/>
              </a:rPr>
              <a:t>Explicit rules for how many sub-agents and how many tool calls</a:t>
            </a:r>
          </a:p>
          <a:p>
            <a:pPr algn="l" indent="-228600" marL="228600">
              <a:spcAft>
                <a:spcPts val="600"/>
              </a:spcAft>
              <a:buClr>
                <a:srgbClr val="1E5EF3"/>
              </a:buClr>
              <a:buChar char="—"/>
            </a:pPr>
            <a:r>
              <a:rPr sz="1300" b="0">
                <a:solidFill>
                  <a:srgbClr val="202B38"/>
                </a:solidFill>
                <a:latin typeface="Arial"/>
              </a:rPr>
              <a:t>In plain words: the lead writes a good ticket, not a vague wish</a:t>
            </a:r>
          </a:p>
        </p:txBody>
      </p:sp>
      <p:sp>
        <p:nvSpPr>
          <p:cNvPr id="10" name="Rectangle 9"/>
          <p:cNvSpPr/>
          <p:nvPr/>
        </p:nvSpPr>
        <p:spPr>
          <a:xfrm>
            <a:off x="6245352" y="1874519"/>
            <a:ext cx="5394960" cy="3977639"/>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73952" y="2039111"/>
            <a:ext cx="4937760" cy="365760"/>
          </a:xfrm>
          <a:prstGeom prst="rect">
            <a:avLst/>
          </a:prstGeom>
          <a:noFill/>
        </p:spPr>
        <p:txBody>
          <a:bodyPr wrap="square">
            <a:spAutoFit/>
          </a:bodyPr>
          <a:lstStyle/>
          <a:p>
            <a:pPr algn="l">
              <a:spcAft>
                <a:spcPts val="600"/>
              </a:spcAft>
              <a:buNone/>
            </a:pPr>
            <a:r>
              <a:rPr sz="1500" b="1">
                <a:solidFill>
                  <a:srgbClr val="0A2540"/>
                </a:solidFill>
                <a:latin typeface="Arial"/>
              </a:rPr>
              <a:t>What the harness must provide</a:t>
            </a:r>
          </a:p>
        </p:txBody>
      </p:sp>
      <p:sp>
        <p:nvSpPr>
          <p:cNvPr id="12" name="TextBox 11"/>
          <p:cNvSpPr txBox="1"/>
          <p:nvPr/>
        </p:nvSpPr>
        <p:spPr>
          <a:xfrm>
            <a:off x="6473952" y="2441447"/>
            <a:ext cx="4937760" cy="3246119"/>
          </a:xfrm>
          <a:prstGeom prst="rect">
            <a:avLst/>
          </a:prstGeom>
          <a:noFill/>
        </p:spPr>
        <p:txBody>
          <a:bodyPr wrap="square">
            <a:spAutoFit/>
          </a:bodyPr>
          <a:lstStyle/>
          <a:p>
            <a:pPr algn="l" indent="-228600" marL="228600">
              <a:spcAft>
                <a:spcPts val="600"/>
              </a:spcAft>
              <a:buClr>
                <a:srgbClr val="1E5EF3"/>
              </a:buClr>
              <a:buChar char="—"/>
            </a:pPr>
            <a:r>
              <a:rPr sz="1300" b="0">
                <a:solidFill>
                  <a:srgbClr val="202B38"/>
                </a:solidFill>
                <a:latin typeface="Arial"/>
              </a:rPr>
              <a:t>Parallel execution: sub-agents run at once and the wall clock drops sharply</a:t>
            </a:r>
          </a:p>
          <a:p>
            <a:pPr algn="l" indent="-228600" marL="228600">
              <a:spcAft>
                <a:spcPts val="600"/>
              </a:spcAft>
              <a:buClr>
                <a:srgbClr val="1E5EF3"/>
              </a:buClr>
              <a:buChar char="—"/>
            </a:pPr>
            <a:r>
              <a:rPr sz="1300" b="0">
                <a:solidFill>
                  <a:srgbClr val="202B38"/>
                </a:solidFill>
                <a:latin typeface="Arial"/>
              </a:rPr>
              <a:t>External memory: the lead saves its plan before context nears the limit</a:t>
            </a:r>
          </a:p>
          <a:p>
            <a:pPr algn="l" indent="-228600" marL="228600">
              <a:spcAft>
                <a:spcPts val="600"/>
              </a:spcAft>
              <a:buClr>
                <a:srgbClr val="1E5EF3"/>
              </a:buClr>
              <a:buChar char="—"/>
            </a:pPr>
            <a:r>
              <a:rPr sz="1300" b="0">
                <a:solidFill>
                  <a:srgbClr val="202B38"/>
                </a:solidFill>
                <a:latin typeface="Arial"/>
              </a:rPr>
              <a:t>A separate citation pass: one agent checks sources after the research</a:t>
            </a:r>
          </a:p>
          <a:p>
            <a:pPr algn="l" indent="-228600" marL="228600">
              <a:spcAft>
                <a:spcPts val="600"/>
              </a:spcAft>
              <a:buClr>
                <a:srgbClr val="1E5EF3"/>
              </a:buClr>
              <a:buChar char="—"/>
            </a:pPr>
            <a:r>
              <a:rPr sz="1300" b="0">
                <a:solidFill>
                  <a:srgbClr val="202B38"/>
                </a:solidFill>
                <a:latin typeface="Arial"/>
              </a:rPr>
              <a:t>Evals with calibrated LLM judges to compare versions</a:t>
            </a:r>
          </a:p>
          <a:p>
            <a:pPr algn="l" indent="-228600" marL="228600">
              <a:spcAft>
                <a:spcPts val="600"/>
              </a:spcAft>
              <a:buClr>
                <a:srgbClr val="1E5EF3"/>
              </a:buClr>
              <a:buChar char="—"/>
            </a:pPr>
            <a:r>
              <a:rPr sz="1300" b="0">
                <a:solidFill>
                  <a:srgbClr val="202B38"/>
                </a:solidFill>
                <a:latin typeface="Arial"/>
              </a:rPr>
              <a:t>Cost awareness: at ~15x tokens the task must be worth it</a:t>
            </a:r>
          </a:p>
        </p:txBody>
      </p:sp>
      <p:sp>
        <p:nvSpPr>
          <p:cNvPr id="13" name="TextBox 12"/>
          <p:cNvSpPr txBox="1"/>
          <p:nvPr/>
        </p:nvSpPr>
        <p:spPr>
          <a:xfrm>
            <a:off x="548640" y="6053328"/>
            <a:ext cx="11091672" cy="502920"/>
          </a:xfrm>
          <a:prstGeom prst="rect">
            <a:avLst/>
          </a:prstGeom>
          <a:noFill/>
        </p:spPr>
        <p:txBody>
          <a:bodyPr wrap="square">
            <a:spAutoFit/>
          </a:bodyPr>
          <a:lstStyle/>
          <a:p>
            <a:pPr algn="l">
              <a:spcAft>
                <a:spcPts val="600"/>
              </a:spcAft>
              <a:buNone/>
            </a:pPr>
            <a:r>
              <a:rPr sz="1200" b="0">
                <a:solidFill>
                  <a:srgbClr val="1E5EF3"/>
                </a:solidFill>
                <a:latin typeface="Arial"/>
              </a:rPr>
              <a:t>Anthropic, How we built our multi-agent research system, 13 Jun 2025.</a:t>
            </a:r>
          </a:p>
        </p:txBody>
      </p:sp>
      <p:sp>
        <p:nvSpPr>
          <p:cNvPr id="14" name="TextBox 13"/>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5B6774"/>
                </a:solidFill>
                <a:latin typeface="Arial"/>
              </a:rPr>
              <a:t>M5 Session 4 - Sub-agents, Teams and the Discipline</a:t>
            </a:r>
          </a:p>
        </p:txBody>
      </p:sp>
      <p:sp>
        <p:nvSpPr>
          <p:cNvPr id="15" name="TextBox 14"/>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5B6774"/>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75488"/>
            <a:ext cx="457200" cy="54864"/>
          </a:xfrm>
          <a:prstGeom prst="rect">
            <a:avLst/>
          </a:prstGeom>
          <a:solidFill>
            <a:srgbClr val="1E5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03504"/>
            <a:ext cx="11091672" cy="274320"/>
          </a:xfrm>
          <a:prstGeom prst="rect">
            <a:avLst/>
          </a:prstGeom>
          <a:noFill/>
        </p:spPr>
        <p:txBody>
          <a:bodyPr wrap="square">
            <a:spAutoFit/>
          </a:bodyPr>
          <a:lstStyle/>
          <a:p>
            <a:pPr algn="l">
              <a:spcAft>
                <a:spcPts val="600"/>
              </a:spcAft>
              <a:buNone/>
            </a:pPr>
            <a:r>
              <a:rPr sz="1100" b="1">
                <a:solidFill>
                  <a:srgbClr val="1E5EF3"/>
                </a:solidFill>
                <a:latin typeface="Arial"/>
              </a:rPr>
              <a:t>SUB-AGENTS, TEAMS, HANDOFFS</a:t>
            </a:r>
          </a:p>
        </p:txBody>
      </p:sp>
      <p:sp>
        <p:nvSpPr>
          <p:cNvPr id="5" name="TextBox 4"/>
          <p:cNvSpPr txBox="1"/>
          <p:nvPr/>
        </p:nvSpPr>
        <p:spPr>
          <a:xfrm>
            <a:off x="548640" y="868680"/>
            <a:ext cx="11091672" cy="777240"/>
          </a:xfrm>
          <a:prstGeom prst="rect">
            <a:avLst/>
          </a:prstGeom>
          <a:noFill/>
        </p:spPr>
        <p:txBody>
          <a:bodyPr wrap="square">
            <a:spAutoFit/>
          </a:bodyPr>
          <a:lstStyle/>
          <a:p>
            <a:pPr algn="l">
              <a:spcAft>
                <a:spcPts val="0"/>
              </a:spcAft>
              <a:buNone/>
            </a:pPr>
            <a:r>
              <a:rPr sz="2600" b="1">
                <a:solidFill>
                  <a:srgbClr val="0A2540"/>
                </a:solidFill>
                <a:latin typeface="Arial"/>
              </a:rPr>
              <a:t>Three shapes of multi-agent work: hierarchy, flat team, handoff</a:t>
            </a:r>
          </a:p>
        </p:txBody>
      </p:sp>
      <p:sp>
        <p:nvSpPr>
          <p:cNvPr id="6" name="Rectangle 5"/>
          <p:cNvSpPr/>
          <p:nvPr/>
        </p:nvSpPr>
        <p:spPr>
          <a:xfrm>
            <a:off x="548640" y="1664208"/>
            <a:ext cx="11091672" cy="12801"/>
          </a:xfrm>
          <a:prstGeom prst="rect">
            <a:avLst/>
          </a:prstGeom>
          <a:solidFill>
            <a:srgbClr val="B9D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4_shapes.png"/>
          <p:cNvPicPr>
            <a:picLocks noChangeAspect="1"/>
          </p:cNvPicPr>
          <p:nvPr/>
        </p:nvPicPr>
        <p:blipFill>
          <a:blip r:embed="rId2"/>
          <a:stretch>
            <a:fillRect/>
          </a:stretch>
        </p:blipFill>
        <p:spPr>
          <a:xfrm>
            <a:off x="1554480" y="1874519"/>
            <a:ext cx="9052560" cy="3849939"/>
          </a:xfrm>
          <a:prstGeom prst="rect">
            <a:avLst/>
          </a:prstGeom>
        </p:spPr>
      </p:pic>
      <p:sp>
        <p:nvSpPr>
          <p:cNvPr id="8" name="TextBox 7"/>
          <p:cNvSpPr txBox="1"/>
          <p:nvPr/>
        </p:nvSpPr>
        <p:spPr>
          <a:xfrm>
            <a:off x="1554480" y="6062471"/>
            <a:ext cx="9052560" cy="365760"/>
          </a:xfrm>
          <a:prstGeom prst="rect">
            <a:avLst/>
          </a:prstGeom>
          <a:noFill/>
        </p:spPr>
        <p:txBody>
          <a:bodyPr wrap="square">
            <a:spAutoFit/>
          </a:bodyPr>
          <a:lstStyle/>
          <a:p>
            <a:pPr algn="ctr">
              <a:spcAft>
                <a:spcPts val="600"/>
              </a:spcAft>
              <a:buNone/>
            </a:pPr>
            <a:r>
              <a:rPr sz="1100" b="0">
                <a:solidFill>
                  <a:srgbClr val="5B6774"/>
                </a:solidFill>
                <a:latin typeface="Arial"/>
              </a:rPr>
              <a:t>Illustration. Sub-agents: Claude Code, GA 2025. Agent teams: Claude Code research preview, Feb 2026. Handoffs: OpenAI, A practical guide to building agents, Apr 2025.</a:t>
            </a:r>
          </a:p>
        </p:txBody>
      </p:sp>
      <p:sp>
        <p:nvSpPr>
          <p:cNvPr id="9" name="TextBox 8"/>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5B6774"/>
                </a:solidFill>
                <a:latin typeface="Arial"/>
              </a:rPr>
              <a:t>M5 Session 4 - Sub-agents, Teams and the Discipline</a:t>
            </a:r>
          </a:p>
        </p:txBody>
      </p:sp>
      <p:sp>
        <p:nvSpPr>
          <p:cNvPr id="10" name="TextBox 9"/>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5B6774"/>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75488"/>
            <a:ext cx="457200" cy="54864"/>
          </a:xfrm>
          <a:prstGeom prst="rect">
            <a:avLst/>
          </a:prstGeom>
          <a:solidFill>
            <a:srgbClr val="1E5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03504"/>
            <a:ext cx="11091672" cy="274320"/>
          </a:xfrm>
          <a:prstGeom prst="rect">
            <a:avLst/>
          </a:prstGeom>
          <a:noFill/>
        </p:spPr>
        <p:txBody>
          <a:bodyPr wrap="square">
            <a:spAutoFit/>
          </a:bodyPr>
          <a:lstStyle/>
          <a:p>
            <a:pPr algn="l">
              <a:spcAft>
                <a:spcPts val="600"/>
              </a:spcAft>
              <a:buNone/>
            </a:pPr>
            <a:r>
              <a:rPr sz="1100" b="1">
                <a:solidFill>
                  <a:srgbClr val="1E5EF3"/>
                </a:solidFill>
                <a:latin typeface="Arial"/>
              </a:rPr>
              <a:t>SUB-AGENTS, TEAMS, HANDOFFS</a:t>
            </a:r>
          </a:p>
        </p:txBody>
      </p:sp>
      <p:sp>
        <p:nvSpPr>
          <p:cNvPr id="5" name="TextBox 4"/>
          <p:cNvSpPr txBox="1"/>
          <p:nvPr/>
        </p:nvSpPr>
        <p:spPr>
          <a:xfrm>
            <a:off x="548640" y="868680"/>
            <a:ext cx="11091672" cy="777240"/>
          </a:xfrm>
          <a:prstGeom prst="rect">
            <a:avLst/>
          </a:prstGeom>
          <a:noFill/>
        </p:spPr>
        <p:txBody>
          <a:bodyPr wrap="square">
            <a:spAutoFit/>
          </a:bodyPr>
          <a:lstStyle/>
          <a:p>
            <a:pPr algn="l">
              <a:spcAft>
                <a:spcPts val="0"/>
              </a:spcAft>
              <a:buNone/>
            </a:pPr>
            <a:r>
              <a:rPr sz="2600" b="1">
                <a:solidFill>
                  <a:srgbClr val="0A2540"/>
                </a:solidFill>
                <a:latin typeface="Arial"/>
              </a:rPr>
              <a:t>Which shape when: sub-agents, agent teams and handoffs compared</a:t>
            </a:r>
          </a:p>
        </p:txBody>
      </p:sp>
      <p:sp>
        <p:nvSpPr>
          <p:cNvPr id="6" name="Rectangle 5"/>
          <p:cNvSpPr/>
          <p:nvPr/>
        </p:nvSpPr>
        <p:spPr>
          <a:xfrm>
            <a:off x="548640" y="1664208"/>
            <a:ext cx="11091672" cy="12801"/>
          </a:xfrm>
          <a:prstGeom prst="rect">
            <a:avLst/>
          </a:prstGeom>
          <a:solidFill>
            <a:srgbClr val="B9D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548640" y="1874519"/>
          <a:ext cx="11091669" cy="3200400"/>
        </p:xfrm>
        <a:graphic>
          <a:graphicData uri="http://schemas.openxmlformats.org/drawingml/2006/table">
            <a:tbl>
              <a:tblPr firstRow="1" bandRow="1">
                <a:tableStyleId>{5C22544A-7EE6-4342-B048-85BDC9FD1C3A}</a:tableStyleId>
              </a:tblPr>
              <a:tblGrid>
                <a:gridCol w="1556725"/>
                <a:gridCol w="3113451"/>
                <a:gridCol w="3308042"/>
                <a:gridCol w="3113451"/>
              </a:tblGrid>
              <a:tr h="457200">
                <a:tc>
                  <a:txBody>
                    <a:bodyPr wrap="square"/>
                    <a:lstStyle/>
                    <a:p>
                      <a:pPr algn="l">
                        <a:spcAft>
                          <a:spcPts val="0"/>
                        </a:spcAft>
                        <a:buNone/>
                      </a:pPr>
                      <a:r>
                        <a:rPr sz="1300" b="1">
                          <a:solidFill>
                            <a:srgbClr val="FFFFFF"/>
                          </a:solidFill>
                          <a:latin typeface="Arial"/>
                        </a:rPr>
                        <a:t/>
                      </a:r>
                    </a:p>
                  </a:txBody>
                  <a:tcPr>
                    <a:solidFill>
                      <a:srgbClr val="0A2540"/>
                    </a:solidFill>
                  </a:tcPr>
                </a:tc>
                <a:tc>
                  <a:txBody>
                    <a:bodyPr wrap="square"/>
                    <a:lstStyle/>
                    <a:p>
                      <a:pPr algn="l">
                        <a:spcAft>
                          <a:spcPts val="0"/>
                        </a:spcAft>
                        <a:buNone/>
                      </a:pPr>
                      <a:r>
                        <a:rPr sz="1300" b="1">
                          <a:solidFill>
                            <a:srgbClr val="FFFFFF"/>
                          </a:solidFill>
                          <a:latin typeface="Arial"/>
                        </a:rPr>
                        <a:t>Sub-agents</a:t>
                      </a:r>
                    </a:p>
                  </a:txBody>
                  <a:tcPr>
                    <a:solidFill>
                      <a:srgbClr val="0A2540"/>
                    </a:solidFill>
                  </a:tcPr>
                </a:tc>
                <a:tc>
                  <a:txBody>
                    <a:bodyPr wrap="square"/>
                    <a:lstStyle/>
                    <a:p>
                      <a:pPr algn="l">
                        <a:spcAft>
                          <a:spcPts val="0"/>
                        </a:spcAft>
                        <a:buNone/>
                      </a:pPr>
                      <a:r>
                        <a:rPr sz="1300" b="1">
                          <a:solidFill>
                            <a:srgbClr val="FFFFFF"/>
                          </a:solidFill>
                          <a:latin typeface="Arial"/>
                        </a:rPr>
                        <a:t>Agent teams</a:t>
                      </a:r>
                    </a:p>
                  </a:txBody>
                  <a:tcPr>
                    <a:solidFill>
                      <a:srgbClr val="0A2540"/>
                    </a:solidFill>
                  </a:tcPr>
                </a:tc>
                <a:tc>
                  <a:txBody>
                    <a:bodyPr wrap="square"/>
                    <a:lstStyle/>
                    <a:p>
                      <a:pPr algn="l">
                        <a:spcAft>
                          <a:spcPts val="0"/>
                        </a:spcAft>
                        <a:buNone/>
                      </a:pPr>
                      <a:r>
                        <a:rPr sz="1300" b="1">
                          <a:solidFill>
                            <a:srgbClr val="FFFFFF"/>
                          </a:solidFill>
                          <a:latin typeface="Arial"/>
                        </a:rPr>
                        <a:t>Handoffs</a:t>
                      </a:r>
                    </a:p>
                  </a:txBody>
                  <a:tcPr>
                    <a:solidFill>
                      <a:srgbClr val="0A2540"/>
                    </a:solidFill>
                  </a:tcPr>
                </a:tc>
              </a:tr>
              <a:tr h="457200">
                <a:tc>
                  <a:txBody>
                    <a:bodyPr wrap="square"/>
                    <a:lstStyle/>
                    <a:p>
                      <a:pPr algn="l">
                        <a:spcAft>
                          <a:spcPts val="0"/>
                        </a:spcAft>
                        <a:buNone/>
                      </a:pPr>
                      <a:r>
                        <a:rPr sz="1250" b="0">
                          <a:solidFill>
                            <a:srgbClr val="202B38"/>
                          </a:solidFill>
                          <a:latin typeface="Arial"/>
                        </a:rPr>
                        <a:t>Shape</a:t>
                      </a:r>
                    </a:p>
                  </a:txBody>
                  <a:tcPr>
                    <a:solidFill>
                      <a:srgbClr val="FFFFFF"/>
                    </a:solidFill>
                  </a:tcPr>
                </a:tc>
                <a:tc>
                  <a:txBody>
                    <a:bodyPr wrap="square"/>
                    <a:lstStyle/>
                    <a:p>
                      <a:pPr algn="l">
                        <a:spcAft>
                          <a:spcPts val="0"/>
                        </a:spcAft>
                        <a:buNone/>
                      </a:pPr>
                      <a:r>
                        <a:rPr sz="1250" b="0">
                          <a:solidFill>
                            <a:srgbClr val="202B38"/>
                          </a:solidFill>
                          <a:latin typeface="Arial"/>
                        </a:rPr>
                        <a:t>Hierarchy: a lead spawns workers</a:t>
                      </a:r>
                    </a:p>
                  </a:txBody>
                  <a:tcPr>
                    <a:solidFill>
                      <a:srgbClr val="FFFFFF"/>
                    </a:solidFill>
                  </a:tcPr>
                </a:tc>
                <a:tc>
                  <a:txBody>
                    <a:bodyPr wrap="square"/>
                    <a:lstStyle/>
                    <a:p>
                      <a:pPr algn="l">
                        <a:spcAft>
                          <a:spcPts val="0"/>
                        </a:spcAft>
                        <a:buNone/>
                      </a:pPr>
                      <a:r>
                        <a:rPr sz="1250" b="0">
                          <a:solidFill>
                            <a:srgbClr val="202B38"/>
                          </a:solidFill>
                          <a:latin typeface="Arial"/>
                        </a:rPr>
                        <a:t>Flat: peers share one task list</a:t>
                      </a:r>
                    </a:p>
                  </a:txBody>
                  <a:tcPr>
                    <a:solidFill>
                      <a:srgbClr val="FFFFFF"/>
                    </a:solidFill>
                  </a:tcPr>
                </a:tc>
                <a:tc>
                  <a:txBody>
                    <a:bodyPr wrap="square"/>
                    <a:lstStyle/>
                    <a:p>
                      <a:pPr algn="l">
                        <a:spcAft>
                          <a:spcPts val="0"/>
                        </a:spcAft>
                        <a:buNone/>
                      </a:pPr>
                      <a:r>
                        <a:rPr sz="1250" b="0">
                          <a:solidFill>
                            <a:srgbClr val="202B38"/>
                          </a:solidFill>
                          <a:latin typeface="Arial"/>
                        </a:rPr>
                        <a:t>Chain: one agent replaces another</a:t>
                      </a:r>
                    </a:p>
                  </a:txBody>
                  <a:tcPr>
                    <a:solidFill>
                      <a:srgbClr val="FFFFFF"/>
                    </a:solidFill>
                  </a:tcPr>
                </a:tc>
              </a:tr>
              <a:tr h="457200">
                <a:tc>
                  <a:txBody>
                    <a:bodyPr wrap="square"/>
                    <a:lstStyle/>
                    <a:p>
                      <a:pPr algn="l">
                        <a:spcAft>
                          <a:spcPts val="0"/>
                        </a:spcAft>
                        <a:buNone/>
                      </a:pPr>
                      <a:r>
                        <a:rPr sz="1250" b="0">
                          <a:solidFill>
                            <a:srgbClr val="202B38"/>
                          </a:solidFill>
                          <a:latin typeface="Arial"/>
                        </a:rPr>
                        <a:t>Communication</a:t>
                      </a:r>
                    </a:p>
                  </a:txBody>
                  <a:tcPr>
                    <a:solidFill>
                      <a:srgbClr val="EEF3FD"/>
                    </a:solidFill>
                  </a:tcPr>
                </a:tc>
                <a:tc>
                  <a:txBody>
                    <a:bodyPr wrap="square"/>
                    <a:lstStyle/>
                    <a:p>
                      <a:pPr algn="l">
                        <a:spcAft>
                          <a:spcPts val="0"/>
                        </a:spcAft>
                        <a:buNone/>
                      </a:pPr>
                      <a:r>
                        <a:rPr sz="1250" b="0">
                          <a:solidFill>
                            <a:srgbClr val="202B38"/>
                          </a:solidFill>
                          <a:latin typeface="Arial"/>
                        </a:rPr>
                        <a:t>Results flow up only; no lateral talk</a:t>
                      </a:r>
                    </a:p>
                  </a:txBody>
                  <a:tcPr>
                    <a:solidFill>
                      <a:srgbClr val="EEF3FD"/>
                    </a:solidFill>
                  </a:tcPr>
                </a:tc>
                <a:tc>
                  <a:txBody>
                    <a:bodyPr wrap="square"/>
                    <a:lstStyle/>
                    <a:p>
                      <a:pPr algn="l">
                        <a:spcAft>
                          <a:spcPts val="0"/>
                        </a:spcAft>
                        <a:buNone/>
                      </a:pPr>
                      <a:r>
                        <a:rPr sz="1250" b="0">
                          <a:solidFill>
                            <a:srgbClr val="202B38"/>
                          </a:solidFill>
                          <a:latin typeface="Arial"/>
                        </a:rPr>
                        <a:t>Direct messages between teammates; a shared board</a:t>
                      </a:r>
                    </a:p>
                  </a:txBody>
                  <a:tcPr>
                    <a:solidFill>
                      <a:srgbClr val="EEF3FD"/>
                    </a:solidFill>
                  </a:tcPr>
                </a:tc>
                <a:tc>
                  <a:txBody>
                    <a:bodyPr wrap="square"/>
                    <a:lstStyle/>
                    <a:p>
                      <a:pPr algn="l">
                        <a:spcAft>
                          <a:spcPts val="0"/>
                        </a:spcAft>
                        <a:buNone/>
                      </a:pPr>
                      <a:r>
                        <a:rPr sz="1250" b="0">
                          <a:solidFill>
                            <a:srgbClr val="202B38"/>
                          </a:solidFill>
                          <a:latin typeface="Arial"/>
                        </a:rPr>
                        <a:t>The whole conversation moves, once</a:t>
                      </a:r>
                    </a:p>
                  </a:txBody>
                  <a:tcPr>
                    <a:solidFill>
                      <a:srgbClr val="EEF3FD"/>
                    </a:solidFill>
                  </a:tcPr>
                </a:tc>
              </a:tr>
              <a:tr h="457200">
                <a:tc>
                  <a:txBody>
                    <a:bodyPr wrap="square"/>
                    <a:lstStyle/>
                    <a:p>
                      <a:pPr algn="l">
                        <a:spcAft>
                          <a:spcPts val="0"/>
                        </a:spcAft>
                        <a:buNone/>
                      </a:pPr>
                      <a:r>
                        <a:rPr sz="1250" b="0">
                          <a:solidFill>
                            <a:srgbClr val="202B38"/>
                          </a:solidFill>
                          <a:latin typeface="Arial"/>
                        </a:rPr>
                        <a:t>Who decides</a:t>
                      </a:r>
                    </a:p>
                  </a:txBody>
                  <a:tcPr>
                    <a:solidFill>
                      <a:srgbClr val="FFFFFF"/>
                    </a:solidFill>
                  </a:tcPr>
                </a:tc>
                <a:tc>
                  <a:txBody>
                    <a:bodyPr wrap="square"/>
                    <a:lstStyle/>
                    <a:p>
                      <a:pPr algn="l">
                        <a:spcAft>
                          <a:spcPts val="0"/>
                        </a:spcAft>
                        <a:buNone/>
                      </a:pPr>
                      <a:r>
                        <a:rPr sz="1250" b="0">
                          <a:solidFill>
                            <a:srgbClr val="202B38"/>
                          </a:solidFill>
                          <a:latin typeface="Arial"/>
                        </a:rPr>
                        <a:t>The lead assigns and synthesizes</a:t>
                      </a:r>
                    </a:p>
                  </a:txBody>
                  <a:tcPr>
                    <a:solidFill>
                      <a:srgbClr val="FFFFFF"/>
                    </a:solidFill>
                  </a:tcPr>
                </a:tc>
                <a:tc>
                  <a:txBody>
                    <a:bodyPr wrap="square"/>
                    <a:lstStyle/>
                    <a:p>
                      <a:pPr algn="l">
                        <a:spcAft>
                          <a:spcPts val="0"/>
                        </a:spcAft>
                        <a:buNone/>
                      </a:pPr>
                      <a:r>
                        <a:rPr sz="1250" b="0">
                          <a:solidFill>
                            <a:srgbClr val="202B38"/>
                          </a:solidFill>
                          <a:latin typeface="Arial"/>
                        </a:rPr>
                        <a:t>The lead assigns; teammates claim and coordinate</a:t>
                      </a:r>
                    </a:p>
                  </a:txBody>
                  <a:tcPr>
                    <a:solidFill>
                      <a:srgbClr val="FFFFFF"/>
                    </a:solidFill>
                  </a:tcPr>
                </a:tc>
                <a:tc>
                  <a:txBody>
                    <a:bodyPr wrap="square"/>
                    <a:lstStyle/>
                    <a:p>
                      <a:pPr algn="l">
                        <a:spcAft>
                          <a:spcPts val="0"/>
                        </a:spcAft>
                        <a:buNone/>
                      </a:pPr>
                      <a:r>
                        <a:rPr sz="1250" b="0">
                          <a:solidFill>
                            <a:srgbClr val="202B38"/>
                          </a:solidFill>
                          <a:latin typeface="Arial"/>
                        </a:rPr>
                        <a:t>The current agent picks the next one</a:t>
                      </a:r>
                    </a:p>
                  </a:txBody>
                  <a:tcPr>
                    <a:solidFill>
                      <a:srgbClr val="FFFFFF"/>
                    </a:solidFill>
                  </a:tcPr>
                </a:tc>
              </a:tr>
              <a:tr h="457200">
                <a:tc>
                  <a:txBody>
                    <a:bodyPr wrap="square"/>
                    <a:lstStyle/>
                    <a:p>
                      <a:pPr algn="l">
                        <a:spcAft>
                          <a:spcPts val="0"/>
                        </a:spcAft>
                        <a:buNone/>
                      </a:pPr>
                      <a:r>
                        <a:rPr sz="1250" b="0">
                          <a:solidFill>
                            <a:srgbClr val="202B38"/>
                          </a:solidFill>
                          <a:latin typeface="Arial"/>
                        </a:rPr>
                        <a:t>Context</a:t>
                      </a:r>
                    </a:p>
                  </a:txBody>
                  <a:tcPr>
                    <a:solidFill>
                      <a:srgbClr val="EEF3FD"/>
                    </a:solidFill>
                  </a:tcPr>
                </a:tc>
                <a:tc>
                  <a:txBody>
                    <a:bodyPr wrap="square"/>
                    <a:lstStyle/>
                    <a:p>
                      <a:pPr algn="l">
                        <a:spcAft>
                          <a:spcPts val="0"/>
                        </a:spcAft>
                        <a:buNone/>
                      </a:pPr>
                      <a:r>
                        <a:rPr sz="1250" b="0">
                          <a:solidFill>
                            <a:srgbClr val="202B38"/>
                          </a:solidFill>
                          <a:latin typeface="Arial"/>
                        </a:rPr>
                        <a:t>Each worker has its own clean window</a:t>
                      </a:r>
                    </a:p>
                  </a:txBody>
                  <a:tcPr>
                    <a:solidFill>
                      <a:srgbClr val="EEF3FD"/>
                    </a:solidFill>
                  </a:tcPr>
                </a:tc>
                <a:tc>
                  <a:txBody>
                    <a:bodyPr wrap="square"/>
                    <a:lstStyle/>
                    <a:p>
                      <a:pPr algn="l">
                        <a:spcAft>
                          <a:spcPts val="0"/>
                        </a:spcAft>
                        <a:buNone/>
                      </a:pPr>
                      <a:r>
                        <a:rPr sz="1250" b="0">
                          <a:solidFill>
                            <a:srgbClr val="202B38"/>
                          </a:solidFill>
                          <a:latin typeface="Arial"/>
                        </a:rPr>
                        <a:t>Each teammate has its own window; the board is shared</a:t>
                      </a:r>
                    </a:p>
                  </a:txBody>
                  <a:tcPr>
                    <a:solidFill>
                      <a:srgbClr val="EEF3FD"/>
                    </a:solidFill>
                  </a:tcPr>
                </a:tc>
                <a:tc>
                  <a:txBody>
                    <a:bodyPr wrap="square"/>
                    <a:lstStyle/>
                    <a:p>
                      <a:pPr algn="l">
                        <a:spcAft>
                          <a:spcPts val="0"/>
                        </a:spcAft>
                        <a:buNone/>
                      </a:pPr>
                      <a:r>
                        <a:rPr sz="1250" b="0">
                          <a:solidFill>
                            <a:srgbClr val="202B38"/>
                          </a:solidFill>
                          <a:latin typeface="Arial"/>
                        </a:rPr>
                        <a:t>The receiver inherits the full history</a:t>
                      </a:r>
                    </a:p>
                  </a:txBody>
                  <a:tcPr>
                    <a:solidFill>
                      <a:srgbClr val="EEF3FD"/>
                    </a:solidFill>
                  </a:tcPr>
                </a:tc>
              </a:tr>
              <a:tr h="457200">
                <a:tc>
                  <a:txBody>
                    <a:bodyPr wrap="square"/>
                    <a:lstStyle/>
                    <a:p>
                      <a:pPr algn="l">
                        <a:spcAft>
                          <a:spcPts val="0"/>
                        </a:spcAft>
                        <a:buNone/>
                      </a:pPr>
                      <a:r>
                        <a:rPr sz="1250" b="0">
                          <a:solidFill>
                            <a:srgbClr val="202B38"/>
                          </a:solidFill>
                          <a:latin typeface="Arial"/>
                        </a:rPr>
                        <a:t>When to use</a:t>
                      </a:r>
                    </a:p>
                  </a:txBody>
                  <a:tcPr>
                    <a:solidFill>
                      <a:srgbClr val="FFFFFF"/>
                    </a:solidFill>
                  </a:tcPr>
                </a:tc>
                <a:tc>
                  <a:txBody>
                    <a:bodyPr wrap="square"/>
                    <a:lstStyle/>
                    <a:p>
                      <a:pPr algn="l">
                        <a:spcAft>
                          <a:spcPts val="0"/>
                        </a:spcAft>
                        <a:buNone/>
                      </a:pPr>
                      <a:r>
                        <a:rPr sz="1250" b="0">
                          <a:solidFill>
                            <a:srgbClr val="202B38"/>
                          </a:solidFill>
                          <a:latin typeface="Arial"/>
                        </a:rPr>
                        <a:t>Isolation: research, review, long reads</a:t>
                      </a:r>
                    </a:p>
                  </a:txBody>
                  <a:tcPr>
                    <a:solidFill>
                      <a:srgbClr val="FFFFFF"/>
                    </a:solidFill>
                  </a:tcPr>
                </a:tc>
                <a:tc>
                  <a:txBody>
                    <a:bodyPr wrap="square"/>
                    <a:lstStyle/>
                    <a:p>
                      <a:pPr algn="l">
                        <a:spcAft>
                          <a:spcPts val="0"/>
                        </a:spcAft>
                        <a:buNone/>
                      </a:pPr>
                      <a:r>
                        <a:rPr sz="1250" b="0">
                          <a:solidFill>
                            <a:srgbClr val="202B38"/>
                          </a:solidFill>
                          <a:latin typeface="Arial"/>
                        </a:rPr>
                        <a:t>Parallel work on many independent tasks</a:t>
                      </a:r>
                    </a:p>
                  </a:txBody>
                  <a:tcPr>
                    <a:solidFill>
                      <a:srgbClr val="FFFFFF"/>
                    </a:solidFill>
                  </a:tcPr>
                </a:tc>
                <a:tc>
                  <a:txBody>
                    <a:bodyPr wrap="square"/>
                    <a:lstStyle/>
                    <a:p>
                      <a:pPr algn="l">
                        <a:spcAft>
                          <a:spcPts val="0"/>
                        </a:spcAft>
                        <a:buNone/>
                      </a:pPr>
                      <a:r>
                        <a:rPr sz="1250" b="0">
                          <a:solidFill>
                            <a:srgbClr val="202B38"/>
                          </a:solidFill>
                          <a:latin typeface="Arial"/>
                        </a:rPr>
                        <a:t>Specialists: triage to billing, research to calculator</a:t>
                      </a:r>
                    </a:p>
                  </a:txBody>
                  <a:tcPr>
                    <a:solidFill>
                      <a:srgbClr val="FFFFFF"/>
                    </a:solidFill>
                  </a:tcPr>
                </a:tc>
              </a:tr>
              <a:tr h="457200">
                <a:tc>
                  <a:txBody>
                    <a:bodyPr wrap="square"/>
                    <a:lstStyle/>
                    <a:p>
                      <a:pPr algn="l">
                        <a:spcAft>
                          <a:spcPts val="0"/>
                        </a:spcAft>
                        <a:buNone/>
                      </a:pPr>
                      <a:r>
                        <a:rPr sz="1250" b="0">
                          <a:solidFill>
                            <a:srgbClr val="202B38"/>
                          </a:solidFill>
                          <a:latin typeface="Arial"/>
                        </a:rPr>
                        <a:t>Source</a:t>
                      </a:r>
                    </a:p>
                  </a:txBody>
                  <a:tcPr>
                    <a:solidFill>
                      <a:srgbClr val="EEF3FD"/>
                    </a:solidFill>
                  </a:tcPr>
                </a:tc>
                <a:tc>
                  <a:txBody>
                    <a:bodyPr wrap="square"/>
                    <a:lstStyle/>
                    <a:p>
                      <a:pPr algn="l">
                        <a:spcAft>
                          <a:spcPts val="0"/>
                        </a:spcAft>
                        <a:buNone/>
                      </a:pPr>
                      <a:r>
                        <a:rPr sz="1250" b="0">
                          <a:solidFill>
                            <a:srgbClr val="202B38"/>
                          </a:solidFill>
                          <a:latin typeface="Arial"/>
                        </a:rPr>
                        <a:t>Claude Code sub-agents, GA 2025</a:t>
                      </a:r>
                    </a:p>
                  </a:txBody>
                  <a:tcPr>
                    <a:solidFill>
                      <a:srgbClr val="EEF3FD"/>
                    </a:solidFill>
                  </a:tcPr>
                </a:tc>
                <a:tc>
                  <a:txBody>
                    <a:bodyPr wrap="square"/>
                    <a:lstStyle/>
                    <a:p>
                      <a:pPr algn="l">
                        <a:spcAft>
                          <a:spcPts val="0"/>
                        </a:spcAft>
                        <a:buNone/>
                      </a:pPr>
                      <a:r>
                        <a:rPr sz="1250" b="0">
                          <a:solidFill>
                            <a:srgbClr val="202B38"/>
                          </a:solidFill>
                          <a:latin typeface="Arial"/>
                        </a:rPr>
                        <a:t>Claude Code agent teams, Feb 2026</a:t>
                      </a:r>
                    </a:p>
                  </a:txBody>
                  <a:tcPr>
                    <a:solidFill>
                      <a:srgbClr val="EEF3FD"/>
                    </a:solidFill>
                  </a:tcPr>
                </a:tc>
                <a:tc>
                  <a:txBody>
                    <a:bodyPr wrap="square"/>
                    <a:lstStyle/>
                    <a:p>
                      <a:pPr algn="l">
                        <a:spcAft>
                          <a:spcPts val="0"/>
                        </a:spcAft>
                        <a:buNone/>
                      </a:pPr>
                      <a:r>
                        <a:rPr sz="1250" b="0">
                          <a:solidFill>
                            <a:srgbClr val="202B38"/>
                          </a:solidFill>
                          <a:latin typeface="Arial"/>
                        </a:rPr>
                        <a:t>OpenAI, Apr 2025: the decentralized pattern</a:t>
                      </a:r>
                    </a:p>
                  </a:txBody>
                  <a:tcPr>
                    <a:solidFill>
                      <a:srgbClr val="EEF3FD"/>
                    </a:solidFill>
                  </a:tcPr>
                </a:tc>
              </a:tr>
            </a:tbl>
          </a:graphicData>
        </a:graphic>
      </p:graphicFrame>
      <p:sp>
        <p:nvSpPr>
          <p:cNvPr id="8" name="TextBox 7"/>
          <p:cNvSpPr txBox="1"/>
          <p:nvPr/>
        </p:nvSpPr>
        <p:spPr>
          <a:xfrm>
            <a:off x="548640" y="6053328"/>
            <a:ext cx="11091672" cy="502920"/>
          </a:xfrm>
          <a:prstGeom prst="rect">
            <a:avLst/>
          </a:prstGeom>
          <a:noFill/>
        </p:spPr>
        <p:txBody>
          <a:bodyPr wrap="square">
            <a:spAutoFit/>
          </a:bodyPr>
          <a:lstStyle/>
          <a:p>
            <a:pPr algn="l">
              <a:spcAft>
                <a:spcPts val="600"/>
              </a:spcAft>
              <a:buNone/>
            </a:pPr>
            <a:r>
              <a:rPr sz="1200" b="0">
                <a:solidFill>
                  <a:srgbClr val="1E5EF3"/>
                </a:solidFill>
                <a:latin typeface="Arial"/>
              </a:rPr>
              <a:t>OpenAI's manager pattern = sub-agents used as tools; its decentralized pattern = handoffs. OpenAI, A practical guide to building agents, Apr 2025.</a:t>
            </a:r>
          </a:p>
        </p:txBody>
      </p:sp>
      <p:sp>
        <p:nvSpPr>
          <p:cNvPr id="9" name="TextBox 8"/>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5B6774"/>
                </a:solidFill>
                <a:latin typeface="Arial"/>
              </a:rPr>
              <a:t>M5 Session 4 - Sub-agents, Teams and the Discipline</a:t>
            </a:r>
          </a:p>
        </p:txBody>
      </p:sp>
      <p:sp>
        <p:nvSpPr>
          <p:cNvPr id="10" name="TextBox 9"/>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5B6774"/>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75488"/>
            <a:ext cx="457200" cy="54864"/>
          </a:xfrm>
          <a:prstGeom prst="rect">
            <a:avLst/>
          </a:prstGeom>
          <a:solidFill>
            <a:srgbClr val="1E5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03504"/>
            <a:ext cx="11091672" cy="274320"/>
          </a:xfrm>
          <a:prstGeom prst="rect">
            <a:avLst/>
          </a:prstGeom>
          <a:noFill/>
        </p:spPr>
        <p:txBody>
          <a:bodyPr wrap="square">
            <a:spAutoFit/>
          </a:bodyPr>
          <a:lstStyle/>
          <a:p>
            <a:pPr algn="l">
              <a:spcAft>
                <a:spcPts val="600"/>
              </a:spcAft>
              <a:buNone/>
            </a:pPr>
            <a:r>
              <a:rPr sz="1100" b="1">
                <a:solidFill>
                  <a:srgbClr val="1E5EF3"/>
                </a:solidFill>
                <a:latin typeface="Arial"/>
              </a:rPr>
              <a:t>ORCHESTRATION</a:t>
            </a:r>
          </a:p>
        </p:txBody>
      </p:sp>
      <p:sp>
        <p:nvSpPr>
          <p:cNvPr id="5" name="TextBox 4"/>
          <p:cNvSpPr txBox="1"/>
          <p:nvPr/>
        </p:nvSpPr>
        <p:spPr>
          <a:xfrm>
            <a:off x="548640" y="868680"/>
            <a:ext cx="11091672" cy="777240"/>
          </a:xfrm>
          <a:prstGeom prst="rect">
            <a:avLst/>
          </a:prstGeom>
          <a:noFill/>
        </p:spPr>
        <p:txBody>
          <a:bodyPr wrap="square">
            <a:spAutoFit/>
          </a:bodyPr>
          <a:lstStyle/>
          <a:p>
            <a:pPr algn="l">
              <a:spcAft>
                <a:spcPts val="0"/>
              </a:spcAft>
              <a:buNone/>
            </a:pPr>
            <a:r>
              <a:rPr sz="2600" b="1">
                <a:solidFill>
                  <a:srgbClr val="0A2540"/>
                </a:solidFill>
                <a:latin typeface="Arial"/>
              </a:rPr>
              <a:t>Who orchestrates: your code, or the lead model?</a:t>
            </a:r>
          </a:p>
        </p:txBody>
      </p:sp>
      <p:sp>
        <p:nvSpPr>
          <p:cNvPr id="6" name="Rectangle 5"/>
          <p:cNvSpPr/>
          <p:nvPr/>
        </p:nvSpPr>
        <p:spPr>
          <a:xfrm>
            <a:off x="548640" y="1664208"/>
            <a:ext cx="11091672" cy="12801"/>
          </a:xfrm>
          <a:prstGeom prst="rect">
            <a:avLst/>
          </a:prstGeom>
          <a:solidFill>
            <a:srgbClr val="B9D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874519"/>
            <a:ext cx="5394960" cy="3977639"/>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039111"/>
            <a:ext cx="4937760" cy="365760"/>
          </a:xfrm>
          <a:prstGeom prst="rect">
            <a:avLst/>
          </a:prstGeom>
          <a:noFill/>
        </p:spPr>
        <p:txBody>
          <a:bodyPr wrap="square">
            <a:spAutoFit/>
          </a:bodyPr>
          <a:lstStyle/>
          <a:p>
            <a:pPr algn="l">
              <a:spcAft>
                <a:spcPts val="600"/>
              </a:spcAft>
              <a:buNone/>
            </a:pPr>
            <a:r>
              <a:rPr sz="1500" b="1">
                <a:solidFill>
                  <a:srgbClr val="0A2540"/>
                </a:solidFill>
                <a:latin typeface="Arial"/>
              </a:rPr>
              <a:t>As code: patterns.orchestrate(...)</a:t>
            </a:r>
          </a:p>
        </p:txBody>
      </p:sp>
      <p:sp>
        <p:nvSpPr>
          <p:cNvPr id="9" name="TextBox 8"/>
          <p:cNvSpPr txBox="1"/>
          <p:nvPr/>
        </p:nvSpPr>
        <p:spPr>
          <a:xfrm>
            <a:off x="777240" y="2441447"/>
            <a:ext cx="4937760" cy="3246119"/>
          </a:xfrm>
          <a:prstGeom prst="rect">
            <a:avLst/>
          </a:prstGeom>
          <a:noFill/>
        </p:spPr>
        <p:txBody>
          <a:bodyPr wrap="square">
            <a:spAutoFit/>
          </a:bodyPr>
          <a:lstStyle/>
          <a:p>
            <a:pPr algn="l" indent="-228600" marL="228600">
              <a:spcAft>
                <a:spcPts val="600"/>
              </a:spcAft>
              <a:buClr>
                <a:srgbClr val="1E5EF3"/>
              </a:buClr>
              <a:buChar char="—"/>
            </a:pPr>
            <a:r>
              <a:rPr sz="1300" b="0">
                <a:solidFill>
                  <a:srgbClr val="202B38"/>
                </a:solidFill>
                <a:latin typeface="Arial"/>
              </a:rPr>
              <a:t>A planner agent splits the task; code loops over the sub-tasks</a:t>
            </a:r>
          </a:p>
          <a:p>
            <a:pPr algn="l" indent="-228600" marL="228600">
              <a:spcAft>
                <a:spcPts val="600"/>
              </a:spcAft>
              <a:buClr>
                <a:srgbClr val="1E5EF3"/>
              </a:buClr>
              <a:buChar char="—"/>
            </a:pPr>
            <a:r>
              <a:rPr sz="1300" b="0">
                <a:solidFill>
                  <a:srgbClr val="202B38"/>
                </a:solidFill>
                <a:latin typeface="Arial"/>
              </a:rPr>
              <a:t>Code spawns one worker per sub-task and collects the results</a:t>
            </a:r>
          </a:p>
          <a:p>
            <a:pPr algn="l" indent="-228600" marL="228600">
              <a:spcAft>
                <a:spcPts val="600"/>
              </a:spcAft>
              <a:buClr>
                <a:srgbClr val="1E5EF3"/>
              </a:buClr>
              <a:buChar char="—"/>
            </a:pPr>
            <a:r>
              <a:rPr sz="1300" b="0">
                <a:solidFill>
                  <a:srgbClr val="202B38"/>
                </a:solidFill>
                <a:latin typeface="Arial"/>
              </a:rPr>
              <a:t>A synthesizer agent writes the final answer</a:t>
            </a:r>
          </a:p>
          <a:p>
            <a:pPr algn="l" indent="-228600" marL="228600">
              <a:spcAft>
                <a:spcPts val="600"/>
              </a:spcAft>
              <a:buClr>
                <a:srgbClr val="1E5EF3"/>
              </a:buClr>
              <a:buChar char="—"/>
            </a:pPr>
            <a:r>
              <a:rPr sz="1300" b="0">
                <a:solidFill>
                  <a:srgbClr val="202B38"/>
                </a:solidFill>
                <a:latin typeface="Arial"/>
              </a:rPr>
              <a:t>You see and test every step; the structure cannot drift</a:t>
            </a:r>
          </a:p>
          <a:p>
            <a:pPr algn="l" indent="-228600" marL="228600">
              <a:spcAft>
                <a:spcPts val="600"/>
              </a:spcAft>
              <a:buClr>
                <a:srgbClr val="1E5EF3"/>
              </a:buClr>
              <a:buChar char="—"/>
            </a:pPr>
            <a:r>
              <a:rPr sz="1300" b="0">
                <a:solidFill>
                  <a:srgbClr val="202B38"/>
                </a:solidFill>
                <a:latin typeface="Arial"/>
              </a:rPr>
              <a:t>Use when the shape of the work is known: split, solve, merge</a:t>
            </a:r>
          </a:p>
          <a:p>
            <a:pPr algn="l" indent="-228600" marL="228600">
              <a:spcAft>
                <a:spcPts val="600"/>
              </a:spcAft>
              <a:buClr>
                <a:srgbClr val="1E5EF3"/>
              </a:buClr>
              <a:buChar char="—"/>
            </a:pPr>
            <a:r>
              <a:rPr sz="1300" b="0">
                <a:solidFill>
                  <a:srgbClr val="202B38"/>
                </a:solidFill>
                <a:latin typeface="Arial"/>
              </a:rPr>
              <a:t>Notebook 04: ~6,021 tokens for 3 workers plus the synthesizer</a:t>
            </a:r>
          </a:p>
        </p:txBody>
      </p:sp>
      <p:sp>
        <p:nvSpPr>
          <p:cNvPr id="10" name="Rectangle 9"/>
          <p:cNvSpPr/>
          <p:nvPr/>
        </p:nvSpPr>
        <p:spPr>
          <a:xfrm>
            <a:off x="6245352" y="1874519"/>
            <a:ext cx="5394960" cy="3977639"/>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73952" y="2039111"/>
            <a:ext cx="4937760" cy="365760"/>
          </a:xfrm>
          <a:prstGeom prst="rect">
            <a:avLst/>
          </a:prstGeom>
          <a:noFill/>
        </p:spPr>
        <p:txBody>
          <a:bodyPr wrap="square">
            <a:spAutoFit/>
          </a:bodyPr>
          <a:lstStyle/>
          <a:p>
            <a:pPr algn="l">
              <a:spcAft>
                <a:spcPts val="600"/>
              </a:spcAft>
              <a:buNone/>
            </a:pPr>
            <a:r>
              <a:rPr sz="1500" b="1">
                <a:solidFill>
                  <a:srgbClr val="0A2540"/>
                </a:solidFill>
                <a:latin typeface="Arial"/>
              </a:rPr>
              <a:t>As a model decision: a delegate tool</a:t>
            </a:r>
          </a:p>
        </p:txBody>
      </p:sp>
      <p:sp>
        <p:nvSpPr>
          <p:cNvPr id="12" name="TextBox 11"/>
          <p:cNvSpPr txBox="1"/>
          <p:nvPr/>
        </p:nvSpPr>
        <p:spPr>
          <a:xfrm>
            <a:off x="6473952" y="2441447"/>
            <a:ext cx="4937760" cy="3246119"/>
          </a:xfrm>
          <a:prstGeom prst="rect">
            <a:avLst/>
          </a:prstGeom>
          <a:noFill/>
        </p:spPr>
        <p:txBody>
          <a:bodyPr wrap="square">
            <a:spAutoFit/>
          </a:bodyPr>
          <a:lstStyle/>
          <a:p>
            <a:pPr algn="l" indent="-228600" marL="228600">
              <a:spcAft>
                <a:spcPts val="600"/>
              </a:spcAft>
              <a:buClr>
                <a:srgbClr val="1E5EF3"/>
              </a:buClr>
              <a:buChar char="—"/>
            </a:pPr>
            <a:r>
              <a:rPr sz="1300" b="0">
                <a:solidFill>
                  <a:srgbClr val="202B38"/>
                </a:solidFill>
                <a:latin typeface="Arial"/>
              </a:rPr>
              <a:t>The lead has one tool, delegate(task), that spawns a sub-agent</a:t>
            </a:r>
          </a:p>
          <a:p>
            <a:pPr algn="l" indent="-228600" marL="228600">
              <a:spcAft>
                <a:spcPts val="600"/>
              </a:spcAft>
              <a:buClr>
                <a:srgbClr val="1E5EF3"/>
              </a:buClr>
              <a:buChar char="—"/>
            </a:pPr>
            <a:r>
              <a:rPr sz="1300" b="0">
                <a:solidFill>
                  <a:srgbClr val="202B38"/>
                </a:solidFill>
                <a:latin typeface="Arial"/>
              </a:rPr>
              <a:t>The model decides when, how many, and with what brief</a:t>
            </a:r>
          </a:p>
          <a:p>
            <a:pPr algn="l" indent="-228600" marL="228600">
              <a:spcAft>
                <a:spcPts val="600"/>
              </a:spcAft>
              <a:buClr>
                <a:srgbClr val="1E5EF3"/>
              </a:buClr>
              <a:buChar char="—"/>
            </a:pPr>
            <a:r>
              <a:rPr sz="1300" b="0">
                <a:solidFill>
                  <a:srgbClr val="202B38"/>
                </a:solidFill>
                <a:latin typeface="Arial"/>
              </a:rPr>
              <a:t>Flexible: it can delegate twice, or not at all</a:t>
            </a:r>
          </a:p>
          <a:p>
            <a:pPr algn="l" indent="-228600" marL="228600">
              <a:spcAft>
                <a:spcPts val="600"/>
              </a:spcAft>
              <a:buClr>
                <a:srgbClr val="1E5EF3"/>
              </a:buClr>
              <a:buChar char="—"/>
            </a:pPr>
            <a:r>
              <a:rPr sz="1300" b="0">
                <a:solidFill>
                  <a:srgbClr val="202B38"/>
                </a:solidFill>
                <a:latin typeface="Arial"/>
              </a:rPr>
              <a:t>Harder to test; needs max_turns and a token budget</a:t>
            </a:r>
          </a:p>
          <a:p>
            <a:pPr algn="l" indent="-228600" marL="228600">
              <a:spcAft>
                <a:spcPts val="600"/>
              </a:spcAft>
              <a:buClr>
                <a:srgbClr val="1E5EF3"/>
              </a:buClr>
              <a:buChar char="—"/>
            </a:pPr>
            <a:r>
              <a:rPr sz="1300" b="0">
                <a:solidFill>
                  <a:srgbClr val="202B38"/>
                </a:solidFill>
                <a:latin typeface="Arial"/>
              </a:rPr>
              <a:t>Use when the sub-tasks only appear as you go</a:t>
            </a:r>
          </a:p>
          <a:p>
            <a:pPr algn="l" indent="-228600" marL="228600">
              <a:spcAft>
                <a:spcPts val="600"/>
              </a:spcAft>
              <a:buClr>
                <a:srgbClr val="1E5EF3"/>
              </a:buClr>
              <a:buChar char="—"/>
            </a:pPr>
            <a:r>
              <a:rPr sz="1300" b="0">
                <a:solidFill>
                  <a:srgbClr val="202B38"/>
                </a:solidFill>
                <a:latin typeface="Arial"/>
              </a:rPr>
              <a:t>Notebook 04: ~6,333 tokens for lead plus sub-agents; same subtasks, same final text</a:t>
            </a:r>
          </a:p>
        </p:txBody>
      </p:sp>
      <p:sp>
        <p:nvSpPr>
          <p:cNvPr id="13" name="TextBox 12"/>
          <p:cNvSpPr txBox="1"/>
          <p:nvPr/>
        </p:nvSpPr>
        <p:spPr>
          <a:xfrm>
            <a:off x="548640" y="6053328"/>
            <a:ext cx="11091672" cy="502920"/>
          </a:xfrm>
          <a:prstGeom prst="rect">
            <a:avLst/>
          </a:prstGeom>
          <a:noFill/>
        </p:spPr>
        <p:txBody>
          <a:bodyPr wrap="square">
            <a:spAutoFit/>
          </a:bodyPr>
          <a:lstStyle/>
          <a:p>
            <a:pPr algn="l">
              <a:spcAft>
                <a:spcPts val="600"/>
              </a:spcAft>
              <a:buNone/>
            </a:pPr>
            <a:r>
              <a:rPr sz="1200" b="0">
                <a:solidFill>
                  <a:srgbClr val="1E5EF3"/>
                </a:solidFill>
                <a:latin typeface="Arial"/>
              </a:rPr>
              <a:t>Both live in the course library: harness.patterns.orchestrate and harness.multi.SubAgentPool.delegate_tool(); token figures from the notebook 04 reference run on the stand-in. Anthropic, Building effective agents, Dec 2024.</a:t>
            </a:r>
          </a:p>
        </p:txBody>
      </p:sp>
      <p:sp>
        <p:nvSpPr>
          <p:cNvPr id="14" name="TextBox 13"/>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5B6774"/>
                </a:solidFill>
                <a:latin typeface="Arial"/>
              </a:rPr>
              <a:t>M5 Session 4 - Sub-agents, Teams and the Discipline</a:t>
            </a:r>
          </a:p>
        </p:txBody>
      </p:sp>
      <p:sp>
        <p:nvSpPr>
          <p:cNvPr id="15" name="TextBox 14"/>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5B6774"/>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75488"/>
            <a:ext cx="457200" cy="54864"/>
          </a:xfrm>
          <a:prstGeom prst="rect">
            <a:avLst/>
          </a:prstGeom>
          <a:solidFill>
            <a:srgbClr val="1E5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03504"/>
            <a:ext cx="11091672" cy="274320"/>
          </a:xfrm>
          <a:prstGeom prst="rect">
            <a:avLst/>
          </a:prstGeom>
          <a:noFill/>
        </p:spPr>
        <p:txBody>
          <a:bodyPr wrap="square">
            <a:spAutoFit/>
          </a:bodyPr>
          <a:lstStyle/>
          <a:p>
            <a:pPr algn="l">
              <a:spcAft>
                <a:spcPts val="600"/>
              </a:spcAft>
              <a:buNone/>
            </a:pPr>
            <a:r>
              <a:rPr sz="1100" b="1">
                <a:solidFill>
                  <a:srgbClr val="1E5EF3"/>
                </a:solidFill>
                <a:latin typeface="Arial"/>
              </a:rPr>
              <a:t>FAILURE MODES</a:t>
            </a:r>
          </a:p>
        </p:txBody>
      </p:sp>
      <p:sp>
        <p:nvSpPr>
          <p:cNvPr id="5" name="TextBox 4"/>
          <p:cNvSpPr txBox="1"/>
          <p:nvPr/>
        </p:nvSpPr>
        <p:spPr>
          <a:xfrm>
            <a:off x="548640" y="868680"/>
            <a:ext cx="11091672" cy="777240"/>
          </a:xfrm>
          <a:prstGeom prst="rect">
            <a:avLst/>
          </a:prstGeom>
          <a:noFill/>
        </p:spPr>
        <p:txBody>
          <a:bodyPr wrap="square">
            <a:spAutoFit/>
          </a:bodyPr>
          <a:lstStyle/>
          <a:p>
            <a:pPr algn="l">
              <a:spcAft>
                <a:spcPts val="0"/>
              </a:spcAft>
              <a:buNone/>
            </a:pPr>
            <a:r>
              <a:rPr sz="2600" b="1">
                <a:solidFill>
                  <a:srgbClr val="0A2540"/>
                </a:solidFill>
                <a:latin typeface="Arial"/>
              </a:rPr>
              <a:t>Six ways multi-agent systems fail - and the guard for each</a:t>
            </a:r>
          </a:p>
        </p:txBody>
      </p:sp>
      <p:sp>
        <p:nvSpPr>
          <p:cNvPr id="6" name="Rectangle 5"/>
          <p:cNvSpPr/>
          <p:nvPr/>
        </p:nvSpPr>
        <p:spPr>
          <a:xfrm>
            <a:off x="548640" y="1664208"/>
            <a:ext cx="11091672" cy="12801"/>
          </a:xfrm>
          <a:prstGeom prst="rect">
            <a:avLst/>
          </a:prstGeom>
          <a:solidFill>
            <a:srgbClr val="B9D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548640" y="1874519"/>
          <a:ext cx="11091671" cy="3200400"/>
        </p:xfrm>
        <a:graphic>
          <a:graphicData uri="http://schemas.openxmlformats.org/drawingml/2006/table">
            <a:tbl>
              <a:tblPr firstRow="1" bandRow="1">
                <a:tableStyleId>{5C22544A-7EE6-4342-B048-85BDC9FD1C3A}</a:tableStyleId>
              </a:tblPr>
              <a:tblGrid>
                <a:gridCol w="2218334"/>
                <a:gridCol w="4638335"/>
                <a:gridCol w="4235002"/>
              </a:tblGrid>
              <a:tr h="457200">
                <a:tc>
                  <a:txBody>
                    <a:bodyPr wrap="square"/>
                    <a:lstStyle/>
                    <a:p>
                      <a:pPr algn="l">
                        <a:spcAft>
                          <a:spcPts val="0"/>
                        </a:spcAft>
                        <a:buNone/>
                      </a:pPr>
                      <a:r>
                        <a:rPr sz="1300" b="1">
                          <a:solidFill>
                            <a:srgbClr val="FFFFFF"/>
                          </a:solidFill>
                          <a:latin typeface="Arial"/>
                        </a:rPr>
                        <a:t>Failure mode</a:t>
                      </a:r>
                    </a:p>
                  </a:txBody>
                  <a:tcPr>
                    <a:solidFill>
                      <a:srgbClr val="0A2540"/>
                    </a:solidFill>
                  </a:tcPr>
                </a:tc>
                <a:tc>
                  <a:txBody>
                    <a:bodyPr wrap="square"/>
                    <a:lstStyle/>
                    <a:p>
                      <a:pPr algn="l">
                        <a:spcAft>
                          <a:spcPts val="0"/>
                        </a:spcAft>
                        <a:buNone/>
                      </a:pPr>
                      <a:r>
                        <a:rPr sz="1300" b="1">
                          <a:solidFill>
                            <a:srgbClr val="FFFFFF"/>
                          </a:solidFill>
                          <a:latin typeface="Arial"/>
                        </a:rPr>
                        <a:t>What it looks like</a:t>
                      </a:r>
                    </a:p>
                  </a:txBody>
                  <a:tcPr>
                    <a:solidFill>
                      <a:srgbClr val="0A2540"/>
                    </a:solidFill>
                  </a:tcPr>
                </a:tc>
                <a:tc>
                  <a:txBody>
                    <a:bodyPr wrap="square"/>
                    <a:lstStyle/>
                    <a:p>
                      <a:pPr algn="l">
                        <a:spcAft>
                          <a:spcPts val="0"/>
                        </a:spcAft>
                        <a:buNone/>
                      </a:pPr>
                      <a:r>
                        <a:rPr sz="1300" b="1">
                          <a:solidFill>
                            <a:srgbClr val="FFFFFF"/>
                          </a:solidFill>
                          <a:latin typeface="Arial"/>
                        </a:rPr>
                        <a:t>The guard</a:t>
                      </a:r>
                    </a:p>
                  </a:txBody>
                  <a:tcPr>
                    <a:solidFill>
                      <a:srgbClr val="0A2540"/>
                    </a:solidFill>
                  </a:tcPr>
                </a:tc>
              </a:tr>
              <a:tr h="457200">
                <a:tc>
                  <a:txBody>
                    <a:bodyPr wrap="square"/>
                    <a:lstStyle/>
                    <a:p>
                      <a:pPr algn="l">
                        <a:spcAft>
                          <a:spcPts val="0"/>
                        </a:spcAft>
                        <a:buNone/>
                      </a:pPr>
                      <a:r>
                        <a:rPr sz="1250" b="0">
                          <a:solidFill>
                            <a:srgbClr val="202B38"/>
                          </a:solidFill>
                          <a:latin typeface="Arial"/>
                        </a:rPr>
                        <a:t>Context pollution</a:t>
                      </a:r>
                    </a:p>
                  </a:txBody>
                  <a:tcPr>
                    <a:solidFill>
                      <a:srgbClr val="FFFFFF"/>
                    </a:solidFill>
                  </a:tcPr>
                </a:tc>
                <a:tc>
                  <a:txBody>
                    <a:bodyPr wrap="square"/>
                    <a:lstStyle/>
                    <a:p>
                      <a:pPr algn="l">
                        <a:spcAft>
                          <a:spcPts val="0"/>
                        </a:spcAft>
                        <a:buNone/>
                      </a:pPr>
                      <a:r>
                        <a:rPr sz="1250" b="0">
                          <a:solidFill>
                            <a:srgbClr val="202B38"/>
                          </a:solidFill>
                          <a:latin typeface="Arial"/>
                        </a:rPr>
                        <a:t>Sub-agent details and tool dumps flood the lead's window</a:t>
                      </a:r>
                    </a:p>
                  </a:txBody>
                  <a:tcPr>
                    <a:solidFill>
                      <a:srgbClr val="FFFFFF"/>
                    </a:solidFill>
                  </a:tcPr>
                </a:tc>
                <a:tc>
                  <a:txBody>
                    <a:bodyPr wrap="square"/>
                    <a:lstStyle/>
                    <a:p>
                      <a:pPr algn="l">
                        <a:spcAft>
                          <a:spcPts val="0"/>
                        </a:spcAft>
                        <a:buNone/>
                      </a:pPr>
                      <a:r>
                        <a:rPr sz="1250" b="0">
                          <a:solidFill>
                            <a:srgbClr val="202B38"/>
                          </a:solidFill>
                          <a:latin typeface="Arial"/>
                        </a:rPr>
                        <a:t>Isolation: summaries in, details stay out</a:t>
                      </a:r>
                    </a:p>
                  </a:txBody>
                  <a:tcPr>
                    <a:solidFill>
                      <a:srgbClr val="FFFFFF"/>
                    </a:solidFill>
                  </a:tcPr>
                </a:tc>
              </a:tr>
              <a:tr h="457200">
                <a:tc>
                  <a:txBody>
                    <a:bodyPr wrap="square"/>
                    <a:lstStyle/>
                    <a:p>
                      <a:pPr algn="l">
                        <a:spcAft>
                          <a:spcPts val="0"/>
                        </a:spcAft>
                        <a:buNone/>
                      </a:pPr>
                      <a:r>
                        <a:rPr sz="1250" b="0">
                          <a:solidFill>
                            <a:srgbClr val="202B38"/>
                          </a:solidFill>
                          <a:latin typeface="Arial"/>
                        </a:rPr>
                        <a:t>Runaway loops</a:t>
                      </a:r>
                    </a:p>
                  </a:txBody>
                  <a:tcPr>
                    <a:solidFill>
                      <a:srgbClr val="EEF3FD"/>
                    </a:solidFill>
                  </a:tcPr>
                </a:tc>
                <a:tc>
                  <a:txBody>
                    <a:bodyPr wrap="square"/>
                    <a:lstStyle/>
                    <a:p>
                      <a:pPr algn="l">
                        <a:spcAft>
                          <a:spcPts val="0"/>
                        </a:spcAft>
                        <a:buNone/>
                      </a:pPr>
                      <a:r>
                        <a:rPr sz="1250" b="0">
                          <a:solidFill>
                            <a:srgbClr val="202B38"/>
                          </a:solidFill>
                          <a:latin typeface="Arial"/>
                        </a:rPr>
                        <a:t>An agent repeats the same tool call and never says done</a:t>
                      </a:r>
                    </a:p>
                  </a:txBody>
                  <a:tcPr>
                    <a:solidFill>
                      <a:srgbClr val="EEF3FD"/>
                    </a:solidFill>
                  </a:tcPr>
                </a:tc>
                <a:tc>
                  <a:txBody>
                    <a:bodyPr wrap="square"/>
                    <a:lstStyle/>
                    <a:p>
                      <a:pPr algn="l">
                        <a:spcAft>
                          <a:spcPts val="0"/>
                        </a:spcAft>
                        <a:buNone/>
                      </a:pPr>
                      <a:r>
                        <a:rPr sz="1250" b="0">
                          <a:solidFill>
                            <a:srgbClr val="202B38"/>
                          </a:solidFill>
                          <a:latin typeface="Arial"/>
                        </a:rPr>
                        <a:t>max_turns, a token budget, a validator that fails loudly</a:t>
                      </a:r>
                    </a:p>
                  </a:txBody>
                  <a:tcPr>
                    <a:solidFill>
                      <a:srgbClr val="EEF3FD"/>
                    </a:solidFill>
                  </a:tcPr>
                </a:tc>
              </a:tr>
              <a:tr h="457200">
                <a:tc>
                  <a:txBody>
                    <a:bodyPr wrap="square"/>
                    <a:lstStyle/>
                    <a:p>
                      <a:pPr algn="l">
                        <a:spcAft>
                          <a:spcPts val="0"/>
                        </a:spcAft>
                        <a:buNone/>
                      </a:pPr>
                      <a:r>
                        <a:rPr sz="1250" b="0">
                          <a:solidFill>
                            <a:srgbClr val="202B38"/>
                          </a:solidFill>
                          <a:latin typeface="Arial"/>
                        </a:rPr>
                        <a:t>Cost multiplication</a:t>
                      </a:r>
                    </a:p>
                  </a:txBody>
                  <a:tcPr>
                    <a:solidFill>
                      <a:srgbClr val="FFFFFF"/>
                    </a:solidFill>
                  </a:tcPr>
                </a:tc>
                <a:tc>
                  <a:txBody>
                    <a:bodyPr wrap="square"/>
                    <a:lstStyle/>
                    <a:p>
                      <a:pPr algn="l">
                        <a:spcAft>
                          <a:spcPts val="0"/>
                        </a:spcAft>
                        <a:buNone/>
                      </a:pPr>
                      <a:r>
                        <a:rPr sz="1250" b="0">
                          <a:solidFill>
                            <a:srgbClr val="202B38"/>
                          </a:solidFill>
                          <a:latin typeface="Arial"/>
                        </a:rPr>
                        <a:t>Multi-agent ~15x the tokens of a chat; teams multiply again</a:t>
                      </a:r>
                    </a:p>
                  </a:txBody>
                  <a:tcPr>
                    <a:solidFill>
                      <a:srgbClr val="FFFFFF"/>
                    </a:solidFill>
                  </a:tcPr>
                </a:tc>
                <a:tc>
                  <a:txBody>
                    <a:bodyPr wrap="square"/>
                    <a:lstStyle/>
                    <a:p>
                      <a:pPr algn="l">
                        <a:spcAft>
                          <a:spcPts val="0"/>
                        </a:spcAft>
                        <a:buNone/>
                      </a:pPr>
                      <a:r>
                        <a:rPr sz="1250" b="0">
                          <a:solidFill>
                            <a:srgbClr val="202B38"/>
                          </a:solidFill>
                          <a:latin typeface="Arial"/>
                        </a:rPr>
                        <a:t>Trace every run; scale the number of agents to the task</a:t>
                      </a:r>
                    </a:p>
                  </a:txBody>
                  <a:tcPr>
                    <a:solidFill>
                      <a:srgbClr val="FFFFFF"/>
                    </a:solidFill>
                  </a:tcPr>
                </a:tc>
              </a:tr>
              <a:tr h="457200">
                <a:tc>
                  <a:txBody>
                    <a:bodyPr wrap="square"/>
                    <a:lstStyle/>
                    <a:p>
                      <a:pPr algn="l">
                        <a:spcAft>
                          <a:spcPts val="0"/>
                        </a:spcAft>
                        <a:buNone/>
                      </a:pPr>
                      <a:r>
                        <a:rPr sz="1250" b="0">
                          <a:solidFill>
                            <a:srgbClr val="202B38"/>
                          </a:solidFill>
                          <a:latin typeface="Arial"/>
                        </a:rPr>
                        <a:t>Too many handoffs</a:t>
                      </a:r>
                    </a:p>
                  </a:txBody>
                  <a:tcPr>
                    <a:solidFill>
                      <a:srgbClr val="EEF3FD"/>
                    </a:solidFill>
                  </a:tcPr>
                </a:tc>
                <a:tc>
                  <a:txBody>
                    <a:bodyPr wrap="square"/>
                    <a:lstStyle/>
                    <a:p>
                      <a:pPr algn="l">
                        <a:spcAft>
                          <a:spcPts val="0"/>
                        </a:spcAft>
                        <a:buNone/>
                      </a:pPr>
                      <a:r>
                        <a:rPr sz="1250" b="0">
                          <a:solidFill>
                            <a:srgbClr val="202B38"/>
                          </a:solidFill>
                          <a:latin typeface="Arial"/>
                        </a:rPr>
                        <a:t>Problems needing more than four handoffs almost always failed</a:t>
                      </a:r>
                    </a:p>
                  </a:txBody>
                  <a:tcPr>
                    <a:solidFill>
                      <a:srgbClr val="EEF3FD"/>
                    </a:solidFill>
                  </a:tcPr>
                </a:tc>
                <a:tc>
                  <a:txBody>
                    <a:bodyPr wrap="square"/>
                    <a:lstStyle/>
                    <a:p>
                      <a:pPr algn="l">
                        <a:spcAft>
                          <a:spcPts val="0"/>
                        </a:spcAft>
                        <a:buNone/>
                      </a:pPr>
                      <a:r>
                        <a:rPr sz="1250" b="0">
                          <a:solidFill>
                            <a:srgbClr val="202B38"/>
                          </a:solidFill>
                          <a:latin typeface="Arial"/>
                        </a:rPr>
                        <a:t>Fewer, clearer specialists; a router instead of a chain</a:t>
                      </a:r>
                    </a:p>
                  </a:txBody>
                  <a:tcPr>
                    <a:solidFill>
                      <a:srgbClr val="EEF3FD"/>
                    </a:solidFill>
                  </a:tcPr>
                </a:tc>
              </a:tr>
              <a:tr h="457200">
                <a:tc>
                  <a:txBody>
                    <a:bodyPr wrap="square"/>
                    <a:lstStyle/>
                    <a:p>
                      <a:pPr algn="l">
                        <a:spcAft>
                          <a:spcPts val="0"/>
                        </a:spcAft>
                        <a:buNone/>
                      </a:pPr>
                      <a:r>
                        <a:rPr sz="1250" b="0">
                          <a:solidFill>
                            <a:srgbClr val="202B38"/>
                          </a:solidFill>
                          <a:latin typeface="Arial"/>
                        </a:rPr>
                        <a:t>The extra reviewer</a:t>
                      </a:r>
                    </a:p>
                  </a:txBody>
                  <a:tcPr>
                    <a:solidFill>
                      <a:srgbClr val="FFFFFF"/>
                    </a:solidFill>
                  </a:tcPr>
                </a:tc>
                <a:tc>
                  <a:txBody>
                    <a:bodyPr wrap="square"/>
                    <a:lstStyle/>
                    <a:p>
                      <a:pPr algn="l">
                        <a:spcAft>
                          <a:spcPts val="0"/>
                        </a:spcAft>
                        <a:buNone/>
                      </a:pPr>
                      <a:r>
                        <a:rPr sz="1250" b="0">
                          <a:solidFill>
                            <a:srgbClr val="202B38"/>
                          </a:solidFill>
                          <a:latin typeface="Arial"/>
                        </a:rPr>
                        <a:t>Adding a reviewer agent lowered success by 8%</a:t>
                      </a:r>
                    </a:p>
                  </a:txBody>
                  <a:tcPr>
                    <a:solidFill>
                      <a:srgbClr val="FFFFFF"/>
                    </a:solidFill>
                  </a:tcPr>
                </a:tc>
                <a:tc>
                  <a:txBody>
                    <a:bodyPr wrap="square"/>
                    <a:lstStyle/>
                    <a:p>
                      <a:pPr algn="l">
                        <a:spcAft>
                          <a:spcPts val="0"/>
                        </a:spcAft>
                        <a:buNone/>
                      </a:pPr>
                      <a:r>
                        <a:rPr sz="1250" b="0">
                          <a:solidFill>
                            <a:srgbClr val="202B38"/>
                          </a:solidFill>
                          <a:latin typeface="Arial"/>
                        </a:rPr>
                        <a:t>Evals before adding an agent; more agents is not more quality</a:t>
                      </a:r>
                    </a:p>
                  </a:txBody>
                  <a:tcPr>
                    <a:solidFill>
                      <a:srgbClr val="FFFFFF"/>
                    </a:solidFill>
                  </a:tcPr>
                </a:tc>
              </a:tr>
              <a:tr h="457200">
                <a:tc>
                  <a:txBody>
                    <a:bodyPr wrap="square"/>
                    <a:lstStyle/>
                    <a:p>
                      <a:pPr algn="l">
                        <a:spcAft>
                          <a:spcPts val="0"/>
                        </a:spcAft>
                        <a:buNone/>
                      </a:pPr>
                      <a:r>
                        <a:rPr sz="1250" b="0">
                          <a:solidFill>
                            <a:srgbClr val="202B38"/>
                          </a:solidFill>
                          <a:latin typeface="Arial"/>
                        </a:rPr>
                        <a:t>Unbounded delegation</a:t>
                      </a:r>
                    </a:p>
                  </a:txBody>
                  <a:tcPr>
                    <a:solidFill>
                      <a:srgbClr val="EEF3FD"/>
                    </a:solidFill>
                  </a:tcPr>
                </a:tc>
                <a:tc>
                  <a:txBody>
                    <a:bodyPr wrap="square"/>
                    <a:lstStyle/>
                    <a:p>
                      <a:pPr algn="l">
                        <a:spcAft>
                          <a:spcPts val="0"/>
                        </a:spcAft>
                        <a:buNone/>
                      </a:pPr>
                      <a:r>
                        <a:rPr sz="1250" b="0">
                          <a:solidFill>
                            <a:srgbClr val="202B38"/>
                          </a:solidFill>
                          <a:latin typeface="Arial"/>
                        </a:rPr>
                        <a:t>The lead keeps spawning sub-agents until the budget is gone</a:t>
                      </a:r>
                    </a:p>
                  </a:txBody>
                  <a:tcPr>
                    <a:solidFill>
                      <a:srgbClr val="EEF3FD"/>
                    </a:solidFill>
                  </a:tcPr>
                </a:tc>
                <a:tc>
                  <a:txBody>
                    <a:bodyPr wrap="square"/>
                    <a:lstStyle/>
                    <a:p>
                      <a:pPr algn="l">
                        <a:spcAft>
                          <a:spcPts val="0"/>
                        </a:spcAft>
                        <a:buNone/>
                      </a:pPr>
                      <a:r>
                        <a:rPr sz="1250" b="0">
                          <a:solidFill>
                            <a:srgbClr val="202B38"/>
                          </a:solidFill>
                          <a:latin typeface="Arial"/>
                        </a:rPr>
                        <a:t>A before_tool hook caps delegations: at 2, the third is denied; ~4,300 vs ~6,333 tokens (notebook 04)</a:t>
                      </a:r>
                    </a:p>
                  </a:txBody>
                  <a:tcPr>
                    <a:solidFill>
                      <a:srgbClr val="EEF3FD"/>
                    </a:solidFill>
                  </a:tcPr>
                </a:tc>
              </a:tr>
            </a:tbl>
          </a:graphicData>
        </a:graphic>
      </p:graphicFrame>
      <p:sp>
        <p:nvSpPr>
          <p:cNvPr id="8" name="TextBox 7"/>
          <p:cNvSpPr txBox="1"/>
          <p:nvPr/>
        </p:nvSpPr>
        <p:spPr>
          <a:xfrm>
            <a:off x="548640" y="6053328"/>
            <a:ext cx="11091672" cy="502920"/>
          </a:xfrm>
          <a:prstGeom prst="rect">
            <a:avLst/>
          </a:prstGeom>
          <a:noFill/>
        </p:spPr>
        <p:txBody>
          <a:bodyPr wrap="square">
            <a:spAutoFit/>
          </a:bodyPr>
          <a:lstStyle/>
          <a:p>
            <a:pPr algn="l">
              <a:spcAft>
                <a:spcPts val="600"/>
              </a:spcAft>
              <a:buNone/>
            </a:pPr>
            <a:r>
              <a:rPr sz="1200" b="0">
                <a:solidFill>
                  <a:srgbClr val="1E5EF3"/>
                </a:solidFill>
                <a:latin typeface="Arial"/>
              </a:rPr>
              <a:t>Handoffs and reviewer findings: Marmelab, The State of AI Harness Engineering 2026, Sep 2026. 15x tokens: Anthropic, Jun 2025. Delegation cap: notebook 04 reference run on the stand-in, 2 started, 1 denied.</a:t>
            </a:r>
          </a:p>
        </p:txBody>
      </p:sp>
      <p:sp>
        <p:nvSpPr>
          <p:cNvPr id="9" name="TextBox 8"/>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5B6774"/>
                </a:solidFill>
                <a:latin typeface="Arial"/>
              </a:rPr>
              <a:t>M5 Session 4 - Sub-agents, Teams and the Discipline</a:t>
            </a:r>
          </a:p>
        </p:txBody>
      </p:sp>
      <p:sp>
        <p:nvSpPr>
          <p:cNvPr id="10" name="TextBox 9"/>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5B6774"/>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75488"/>
            <a:ext cx="457200" cy="54864"/>
          </a:xfrm>
          <a:prstGeom prst="rect">
            <a:avLst/>
          </a:prstGeom>
          <a:solidFill>
            <a:srgbClr val="1E5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03504"/>
            <a:ext cx="11091672" cy="274320"/>
          </a:xfrm>
          <a:prstGeom prst="rect">
            <a:avLst/>
          </a:prstGeom>
          <a:noFill/>
        </p:spPr>
        <p:txBody>
          <a:bodyPr wrap="square">
            <a:spAutoFit/>
          </a:bodyPr>
          <a:lstStyle/>
          <a:p>
            <a:pPr algn="l">
              <a:spcAft>
                <a:spcPts val="600"/>
              </a:spcAft>
              <a:buNone/>
            </a:pPr>
            <a:r>
              <a:rPr sz="1100" b="1">
                <a:solidFill>
                  <a:srgbClr val="1E5EF3"/>
                </a:solidFill>
                <a:latin typeface="Arial"/>
              </a:rPr>
              <a:t>HARNESS ENGINEERING AS A DISCIPLINE</a:t>
            </a:r>
          </a:p>
        </p:txBody>
      </p:sp>
      <p:sp>
        <p:nvSpPr>
          <p:cNvPr id="5" name="TextBox 4"/>
          <p:cNvSpPr txBox="1"/>
          <p:nvPr/>
        </p:nvSpPr>
        <p:spPr>
          <a:xfrm>
            <a:off x="548640" y="868680"/>
            <a:ext cx="11091672" cy="777240"/>
          </a:xfrm>
          <a:prstGeom prst="rect">
            <a:avLst/>
          </a:prstGeom>
          <a:noFill/>
        </p:spPr>
        <p:txBody>
          <a:bodyPr wrap="square">
            <a:spAutoFit/>
          </a:bodyPr>
          <a:lstStyle/>
          <a:p>
            <a:pPr algn="l">
              <a:spcAft>
                <a:spcPts val="0"/>
              </a:spcAft>
              <a:buNone/>
            </a:pPr>
            <a:r>
              <a:rPr sz="2600" b="1">
                <a:solidFill>
                  <a:srgbClr val="0A2540"/>
                </a:solidFill>
                <a:latin typeface="Arial"/>
              </a:rPr>
              <a:t>The discipline: six things every harness needs, few have them</a:t>
            </a:r>
          </a:p>
        </p:txBody>
      </p:sp>
      <p:sp>
        <p:nvSpPr>
          <p:cNvPr id="6" name="Rectangle 5"/>
          <p:cNvSpPr/>
          <p:nvPr/>
        </p:nvSpPr>
        <p:spPr>
          <a:xfrm>
            <a:off x="548640" y="1664208"/>
            <a:ext cx="11091672" cy="12801"/>
          </a:xfrm>
          <a:prstGeom prst="rect">
            <a:avLst/>
          </a:prstGeom>
          <a:solidFill>
            <a:srgbClr val="B9D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874519"/>
            <a:ext cx="5394960" cy="3977639"/>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039111"/>
            <a:ext cx="4937760" cy="365760"/>
          </a:xfrm>
          <a:prstGeom prst="rect">
            <a:avLst/>
          </a:prstGeom>
          <a:noFill/>
        </p:spPr>
        <p:txBody>
          <a:bodyPr wrap="square">
            <a:spAutoFit/>
          </a:bodyPr>
          <a:lstStyle/>
          <a:p>
            <a:pPr algn="l">
              <a:spcAft>
                <a:spcPts val="600"/>
              </a:spcAft>
              <a:buNone/>
            </a:pPr>
            <a:r>
              <a:rPr sz="1500" b="1">
                <a:solidFill>
                  <a:srgbClr val="0A2540"/>
                </a:solidFill>
                <a:latin typeface="Arial"/>
              </a:rPr>
              <a:t>The checklist</a:t>
            </a:r>
          </a:p>
        </p:txBody>
      </p:sp>
      <p:sp>
        <p:nvSpPr>
          <p:cNvPr id="9" name="TextBox 8"/>
          <p:cNvSpPr txBox="1"/>
          <p:nvPr/>
        </p:nvSpPr>
        <p:spPr>
          <a:xfrm>
            <a:off x="777240" y="2441447"/>
            <a:ext cx="4937760" cy="3246119"/>
          </a:xfrm>
          <a:prstGeom prst="rect">
            <a:avLst/>
          </a:prstGeom>
          <a:noFill/>
        </p:spPr>
        <p:txBody>
          <a:bodyPr wrap="square">
            <a:spAutoFit/>
          </a:bodyPr>
          <a:lstStyle/>
          <a:p>
            <a:pPr algn="l" indent="-228600" marL="228600">
              <a:spcAft>
                <a:spcPts val="600"/>
              </a:spcAft>
              <a:buClr>
                <a:srgbClr val="1E5EF3"/>
              </a:buClr>
              <a:buChar char="—"/>
            </a:pPr>
            <a:r>
              <a:rPr sz="1300" b="0">
                <a:solidFill>
                  <a:srgbClr val="202B38"/>
                </a:solidFill>
                <a:latin typeface="Arial"/>
              </a:rPr>
              <a:t>Instruction files in the repo (CLAUDE.md, AGENTS.md): what the agent must know</a:t>
            </a:r>
          </a:p>
          <a:p>
            <a:pPr algn="l" indent="-228600" marL="228600">
              <a:spcAft>
                <a:spcPts val="600"/>
              </a:spcAft>
              <a:buClr>
                <a:srgbClr val="1E5EF3"/>
              </a:buClr>
              <a:buChar char="—"/>
            </a:pPr>
            <a:r>
              <a:rPr sz="1300" b="0">
                <a:solidFill>
                  <a:srgbClr val="202B38"/>
                </a:solidFill>
                <a:latin typeface="Arial"/>
              </a:rPr>
              <a:t>Executable guards: linters, structural tests, hooks - rules the agent cannot skip</a:t>
            </a:r>
          </a:p>
          <a:p>
            <a:pPr algn="l" indent="-228600" marL="228600">
              <a:spcAft>
                <a:spcPts val="600"/>
              </a:spcAft>
              <a:buClr>
                <a:srgbClr val="1E5EF3"/>
              </a:buClr>
              <a:buChar char="—"/>
            </a:pPr>
            <a:r>
              <a:rPr sz="1300" b="0">
                <a:solidFill>
                  <a:srgbClr val="202B38"/>
                </a:solidFill>
                <a:latin typeface="Arial"/>
              </a:rPr>
              <a:t>Permission design: a risk level per tool; deny danger by default</a:t>
            </a:r>
          </a:p>
          <a:p>
            <a:pPr algn="l" indent="-228600" marL="228600">
              <a:spcAft>
                <a:spcPts val="600"/>
              </a:spcAft>
              <a:buClr>
                <a:srgbClr val="1E5EF3"/>
              </a:buClr>
              <a:buChar char="—"/>
            </a:pPr>
            <a:r>
              <a:rPr sz="1300" b="0">
                <a:solidFill>
                  <a:srgbClr val="202B38"/>
                </a:solidFill>
                <a:latin typeface="Arial"/>
              </a:rPr>
              <a:t>Evals in CI: a suite with a pass rate, re-run on every change</a:t>
            </a:r>
          </a:p>
          <a:p>
            <a:pPr algn="l" indent="-228600" marL="228600">
              <a:spcAft>
                <a:spcPts val="600"/>
              </a:spcAft>
              <a:buClr>
                <a:srgbClr val="1E5EF3"/>
              </a:buClr>
              <a:buChar char="—"/>
            </a:pPr>
            <a:r>
              <a:rPr sz="1300" b="0">
                <a:solidFill>
                  <a:srgbClr val="202B38"/>
                </a:solidFill>
                <a:latin typeface="Arial"/>
              </a:rPr>
              <a:t>Observability: a trace of every call, token and second</a:t>
            </a:r>
          </a:p>
          <a:p>
            <a:pPr algn="l" indent="-228600" marL="228600">
              <a:spcAft>
                <a:spcPts val="600"/>
              </a:spcAft>
              <a:buClr>
                <a:srgbClr val="1E5EF3"/>
              </a:buClr>
              <a:buChar char="—"/>
            </a:pPr>
            <a:r>
              <a:rPr sz="1300" b="0">
                <a:solidFill>
                  <a:srgbClr val="202B38"/>
                </a:solidFill>
                <a:latin typeface="Arial"/>
              </a:rPr>
              <a:t>Cost budgets: max turns, token caps, alarms</a:t>
            </a:r>
          </a:p>
        </p:txBody>
      </p:sp>
      <p:sp>
        <p:nvSpPr>
          <p:cNvPr id="10" name="Rectangle 9"/>
          <p:cNvSpPr/>
          <p:nvPr/>
        </p:nvSpPr>
        <p:spPr>
          <a:xfrm>
            <a:off x="6245352" y="1874519"/>
            <a:ext cx="5394960" cy="3977639"/>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73952" y="2039111"/>
            <a:ext cx="4937760" cy="365760"/>
          </a:xfrm>
          <a:prstGeom prst="rect">
            <a:avLst/>
          </a:prstGeom>
          <a:noFill/>
        </p:spPr>
        <p:txBody>
          <a:bodyPr wrap="square">
            <a:spAutoFit/>
          </a:bodyPr>
          <a:lstStyle/>
          <a:p>
            <a:pPr algn="l">
              <a:spcAft>
                <a:spcPts val="600"/>
              </a:spcAft>
              <a:buNone/>
            </a:pPr>
            <a:r>
              <a:rPr sz="1500" b="1">
                <a:solidFill>
                  <a:srgbClr val="0A2540"/>
                </a:solidFill>
                <a:latin typeface="Arial"/>
              </a:rPr>
              <a:t>The field in 2026</a:t>
            </a:r>
          </a:p>
        </p:txBody>
      </p:sp>
      <p:sp>
        <p:nvSpPr>
          <p:cNvPr id="12" name="TextBox 11"/>
          <p:cNvSpPr txBox="1"/>
          <p:nvPr/>
        </p:nvSpPr>
        <p:spPr>
          <a:xfrm>
            <a:off x="6473952" y="2441447"/>
            <a:ext cx="4937760" cy="3246119"/>
          </a:xfrm>
          <a:prstGeom prst="rect">
            <a:avLst/>
          </a:prstGeom>
          <a:noFill/>
        </p:spPr>
        <p:txBody>
          <a:bodyPr wrap="square">
            <a:spAutoFit/>
          </a:bodyPr>
          <a:lstStyle/>
          <a:p>
            <a:pPr algn="l" indent="-228600" marL="228600">
              <a:spcAft>
                <a:spcPts val="600"/>
              </a:spcAft>
              <a:buClr>
                <a:srgbClr val="1E5EF3"/>
              </a:buClr>
              <a:buChar char="—"/>
            </a:pPr>
            <a:r>
              <a:rPr sz="1300" b="0">
                <a:solidFill>
                  <a:srgbClr val="202B38"/>
                </a:solidFill>
                <a:latin typeface="Arial"/>
              </a:rPr>
              <a:t>63% of large projects ship instruction files; only a handful enforce them</a:t>
            </a:r>
          </a:p>
          <a:p>
            <a:pPr algn="l" indent="-228600" marL="228600">
              <a:spcAft>
                <a:spcPts val="600"/>
              </a:spcAft>
              <a:buClr>
                <a:srgbClr val="1E5EF3"/>
              </a:buClr>
              <a:buChar char="—"/>
            </a:pPr>
            <a:r>
              <a:rPr sz="1300" b="0">
                <a:solidFill>
                  <a:srgbClr val="202B38"/>
                </a:solidFill>
                <a:latin typeface="Arial"/>
              </a:rPr>
              <a:t>4.4% of security rules are backed by a real control</a:t>
            </a:r>
          </a:p>
          <a:p>
            <a:pPr algn="l" indent="-228600" marL="228600">
              <a:spcAft>
                <a:spcPts val="600"/>
              </a:spcAft>
              <a:buClr>
                <a:srgbClr val="1E5EF3"/>
              </a:buClr>
              <a:buChar char="—"/>
            </a:pPr>
            <a:r>
              <a:rPr sz="1300" b="0">
                <a:solidFill>
                  <a:srgbClr val="202B38"/>
                </a:solidFill>
                <a:latin typeface="Arial"/>
              </a:rPr>
              <a:t>60% of harnesses have no tests or evals</a:t>
            </a:r>
          </a:p>
          <a:p>
            <a:pPr algn="l" indent="-228600" marL="228600">
              <a:spcAft>
                <a:spcPts val="600"/>
              </a:spcAft>
              <a:buClr>
                <a:srgbClr val="1E5EF3"/>
              </a:buClr>
              <a:buChar char="—"/>
            </a:pPr>
            <a:r>
              <a:rPr sz="1300" b="0">
                <a:solidFill>
                  <a:srgbClr val="202B38"/>
                </a:solidFill>
                <a:latin typeface="Arial"/>
              </a:rPr>
              <a:t>93% of permission prompts get approved</a:t>
            </a:r>
          </a:p>
          <a:p>
            <a:pPr algn="l" indent="-228600" marL="228600">
              <a:spcAft>
                <a:spcPts val="600"/>
              </a:spcAft>
              <a:buClr>
                <a:srgbClr val="1E5EF3"/>
              </a:buClr>
              <a:buChar char="—"/>
            </a:pPr>
            <a:r>
              <a:rPr sz="1300" b="0">
                <a:solidFill>
                  <a:srgbClr val="202B38"/>
                </a:solidFill>
                <a:latin typeface="Arial"/>
              </a:rPr>
              <a:t>Eleven harnesses studied: 'hand-rolled async loops and deterministic retrieval'</a:t>
            </a:r>
          </a:p>
          <a:p>
            <a:pPr algn="l" indent="-228600" marL="228600">
              <a:spcAft>
                <a:spcPts val="600"/>
              </a:spcAft>
              <a:buClr>
                <a:srgbClr val="1E5EF3"/>
              </a:buClr>
              <a:buChar char="—"/>
            </a:pPr>
            <a:r>
              <a:rPr sz="1300" b="0">
                <a:solidFill>
                  <a:srgbClr val="202B38"/>
                </a:solidFill>
                <a:latin typeface="Arial"/>
              </a:rPr>
              <a:t>In plain words: most harnesses are cars with the brakes drawn on paper</a:t>
            </a:r>
          </a:p>
        </p:txBody>
      </p:sp>
      <p:sp>
        <p:nvSpPr>
          <p:cNvPr id="13" name="TextBox 12"/>
          <p:cNvSpPr txBox="1"/>
          <p:nvPr/>
        </p:nvSpPr>
        <p:spPr>
          <a:xfrm>
            <a:off x="548640" y="6053328"/>
            <a:ext cx="11091672" cy="502920"/>
          </a:xfrm>
          <a:prstGeom prst="rect">
            <a:avLst/>
          </a:prstGeom>
          <a:noFill/>
        </p:spPr>
        <p:txBody>
          <a:bodyPr wrap="square">
            <a:spAutoFit/>
          </a:bodyPr>
          <a:lstStyle/>
          <a:p>
            <a:pPr algn="l">
              <a:spcAft>
                <a:spcPts val="600"/>
              </a:spcAft>
              <a:buNone/>
            </a:pPr>
            <a:r>
              <a:rPr sz="1200" b="0">
                <a:solidFill>
                  <a:srgbClr val="1E5EF3"/>
                </a:solidFill>
                <a:latin typeface="Arial"/>
              </a:rPr>
              <a:t>Marmelab, The State of AI Harness Engineering 2026, Sep 2026; Barbaste, Darrigol, Vu and Wiltberger, Harness Engineering: Anatomy, Architecture, and Evolution of Coding Agents, arXiv 2609.00006, Jul 2026.</a:t>
            </a:r>
          </a:p>
        </p:txBody>
      </p:sp>
      <p:sp>
        <p:nvSpPr>
          <p:cNvPr id="14" name="TextBox 13"/>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5B6774"/>
                </a:solidFill>
                <a:latin typeface="Arial"/>
              </a:rPr>
              <a:t>M5 Session 4 - Sub-agents, Teams and the Discipline</a:t>
            </a:r>
          </a:p>
        </p:txBody>
      </p:sp>
      <p:sp>
        <p:nvSpPr>
          <p:cNvPr id="15" name="TextBox 14"/>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5B6774"/>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1554480"/>
            <a:ext cx="73152" cy="2743200"/>
          </a:xfrm>
          <a:prstGeom prst="rect">
            <a:avLst/>
          </a:prstGeom>
          <a:solidFill>
            <a:srgbClr val="1E5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645920"/>
            <a:ext cx="9418320" cy="2560320"/>
          </a:xfrm>
          <a:prstGeom prst="rect">
            <a:avLst/>
          </a:prstGeom>
          <a:noFill/>
        </p:spPr>
        <p:txBody>
          <a:bodyPr wrap="square">
            <a:spAutoFit/>
          </a:bodyPr>
          <a:lstStyle/>
          <a:p>
            <a:pPr algn="l">
              <a:spcAft>
                <a:spcPts val="600"/>
              </a:spcAft>
              <a:buNone/>
            </a:pPr>
            <a:r>
              <a:rPr sz="2600" b="0">
                <a:solidFill>
                  <a:srgbClr val="0A2540"/>
                </a:solidFill>
                <a:latin typeface="Arial"/>
              </a:rPr>
              <a:t>The field runs on hand-rolled async loops and deterministic retrieval.</a:t>
            </a:r>
          </a:p>
        </p:txBody>
      </p:sp>
      <p:sp>
        <p:nvSpPr>
          <p:cNvPr id="5" name="TextBox 4"/>
          <p:cNvSpPr txBox="1"/>
          <p:nvPr/>
        </p:nvSpPr>
        <p:spPr>
          <a:xfrm>
            <a:off x="1371600" y="4572000"/>
            <a:ext cx="9418320" cy="548640"/>
          </a:xfrm>
          <a:prstGeom prst="rect">
            <a:avLst/>
          </a:prstGeom>
          <a:noFill/>
        </p:spPr>
        <p:txBody>
          <a:bodyPr wrap="square">
            <a:spAutoFit/>
          </a:bodyPr>
          <a:lstStyle/>
          <a:p>
            <a:pPr algn="l">
              <a:spcAft>
                <a:spcPts val="600"/>
              </a:spcAft>
              <a:buNone/>
            </a:pPr>
            <a:r>
              <a:rPr sz="1400" b="0">
                <a:solidFill>
                  <a:srgbClr val="5B6774"/>
                </a:solidFill>
                <a:latin typeface="Arial"/>
              </a:rPr>
              <a:t>Barbaste, Darrigol, Vu and Wiltberger - Harness Engineering: Anatomy, Architecture, and Evolution of Coding Agents (arXiv 2609.00006, Jul 2026), a source-code study of eleven coding-agent harnesses.</a:t>
            </a:r>
          </a:p>
        </p:txBody>
      </p:sp>
      <p:sp>
        <p:nvSpPr>
          <p:cNvPr id="6" name="TextBox 5"/>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5B6774"/>
                </a:solidFill>
                <a:latin typeface="Arial"/>
              </a:rPr>
              <a:t>M5 Session 4 - Sub-agents, Teams and the Discipline</a:t>
            </a:r>
          </a:p>
        </p:txBody>
      </p:sp>
      <p:sp>
        <p:nvSpPr>
          <p:cNvPr id="7" name="TextBox 6"/>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5B6774"/>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75488"/>
            <a:ext cx="457200" cy="54864"/>
          </a:xfrm>
          <a:prstGeom prst="rect">
            <a:avLst/>
          </a:prstGeom>
          <a:solidFill>
            <a:srgbClr val="1E5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03504"/>
            <a:ext cx="11091672" cy="274320"/>
          </a:xfrm>
          <a:prstGeom prst="rect">
            <a:avLst/>
          </a:prstGeom>
          <a:noFill/>
        </p:spPr>
        <p:txBody>
          <a:bodyPr wrap="square">
            <a:spAutoFit/>
          </a:bodyPr>
          <a:lstStyle/>
          <a:p>
            <a:pPr algn="l">
              <a:spcAft>
                <a:spcPts val="600"/>
              </a:spcAft>
              <a:buNone/>
            </a:pPr>
            <a:r>
              <a:rPr sz="1100" b="1">
                <a:solidFill>
                  <a:srgbClr val="1E5EF3"/>
                </a:solidFill>
                <a:latin typeface="Arial"/>
              </a:rPr>
              <a:t>THE FUTURE</a:t>
            </a:r>
          </a:p>
        </p:txBody>
      </p:sp>
      <p:sp>
        <p:nvSpPr>
          <p:cNvPr id="5" name="TextBox 4"/>
          <p:cNvSpPr txBox="1"/>
          <p:nvPr/>
        </p:nvSpPr>
        <p:spPr>
          <a:xfrm>
            <a:off x="548640" y="868680"/>
            <a:ext cx="11091672" cy="777240"/>
          </a:xfrm>
          <a:prstGeom prst="rect">
            <a:avLst/>
          </a:prstGeom>
          <a:noFill/>
        </p:spPr>
        <p:txBody>
          <a:bodyPr wrap="square">
            <a:spAutoFit/>
          </a:bodyPr>
          <a:lstStyle/>
          <a:p>
            <a:pPr algn="l">
              <a:spcAft>
                <a:spcPts val="0"/>
              </a:spcAft>
              <a:buNone/>
            </a:pPr>
            <a:r>
              <a:rPr sz="2600" b="1">
                <a:solidFill>
                  <a:srgbClr val="0A2540"/>
                </a:solidFill>
                <a:latin typeface="Arial"/>
              </a:rPr>
              <a:t>Where this is going: agent-first repositories and shared standards</a:t>
            </a:r>
          </a:p>
        </p:txBody>
      </p:sp>
      <p:sp>
        <p:nvSpPr>
          <p:cNvPr id="6" name="Rectangle 5"/>
          <p:cNvSpPr/>
          <p:nvPr/>
        </p:nvSpPr>
        <p:spPr>
          <a:xfrm>
            <a:off x="548640" y="1664208"/>
            <a:ext cx="11091672" cy="12801"/>
          </a:xfrm>
          <a:prstGeom prst="rect">
            <a:avLst/>
          </a:prstGeom>
          <a:solidFill>
            <a:srgbClr val="B9D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874519"/>
            <a:ext cx="4297680" cy="4206240"/>
          </a:xfrm>
          <a:prstGeom prst="rect">
            <a:avLst/>
          </a:prstGeom>
          <a:noFill/>
        </p:spPr>
        <p:txBody>
          <a:bodyPr wrap="square">
            <a:spAutoFit/>
          </a:bodyPr>
          <a:lstStyle/>
          <a:p>
            <a:pPr algn="l" indent="-228600" marL="228600">
              <a:spcAft>
                <a:spcPts val="800"/>
              </a:spcAft>
              <a:buClr>
                <a:srgbClr val="1E5EF3"/>
              </a:buClr>
              <a:buChar char="—"/>
            </a:pPr>
            <a:r>
              <a:rPr sz="1450" b="0">
                <a:solidFill>
                  <a:srgbClr val="202B38"/>
                </a:solidFill>
                <a:latin typeface="Arial"/>
              </a:rPr>
              <a:t>Agent-first repositories: about one million lines in five months, zero by hand</a:t>
            </a:r>
          </a:p>
          <a:p>
            <a:pPr algn="l" indent="-228600" marL="228600">
              <a:spcAft>
                <a:spcPts val="800"/>
              </a:spcAft>
              <a:buClr>
                <a:srgbClr val="1E5EF3"/>
              </a:buClr>
              <a:buChar char="—"/>
            </a:pPr>
            <a:r>
              <a:rPr sz="1450" b="0">
                <a:solidFill>
                  <a:srgbClr val="202B38"/>
                </a:solidFill>
                <a:latin typeface="Arial"/>
              </a:rPr>
              <a:t>The repo becomes the system of record: docs, decisions and plans written for agents</a:t>
            </a:r>
          </a:p>
          <a:p>
            <a:pPr algn="l" indent="-228600" marL="228600">
              <a:spcAft>
                <a:spcPts val="800"/>
              </a:spcAft>
              <a:buClr>
                <a:srgbClr val="1E5EF3"/>
              </a:buClr>
              <a:buChar char="—"/>
            </a:pPr>
            <a:r>
              <a:rPr sz="1450" b="0">
                <a:solidFill>
                  <a:srgbClr val="202B38"/>
                </a:solidFill>
                <a:latin typeface="Arial"/>
              </a:rPr>
              <a:t>Skills are an open standard since Dec 2025; 40+ platforms load the same SKILL.md</a:t>
            </a:r>
          </a:p>
          <a:p>
            <a:pPr algn="l" indent="-228600" marL="228600">
              <a:spcAft>
                <a:spcPts val="800"/>
              </a:spcAft>
              <a:buClr>
                <a:srgbClr val="1E5EF3"/>
              </a:buClr>
              <a:buChar char="—"/>
            </a:pPr>
            <a:r>
              <a:rPr sz="1450" b="0">
                <a:solidFill>
                  <a:srgbClr val="202B38"/>
                </a:solidFill>
                <a:latin typeface="Arial"/>
              </a:rPr>
              <a:t>21,500 harness repositories created in 2026, median age 8.7 months: a young field</a:t>
            </a:r>
          </a:p>
          <a:p>
            <a:pPr algn="l" indent="-228600" marL="228600">
              <a:spcAft>
                <a:spcPts val="800"/>
              </a:spcAft>
              <a:buClr>
                <a:srgbClr val="1E5EF3"/>
              </a:buClr>
              <a:buChar char="—"/>
            </a:pPr>
            <a:r>
              <a:rPr sz="1450" b="0">
                <a:solidFill>
                  <a:srgbClr val="202B38"/>
                </a:solidFill>
                <a:latin typeface="Arial"/>
              </a:rPr>
              <a:t>The job moves from writing prompts to engineering the runtime around the model</a:t>
            </a:r>
          </a:p>
          <a:p>
            <a:pPr algn="l" indent="-228600" marL="228600">
              <a:spcAft>
                <a:spcPts val="800"/>
              </a:spcAft>
              <a:buClr>
                <a:srgbClr val="1E5EF3"/>
              </a:buClr>
              <a:buChar char="—"/>
            </a:pPr>
            <a:r>
              <a:rPr sz="1450" b="0">
                <a:solidFill>
                  <a:srgbClr val="202B38"/>
                </a:solidFill>
                <a:latin typeface="Arial"/>
              </a:rPr>
              <a:t>In plain words: the engine is bought; the car is what you build</a:t>
            </a:r>
          </a:p>
        </p:txBody>
      </p:sp>
      <p:pic>
        <p:nvPicPr>
          <p:cNvPr id="8" name="Picture 7" descr="s4_signposts.png"/>
          <p:cNvPicPr>
            <a:picLocks noChangeAspect="1"/>
          </p:cNvPicPr>
          <p:nvPr/>
        </p:nvPicPr>
        <p:blipFill>
          <a:blip r:embed="rId2"/>
          <a:stretch>
            <a:fillRect/>
          </a:stretch>
        </p:blipFill>
        <p:spPr>
          <a:xfrm>
            <a:off x="5149927" y="1874519"/>
            <a:ext cx="6433666" cy="4114800"/>
          </a:xfrm>
          <a:prstGeom prst="rect">
            <a:avLst/>
          </a:prstGeom>
        </p:spPr>
      </p:pic>
      <p:sp>
        <p:nvSpPr>
          <p:cNvPr id="9" name="TextBox 8"/>
          <p:cNvSpPr txBox="1"/>
          <p:nvPr/>
        </p:nvSpPr>
        <p:spPr>
          <a:xfrm>
            <a:off x="5120640" y="6062471"/>
            <a:ext cx="6492240" cy="365760"/>
          </a:xfrm>
          <a:prstGeom prst="rect">
            <a:avLst/>
          </a:prstGeom>
          <a:noFill/>
        </p:spPr>
        <p:txBody>
          <a:bodyPr wrap="square">
            <a:spAutoFit/>
          </a:bodyPr>
          <a:lstStyle/>
          <a:p>
            <a:pPr algn="ctr">
              <a:spcAft>
                <a:spcPts val="600"/>
              </a:spcAft>
              <a:buNone/>
            </a:pPr>
            <a:r>
              <a:rPr sz="1100" b="0">
                <a:solidFill>
                  <a:srgbClr val="5B6774"/>
                </a:solidFill>
                <a:latin typeface="Arial"/>
              </a:rPr>
              <a:t>Illustration. OpenAI, Harness engineering, Feb 2026; Anthropic, Agent Skills open standard, Dec 2025; Marmelab, Sep 2026; Barbaste et al., Jul 2026.</a:t>
            </a:r>
          </a:p>
        </p:txBody>
      </p:sp>
      <p:sp>
        <p:nvSpPr>
          <p:cNvPr id="10" name="TextBox 9"/>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5B6774"/>
                </a:solidFill>
                <a:latin typeface="Arial"/>
              </a:rPr>
              <a:t>M5 Session 4 - Sub-agents, Teams and the Discipline</a:t>
            </a:r>
          </a:p>
        </p:txBody>
      </p:sp>
      <p:sp>
        <p:nvSpPr>
          <p:cNvPr id="11" name="TextBox 10"/>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5B6774"/>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463040"/>
            <a:ext cx="3657600" cy="2011680"/>
          </a:xfrm>
          <a:prstGeom prst="rect">
            <a:avLst/>
          </a:prstGeom>
          <a:noFill/>
        </p:spPr>
        <p:txBody>
          <a:bodyPr wrap="square">
            <a:spAutoFit/>
          </a:bodyPr>
          <a:lstStyle/>
          <a:p>
            <a:pPr algn="l">
              <a:spcAft>
                <a:spcPts val="600"/>
              </a:spcAft>
              <a:buNone/>
            </a:pPr>
            <a:r>
              <a:rPr sz="11000" b="1">
                <a:solidFill>
                  <a:srgbClr val="1E5EF3"/>
                </a:solidFill>
                <a:latin typeface="Arial"/>
              </a:rPr>
              <a:t>02</a:t>
            </a:r>
          </a:p>
        </p:txBody>
      </p:sp>
      <p:sp>
        <p:nvSpPr>
          <p:cNvPr id="4" name="TextBox 3"/>
          <p:cNvSpPr txBox="1"/>
          <p:nvPr/>
        </p:nvSpPr>
        <p:spPr>
          <a:xfrm>
            <a:off x="868680" y="3566160"/>
            <a:ext cx="10424160" cy="1280160"/>
          </a:xfrm>
          <a:prstGeom prst="rect">
            <a:avLst/>
          </a:prstGeom>
          <a:noFill/>
        </p:spPr>
        <p:txBody>
          <a:bodyPr wrap="square">
            <a:spAutoFit/>
          </a:bodyPr>
          <a:lstStyle/>
          <a:p>
            <a:pPr algn="l">
              <a:spcAft>
                <a:spcPts val="600"/>
              </a:spcAft>
              <a:buNone/>
            </a:pPr>
            <a:r>
              <a:rPr sz="3400" b="1">
                <a:solidFill>
                  <a:srgbClr val="FFFFFF"/>
                </a:solidFill>
                <a:latin typeface="Arial"/>
              </a:rPr>
              <a:t>Part 2 - The practice: notebook 04</a:t>
            </a:r>
          </a:p>
        </p:txBody>
      </p:sp>
      <p:sp>
        <p:nvSpPr>
          <p:cNvPr id="5" name="TextBox 4"/>
          <p:cNvSpPr txBox="1"/>
          <p:nvPr/>
        </p:nvSpPr>
        <p:spPr>
          <a:xfrm>
            <a:off x="868680" y="4709160"/>
            <a:ext cx="10058400" cy="914400"/>
          </a:xfrm>
          <a:prstGeom prst="rect">
            <a:avLst/>
          </a:prstGeom>
          <a:noFill/>
        </p:spPr>
        <p:txBody>
          <a:bodyPr wrap="square">
            <a:spAutoFit/>
          </a:bodyPr>
          <a:lstStyle/>
          <a:p>
            <a:pPr algn="l">
              <a:spcAft>
                <a:spcPts val="600"/>
              </a:spcAft>
              <a:buNone/>
            </a:pPr>
            <a:r>
              <a:rPr sz="1600" b="0">
                <a:solidFill>
                  <a:srgbClr val="B9D0FA"/>
                </a:solidFill>
                <a:latin typeface="Arial"/>
              </a:rPr>
              <a:t>A lead with sub-agents against a solo agent, a team of three on a six-task board, a handoff, a runaway loop - and the eight pieces you built.</a:t>
            </a:r>
          </a:p>
        </p:txBody>
      </p:sp>
      <p:sp>
        <p:nvSpPr>
          <p:cNvPr id="6" name="TextBox 5"/>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B9D0FA"/>
                </a:solidFill>
                <a:latin typeface="Arial"/>
              </a:rPr>
              <a:t>M5 Session 4 - Sub-agents, Teams and the Discipline</a:t>
            </a:r>
          </a:p>
        </p:txBody>
      </p:sp>
      <p:sp>
        <p:nvSpPr>
          <p:cNvPr id="7" name="TextBox 6"/>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B9D0FA"/>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75488"/>
            <a:ext cx="457200" cy="54864"/>
          </a:xfrm>
          <a:prstGeom prst="rect">
            <a:avLst/>
          </a:prstGeom>
          <a:solidFill>
            <a:srgbClr val="1E5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03504"/>
            <a:ext cx="11091672" cy="274320"/>
          </a:xfrm>
          <a:prstGeom prst="rect">
            <a:avLst/>
          </a:prstGeom>
          <a:noFill/>
        </p:spPr>
        <p:txBody>
          <a:bodyPr wrap="square">
            <a:spAutoFit/>
          </a:bodyPr>
          <a:lstStyle/>
          <a:p>
            <a:pPr algn="l">
              <a:spcAft>
                <a:spcPts val="600"/>
              </a:spcAft>
              <a:buNone/>
            </a:pPr>
            <a:r>
              <a:rPr sz="1100" b="1">
                <a:solidFill>
                  <a:srgbClr val="1E5EF3"/>
                </a:solidFill>
                <a:latin typeface="Arial"/>
              </a:rPr>
              <a:t>NOTEBOOK 04 - SUB-AGENTS</a:t>
            </a:r>
          </a:p>
        </p:txBody>
      </p:sp>
      <p:sp>
        <p:nvSpPr>
          <p:cNvPr id="5" name="TextBox 4"/>
          <p:cNvSpPr txBox="1"/>
          <p:nvPr/>
        </p:nvSpPr>
        <p:spPr>
          <a:xfrm>
            <a:off x="548640" y="868680"/>
            <a:ext cx="11091672" cy="777240"/>
          </a:xfrm>
          <a:prstGeom prst="rect">
            <a:avLst/>
          </a:prstGeom>
          <a:noFill/>
        </p:spPr>
        <p:txBody>
          <a:bodyPr wrap="square">
            <a:spAutoFit/>
          </a:bodyPr>
          <a:lstStyle/>
          <a:p>
            <a:pPr algn="l">
              <a:spcAft>
                <a:spcPts val="0"/>
              </a:spcAft>
              <a:buNone/>
            </a:pPr>
            <a:r>
              <a:rPr sz="2600" b="1">
                <a:solidFill>
                  <a:srgbClr val="0A2540"/>
                </a:solidFill>
                <a:latin typeface="Arial"/>
              </a:rPr>
              <a:t>Lead window ~485 tokens; its sub-agents spend ~5,800 elsewhere</a:t>
            </a:r>
          </a:p>
        </p:txBody>
      </p:sp>
      <p:sp>
        <p:nvSpPr>
          <p:cNvPr id="6" name="Rectangle 5"/>
          <p:cNvSpPr/>
          <p:nvPr/>
        </p:nvSpPr>
        <p:spPr>
          <a:xfrm>
            <a:off x="548640" y="1664208"/>
            <a:ext cx="11091672" cy="12801"/>
          </a:xfrm>
          <a:prstGeom prst="rect">
            <a:avLst/>
          </a:prstGeom>
          <a:solidFill>
            <a:srgbClr val="B9D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874519"/>
            <a:ext cx="4297680" cy="4206240"/>
          </a:xfrm>
          <a:prstGeom prst="rect">
            <a:avLst/>
          </a:prstGeom>
          <a:noFill/>
        </p:spPr>
        <p:txBody>
          <a:bodyPr wrap="square">
            <a:spAutoFit/>
          </a:bodyPr>
          <a:lstStyle/>
          <a:p>
            <a:pPr algn="l" indent="-228600" marL="228600">
              <a:spcAft>
                <a:spcPts val="800"/>
              </a:spcAft>
              <a:buClr>
                <a:srgbClr val="1E5EF3"/>
              </a:buClr>
              <a:buChar char="—"/>
            </a:pPr>
            <a:r>
              <a:rPr sz="1450" b="0">
                <a:solidFill>
                  <a:srgbClr val="202B38"/>
                </a:solidFill>
                <a:latin typeface="Arial"/>
              </a:rPr>
              <a:t>How to read it: navy bars = what one agent's window holds at the end; sky bar = work done elsewhere</a:t>
            </a:r>
          </a:p>
          <a:p>
            <a:pPr algn="l" indent="-228600" marL="228600">
              <a:spcAft>
                <a:spcPts val="800"/>
              </a:spcAft>
              <a:buClr>
                <a:srgbClr val="1E5EF3"/>
              </a:buClr>
              <a:buChar char="—"/>
            </a:pPr>
            <a:r>
              <a:rPr sz="1450" b="0">
                <a:solidFill>
                  <a:srgbClr val="202B38"/>
                </a:solidFill>
                <a:latin typeface="Arial"/>
              </a:rPr>
              <a:t>The lead ends with 6 messages, ~485 tokens: its plan and three short reports</a:t>
            </a:r>
          </a:p>
          <a:p>
            <a:pPr algn="l" indent="-228600" marL="228600">
              <a:spcAft>
                <a:spcPts val="800"/>
              </a:spcAft>
              <a:buClr>
                <a:srgbClr val="1E5EF3"/>
              </a:buClr>
              <a:buChar char="—"/>
            </a:pPr>
            <a:r>
              <a:rPr sz="1450" b="0">
                <a:solidFill>
                  <a:srgbClr val="202B38"/>
                </a:solidFill>
                <a:latin typeface="Arial"/>
              </a:rPr>
              <a:t>Its three sub-agents spent ~5,800 tokens searching and reading; none of it in the lead</a:t>
            </a:r>
          </a:p>
          <a:p>
            <a:pPr algn="l" indent="-228600" marL="228600">
              <a:spcAft>
                <a:spcPts val="800"/>
              </a:spcAft>
              <a:buClr>
                <a:srgbClr val="1E5EF3"/>
              </a:buClr>
              <a:buChar char="—"/>
            </a:pPr>
            <a:r>
              <a:rPr sz="1450" b="0">
                <a:solidFill>
                  <a:srgbClr val="202B38"/>
                </a:solidFill>
                <a:latin typeface="Arial"/>
              </a:rPr>
              <a:t>A solo agent on the same compound question holds ~800 tokens and answers part one only</a:t>
            </a:r>
          </a:p>
          <a:p>
            <a:pPr algn="l" indent="-228600" marL="228600">
              <a:spcAft>
                <a:spcPts val="800"/>
              </a:spcAft>
              <a:buClr>
                <a:srgbClr val="1E5EF3"/>
              </a:buClr>
              <a:buChar char="—"/>
            </a:pPr>
            <a:r>
              <a:rPr sz="1450" b="0">
                <a:solidFill>
                  <a:srgbClr val="202B38"/>
                </a:solidFill>
                <a:latin typeface="Arial"/>
              </a:rPr>
              <a:t>Total work went up roughly eightfold; the lead's window shrank. That is the trade</a:t>
            </a:r>
          </a:p>
        </p:txBody>
      </p:sp>
      <p:pic>
        <p:nvPicPr>
          <p:cNvPr id="8" name="Picture 7" descr="s4_lead_context.png"/>
          <p:cNvPicPr>
            <a:picLocks noChangeAspect="1"/>
          </p:cNvPicPr>
          <p:nvPr/>
        </p:nvPicPr>
        <p:blipFill>
          <a:blip r:embed="rId2"/>
          <a:stretch>
            <a:fillRect/>
          </a:stretch>
        </p:blipFill>
        <p:spPr>
          <a:xfrm>
            <a:off x="5120640" y="1874519"/>
            <a:ext cx="6492240" cy="3429863"/>
          </a:xfrm>
          <a:prstGeom prst="rect">
            <a:avLst/>
          </a:prstGeom>
        </p:spPr>
      </p:pic>
      <p:sp>
        <p:nvSpPr>
          <p:cNvPr id="9" name="TextBox 8"/>
          <p:cNvSpPr txBox="1"/>
          <p:nvPr/>
        </p:nvSpPr>
        <p:spPr>
          <a:xfrm>
            <a:off x="5120640" y="6062471"/>
            <a:ext cx="6492240" cy="365760"/>
          </a:xfrm>
          <a:prstGeom prst="rect">
            <a:avLst/>
          </a:prstGeom>
          <a:noFill/>
        </p:spPr>
        <p:txBody>
          <a:bodyPr wrap="square">
            <a:spAutoFit/>
          </a:bodyPr>
          <a:lstStyle/>
          <a:p>
            <a:pPr algn="ctr">
              <a:spcAft>
                <a:spcPts val="600"/>
              </a:spcAft>
              <a:buNone/>
            </a:pPr>
            <a:r>
              <a:rPr sz="1100" b="0">
                <a:solidFill>
                  <a:srgbClr val="5B6774"/>
                </a:solidFill>
                <a:latin typeface="Arial"/>
              </a:rPr>
              <a:t>Notebook 04 reference run on the deterministic stand-in (live Claude varies, real tokens): lead with delegate tool vs solo agent; tokens via harness.multi.context_size.</a:t>
            </a:r>
          </a:p>
        </p:txBody>
      </p:sp>
      <p:sp>
        <p:nvSpPr>
          <p:cNvPr id="10" name="TextBox 9"/>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5B6774"/>
                </a:solidFill>
                <a:latin typeface="Arial"/>
              </a:rPr>
              <a:t>M5 Session 4 - Sub-agents, Teams and the Discipline</a:t>
            </a:r>
          </a:p>
        </p:txBody>
      </p:sp>
      <p:sp>
        <p:nvSpPr>
          <p:cNvPr id="11" name="TextBox 10"/>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5B6774"/>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75488"/>
            <a:ext cx="457200" cy="54864"/>
          </a:xfrm>
          <a:prstGeom prst="rect">
            <a:avLst/>
          </a:prstGeom>
          <a:solidFill>
            <a:srgbClr val="1E5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03504"/>
            <a:ext cx="11091672" cy="274320"/>
          </a:xfrm>
          <a:prstGeom prst="rect">
            <a:avLst/>
          </a:prstGeom>
          <a:noFill/>
        </p:spPr>
        <p:txBody>
          <a:bodyPr wrap="square">
            <a:spAutoFit/>
          </a:bodyPr>
          <a:lstStyle/>
          <a:p>
            <a:pPr algn="l">
              <a:spcAft>
                <a:spcPts val="600"/>
              </a:spcAft>
              <a:buNone/>
            </a:pPr>
            <a:r>
              <a:rPr sz="1100" b="1">
                <a:solidFill>
                  <a:srgbClr val="1E5EF3"/>
                </a:solidFill>
                <a:latin typeface="Arial"/>
              </a:rPr>
              <a:t>NOTEBOOK 04 - AGENT TEAMS</a:t>
            </a:r>
          </a:p>
        </p:txBody>
      </p:sp>
      <p:sp>
        <p:nvSpPr>
          <p:cNvPr id="5" name="TextBox 4"/>
          <p:cNvSpPr txBox="1"/>
          <p:nvPr/>
        </p:nvSpPr>
        <p:spPr>
          <a:xfrm>
            <a:off x="548640" y="868680"/>
            <a:ext cx="11091672" cy="777240"/>
          </a:xfrm>
          <a:prstGeom prst="rect">
            <a:avLst/>
          </a:prstGeom>
          <a:noFill/>
        </p:spPr>
        <p:txBody>
          <a:bodyPr wrap="square">
            <a:spAutoFit/>
          </a:bodyPr>
          <a:lstStyle/>
          <a:p>
            <a:pPr algn="l">
              <a:spcAft>
                <a:spcPts val="0"/>
              </a:spcAft>
              <a:buNone/>
            </a:pPr>
            <a:r>
              <a:rPr sz="2600" b="1">
                <a:solidFill>
                  <a:srgbClr val="0A2540"/>
                </a:solidFill>
                <a:latin typeface="Arial"/>
              </a:rPr>
              <a:t>Three teammates clear a six-task board and mail the lead six times</a:t>
            </a:r>
          </a:p>
        </p:txBody>
      </p:sp>
      <p:sp>
        <p:nvSpPr>
          <p:cNvPr id="6" name="Rectangle 5"/>
          <p:cNvSpPr/>
          <p:nvPr/>
        </p:nvSpPr>
        <p:spPr>
          <a:xfrm>
            <a:off x="548640" y="1664208"/>
            <a:ext cx="11091672" cy="12801"/>
          </a:xfrm>
          <a:prstGeom prst="rect">
            <a:avLst/>
          </a:prstGeom>
          <a:solidFill>
            <a:srgbClr val="B9D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874519"/>
            <a:ext cx="4297680" cy="4206240"/>
          </a:xfrm>
          <a:prstGeom prst="rect">
            <a:avLst/>
          </a:prstGeom>
          <a:noFill/>
        </p:spPr>
        <p:txBody>
          <a:bodyPr wrap="square">
            <a:spAutoFit/>
          </a:bodyPr>
          <a:lstStyle/>
          <a:p>
            <a:pPr algn="l" indent="-228600" marL="228600">
              <a:spcAft>
                <a:spcPts val="800"/>
              </a:spcAft>
              <a:buClr>
                <a:srgbClr val="1E5EF3"/>
              </a:buClr>
              <a:buChar char="—"/>
            </a:pPr>
            <a:r>
              <a:rPr sz="1450" b="0">
                <a:solidFill>
                  <a:srgbClr val="202B38"/>
                </a:solidFill>
                <a:latin typeface="Arial"/>
              </a:rPr>
              <a:t>How to read it: one row per task; the tag shows which teammate claimed it</a:t>
            </a:r>
          </a:p>
          <a:p>
            <a:pPr algn="l" indent="-228600" marL="228600">
              <a:spcAft>
                <a:spcPts val="800"/>
              </a:spcAft>
              <a:buClr>
                <a:srgbClr val="1E5EF3"/>
              </a:buClr>
              <a:buChar char="—"/>
            </a:pPr>
            <a:r>
              <a:rPr sz="1450" b="0">
                <a:solidFill>
                  <a:srgbClr val="202B38"/>
                </a:solidFill>
                <a:latin typeface="Arial"/>
              </a:rPr>
              <a:t>3 teammates, 6 tasks: each claims the next open task, works, marks it done</a:t>
            </a:r>
          </a:p>
          <a:p>
            <a:pPr algn="l" indent="-228600" marL="228600">
              <a:spcAft>
                <a:spcPts val="800"/>
              </a:spcAft>
              <a:buClr>
                <a:srgbClr val="1E5EF3"/>
              </a:buClr>
              <a:buChar char="—"/>
            </a:pPr>
            <a:r>
              <a:rPr sz="1450" b="0">
                <a:solidFill>
                  <a:srgbClr val="202B38"/>
                </a:solidFill>
                <a:latin typeface="Arial"/>
              </a:rPr>
              <a:t>6 mailbox messages to the lead: 'Task #n done: ...' with a cited answer</a:t>
            </a:r>
          </a:p>
          <a:p>
            <a:pPr algn="l" indent="-228600" marL="228600">
              <a:spcAft>
                <a:spcPts val="800"/>
              </a:spcAft>
              <a:buClr>
                <a:srgbClr val="1E5EF3"/>
              </a:buClr>
              <a:buChar char="—"/>
            </a:pPr>
            <a:r>
              <a:rPr sz="1450" b="0">
                <a:solidFill>
                  <a:srgbClr val="202B38"/>
                </a:solidFill>
                <a:latin typeface="Arial"/>
              </a:rPr>
              <a:t>~12,000 tokens for the three teammates, plus ~394 for the lead's final call</a:t>
            </a:r>
          </a:p>
          <a:p>
            <a:pPr algn="l" indent="-228600" marL="228600">
              <a:spcAft>
                <a:spcPts val="800"/>
              </a:spcAft>
              <a:buClr>
                <a:srgbClr val="1E5EF3"/>
              </a:buClr>
              <a:buChar char="—"/>
            </a:pPr>
            <a:r>
              <a:rPr sz="1450" b="0">
                <a:solidFill>
                  <a:srgbClr val="202B38"/>
                </a:solidFill>
                <a:latin typeface="Arial"/>
              </a:rPr>
              <a:t>A 4-teammate run gives the identical total: more hands, same work, same cost</a:t>
            </a:r>
          </a:p>
          <a:p>
            <a:pPr algn="l" indent="-228600" marL="228600">
              <a:spcAft>
                <a:spcPts val="800"/>
              </a:spcAft>
              <a:buClr>
                <a:srgbClr val="1E5EF3"/>
              </a:buClr>
              <a:buChar char="—"/>
            </a:pPr>
            <a:r>
              <a:rPr sz="1450" b="0">
                <a:solidFill>
                  <a:srgbClr val="202B38"/>
                </a:solidFill>
                <a:latin typeface="Arial"/>
              </a:rPr>
              <a:t>In plain words: a team of drivers sharing one job board</a:t>
            </a:r>
          </a:p>
        </p:txBody>
      </p:sp>
      <p:pic>
        <p:nvPicPr>
          <p:cNvPr id="8" name="Picture 7" descr="s4_team_board.png"/>
          <p:cNvPicPr>
            <a:picLocks noChangeAspect="1"/>
          </p:cNvPicPr>
          <p:nvPr/>
        </p:nvPicPr>
        <p:blipFill>
          <a:blip r:embed="rId2"/>
          <a:stretch>
            <a:fillRect/>
          </a:stretch>
        </p:blipFill>
        <p:spPr>
          <a:xfrm>
            <a:off x="5139362" y="1874519"/>
            <a:ext cx="6454795" cy="4114800"/>
          </a:xfrm>
          <a:prstGeom prst="rect">
            <a:avLst/>
          </a:prstGeom>
        </p:spPr>
      </p:pic>
      <p:sp>
        <p:nvSpPr>
          <p:cNvPr id="9" name="TextBox 8"/>
          <p:cNvSpPr txBox="1"/>
          <p:nvPr/>
        </p:nvSpPr>
        <p:spPr>
          <a:xfrm>
            <a:off x="5120640" y="6062471"/>
            <a:ext cx="6492240" cy="365760"/>
          </a:xfrm>
          <a:prstGeom prst="rect">
            <a:avLst/>
          </a:prstGeom>
          <a:noFill/>
        </p:spPr>
        <p:txBody>
          <a:bodyPr wrap="square">
            <a:spAutoFit/>
          </a:bodyPr>
          <a:lstStyle/>
          <a:p>
            <a:pPr algn="ctr">
              <a:spcAft>
                <a:spcPts val="600"/>
              </a:spcAft>
              <a:buNone/>
            </a:pPr>
            <a:r>
              <a:rPr sz="1100" b="0">
                <a:solidFill>
                  <a:srgbClr val="5B6774"/>
                </a:solidFill>
                <a:latin typeface="Arial"/>
              </a:rPr>
              <a:t>Notebook 04 reference run on the stand-in (live Claude varies, real tokens): harness.multi.Team with TaskBoard and Mailbox, six tasks. Agent teams: Claude Code, Feb 2026.</a:t>
            </a:r>
          </a:p>
        </p:txBody>
      </p:sp>
      <p:sp>
        <p:nvSpPr>
          <p:cNvPr id="10" name="TextBox 9"/>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5B6774"/>
                </a:solidFill>
                <a:latin typeface="Arial"/>
              </a:rPr>
              <a:t>M5 Session 4 - Sub-agents, Teams and the Discipline</a:t>
            </a:r>
          </a:p>
        </p:txBody>
      </p:sp>
      <p:sp>
        <p:nvSpPr>
          <p:cNvPr id="11" name="TextBox 10"/>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5B6774"/>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75488"/>
            <a:ext cx="457200" cy="54864"/>
          </a:xfrm>
          <a:prstGeom prst="rect">
            <a:avLst/>
          </a:prstGeom>
          <a:solidFill>
            <a:srgbClr val="1E5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03504"/>
            <a:ext cx="11091672" cy="274320"/>
          </a:xfrm>
          <a:prstGeom prst="rect">
            <a:avLst/>
          </a:prstGeom>
          <a:noFill/>
        </p:spPr>
        <p:txBody>
          <a:bodyPr wrap="square">
            <a:spAutoFit/>
          </a:bodyPr>
          <a:lstStyle/>
          <a:p>
            <a:pPr algn="l">
              <a:spcAft>
                <a:spcPts val="600"/>
              </a:spcAft>
              <a:buNone/>
            </a:pPr>
            <a:r>
              <a:rPr sz="1100" b="1">
                <a:solidFill>
                  <a:srgbClr val="1E5EF3"/>
                </a:solidFill>
                <a:latin typeface="Arial"/>
              </a:rPr>
              <a:t>NOTEBOOK 04 - HANDOFF</a:t>
            </a:r>
          </a:p>
        </p:txBody>
      </p:sp>
      <p:sp>
        <p:nvSpPr>
          <p:cNvPr id="5" name="TextBox 4"/>
          <p:cNvSpPr txBox="1"/>
          <p:nvPr/>
        </p:nvSpPr>
        <p:spPr>
          <a:xfrm>
            <a:off x="548640" y="868680"/>
            <a:ext cx="11091672" cy="777240"/>
          </a:xfrm>
          <a:prstGeom prst="rect">
            <a:avLst/>
          </a:prstGeom>
          <a:noFill/>
        </p:spPr>
        <p:txBody>
          <a:bodyPr wrap="square">
            <a:spAutoFit/>
          </a:bodyPr>
          <a:lstStyle/>
          <a:p>
            <a:pPr algn="l">
              <a:spcAft>
                <a:spcPts val="0"/>
              </a:spcAft>
              <a:buNone/>
            </a:pPr>
            <a:r>
              <a:rPr sz="2600" b="1">
                <a:solidFill>
                  <a:srgbClr val="0A2540"/>
                </a:solidFill>
                <a:latin typeface="Arial"/>
              </a:rPr>
              <a:t>A handoff moves the whole conversation to a specialist</a:t>
            </a:r>
          </a:p>
        </p:txBody>
      </p:sp>
      <p:sp>
        <p:nvSpPr>
          <p:cNvPr id="6" name="Rectangle 5"/>
          <p:cNvSpPr/>
          <p:nvPr/>
        </p:nvSpPr>
        <p:spPr>
          <a:xfrm>
            <a:off x="548640" y="1664208"/>
            <a:ext cx="11091672" cy="12801"/>
          </a:xfrm>
          <a:prstGeom prst="rect">
            <a:avLst/>
          </a:prstGeom>
          <a:solidFill>
            <a:srgbClr val="B9D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874519"/>
            <a:ext cx="4297680" cy="4206240"/>
          </a:xfrm>
          <a:prstGeom prst="rect">
            <a:avLst/>
          </a:prstGeom>
          <a:noFill/>
        </p:spPr>
        <p:txBody>
          <a:bodyPr wrap="square">
            <a:spAutoFit/>
          </a:bodyPr>
          <a:lstStyle/>
          <a:p>
            <a:pPr algn="l" indent="-228600" marL="228600">
              <a:spcAft>
                <a:spcPts val="800"/>
              </a:spcAft>
              <a:buClr>
                <a:srgbClr val="1E5EF3"/>
              </a:buClr>
              <a:buChar char="—"/>
            </a:pPr>
            <a:r>
              <a:rPr sz="1450" b="0">
                <a:solidFill>
                  <a:srgbClr val="202B38"/>
                </a:solidFill>
                <a:latin typeface="Arial"/>
              </a:rPr>
              <a:t>How to read it: the conversation moves right; the research agent steps back</a:t>
            </a:r>
          </a:p>
          <a:p>
            <a:pPr algn="l" indent="-228600" marL="228600">
              <a:spcAft>
                <a:spcPts val="800"/>
              </a:spcAft>
              <a:buClr>
                <a:srgbClr val="1E5EF3"/>
              </a:buClr>
              <a:buChar char="—"/>
            </a:pPr>
            <a:r>
              <a:rPr sz="1450" b="0">
                <a:solidFill>
                  <a:srgbClr val="202B38"/>
                </a:solidFill>
                <a:latin typeface="Arial"/>
              </a:rPr>
              <a:t>handoff(to_agent, history, instruction): 8 messages plus one new user message</a:t>
            </a:r>
          </a:p>
          <a:p>
            <a:pPr algn="l" indent="-228600" marL="228600">
              <a:spcAft>
                <a:spcPts val="800"/>
              </a:spcAft>
              <a:buClr>
                <a:srgbClr val="1E5EF3"/>
              </a:buClr>
              <a:buChar char="—"/>
            </a:pPr>
            <a:r>
              <a:rPr sz="1450" b="0">
                <a:solidFill>
                  <a:srgbClr val="202B38"/>
                </a:solidFill>
                <a:latin typeface="Arial"/>
              </a:rPr>
              <a:t>The calculator agent calls its tool once and answers 0.799102 in 2 turns</a:t>
            </a:r>
          </a:p>
          <a:p>
            <a:pPr algn="l" indent="-228600" marL="228600">
              <a:spcAft>
                <a:spcPts val="800"/>
              </a:spcAft>
              <a:buClr>
                <a:srgbClr val="1E5EF3"/>
              </a:buClr>
              <a:buChar char="—"/>
            </a:pPr>
            <a:r>
              <a:rPr sz="1450" b="0">
                <a:solidFill>
                  <a:srgbClr val="202B38"/>
                </a:solidFill>
                <a:latin typeface="Arial"/>
              </a:rPr>
              <a:t>Its first call sees ~715 tokens of inherited history; a fresh calculator agent sees ~36</a:t>
            </a:r>
          </a:p>
          <a:p>
            <a:pPr algn="l" indent="-228600" marL="228600">
              <a:spcAft>
                <a:spcPts val="800"/>
              </a:spcAft>
              <a:buClr>
                <a:srgbClr val="1E5EF3"/>
              </a:buClr>
              <a:buChar char="—"/>
            </a:pPr>
            <a:r>
              <a:rPr sz="1450" b="0">
                <a:solidFill>
                  <a:srgbClr val="202B38"/>
                </a:solidFill>
                <a:latin typeface="Arial"/>
              </a:rPr>
              <a:t>Whole run ~1,440 tokens: routing sent only the question; a handoff sends everything</a:t>
            </a:r>
          </a:p>
          <a:p>
            <a:pPr algn="l" indent="-228600" marL="228600">
              <a:spcAft>
                <a:spcPts val="800"/>
              </a:spcAft>
              <a:buClr>
                <a:srgbClr val="1E5EF3"/>
              </a:buClr>
              <a:buChar char="—"/>
            </a:pPr>
            <a:r>
              <a:rPr sz="1450" b="0">
                <a:solidFill>
                  <a:srgbClr val="202B38"/>
                </a:solidFill>
                <a:latin typeface="Arial"/>
              </a:rPr>
              <a:t>In plain words: change drivers, keep the passengers - useful, not free</a:t>
            </a:r>
          </a:p>
        </p:txBody>
      </p:sp>
      <p:pic>
        <p:nvPicPr>
          <p:cNvPr id="8" name="Picture 7" descr="s4_handoff.png"/>
          <p:cNvPicPr>
            <a:picLocks noChangeAspect="1"/>
          </p:cNvPicPr>
          <p:nvPr/>
        </p:nvPicPr>
        <p:blipFill>
          <a:blip r:embed="rId2"/>
          <a:stretch>
            <a:fillRect/>
          </a:stretch>
        </p:blipFill>
        <p:spPr>
          <a:xfrm>
            <a:off x="5149927" y="1874519"/>
            <a:ext cx="6433666" cy="4114800"/>
          </a:xfrm>
          <a:prstGeom prst="rect">
            <a:avLst/>
          </a:prstGeom>
        </p:spPr>
      </p:pic>
      <p:sp>
        <p:nvSpPr>
          <p:cNvPr id="9" name="TextBox 8"/>
          <p:cNvSpPr txBox="1"/>
          <p:nvPr/>
        </p:nvSpPr>
        <p:spPr>
          <a:xfrm>
            <a:off x="5120640" y="6062471"/>
            <a:ext cx="6492240" cy="365760"/>
          </a:xfrm>
          <a:prstGeom prst="rect">
            <a:avLst/>
          </a:prstGeom>
          <a:noFill/>
        </p:spPr>
        <p:txBody>
          <a:bodyPr wrap="square">
            <a:spAutoFit/>
          </a:bodyPr>
          <a:lstStyle/>
          <a:p>
            <a:pPr algn="ctr">
              <a:spcAft>
                <a:spcPts val="600"/>
              </a:spcAft>
              <a:buNone/>
            </a:pPr>
            <a:r>
              <a:rPr sz="1100" b="0">
                <a:solidFill>
                  <a:srgbClr val="5B6774"/>
                </a:solidFill>
                <a:latin typeface="Arial"/>
              </a:rPr>
              <a:t>Notebook 04 reference run on the stand-in (live Claude varies): harness.multi.handoff; (891 - 179) / 891 = 0.799102, the M2 train share. Handoffs: OpenAI, Apr 2025.</a:t>
            </a:r>
          </a:p>
        </p:txBody>
      </p:sp>
      <p:sp>
        <p:nvSpPr>
          <p:cNvPr id="10" name="TextBox 9"/>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5B6774"/>
                </a:solidFill>
                <a:latin typeface="Arial"/>
              </a:rPr>
              <a:t>M5 Session 4 - Sub-agents, Teams and the Discipline</a:t>
            </a:r>
          </a:p>
        </p:txBody>
      </p:sp>
      <p:sp>
        <p:nvSpPr>
          <p:cNvPr id="11" name="TextBox 10"/>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5B6774"/>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75488"/>
            <a:ext cx="457200" cy="54864"/>
          </a:xfrm>
          <a:prstGeom prst="rect">
            <a:avLst/>
          </a:prstGeom>
          <a:solidFill>
            <a:srgbClr val="1E5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03504"/>
            <a:ext cx="11091672" cy="274320"/>
          </a:xfrm>
          <a:prstGeom prst="rect">
            <a:avLst/>
          </a:prstGeom>
          <a:noFill/>
        </p:spPr>
        <p:txBody>
          <a:bodyPr wrap="square">
            <a:spAutoFit/>
          </a:bodyPr>
          <a:lstStyle/>
          <a:p>
            <a:pPr algn="l">
              <a:spcAft>
                <a:spcPts val="600"/>
              </a:spcAft>
              <a:buNone/>
            </a:pPr>
            <a:r>
              <a:rPr sz="1100" b="1">
                <a:solidFill>
                  <a:srgbClr val="1E5EF3"/>
                </a:solidFill>
                <a:latin typeface="Arial"/>
              </a:rPr>
              <a:t>NOTEBOOK 04 - STOP CONDITIONS</a:t>
            </a:r>
          </a:p>
        </p:txBody>
      </p:sp>
      <p:sp>
        <p:nvSpPr>
          <p:cNvPr id="5" name="TextBox 4"/>
          <p:cNvSpPr txBox="1"/>
          <p:nvPr/>
        </p:nvSpPr>
        <p:spPr>
          <a:xfrm>
            <a:off x="548640" y="868680"/>
            <a:ext cx="11091672" cy="777240"/>
          </a:xfrm>
          <a:prstGeom prst="rect">
            <a:avLst/>
          </a:prstGeom>
          <a:noFill/>
        </p:spPr>
        <p:txBody>
          <a:bodyPr wrap="square">
            <a:spAutoFit/>
          </a:bodyPr>
          <a:lstStyle/>
          <a:p>
            <a:pPr algn="l">
              <a:spcAft>
                <a:spcPts val="0"/>
              </a:spcAft>
              <a:buNone/>
            </a:pPr>
            <a:r>
              <a:rPr sz="2600" b="1">
                <a:solidFill>
                  <a:srgbClr val="0A2540"/>
                </a:solidFill>
                <a:latin typeface="Arial"/>
              </a:rPr>
              <a:t>A runaway loop costs more every turn - max_turns is the brake</a:t>
            </a:r>
          </a:p>
        </p:txBody>
      </p:sp>
      <p:sp>
        <p:nvSpPr>
          <p:cNvPr id="6" name="Rectangle 5"/>
          <p:cNvSpPr/>
          <p:nvPr/>
        </p:nvSpPr>
        <p:spPr>
          <a:xfrm>
            <a:off x="548640" y="1664208"/>
            <a:ext cx="11091672" cy="12801"/>
          </a:xfrm>
          <a:prstGeom prst="rect">
            <a:avLst/>
          </a:prstGeom>
          <a:solidFill>
            <a:srgbClr val="B9D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874519"/>
            <a:ext cx="4297680" cy="4206240"/>
          </a:xfrm>
          <a:prstGeom prst="rect">
            <a:avLst/>
          </a:prstGeom>
          <a:noFill/>
        </p:spPr>
        <p:txBody>
          <a:bodyPr wrap="square">
            <a:spAutoFit/>
          </a:bodyPr>
          <a:lstStyle/>
          <a:p>
            <a:pPr algn="l" indent="-228600" marL="228600">
              <a:spcAft>
                <a:spcPts val="800"/>
              </a:spcAft>
              <a:buClr>
                <a:srgbClr val="1E5EF3"/>
              </a:buClr>
              <a:buChar char="—"/>
            </a:pPr>
            <a:r>
              <a:rPr sz="1450" b="0">
                <a:solidFill>
                  <a:srgbClr val="202B38"/>
                </a:solidFill>
                <a:latin typeface="Arial"/>
              </a:rPr>
              <a:t>How to read it: one bar per turn; height = context tokens the model saw on that turn</a:t>
            </a:r>
          </a:p>
          <a:p>
            <a:pPr algn="l" indent="-228600" marL="228600">
              <a:spcAft>
                <a:spcPts val="800"/>
              </a:spcAft>
              <a:buClr>
                <a:srgbClr val="1E5EF3"/>
              </a:buClr>
              <a:buChar char="—"/>
            </a:pPr>
            <a:r>
              <a:rPr sz="1450" b="0">
                <a:solidFill>
                  <a:srgbClr val="202B38"/>
                </a:solidFill>
                <a:latin typeface="Arial"/>
              </a:rPr>
              <a:t>A policy that always calls search_docs never says done</a:t>
            </a:r>
          </a:p>
          <a:p>
            <a:pPr algn="l" indent="-228600" marL="228600">
              <a:spcAft>
                <a:spcPts val="800"/>
              </a:spcAft>
              <a:buClr>
                <a:srgbClr val="1E5EF3"/>
              </a:buClr>
              <a:buChar char="—"/>
            </a:pPr>
            <a:r>
              <a:rPr sz="1450" b="0">
                <a:solidFill>
                  <a:srgbClr val="202B38"/>
                </a:solidFill>
                <a:latin typeface="Arial"/>
              </a:rPr>
              <a:t>Every turn re-sends the whole history, so cost grows: 134 to 904 tokens, +154 per turn</a:t>
            </a:r>
          </a:p>
          <a:p>
            <a:pPr algn="l" indent="-228600" marL="228600">
              <a:spcAft>
                <a:spcPts val="800"/>
              </a:spcAft>
              <a:buClr>
                <a:srgbClr val="1E5EF3"/>
              </a:buClr>
              <a:buChar char="—"/>
            </a:pPr>
            <a:r>
              <a:rPr sz="1450" b="0">
                <a:solidFill>
                  <a:srgbClr val="202B38"/>
                </a:solidFill>
                <a:latin typeface="Arial"/>
              </a:rPr>
              <a:t>Six turns cost ~3,114 tokens and return an empty answer</a:t>
            </a:r>
          </a:p>
          <a:p>
            <a:pPr algn="l" indent="-228600" marL="228600">
              <a:spcAft>
                <a:spcPts val="800"/>
              </a:spcAft>
              <a:buClr>
                <a:srgbClr val="1E5EF3"/>
              </a:buClr>
              <a:buChar char="—"/>
            </a:pPr>
            <a:r>
              <a:rPr sz="1450" b="0">
                <a:solidFill>
                  <a:srgbClr val="202B38"/>
                </a:solidFill>
                <a:latin typeface="Arial"/>
              </a:rPr>
              <a:t>max_turns = 6 stops it: stopped_because = 'max_turns', not 'done'</a:t>
            </a:r>
          </a:p>
          <a:p>
            <a:pPr algn="l" indent="-228600" marL="228600">
              <a:spcAft>
                <a:spcPts val="800"/>
              </a:spcAft>
              <a:buClr>
                <a:srgbClr val="1E5EF3"/>
              </a:buClr>
              <a:buChar char="—"/>
            </a:pPr>
            <a:r>
              <a:rPr sz="1450" b="0">
                <a:solidFill>
                  <a:srgbClr val="202B38"/>
                </a:solidFill>
                <a:latin typeface="Arial"/>
              </a:rPr>
              <a:t>The fixed 'careful' policy searches once and finishes for ~422 tokens</a:t>
            </a:r>
          </a:p>
        </p:txBody>
      </p:sp>
      <p:pic>
        <p:nvPicPr>
          <p:cNvPr id="8" name="Picture 7" descr="s4_runaway.png"/>
          <p:cNvPicPr>
            <a:picLocks noChangeAspect="1"/>
          </p:cNvPicPr>
          <p:nvPr/>
        </p:nvPicPr>
        <p:blipFill>
          <a:blip r:embed="rId2"/>
          <a:stretch>
            <a:fillRect/>
          </a:stretch>
        </p:blipFill>
        <p:spPr>
          <a:xfrm>
            <a:off x="5334099" y="1874519"/>
            <a:ext cx="6065322" cy="4114800"/>
          </a:xfrm>
          <a:prstGeom prst="rect">
            <a:avLst/>
          </a:prstGeom>
        </p:spPr>
      </p:pic>
      <p:sp>
        <p:nvSpPr>
          <p:cNvPr id="9" name="TextBox 8"/>
          <p:cNvSpPr txBox="1"/>
          <p:nvPr/>
        </p:nvSpPr>
        <p:spPr>
          <a:xfrm>
            <a:off x="5120640" y="6062471"/>
            <a:ext cx="6492240" cy="365760"/>
          </a:xfrm>
          <a:prstGeom prst="rect">
            <a:avLst/>
          </a:prstGeom>
          <a:noFill/>
        </p:spPr>
        <p:txBody>
          <a:bodyPr wrap="square">
            <a:spAutoFit/>
          </a:bodyPr>
          <a:lstStyle/>
          <a:p>
            <a:pPr algn="ctr">
              <a:spcAft>
                <a:spcPts val="600"/>
              </a:spcAft>
              <a:buNone/>
            </a:pPr>
            <a:r>
              <a:rPr sz="1100" b="0">
                <a:solidFill>
                  <a:srgbClr val="5B6774"/>
                </a:solidFill>
                <a:latin typeface="Arial"/>
              </a:rPr>
              <a:t>Notebook 04: a looping policy that always calls search_docs, max_turns=6; tokens per turn from the trace. Kept on the stand-in on purpose: a real model would simply stop.</a:t>
            </a:r>
          </a:p>
        </p:txBody>
      </p:sp>
      <p:sp>
        <p:nvSpPr>
          <p:cNvPr id="10" name="TextBox 9"/>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5B6774"/>
                </a:solidFill>
                <a:latin typeface="Arial"/>
              </a:rPr>
              <a:t>M5 Session 4 - Sub-agents, Teams and the Discipline</a:t>
            </a:r>
          </a:p>
        </p:txBody>
      </p:sp>
      <p:sp>
        <p:nvSpPr>
          <p:cNvPr id="11" name="TextBox 10"/>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5B6774"/>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75488"/>
            <a:ext cx="457200" cy="54864"/>
          </a:xfrm>
          <a:prstGeom prst="rect">
            <a:avLst/>
          </a:prstGeom>
          <a:solidFill>
            <a:srgbClr val="1E5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03504"/>
            <a:ext cx="11091672" cy="274320"/>
          </a:xfrm>
          <a:prstGeom prst="rect">
            <a:avLst/>
          </a:prstGeom>
          <a:noFill/>
        </p:spPr>
        <p:txBody>
          <a:bodyPr wrap="square">
            <a:spAutoFit/>
          </a:bodyPr>
          <a:lstStyle/>
          <a:p>
            <a:pPr algn="l">
              <a:spcAft>
                <a:spcPts val="600"/>
              </a:spcAft>
              <a:buNone/>
            </a:pPr>
            <a:r>
              <a:rPr sz="1100" b="1">
                <a:solidFill>
                  <a:srgbClr val="1E5EF3"/>
                </a:solidFill>
                <a:latin typeface="Arial"/>
              </a:rPr>
              <a:t>ANATOMY, REVISITED</a:t>
            </a:r>
          </a:p>
        </p:txBody>
      </p:sp>
      <p:sp>
        <p:nvSpPr>
          <p:cNvPr id="5" name="TextBox 4"/>
          <p:cNvSpPr txBox="1"/>
          <p:nvPr/>
        </p:nvSpPr>
        <p:spPr>
          <a:xfrm>
            <a:off x="548640" y="868680"/>
            <a:ext cx="11091672" cy="777240"/>
          </a:xfrm>
          <a:prstGeom prst="rect">
            <a:avLst/>
          </a:prstGeom>
          <a:noFill/>
        </p:spPr>
        <p:txBody>
          <a:bodyPr wrap="square">
            <a:spAutoFit/>
          </a:bodyPr>
          <a:lstStyle/>
          <a:p>
            <a:pPr algn="l">
              <a:spcAft>
                <a:spcPts val="0"/>
              </a:spcAft>
              <a:buNone/>
            </a:pPr>
            <a:r>
              <a:rPr sz="2600" b="1">
                <a:solidFill>
                  <a:srgbClr val="0A2540"/>
                </a:solidFill>
                <a:latin typeface="Arial"/>
              </a:rPr>
              <a:t>The eight pieces of a harness - and what you built for each</a:t>
            </a:r>
          </a:p>
        </p:txBody>
      </p:sp>
      <p:sp>
        <p:nvSpPr>
          <p:cNvPr id="6" name="Rectangle 5"/>
          <p:cNvSpPr/>
          <p:nvPr/>
        </p:nvSpPr>
        <p:spPr>
          <a:xfrm>
            <a:off x="548640" y="1664208"/>
            <a:ext cx="11091672" cy="12801"/>
          </a:xfrm>
          <a:prstGeom prst="rect">
            <a:avLst/>
          </a:prstGeom>
          <a:solidFill>
            <a:srgbClr val="B9D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548640" y="1874519"/>
          <a:ext cx="11091671" cy="4114800"/>
        </p:xfrm>
        <a:graphic>
          <a:graphicData uri="http://schemas.openxmlformats.org/drawingml/2006/table">
            <a:tbl>
              <a:tblPr firstRow="1" bandRow="1">
                <a:tableStyleId>{5C22544A-7EE6-4342-B048-85BDC9FD1C3A}</a:tableStyleId>
              </a:tblPr>
              <a:tblGrid>
                <a:gridCol w="2108334"/>
                <a:gridCol w="2383334"/>
                <a:gridCol w="6600003"/>
              </a:tblGrid>
              <a:tr h="457200">
                <a:tc>
                  <a:txBody>
                    <a:bodyPr wrap="square"/>
                    <a:lstStyle/>
                    <a:p>
                      <a:pPr algn="l">
                        <a:spcAft>
                          <a:spcPts val="0"/>
                        </a:spcAft>
                        <a:buNone/>
                      </a:pPr>
                      <a:r>
                        <a:rPr sz="1300" b="1">
                          <a:solidFill>
                            <a:srgbClr val="FFFFFF"/>
                          </a:solidFill>
                          <a:latin typeface="Arial"/>
                        </a:rPr>
                        <a:t>Piece</a:t>
                      </a:r>
                    </a:p>
                  </a:txBody>
                  <a:tcPr>
                    <a:solidFill>
                      <a:srgbClr val="0A2540"/>
                    </a:solidFill>
                  </a:tcPr>
                </a:tc>
                <a:tc>
                  <a:txBody>
                    <a:bodyPr wrap="square"/>
                    <a:lstStyle/>
                    <a:p>
                      <a:pPr algn="l">
                        <a:spcAft>
                          <a:spcPts val="0"/>
                        </a:spcAft>
                        <a:buNone/>
                      </a:pPr>
                      <a:r>
                        <a:rPr sz="1300" b="1">
                          <a:solidFill>
                            <a:srgbClr val="FFFFFF"/>
                          </a:solidFill>
                          <a:latin typeface="Arial"/>
                        </a:rPr>
                        <a:t>In the car</a:t>
                      </a:r>
                    </a:p>
                  </a:txBody>
                  <a:tcPr>
                    <a:solidFill>
                      <a:srgbClr val="0A2540"/>
                    </a:solidFill>
                  </a:tcPr>
                </a:tc>
                <a:tc>
                  <a:txBody>
                    <a:bodyPr wrap="square"/>
                    <a:lstStyle/>
                    <a:p>
                      <a:pPr algn="l">
                        <a:spcAft>
                          <a:spcPts val="0"/>
                        </a:spcAft>
                        <a:buNone/>
                      </a:pPr>
                      <a:r>
                        <a:rPr sz="1300" b="1">
                          <a:solidFill>
                            <a:srgbClr val="FFFFFF"/>
                          </a:solidFill>
                          <a:latin typeface="Arial"/>
                        </a:rPr>
                        <a:t>What you built (harness/ folder)</a:t>
                      </a:r>
                    </a:p>
                  </a:txBody>
                  <a:tcPr>
                    <a:solidFill>
                      <a:srgbClr val="0A2540"/>
                    </a:solidFill>
                  </a:tcPr>
                </a:tc>
              </a:tr>
              <a:tr h="457200">
                <a:tc>
                  <a:txBody>
                    <a:bodyPr wrap="square"/>
                    <a:lstStyle/>
                    <a:p>
                      <a:pPr algn="l">
                        <a:spcAft>
                          <a:spcPts val="0"/>
                        </a:spcAft>
                        <a:buNone/>
                      </a:pPr>
                      <a:r>
                        <a:rPr sz="1250" b="0">
                          <a:solidFill>
                            <a:srgbClr val="202B38"/>
                          </a:solidFill>
                          <a:latin typeface="Arial"/>
                        </a:rPr>
                        <a:t>1. Model</a:t>
                      </a:r>
                    </a:p>
                  </a:txBody>
                  <a:tcPr>
                    <a:solidFill>
                      <a:srgbClr val="FFFFFF"/>
                    </a:solidFill>
                  </a:tcPr>
                </a:tc>
                <a:tc>
                  <a:txBody>
                    <a:bodyPr wrap="square"/>
                    <a:lstStyle/>
                    <a:p>
                      <a:pPr algn="l">
                        <a:spcAft>
                          <a:spcPts val="0"/>
                        </a:spcAft>
                        <a:buNone/>
                      </a:pPr>
                      <a:r>
                        <a:rPr sz="1250" b="0">
                          <a:solidFill>
                            <a:srgbClr val="202B38"/>
                          </a:solidFill>
                          <a:latin typeface="Arial"/>
                        </a:rPr>
                        <a:t>the engine</a:t>
                      </a:r>
                    </a:p>
                  </a:txBody>
                  <a:tcPr>
                    <a:solidFill>
                      <a:srgbClr val="FFFFFF"/>
                    </a:solidFill>
                  </a:tcPr>
                </a:tc>
                <a:tc>
                  <a:txBody>
                    <a:bodyPr wrap="square"/>
                    <a:lstStyle/>
                    <a:p>
                      <a:pPr algn="l">
                        <a:spcAft>
                          <a:spcPts val="0"/>
                        </a:spcAft>
                        <a:buNone/>
                      </a:pPr>
                      <a:r>
                        <a:rPr sz="1250" b="0">
                          <a:solidFill>
                            <a:srgbClr val="202B38"/>
                          </a:solidFill>
                          <a:latin typeface="Arial"/>
                        </a:rPr>
                        <a:t>ScriptedModel and ModelView; optional Anthropic or OpenAI adapters (models.py)</a:t>
                      </a:r>
                    </a:p>
                  </a:txBody>
                  <a:tcPr>
                    <a:solidFill>
                      <a:srgbClr val="FFFFFF"/>
                    </a:solidFill>
                  </a:tcPr>
                </a:tc>
              </a:tr>
              <a:tr h="457200">
                <a:tc>
                  <a:txBody>
                    <a:bodyPr wrap="square"/>
                    <a:lstStyle/>
                    <a:p>
                      <a:pPr algn="l">
                        <a:spcAft>
                          <a:spcPts val="0"/>
                        </a:spcAft>
                        <a:buNone/>
                      </a:pPr>
                      <a:r>
                        <a:rPr sz="1250" b="0">
                          <a:solidFill>
                            <a:srgbClr val="202B38"/>
                          </a:solidFill>
                          <a:latin typeface="Arial"/>
                        </a:rPr>
                        <a:t>2. Context</a:t>
                      </a:r>
                    </a:p>
                  </a:txBody>
                  <a:tcPr>
                    <a:solidFill>
                      <a:srgbClr val="EEF3FD"/>
                    </a:solidFill>
                  </a:tcPr>
                </a:tc>
                <a:tc>
                  <a:txBody>
                    <a:bodyPr wrap="square"/>
                    <a:lstStyle/>
                    <a:p>
                      <a:pPr algn="l">
                        <a:spcAft>
                          <a:spcPts val="0"/>
                        </a:spcAft>
                        <a:buNone/>
                      </a:pPr>
                      <a:r>
                        <a:rPr sz="1250" b="0">
                          <a:solidFill>
                            <a:srgbClr val="202B38"/>
                          </a:solidFill>
                          <a:latin typeface="Arial"/>
                        </a:rPr>
                        <a:t>dashboard and mirrors</a:t>
                      </a:r>
                    </a:p>
                  </a:txBody>
                  <a:tcPr>
                    <a:solidFill>
                      <a:srgbClr val="EEF3FD"/>
                    </a:solidFill>
                  </a:tcPr>
                </a:tc>
                <a:tc>
                  <a:txBody>
                    <a:bodyPr wrap="square"/>
                    <a:lstStyle/>
                    <a:p>
                      <a:pPr algn="l">
                        <a:spcAft>
                          <a:spcPts val="0"/>
                        </a:spcAft>
                        <a:buNone/>
                      </a:pPr>
                      <a:r>
                        <a:rPr sz="1250" b="0">
                          <a:solidFill>
                            <a:srgbClr val="202B38"/>
                          </a:solidFill>
                          <a:latin typeface="Arial"/>
                        </a:rPr>
                        <a:t>ContextWindow budget and compaction, Notes (context.py)</a:t>
                      </a:r>
                    </a:p>
                  </a:txBody>
                  <a:tcPr>
                    <a:solidFill>
                      <a:srgbClr val="EEF3FD"/>
                    </a:solidFill>
                  </a:tcPr>
                </a:tc>
              </a:tr>
              <a:tr h="457200">
                <a:tc>
                  <a:txBody>
                    <a:bodyPr wrap="square"/>
                    <a:lstStyle/>
                    <a:p>
                      <a:pPr algn="l">
                        <a:spcAft>
                          <a:spcPts val="0"/>
                        </a:spcAft>
                        <a:buNone/>
                      </a:pPr>
                      <a:r>
                        <a:rPr sz="1250" b="0">
                          <a:solidFill>
                            <a:srgbClr val="202B38"/>
                          </a:solidFill>
                          <a:latin typeface="Arial"/>
                        </a:rPr>
                        <a:t>3. Tools</a:t>
                      </a:r>
                    </a:p>
                  </a:txBody>
                  <a:tcPr>
                    <a:solidFill>
                      <a:srgbClr val="FFFFFF"/>
                    </a:solidFill>
                  </a:tcPr>
                </a:tc>
                <a:tc>
                  <a:txBody>
                    <a:bodyPr wrap="square"/>
                    <a:lstStyle/>
                    <a:p>
                      <a:pPr algn="l">
                        <a:spcAft>
                          <a:spcPts val="0"/>
                        </a:spcAft>
                        <a:buNone/>
                      </a:pPr>
                      <a:r>
                        <a:rPr sz="1250" b="0">
                          <a:solidFill>
                            <a:srgbClr val="202B38"/>
                          </a:solidFill>
                          <a:latin typeface="Arial"/>
                        </a:rPr>
                        <a:t>the trailer hitch</a:t>
                      </a:r>
                    </a:p>
                  </a:txBody>
                  <a:tcPr>
                    <a:solidFill>
                      <a:srgbClr val="FFFFFF"/>
                    </a:solidFill>
                  </a:tcPr>
                </a:tc>
                <a:tc>
                  <a:txBody>
                    <a:bodyPr wrap="square"/>
                    <a:lstStyle/>
                    <a:p>
                      <a:pPr algn="l">
                        <a:spcAft>
                          <a:spcPts val="0"/>
                        </a:spcAft>
                        <a:buNone/>
                      </a:pPr>
                      <a:r>
                        <a:rPr sz="1250" b="0">
                          <a:solidFill>
                            <a:srgbClr val="202B38"/>
                          </a:solidFill>
                          <a:latin typeface="Arial"/>
                        </a:rPr>
                        <a:t>@tool to JSON schema, ToolRegistry, risk levels (tools.py)</a:t>
                      </a:r>
                    </a:p>
                  </a:txBody>
                  <a:tcPr>
                    <a:solidFill>
                      <a:srgbClr val="FFFFFF"/>
                    </a:solidFill>
                  </a:tcPr>
                </a:tc>
              </a:tr>
              <a:tr h="457200">
                <a:tc>
                  <a:txBody>
                    <a:bodyPr wrap="square"/>
                    <a:lstStyle/>
                    <a:p>
                      <a:pPr algn="l">
                        <a:spcAft>
                          <a:spcPts val="0"/>
                        </a:spcAft>
                        <a:buNone/>
                      </a:pPr>
                      <a:r>
                        <a:rPr sz="1250" b="0">
                          <a:solidFill>
                            <a:srgbClr val="202B38"/>
                          </a:solidFill>
                          <a:latin typeface="Arial"/>
                        </a:rPr>
                        <a:t>4. Skills</a:t>
                      </a:r>
                    </a:p>
                  </a:txBody>
                  <a:tcPr>
                    <a:solidFill>
                      <a:srgbClr val="EEF3FD"/>
                    </a:solidFill>
                  </a:tcPr>
                </a:tc>
                <a:tc>
                  <a:txBody>
                    <a:bodyPr wrap="square"/>
                    <a:lstStyle/>
                    <a:p>
                      <a:pPr algn="l">
                        <a:spcAft>
                          <a:spcPts val="0"/>
                        </a:spcAft>
                        <a:buNone/>
                      </a:pPr>
                      <a:r>
                        <a:rPr sz="1250" b="0">
                          <a:solidFill>
                            <a:srgbClr val="202B38"/>
                          </a:solidFill>
                          <a:latin typeface="Arial"/>
                        </a:rPr>
                        <a:t>the glovebox manuals</a:t>
                      </a:r>
                    </a:p>
                  </a:txBody>
                  <a:tcPr>
                    <a:solidFill>
                      <a:srgbClr val="EEF3FD"/>
                    </a:solidFill>
                  </a:tcPr>
                </a:tc>
                <a:tc>
                  <a:txBody>
                    <a:bodyPr wrap="square"/>
                    <a:lstStyle/>
                    <a:p>
                      <a:pPr algn="l">
                        <a:spcAft>
                          <a:spcPts val="0"/>
                        </a:spcAft>
                        <a:buNone/>
                      </a:pPr>
                      <a:r>
                        <a:rPr sz="1250" b="0">
                          <a:solidFill>
                            <a:srgbClr val="202B38"/>
                          </a:solidFill>
                          <a:latin typeface="Arial"/>
                        </a:rPr>
                        <a:t>SKILL.md loader, three-level progressive disclosure (skills.py)</a:t>
                      </a:r>
                    </a:p>
                  </a:txBody>
                  <a:tcPr>
                    <a:solidFill>
                      <a:srgbClr val="EEF3FD"/>
                    </a:solidFill>
                  </a:tcPr>
                </a:tc>
              </a:tr>
              <a:tr h="457200">
                <a:tc>
                  <a:txBody>
                    <a:bodyPr wrap="square"/>
                    <a:lstStyle/>
                    <a:p>
                      <a:pPr algn="l">
                        <a:spcAft>
                          <a:spcPts val="0"/>
                        </a:spcAft>
                        <a:buNone/>
                      </a:pPr>
                      <a:r>
                        <a:rPr sz="1250" b="0">
                          <a:solidFill>
                            <a:srgbClr val="202B38"/>
                          </a:solidFill>
                          <a:latin typeface="Arial"/>
                        </a:rPr>
                        <a:t>5. The loop</a:t>
                      </a:r>
                    </a:p>
                  </a:txBody>
                  <a:tcPr>
                    <a:solidFill>
                      <a:srgbClr val="FFFFFF"/>
                    </a:solidFill>
                  </a:tcPr>
                </a:tc>
                <a:tc>
                  <a:txBody>
                    <a:bodyPr wrap="square"/>
                    <a:lstStyle/>
                    <a:p>
                      <a:pPr algn="l">
                        <a:spcAft>
                          <a:spcPts val="0"/>
                        </a:spcAft>
                        <a:buNone/>
                      </a:pPr>
                      <a:r>
                        <a:rPr sz="1250" b="0">
                          <a:solidFill>
                            <a:srgbClr val="202B38"/>
                          </a:solidFill>
                          <a:latin typeface="Arial"/>
                        </a:rPr>
                        <a:t>steering wheel and pedals</a:t>
                      </a:r>
                    </a:p>
                  </a:txBody>
                  <a:tcPr>
                    <a:solidFill>
                      <a:srgbClr val="FFFFFF"/>
                    </a:solidFill>
                  </a:tcPr>
                </a:tc>
                <a:tc>
                  <a:txBody>
                    <a:bodyPr wrap="square"/>
                    <a:lstStyle/>
                    <a:p>
                      <a:pPr algn="l">
                        <a:spcAft>
                          <a:spcPts val="0"/>
                        </a:spcAft>
                        <a:buNone/>
                      </a:pPr>
                      <a:r>
                        <a:rPr sz="1250" b="0">
                          <a:solidFill>
                            <a:srgbClr val="202B38"/>
                          </a:solidFill>
                          <a:latin typeface="Arial"/>
                        </a:rPr>
                        <a:t>Agent.run: gather, act, verify; exits done, max_turns, budget (agent.py)</a:t>
                      </a:r>
                    </a:p>
                  </a:txBody>
                  <a:tcPr>
                    <a:solidFill>
                      <a:srgbClr val="FFFFFF"/>
                    </a:solidFill>
                  </a:tcPr>
                </a:tc>
              </a:tr>
              <a:tr h="457200">
                <a:tc>
                  <a:txBody>
                    <a:bodyPr wrap="square"/>
                    <a:lstStyle/>
                    <a:p>
                      <a:pPr algn="l">
                        <a:spcAft>
                          <a:spcPts val="0"/>
                        </a:spcAft>
                        <a:buNone/>
                      </a:pPr>
                      <a:r>
                        <a:rPr sz="1250" b="0">
                          <a:solidFill>
                            <a:srgbClr val="202B38"/>
                          </a:solidFill>
                          <a:latin typeface="Arial"/>
                        </a:rPr>
                        <a:t>6. Guardrails</a:t>
                      </a:r>
                    </a:p>
                  </a:txBody>
                  <a:tcPr>
                    <a:solidFill>
                      <a:srgbClr val="EEF3FD"/>
                    </a:solidFill>
                  </a:tcPr>
                </a:tc>
                <a:tc>
                  <a:txBody>
                    <a:bodyPr wrap="square"/>
                    <a:lstStyle/>
                    <a:p>
                      <a:pPr algn="l">
                        <a:spcAft>
                          <a:spcPts val="0"/>
                        </a:spcAft>
                        <a:buNone/>
                      </a:pPr>
                      <a:r>
                        <a:rPr sz="1250" b="0">
                          <a:solidFill>
                            <a:srgbClr val="202B38"/>
                          </a:solidFill>
                          <a:latin typeface="Arial"/>
                        </a:rPr>
                        <a:t>brakes, seatbelts, airbags</a:t>
                      </a:r>
                    </a:p>
                  </a:txBody>
                  <a:tcPr>
                    <a:solidFill>
                      <a:srgbClr val="EEF3FD"/>
                    </a:solidFill>
                  </a:tcPr>
                </a:tc>
                <a:tc>
                  <a:txBody>
                    <a:bodyPr wrap="square"/>
                    <a:lstStyle/>
                    <a:p>
                      <a:pPr algn="l">
                        <a:spcAft>
                          <a:spcPts val="0"/>
                        </a:spcAft>
                        <a:buNone/>
                      </a:pPr>
                      <a:r>
                        <a:rPr sz="1250" b="0">
                          <a:solidFill>
                            <a:srgbClr val="202B38"/>
                          </a:solidFill>
                          <a:latin typeface="Arial"/>
                        </a:rPr>
                        <a:t>Hooks before_tool, after_tool, validate_answer; permissions (agent.py)</a:t>
                      </a:r>
                    </a:p>
                  </a:txBody>
                  <a:tcPr>
                    <a:solidFill>
                      <a:srgbClr val="EEF3FD"/>
                    </a:solidFill>
                  </a:tcPr>
                </a:tc>
              </a:tr>
              <a:tr h="457200">
                <a:tc>
                  <a:txBody>
                    <a:bodyPr wrap="square"/>
                    <a:lstStyle/>
                    <a:p>
                      <a:pPr algn="l">
                        <a:spcAft>
                          <a:spcPts val="0"/>
                        </a:spcAft>
                        <a:buNone/>
                      </a:pPr>
                      <a:r>
                        <a:rPr sz="1250" b="0">
                          <a:solidFill>
                            <a:srgbClr val="202B38"/>
                          </a:solidFill>
                          <a:latin typeface="Arial"/>
                        </a:rPr>
                        <a:t>7. Orchestration</a:t>
                      </a:r>
                    </a:p>
                  </a:txBody>
                  <a:tcPr>
                    <a:solidFill>
                      <a:srgbClr val="FFFFFF"/>
                    </a:solidFill>
                  </a:tcPr>
                </a:tc>
                <a:tc>
                  <a:txBody>
                    <a:bodyPr wrap="square"/>
                    <a:lstStyle/>
                    <a:p>
                      <a:pPr algn="l">
                        <a:spcAft>
                          <a:spcPts val="0"/>
                        </a:spcAft>
                        <a:buNone/>
                      </a:pPr>
                      <a:r>
                        <a:rPr sz="1250" b="0">
                          <a:solidFill>
                            <a:srgbClr val="202B38"/>
                          </a:solidFill>
                          <a:latin typeface="Arial"/>
                        </a:rPr>
                        <a:t>convoy and job board</a:t>
                      </a:r>
                    </a:p>
                  </a:txBody>
                  <a:tcPr>
                    <a:solidFill>
                      <a:srgbClr val="FFFFFF"/>
                    </a:solidFill>
                  </a:tcPr>
                </a:tc>
                <a:tc>
                  <a:txBody>
                    <a:bodyPr wrap="square"/>
                    <a:lstStyle/>
                    <a:p>
                      <a:pPr algn="l">
                        <a:spcAft>
                          <a:spcPts val="0"/>
                        </a:spcAft>
                        <a:buNone/>
                      </a:pPr>
                      <a:r>
                        <a:rPr sz="1250" b="0">
                          <a:solidFill>
                            <a:srgbClr val="202B38"/>
                          </a:solidFill>
                          <a:latin typeface="Arial"/>
                        </a:rPr>
                        <a:t>chain, route, parallel, orchestrate, evaluate_optimize; SubAgentPool, Team, handoff (patterns.py, multi.py)</a:t>
                      </a:r>
                    </a:p>
                  </a:txBody>
                  <a:tcPr>
                    <a:solidFill>
                      <a:srgbClr val="FFFFFF"/>
                    </a:solidFill>
                  </a:tcPr>
                </a:tc>
              </a:tr>
              <a:tr h="457200">
                <a:tc>
                  <a:txBody>
                    <a:bodyPr wrap="square"/>
                    <a:lstStyle/>
                    <a:p>
                      <a:pPr algn="l">
                        <a:spcAft>
                          <a:spcPts val="0"/>
                        </a:spcAft>
                        <a:buNone/>
                      </a:pPr>
                      <a:r>
                        <a:rPr sz="1250" b="0">
                          <a:solidFill>
                            <a:srgbClr val="202B38"/>
                          </a:solidFill>
                          <a:latin typeface="Arial"/>
                        </a:rPr>
                        <a:t>8. Evals and observability</a:t>
                      </a:r>
                    </a:p>
                  </a:txBody>
                  <a:tcPr>
                    <a:solidFill>
                      <a:srgbClr val="EEF3FD"/>
                    </a:solidFill>
                  </a:tcPr>
                </a:tc>
                <a:tc>
                  <a:txBody>
                    <a:bodyPr wrap="square"/>
                    <a:lstStyle/>
                    <a:p>
                      <a:pPr algn="l">
                        <a:spcAft>
                          <a:spcPts val="0"/>
                        </a:spcAft>
                        <a:buNone/>
                      </a:pPr>
                      <a:r>
                        <a:rPr sz="1250" b="0">
                          <a:solidFill>
                            <a:srgbClr val="202B38"/>
                          </a:solidFill>
                          <a:latin typeface="Arial"/>
                        </a:rPr>
                        <a:t>the logbook</a:t>
                      </a:r>
                    </a:p>
                  </a:txBody>
                  <a:tcPr>
                    <a:solidFill>
                      <a:srgbClr val="EEF3FD"/>
                    </a:solidFill>
                  </a:tcPr>
                </a:tc>
                <a:tc>
                  <a:txBody>
                    <a:bodyPr wrap="square"/>
                    <a:lstStyle/>
                    <a:p>
                      <a:pPr algn="l">
                        <a:spcAft>
                          <a:spcPts val="0"/>
                        </a:spcAft>
                        <a:buNone/>
                      </a:pPr>
                      <a:r>
                        <a:rPr sz="1250" b="0">
                          <a:solidFill>
                            <a:srgbClr val="202B38"/>
                          </a:solidFill>
                          <a:latin typeface="Arial"/>
                        </a:rPr>
                        <a:t>EvalCase, graders, compare; Trace, show, cost (evals.py, trace.py)</a:t>
                      </a:r>
                    </a:p>
                  </a:txBody>
                  <a:tcPr>
                    <a:solidFill>
                      <a:srgbClr val="EEF3FD"/>
                    </a:solidFill>
                  </a:tcPr>
                </a:tc>
              </a:tr>
            </a:tbl>
          </a:graphicData>
        </a:graphic>
      </p:graphicFrame>
      <p:sp>
        <p:nvSpPr>
          <p:cNvPr id="8" name="TextBox 7"/>
          <p:cNvSpPr txBox="1"/>
          <p:nvPr/>
        </p:nvSpPr>
        <p:spPr>
          <a:xfrm>
            <a:off x="548640" y="6053328"/>
            <a:ext cx="11091672" cy="502920"/>
          </a:xfrm>
          <a:prstGeom prst="rect">
            <a:avLst/>
          </a:prstGeom>
          <a:noFill/>
        </p:spPr>
        <p:txBody>
          <a:bodyPr wrap="square">
            <a:spAutoFit/>
          </a:bodyPr>
          <a:lstStyle/>
          <a:p>
            <a:pPr algn="l">
              <a:spcAft>
                <a:spcPts val="600"/>
              </a:spcAft>
              <a:buNone/>
            </a:pPr>
            <a:r>
              <a:rPr sz="1200" b="0">
                <a:solidFill>
                  <a:srgbClr val="1E5EF3"/>
                </a:solidFill>
                <a:latin typeface="Arial"/>
              </a:rPr>
              <a:t>Canon order from the course brief (Session 1). Every module lives in the harness/ folder next to the notebooks and runs without an API key.</a:t>
            </a:r>
          </a:p>
        </p:txBody>
      </p:sp>
      <p:sp>
        <p:nvSpPr>
          <p:cNvPr id="9" name="TextBox 8"/>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5B6774"/>
                </a:solidFill>
                <a:latin typeface="Arial"/>
              </a:rPr>
              <a:t>M5 Session 4 - Sub-agents, Teams and the Discipline</a:t>
            </a:r>
          </a:p>
        </p:txBody>
      </p:sp>
      <p:sp>
        <p:nvSpPr>
          <p:cNvPr id="10" name="TextBox 9"/>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5B6774"/>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280160"/>
            <a:ext cx="10332720" cy="1097280"/>
          </a:xfrm>
          <a:prstGeom prst="rect">
            <a:avLst/>
          </a:prstGeom>
          <a:noFill/>
        </p:spPr>
        <p:txBody>
          <a:bodyPr wrap="square">
            <a:spAutoFit/>
          </a:bodyPr>
          <a:lstStyle/>
          <a:p>
            <a:pPr algn="l">
              <a:spcAft>
                <a:spcPts val="600"/>
              </a:spcAft>
              <a:buNone/>
            </a:pPr>
            <a:r>
              <a:rPr sz="3400" b="1">
                <a:solidFill>
                  <a:srgbClr val="FFFFFF"/>
                </a:solidFill>
                <a:latin typeface="Arial"/>
              </a:rPr>
              <a:t>What you can now build</a:t>
            </a:r>
          </a:p>
        </p:txBody>
      </p:sp>
      <p:sp>
        <p:nvSpPr>
          <p:cNvPr id="4" name="TextBox 3"/>
          <p:cNvSpPr txBox="1"/>
          <p:nvPr/>
        </p:nvSpPr>
        <p:spPr>
          <a:xfrm>
            <a:off x="914400" y="2651760"/>
            <a:ext cx="10058400" cy="2926080"/>
          </a:xfrm>
          <a:prstGeom prst="rect">
            <a:avLst/>
          </a:prstGeom>
          <a:noFill/>
        </p:spPr>
        <p:txBody>
          <a:bodyPr wrap="square">
            <a:spAutoFit/>
          </a:bodyPr>
          <a:lstStyle/>
          <a:p>
            <a:pPr algn="l" indent="-228600" marL="228600">
              <a:spcAft>
                <a:spcPts val="1000"/>
              </a:spcAft>
              <a:buClr>
                <a:srgbClr val="1E5EF3"/>
              </a:buClr>
              <a:buChar char="—"/>
            </a:pPr>
            <a:r>
              <a:rPr sz="1600" b="0">
                <a:solidFill>
                  <a:srgbClr val="B9D0FA"/>
                </a:solidFill>
                <a:latin typeface="Arial"/>
              </a:rPr>
              <a:t>A harness: model + loop + tools + skills + guardrails + traces, with no API key needed</a:t>
            </a:r>
          </a:p>
          <a:p>
            <a:pPr algn="l" indent="-228600" marL="228600">
              <a:spcAft>
                <a:spcPts val="1000"/>
              </a:spcAft>
              <a:buClr>
                <a:srgbClr val="1E5EF3"/>
              </a:buClr>
              <a:buChar char="—"/>
            </a:pPr>
            <a:r>
              <a:rPr sz="1600" b="0">
                <a:solidFill>
                  <a:srgbClr val="B9D0FA"/>
                </a:solidFill>
                <a:latin typeface="Arial"/>
              </a:rPr>
              <a:t>A workflow when the path is known; an agent when it is not</a:t>
            </a:r>
          </a:p>
          <a:p>
            <a:pPr algn="l" indent="-228600" marL="228600">
              <a:spcAft>
                <a:spcPts val="1000"/>
              </a:spcAft>
              <a:buClr>
                <a:srgbClr val="1E5EF3"/>
              </a:buClr>
              <a:buChar char="—"/>
            </a:pPr>
            <a:r>
              <a:rPr sz="1600" b="0">
                <a:solidFill>
                  <a:srgbClr val="B9D0FA"/>
                </a:solidFill>
                <a:latin typeface="Arial"/>
              </a:rPr>
              <a:t>Sub-agents to keep the lead small; teams for parallel tasks; handoffs for specialists</a:t>
            </a:r>
          </a:p>
          <a:p>
            <a:pPr algn="l" indent="-228600" marL="228600">
              <a:spcAft>
                <a:spcPts val="1000"/>
              </a:spcAft>
              <a:buClr>
                <a:srgbClr val="1E5EF3"/>
              </a:buClr>
              <a:buChar char="—"/>
            </a:pPr>
            <a:r>
              <a:rPr sz="1600" b="0">
                <a:solidFill>
                  <a:srgbClr val="B9D0FA"/>
                </a:solidFill>
                <a:latin typeface="Arial"/>
              </a:rPr>
              <a:t>An eval suite that puts a pass rate and a price on every change</a:t>
            </a:r>
          </a:p>
          <a:p>
            <a:pPr algn="l" indent="-228600" marL="228600">
              <a:spcAft>
                <a:spcPts val="1000"/>
              </a:spcAft>
              <a:buClr>
                <a:srgbClr val="1E5EF3"/>
              </a:buClr>
              <a:buChar char="—"/>
            </a:pPr>
            <a:r>
              <a:rPr sz="1600" b="0">
                <a:solidFill>
                  <a:srgbClr val="B9D0FA"/>
                </a:solidFill>
                <a:latin typeface="Arial"/>
              </a:rPr>
              <a:t>Guards that run in code: risk levels, validators, max turns, budgets</a:t>
            </a:r>
          </a:p>
          <a:p>
            <a:pPr algn="l" indent="-228600" marL="228600">
              <a:spcAft>
                <a:spcPts val="1000"/>
              </a:spcAft>
              <a:buClr>
                <a:srgbClr val="1E5EF3"/>
              </a:buClr>
              <a:buChar char="—"/>
            </a:pPr>
            <a:r>
              <a:rPr sz="1600" b="0">
                <a:solidFill>
                  <a:srgbClr val="B9D0FA"/>
                </a:solidFill>
                <a:latin typeface="Arial"/>
              </a:rPr>
              <a:t>The discipline: instruction files, executable guards, evals in CI, observability</a:t>
            </a:r>
          </a:p>
          <a:p>
            <a:pPr algn="l" indent="-228600" marL="228600">
              <a:spcAft>
                <a:spcPts val="1000"/>
              </a:spcAft>
              <a:buClr>
                <a:srgbClr val="1E5EF3"/>
              </a:buClr>
              <a:buChar char="—"/>
            </a:pPr>
            <a:r>
              <a:rPr sz="1600" b="0">
                <a:solidFill>
                  <a:srgbClr val="B9D0FA"/>
                </a:solidFill>
                <a:latin typeface="Arial"/>
              </a:rPr>
              <a:t>Two engines, one harness: model_for(role) gives Claude when a key is present (.env, never in a cell, never committed), the stand-in otherwise</a:t>
            </a:r>
          </a:p>
        </p:txBody>
      </p:sp>
      <p:sp>
        <p:nvSpPr>
          <p:cNvPr id="5" name="TextBox 4"/>
          <p:cNvSpPr txBox="1"/>
          <p:nvPr/>
        </p:nvSpPr>
        <p:spPr>
          <a:xfrm>
            <a:off x="914400" y="6035040"/>
            <a:ext cx="9144000" cy="365760"/>
          </a:xfrm>
          <a:prstGeom prst="rect">
            <a:avLst/>
          </a:prstGeom>
          <a:noFill/>
        </p:spPr>
        <p:txBody>
          <a:bodyPr wrap="square">
            <a:spAutoFit/>
          </a:bodyPr>
          <a:lstStyle/>
          <a:p>
            <a:pPr algn="l">
              <a:spcAft>
                <a:spcPts val="600"/>
              </a:spcAft>
              <a:buNone/>
            </a:pPr>
            <a:r>
              <a:rPr sz="1200" b="0">
                <a:solidFill>
                  <a:srgbClr val="B9D0FA"/>
                </a:solidFill>
                <a:latin typeface="Arial"/>
              </a:rPr>
              <a:t>Harness Engineering - Module 5</a:t>
            </a:r>
          </a:p>
        </p:txBody>
      </p:sp>
      <p:sp>
        <p:nvSpPr>
          <p:cNvPr id="6" name="TextBox 5"/>
          <p:cNvSpPr txBox="1"/>
          <p:nvPr/>
        </p:nvSpPr>
        <p:spPr>
          <a:xfrm>
            <a:off x="548640" y="6473952"/>
            <a:ext cx="7315200" cy="292608"/>
          </a:xfrm>
          <a:prstGeom prst="rect">
            <a:avLst/>
          </a:prstGeom>
          <a:noFill/>
        </p:spPr>
        <p:txBody>
          <a:bodyPr wrap="square">
            <a:spAutoFit/>
          </a:bodyPr>
          <a:lstStyle/>
          <a:p>
            <a:pPr algn="l">
              <a:spcAft>
                <a:spcPts val="600"/>
              </a:spcAft>
              <a:buNone/>
            </a:pPr>
            <a:r>
              <a:rPr sz="900" b="0">
                <a:solidFill>
                  <a:srgbClr val="B9D0FA"/>
                </a:solidFill>
                <a:latin typeface="Arial"/>
              </a:rPr>
              <a:t>M5 Session 4 - Sub-agents, Teams and the Discipline</a:t>
            </a:r>
          </a:p>
        </p:txBody>
      </p:sp>
      <p:sp>
        <p:nvSpPr>
          <p:cNvPr id="7" name="TextBox 6"/>
          <p:cNvSpPr txBox="1"/>
          <p:nvPr/>
        </p:nvSpPr>
        <p:spPr>
          <a:xfrm>
            <a:off x="11292840" y="6473952"/>
            <a:ext cx="548640" cy="292608"/>
          </a:xfrm>
          <a:prstGeom prst="rect">
            <a:avLst/>
          </a:prstGeom>
          <a:noFill/>
        </p:spPr>
        <p:txBody>
          <a:bodyPr wrap="square">
            <a:spAutoFit/>
          </a:bodyPr>
          <a:lstStyle/>
          <a:p>
            <a:pPr algn="r">
              <a:spcAft>
                <a:spcPts val="600"/>
              </a:spcAft>
              <a:buNone/>
            </a:pPr>
            <a:r>
              <a:rPr sz="900" b="0">
                <a:solidFill>
                  <a:srgbClr val="B9D0FA"/>
                </a:solidFill>
                <a:latin typeface="Arial"/>
              </a:rPr>
              <a:t>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M5 Session 4 - Sub-agents, Teams and the Discipline</dc:title>
  <dc:subject/>
  <dc:creator>M5 Harness Engineering course</dc:creator>
  <cp:keywords/>
  <dc:description/>
  <cp:lastModifiedBy>M5 Harness Engineering course</cp:lastModifiedBy>
  <cp:revision>1</cp:revision>
  <dcterms:created xsi:type="dcterms:W3CDTF">2013-01-27T09:14:16Z</dcterms:created>
  <dcterms:modified xsi:type="dcterms:W3CDTF">2013-01-27T09:15:58Z</dcterms:modified>
  <cp:category/>
</cp:coreProperties>
</file>