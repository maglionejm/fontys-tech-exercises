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5. Four sessions, four notebooks, one idea: an agent is a model plus a harness, and the harness is where most of the engineering happens. Today: where the word comes from, what a harness is made of, and one question answered three ways in notebook 01. Class question to open: what do you think happens between your message and the model's answer in a tool like Claude Code or Codex?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is ideas only, about 35 minutes: the timeline, three definitions, the car, the evidence, the eight pieces, workflows against agents, and the vocabulary. Class question: before we start, in one sentence, what is prompt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line left to right. 2020 to 2023 is the prompt era: few-shot prompting (Brown et al.), chain-of-thought (Wei et al., Jan 2022), ReAct (Yao et al., Oct 2022) which interleaves reasoning and actions and is the seed of the agent loop, and OpenAI function calling (13 Jun 2023) which made structured tool calls a product feature. 2024-2025 is the context era: MCP (25 Nov 2024), Building effective agents (19 Dec 2024), context engineering replacing prompt engineering in Jun 2025, Anthropic's context-engineering post and the Agent SDK (29 Sep 2025), Agent Skills (16 Oct 2025). 2026 is the harness era: evals (Jan), OpenAI names harness engineering (11 Feb), the eleven-harness source study (Jul). Class question: which of these twelve steps have you already used, knowingly or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to set expectations: 21,500 repositories in one year, and a median age of 8.7 months. Nobody has ten years of harness experience. The practices we teach in this module are the ones that survived the first two years. Class question: what does a median age of 8.7 months tell you about the tutorials you find online?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once, then unpack it: a loop, tools, context management, safety controls, orchestration, extension surfaces. Those six words are the table of contents of this module. The paper read the source code of eleven systems (Claude Code, Codex CLI, Gemini CLI, Aider, OpenHands, mini-SWE-agent, Hermes, Pi, OpenCode, OpenClaw, Mistral Vibe) and found that 'the field runs on hand-rolled async loops and deterministic retrieval'. Class question: which of the six words do you think is hardest to get right, and why?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shortest definition we have, and the plain-words version we will repeat all module - the model is the engine, the harness is the rest of the car. Right: OpenAI's experiment makes it concrete. When no human writes code by hand, everything that keeps quality up must live in the harness: documents in the repository that the agent reads, and checks in CI that the agent cannot skip. 'Deterministic scaffolding around probabilistic model steps' is the phrase to remember. Class question: if the model is probabilistic, which parts of the car must not be?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the concrete thing first, then the picture. Claude Code, Codex CLI and Gemini CLI are all the same shape: a program calls a model, the model asks for a tool, the program runs it and pastes the result back, until the model says it is done. The car gives us one word per piece for the rest of the module. Class question: which car part is missing when an agent deletes a file it should not have touched?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justifies the module. The model is held fixed and the score moves by 7 to 15 points depending on the runtime around it. Be careful with the wording: the harness does not beat the model, it changes how much of the model's capability reaches the task. That is why the May 2026 paper asks every benchmark to disclose the harness. Class question: if two papers report different scores for the same model, what is the first question you now 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ring clockwise from the top and give each piece its plain-words line: context is everything the model sees on one call; a tool is a function the model asks for by name with JSON arguments; a skill is a folder of instructions opened when the task matches; the loop is gather context, act, verify, repeat, with stop conditions; guardrails are checks that run outside the model; orchestration is workflows when the path is known and agents when it is not; evals are a task, a grader and an outcome, and a trace records every step. Class question: which of the eight would you build first if you had one afternoon?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December 2024 post drew this line and it has held. Start with the simplest thing: a single model call with retrieval. Move to a workflow when you can draw the steps. Move to an agent only when the steps depend on what the previous step found, and then pay for it with stop conditions and traces. Class question: booking a flight from a fixed form - workflow or agent? Debugging a failing test - workflow or agent?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here replaces the previous column; each contains the one before. Prompt engineering is still inside context engineering (the system prompt is words), and context engineering is inside harness engineering (the harness decides what enters the window). What changes is what you control and, above all, what you measure. Class question: which row would your current chatbot project fail on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each line once and make the students say it back. These six words carry the whole practice part. Class question: in one sentence, what is the difference between a prompt and a context?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notebook 01 now. It needs an ANTHROPIC_API_KEY in a git-ignored .env at the repository root, or a Colab secret; the setup cell stops with one sentence if it finds none. Everything in Part 2 is printed by the notebook from a real run, recorded on 30 Sep 2026. A live run today differs in wording, route and tokens, and the notebook says 'in the run recorded here' wherever it quotes a result. Class question: what do you expect the bare model to answer about a repository it has never seen, and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point at in the setup cell: the key never appears in an output, the client is created once, and the model facts come from the API, not from memory. The question is chosen so that no model can know it and one file in this repository settles it. Read the three answers aloud. The first two are honest about not knowing, which is good behaviour, but they contain no checkable fact. The third gives the version, the count and the path. Class question: the first two answers both mention notebooks.yml; does that mean the model knew the file, or guessed a conventional name?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eight lines in order and name the four shapes the model and the harness exchange: the messages list, the tools parameter, the tool_use block the model returns, and the tool_result block you send back. Two stop conditions, both in your code: the ceiling on turns and the stop reason. Everything else in a production harness, permissions, budgets, traces, sub-agents, is added around these lines, never instead of them. Class question: which line would you change first to add a token budget, and which one to refuse a dangerous tool?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a story. The model cannot know where the workflow file is, so it lists the root and the workflows folder in one turn; the loop runs both tools and sends both results back together. It then reads the one file that matters and answers with the fact and the path. Point at the input tokens: 702, 1,052, 2,359. Every call re-sends the whole conversation, including the 2,809-character file, which is where the cost of a harness goes and the subject of Session 2. Class question: what would the third call have cost if the README, at almost 17,000 characters, had been read instead of the workflow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notebook's own table, checked mechanically: the checker parses notebooks.yml for the Python version and the matrix size, so the notebook cannot drift from the repository. The column that matters is 'gives the fact'. 'Names the file' is weaker evidence: the two prompt-only answers offer notebooks.yml as a typical name to go and look for, the harness cites it as the file it read. Class question: which column would you add to catch an answer that names the right file but quotes the wrong version?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free. Every tool result is pasted into the context and the model reads it again on the next call. Note the surprise in the output column: the two prompt-only answers wrote more, because they spent their output explaining what they would need; the harness wrote less, because it had the fact. Session 2 is about keeping the input bill down: context budgets, compaction, notes outside the window. Class question: for which questions would you refuse to pay 0.03 USD, and for which would you happily pay 3 USD?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generated schema next to the hand-written one: the decorator kept the docstring, turned the type hint into the schema and added additionalProperties false. Then the runner: one for loop, one call to generate_tool_call_response per iteration, and the same three calls as before. This is the right default for a small agent, and it is also the point where the harness starts: tools, refusals, stop conditions, measurement and tests are yours to add. Session 3 builds them as a small package with a trace, a budget, hooks and an eval suite. Class question: name one thing the runner cannot decide for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already met four pieces today on the raw SDK: the model behind one call, the context as a messages list, tools as JSON, and the loop. Read the other columns as the map of the module: Session 3 turns the loop into a package with hooks, a trace and evals; the labs show the same pieces inside Claude Code as files you can open; CI runs the unit tests always and the evals when the key is present. Class question: which of the eight would you build first if you had one afternoon, and which would you borrow?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the evidence slide. At benchmark scale the harness moves the score by 9.5 points; at notebook scale it moves the answer from 'I cannot know' to the fact and the file. Same lesson, two scales. Class question: if you could only change the model or only change the harness for your project, which would you pick and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seven lines, then point at the exercises at the end of notebook 01, all with executed solutions from the same recorded run: a third tool count_lines (the model called it straight away and got 49 lines in 2 model calls); max_turns=1 (the model asked for 2 listings, the tools ran, and the only answer was 'I'll explore the repository structure first.', stopped because max_turns); the trap question 'How many students took this course?' (3 model calls, 2 tool calls, 0.0562 USD, the most expensive run in the notebook, and a plain 'the repository doesn't contain that'); and claude-sonnet-5 on the same harness (3 model calls, 2 tool calls, 3,783 input tokens, 0.0106 USD against 0.0293, both give the fact). The whole notebook billed 17 model calls, 24,077 input tokens, 2,704 output tokens and 0.1720 USD. Next session opens the four pieces the model sees: models, context, tools and skills. Class question to close: which of the eight pieces did notebook 01's loop NOT have, and what could go wrong because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spAutoFit/>
          </a:bodyPr>
          <a:lstStyle/>
          <a:p>
            <a:pPr algn="l">
              <a:spcAft>
                <a:spcPts val="600"/>
              </a:spcAft>
              <a:buNone/>
            </a:pPr>
            <a:r>
              <a:rPr sz="1400" b="1">
                <a:solidFill>
                  <a:srgbClr val="1E5EF3"/>
                </a:solidFill>
                <a:latin typeface="Arial"/>
              </a:rPr>
              <a:t>SESSION 1 OF 4</a:t>
            </a:r>
          </a:p>
        </p:txBody>
      </p:sp>
      <p:sp>
        <p:nvSpPr>
          <p:cNvPr id="5" name="TextBox 4"/>
          <p:cNvSpPr txBox="1"/>
          <p:nvPr/>
        </p:nvSpPr>
        <p:spPr>
          <a:xfrm>
            <a:off x="914400" y="2377440"/>
            <a:ext cx="10332720" cy="1737360"/>
          </a:xfrm>
          <a:prstGeom prst="rect">
            <a:avLst/>
          </a:prstGeom>
          <a:noFill/>
        </p:spPr>
        <p:txBody>
          <a:bodyPr wrap="square">
            <a:spAutoFit/>
          </a:bodyPr>
          <a:lstStyle/>
          <a:p>
            <a:pPr algn="l">
              <a:spcAft>
                <a:spcPts val="0"/>
              </a:spcAft>
              <a:buNone/>
            </a:pPr>
            <a:r>
              <a:rPr sz="4400" b="1">
                <a:solidFill>
                  <a:srgbClr val="0A2540"/>
                </a:solidFill>
                <a:latin typeface="Arial"/>
              </a:rPr>
              <a:t>From Prompts to Harnesses</a:t>
            </a:r>
          </a:p>
        </p:txBody>
      </p:sp>
      <p:sp>
        <p:nvSpPr>
          <p:cNvPr id="6" name="TextBox 5"/>
          <p:cNvSpPr txBox="1"/>
          <p:nvPr/>
        </p:nvSpPr>
        <p:spPr>
          <a:xfrm>
            <a:off x="914400" y="4114800"/>
            <a:ext cx="9601200" cy="822960"/>
          </a:xfrm>
          <a:prstGeom prst="rect">
            <a:avLst/>
          </a:prstGeom>
          <a:noFill/>
        </p:spPr>
        <p:txBody>
          <a:bodyPr wrap="square">
            <a:spAutoFit/>
          </a:bodyPr>
          <a:lstStyle/>
          <a:p>
            <a:pPr algn="l">
              <a:spcAft>
                <a:spcPts val="600"/>
              </a:spcAft>
              <a:buNone/>
            </a:pPr>
            <a:r>
              <a:rPr sz="1800" b="0">
                <a:solidFill>
                  <a:srgbClr val="5B6774"/>
                </a:solidFill>
                <a:latin typeface="Arial"/>
              </a:rPr>
              <a:t>Same model, two harnesses, 9.5 points apart. In six years the lever moved from the words you send to the runtime around the model. First the ideas, then one question answered three ways.</a:t>
            </a:r>
          </a:p>
        </p:txBody>
      </p:sp>
      <p:sp>
        <p:nvSpPr>
          <p:cNvPr id="7" name="TextBox 6"/>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5B6774"/>
                </a:solidFill>
                <a:latin typeface="Arial"/>
              </a:rPr>
              <a:t>Harness Engineering - Module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01</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1 - The theory: from the prompt to the harness</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Where the word comes from, what a harness is made of, and the evidence that it changes results.</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1 - From Prompts to Harnesses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TIMELINE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Six years moved the lever from the words you send to the runtime around the model</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_timeline.png"/>
          <p:cNvPicPr>
            <a:picLocks noChangeAspect="1"/>
          </p:cNvPicPr>
          <p:nvPr/>
        </p:nvPicPr>
        <p:blipFill>
          <a:blip r:embed="rId2"/>
          <a:stretch>
            <a:fillRect/>
          </a:stretch>
        </p:blipFill>
        <p:spPr>
          <a:xfrm>
            <a:off x="1554480" y="1874519"/>
            <a:ext cx="9052560" cy="4024464"/>
          </a:xfrm>
          <a:prstGeom prst="rect">
            <a:avLst/>
          </a:prstGeom>
        </p:spPr>
      </p:pic>
      <p:sp>
        <p:nvSpPr>
          <p:cNvPr id="8" name="TextBox 7"/>
          <p:cNvSpPr txBox="1"/>
          <p:nvPr/>
        </p:nvSpPr>
        <p:spPr>
          <a:xfrm>
            <a:off x="1554480" y="6062471"/>
            <a:ext cx="9052560" cy="365760"/>
          </a:xfrm>
          <a:prstGeom prst="rect">
            <a:avLst/>
          </a:prstGeom>
          <a:noFill/>
        </p:spPr>
        <p:txBody>
          <a:bodyPr wrap="square">
            <a:spAutoFit/>
          </a:bodyPr>
          <a:lstStyle/>
          <a:p>
            <a:pPr algn="ctr">
              <a:spcAft>
                <a:spcPts val="600"/>
              </a:spcAft>
              <a:buNone/>
            </a:pPr>
            <a:r>
              <a:rPr sz="1100" b="0">
                <a:solidFill>
                  <a:srgbClr val="5B6774"/>
                </a:solidFill>
                <a:latin typeface="Arial"/>
              </a:rPr>
              <a:t>How to read it: left to right in time, evenly spaced (not to scale). Gray = prompt era, blue = context era, navy = harness era. Dates from the cited papers and posts.</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WHY NOW</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field is young: most harnesses are less than a year old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21,500</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'agent harness' repositories created in 2026; median harness age 8.7 months</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Marmelab, The State of AI Harness Engineering 2026, 24 Sep 2026. In plain words: almost everyone building this is a beginner too - the discipline is being written now.</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554480"/>
            <a:ext cx="73152" cy="27432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18320" cy="2560320"/>
          </a:xfrm>
          <a:prstGeom prst="rect">
            <a:avLst/>
          </a:prstGeom>
          <a:noFill/>
        </p:spPr>
        <p:txBody>
          <a:bodyPr wrap="square">
            <a:spAutoFit/>
          </a:bodyPr>
          <a:lstStyle/>
          <a:p>
            <a:pPr algn="l">
              <a:spcAft>
                <a:spcPts val="600"/>
              </a:spcAft>
              <a:buNone/>
            </a:pPr>
            <a:r>
              <a:rPr sz="2600" b="0">
                <a:solidFill>
                  <a:srgbClr val="0A2540"/>
                </a:solidFill>
                <a:latin typeface="Arial"/>
              </a:rPr>
              <a:t>“An agent is a model plus a harness: the runtime that couples an LLM to the world through a loop, tools, context management, safety controls, orchestration, and extension surfaces. Harness engineering, named as a discipline in early 2026, is the design and evolution of that runtime.”</a:t>
            </a:r>
          </a:p>
        </p:txBody>
      </p:sp>
      <p:sp>
        <p:nvSpPr>
          <p:cNvPr id="5" name="TextBox 4"/>
          <p:cNvSpPr txBox="1"/>
          <p:nvPr/>
        </p:nvSpPr>
        <p:spPr>
          <a:xfrm>
            <a:off x="1371600" y="4572000"/>
            <a:ext cx="9418320" cy="548640"/>
          </a:xfrm>
          <a:prstGeom prst="rect">
            <a:avLst/>
          </a:prstGeom>
          <a:noFill/>
        </p:spPr>
        <p:txBody>
          <a:bodyPr wrap="square">
            <a:spAutoFit/>
          </a:bodyPr>
          <a:lstStyle/>
          <a:p>
            <a:pPr algn="l">
              <a:spcAft>
                <a:spcPts val="600"/>
              </a:spcAft>
              <a:buNone/>
            </a:pPr>
            <a:r>
              <a:rPr sz="1400" b="0">
                <a:solidFill>
                  <a:srgbClr val="5B6774"/>
                </a:solidFill>
                <a:latin typeface="Arial"/>
              </a:rPr>
              <a:t>Barbaste, Darrigol, Vu and Wiltberger, Harness Engineering: Anatomy, Architecture, and Evolution of Coding Agents, arXiv 2609.00006, Jul 2026 - a source-code study of eleven coding agents</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THREE DEFINITIONS, ONE IDEA</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Agent = Model + Harness: one equation, two framings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Agent = Model + Harness</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Birgitta Bockeler's one-line canon, quoted in Marmelab, Sep 2026</a:t>
            </a:r>
          </a:p>
          <a:p>
            <a:pPr algn="l" indent="-228600" marL="228600">
              <a:spcAft>
                <a:spcPts val="600"/>
              </a:spcAft>
              <a:buClr>
                <a:srgbClr val="1E5EF3"/>
              </a:buClr>
              <a:buChar char="—"/>
            </a:pPr>
            <a:r>
              <a:rPr sz="1300" b="0">
                <a:solidFill>
                  <a:srgbClr val="202B38"/>
                </a:solidFill>
                <a:latin typeface="Arial"/>
              </a:rPr>
              <a:t>In plain words: the model is the engine; the harness is the rest of the car</a:t>
            </a:r>
          </a:p>
          <a:p>
            <a:pPr algn="l" indent="-228600" marL="228600">
              <a:spcAft>
                <a:spcPts val="600"/>
              </a:spcAft>
              <a:buClr>
                <a:srgbClr val="1E5EF3"/>
              </a:buClr>
              <a:buChar char="—"/>
            </a:pPr>
            <a:r>
              <a:rPr sz="1300" b="0">
                <a:solidFill>
                  <a:srgbClr val="202B38"/>
                </a:solidFill>
                <a:latin typeface="Arial"/>
              </a:rPr>
              <a:t>The model maps a context to the next message - nothing else</a:t>
            </a:r>
          </a:p>
          <a:p>
            <a:pPr algn="l" indent="-228600" marL="228600">
              <a:spcAft>
                <a:spcPts val="600"/>
              </a:spcAft>
              <a:buClr>
                <a:srgbClr val="1E5EF3"/>
              </a:buClr>
              <a:buChar char="—"/>
            </a:pPr>
            <a:r>
              <a:rPr sz="1300" b="0">
                <a:solidFill>
                  <a:srgbClr val="202B38"/>
                </a:solidFill>
                <a:latin typeface="Arial"/>
              </a:rPr>
              <a:t>The harness decides what the model sees, what it may do, and when to stop</a:t>
            </a:r>
          </a:p>
          <a:p>
            <a:pPr algn="l" indent="-228600" marL="228600">
              <a:spcAft>
                <a:spcPts val="600"/>
              </a:spcAft>
              <a:buClr>
                <a:srgbClr val="1E5EF3"/>
              </a:buClr>
              <a:buChar char="—"/>
            </a:pPr>
            <a:r>
              <a:rPr sz="1300" b="0">
                <a:solidFill>
                  <a:srgbClr val="202B38"/>
                </a:solidFill>
                <a:latin typeface="Arial"/>
              </a:rPr>
              <a:t>Swap the harness and the same model behaves differently (evidence in two slides)</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OpenAI's framing, Feb 2026</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Five-month experiment: about one million lines of production code, zero written by hand</a:t>
            </a:r>
          </a:p>
          <a:p>
            <a:pPr algn="l" indent="-228600" marL="228600">
              <a:spcAft>
                <a:spcPts val="600"/>
              </a:spcAft>
              <a:buClr>
                <a:srgbClr val="1E5EF3"/>
              </a:buClr>
              <a:buChar char="—"/>
            </a:pPr>
            <a:r>
              <a:rPr sz="1300" b="0">
                <a:solidFill>
                  <a:srgbClr val="202B38"/>
                </a:solidFill>
                <a:latin typeface="Arial"/>
              </a:rPr>
              <a:t>The repository is the system of record: design docs, decision records, plans, quality scores</a:t>
            </a:r>
          </a:p>
          <a:p>
            <a:pPr algn="l" indent="-228600" marL="228600">
              <a:spcAft>
                <a:spcPts val="600"/>
              </a:spcAft>
              <a:buClr>
                <a:srgbClr val="1E5EF3"/>
              </a:buClr>
              <a:buChar char="—"/>
            </a:pPr>
            <a:r>
              <a:rPr sz="1300" b="0">
                <a:solidFill>
                  <a:srgbClr val="202B38"/>
                </a:solidFill>
                <a:latin typeface="Arial"/>
              </a:rPr>
              <a:t>Constraints enforced mechanically: custom linters and structural tests in CI</a:t>
            </a:r>
          </a:p>
          <a:p>
            <a:pPr algn="l" indent="-228600" marL="228600">
              <a:spcAft>
                <a:spcPts val="600"/>
              </a:spcAft>
              <a:buClr>
                <a:srgbClr val="1E5EF3"/>
              </a:buClr>
              <a:buChar char="—"/>
            </a:pPr>
            <a:r>
              <a:rPr sz="1300" b="0">
                <a:solidFill>
                  <a:srgbClr val="202B38"/>
                </a:solidFill>
                <a:latin typeface="Arial"/>
              </a:rPr>
              <a:t>Harness engineering = deterministic scaffolding around probabilistic model steps</a:t>
            </a:r>
          </a:p>
          <a:p>
            <a:pPr algn="l" indent="-228600" marL="228600">
              <a:spcAft>
                <a:spcPts val="600"/>
              </a:spcAft>
              <a:buClr>
                <a:srgbClr val="1E5EF3"/>
              </a:buClr>
              <a:buChar char="—"/>
            </a:pPr>
            <a:r>
              <a:rPr sz="1300" b="0">
                <a:solidFill>
                  <a:srgbClr val="202B38"/>
                </a:solidFill>
                <a:latin typeface="Arial"/>
              </a:rPr>
              <a:t>Ryan Lopopolo, Harness engineering: leveraging Codex in an agent-first world, 11 Feb 2026</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Sources: Marmelab, The State of AI Harness Engineering 2026, 24 Sep 2026; OpenAI, 11 Feb 2026; arXiv 2609.00006, Jul 2026.</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METAPHOR FOR THIS MODULE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Concretely: a model called in a loop, with tools and checks. In plain words: an engine inside a car</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Concrete first: Claude Code is a program that calls a model in a loop, runs tools, and checks permissions</a:t>
            </a:r>
          </a:p>
          <a:p>
            <a:pPr algn="l" indent="-228600" marL="228600">
              <a:spcAft>
                <a:spcPts val="800"/>
              </a:spcAft>
              <a:buClr>
                <a:srgbClr val="1E5EF3"/>
              </a:buClr>
              <a:buChar char="—"/>
            </a:pPr>
            <a:r>
              <a:rPr sz="1450" b="0">
                <a:solidFill>
                  <a:srgbClr val="202B38"/>
                </a:solidFill>
                <a:latin typeface="Arial"/>
              </a:rPr>
              <a:t>Engine = the model; steering and pedals = the loop that picks the next step</a:t>
            </a:r>
          </a:p>
          <a:p>
            <a:pPr algn="l" indent="-228600" marL="228600">
              <a:spcAft>
                <a:spcPts val="800"/>
              </a:spcAft>
              <a:buClr>
                <a:srgbClr val="1E5EF3"/>
              </a:buClr>
              <a:buChar char="—"/>
            </a:pPr>
            <a:r>
              <a:rPr sz="1450" b="0">
                <a:solidFill>
                  <a:srgbClr val="202B38"/>
                </a:solidFill>
                <a:latin typeface="Arial"/>
              </a:rPr>
              <a:t>Dashboard and mirrors = context and observability: what the driver sees</a:t>
            </a:r>
          </a:p>
          <a:p>
            <a:pPr algn="l" indent="-228600" marL="228600">
              <a:spcAft>
                <a:spcPts val="800"/>
              </a:spcAft>
              <a:buClr>
                <a:srgbClr val="1E5EF3"/>
              </a:buClr>
              <a:buChar char="—"/>
            </a:pPr>
            <a:r>
              <a:rPr sz="1450" b="0">
                <a:solidFill>
                  <a:srgbClr val="202B38"/>
                </a:solidFill>
                <a:latin typeface="Arial"/>
              </a:rPr>
              <a:t>Brakes, belts, airbags = guardrails and permissions, outside the model</a:t>
            </a:r>
          </a:p>
          <a:p>
            <a:pPr algn="l" indent="-228600" marL="228600">
              <a:spcAft>
                <a:spcPts val="800"/>
              </a:spcAft>
              <a:buClr>
                <a:srgbClr val="1E5EF3"/>
              </a:buClr>
              <a:buChar char="—"/>
            </a:pPr>
            <a:r>
              <a:rPr sz="1450" b="0">
                <a:solidFill>
                  <a:srgbClr val="202B38"/>
                </a:solidFill>
                <a:latin typeface="Arial"/>
              </a:rPr>
              <a:t>Glovebox manuals = skills, opened only when needed; hitch = tools, MCP the standard coupling</a:t>
            </a:r>
          </a:p>
          <a:p>
            <a:pPr algn="l" indent="-228600" marL="228600">
              <a:spcAft>
                <a:spcPts val="800"/>
              </a:spcAft>
              <a:buClr>
                <a:srgbClr val="1E5EF3"/>
              </a:buClr>
              <a:buChar char="—"/>
            </a:pPr>
            <a:r>
              <a:rPr sz="1450" b="0">
                <a:solidFill>
                  <a:srgbClr val="202B38"/>
                </a:solidFill>
                <a:latin typeface="Arial"/>
              </a:rPr>
              <a:t>Convoy with a lead car = orchestrator and sub-agents (Session 4)</a:t>
            </a:r>
          </a:p>
        </p:txBody>
      </p:sp>
      <p:pic>
        <p:nvPicPr>
          <p:cNvPr id="8" name="Picture 7" descr="s1_car.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How to read it: each label pins one harness piece to one car part. The route on the GPS (the plan) and the drivers' job board (teams) come in Sessions 3 and 4.</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EVIDENCE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Same model, different harness: up to 9.5 points of harness-only variation on SWE-bench Pro</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each pair of bars is one model; only the harness around it changes</a:t>
            </a:r>
          </a:p>
          <a:p>
            <a:pPr algn="l" indent="-228600" marL="228600">
              <a:spcAft>
                <a:spcPts val="800"/>
              </a:spcAft>
              <a:buClr>
                <a:srgbClr val="1E5EF3"/>
              </a:buClr>
              <a:buChar char="—"/>
            </a:pPr>
            <a:r>
              <a:rPr sz="1450" b="0">
                <a:solidFill>
                  <a:srgbClr val="202B38"/>
                </a:solidFill>
                <a:latin typeface="Arial"/>
              </a:rPr>
              <a:t>Claude Opus 4.5 on SWE-bench Pro: 45.9% under the SEAL scaffold, 55.4% under Claude Code</a:t>
            </a:r>
          </a:p>
          <a:p>
            <a:pPr algn="l" indent="-228600" marL="228600">
              <a:spcAft>
                <a:spcPts val="800"/>
              </a:spcAft>
              <a:buClr>
                <a:srgbClr val="1E5EF3"/>
              </a:buClr>
              <a:buChar char="—"/>
            </a:pPr>
            <a:r>
              <a:rPr sz="1450" b="0">
                <a:solidFill>
                  <a:srgbClr val="202B38"/>
                </a:solidFill>
                <a:latin typeface="Arial"/>
              </a:rPr>
              <a:t>Three harnesses on that same model spanned 50.2% to 55.4%</a:t>
            </a:r>
          </a:p>
          <a:p>
            <a:pPr algn="l" indent="-228600" marL="228600">
              <a:spcAft>
                <a:spcPts val="800"/>
              </a:spcAft>
              <a:buClr>
                <a:srgbClr val="1E5EF3"/>
              </a:buClr>
              <a:buChar char="—"/>
            </a:pPr>
            <a:r>
              <a:rPr sz="1450" b="0">
                <a:solidFill>
                  <a:srgbClr val="202B38"/>
                </a:solidFill>
                <a:latin typeface="Arial"/>
              </a:rPr>
              <a:t>Terminal-Bench 2 pass@1: 69.7% to 77.0% by changing only the harness</a:t>
            </a:r>
          </a:p>
          <a:p>
            <a:pPr algn="l" indent="-228600" marL="228600">
              <a:spcAft>
                <a:spcPts val="800"/>
              </a:spcAft>
              <a:buClr>
                <a:srgbClr val="1E5EF3"/>
              </a:buClr>
              <a:buChar char="—"/>
            </a:pPr>
            <a:r>
              <a:rPr sz="1450" b="0">
                <a:solidFill>
                  <a:srgbClr val="202B38"/>
                </a:solidFill>
                <a:latin typeface="Arial"/>
              </a:rPr>
              <a:t>Third-party monitoring: up to 11 points for GPT-5, 15 points for Kimi K2 Thinking on SWE-bench Verified</a:t>
            </a:r>
          </a:p>
          <a:p>
            <a:pPr algn="l" indent="-228600" marL="228600">
              <a:spcAft>
                <a:spcPts val="800"/>
              </a:spcAft>
              <a:buClr>
                <a:srgbClr val="1E5EF3"/>
              </a:buClr>
              <a:buChar char="—"/>
            </a:pPr>
            <a:r>
              <a:rPr sz="1450" b="0">
                <a:solidFill>
                  <a:srgbClr val="202B38"/>
                </a:solidFill>
                <a:latin typeface="Arial"/>
              </a:rPr>
              <a:t>Wording matters: harness-only variation, not 'the harness beats the model'</a:t>
            </a:r>
          </a:p>
        </p:txBody>
      </p:sp>
      <p:pic>
        <p:nvPicPr>
          <p:cNvPr id="8" name="Picture 7" descr="s1_harness_effect.png"/>
          <p:cNvPicPr>
            <a:picLocks noChangeAspect="1"/>
          </p:cNvPicPr>
          <p:nvPr/>
        </p:nvPicPr>
        <p:blipFill>
          <a:blip r:embed="rId2"/>
          <a:stretch>
            <a:fillRect/>
          </a:stretch>
        </p:blipFill>
        <p:spPr>
          <a:xfrm>
            <a:off x="5120640" y="1874519"/>
            <a:ext cx="6492240" cy="3978556"/>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Sources: Stop Comparing LLM Agents Without Disclosing the Harness, arXiv 2605.23950, May 2026; Harness or Model? Isolating the Harness Effect, arXiv 2609.11987, Sep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ANATOMY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 harness has eight pieces - the model is one of them, the other seven surround it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1_eight_pieces.png"/>
          <p:cNvPicPr>
            <a:picLocks noChangeAspect="1"/>
          </p:cNvPicPr>
          <p:nvPr/>
        </p:nvPicPr>
        <p:blipFill>
          <a:blip r:embed="rId2"/>
          <a:stretch>
            <a:fillRect/>
          </a:stretch>
        </p:blipFill>
        <p:spPr>
          <a:xfrm>
            <a:off x="1554480" y="1874519"/>
            <a:ext cx="9052560" cy="4024464"/>
          </a:xfrm>
          <a:prstGeom prst="rect">
            <a:avLst/>
          </a:prstGeom>
        </p:spPr>
      </p:pic>
      <p:sp>
        <p:nvSpPr>
          <p:cNvPr id="8" name="TextBox 7"/>
          <p:cNvSpPr txBox="1"/>
          <p:nvPr/>
        </p:nvSpPr>
        <p:spPr>
          <a:xfrm>
            <a:off x="1554480" y="6062471"/>
            <a:ext cx="905256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How to read it: the numbered order is the canon order of every deck and of the harness package. Pieces 1-4: Session 2; 5, 6, 8: Session 3; 7: Sessions 3-4.</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TWO WAYS TO ORCHESTRATE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Workflows when the path is known, agents when it is not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Workflow</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'LLMs and tools orchestrated through predefined code paths'</a:t>
            </a:r>
          </a:p>
          <a:p>
            <a:pPr algn="l" indent="-228600" marL="228600">
              <a:spcAft>
                <a:spcPts val="600"/>
              </a:spcAft>
              <a:buClr>
                <a:srgbClr val="1E5EF3"/>
              </a:buClr>
              <a:buChar char="—"/>
            </a:pPr>
            <a:r>
              <a:rPr sz="1300" b="0">
                <a:solidFill>
                  <a:srgbClr val="202B38"/>
                </a:solidFill>
                <a:latin typeface="Arial"/>
              </a:rPr>
              <a:t>In plain words: a path you wrote in code, with model steps inside</a:t>
            </a:r>
          </a:p>
          <a:p>
            <a:pPr algn="l" indent="-228600" marL="228600">
              <a:spcAft>
                <a:spcPts val="600"/>
              </a:spcAft>
              <a:buClr>
                <a:srgbClr val="1E5EF3"/>
              </a:buClr>
              <a:buChar char="—"/>
            </a:pPr>
            <a:r>
              <a:rPr sz="1300" b="0">
                <a:solidFill>
                  <a:srgbClr val="202B38"/>
                </a:solidFill>
                <a:latin typeface="Arial"/>
              </a:rPr>
              <a:t>Five patterns: prompt chaining, routing, parallelization, orchestrator-workers, evaluator-optimizer</a:t>
            </a:r>
          </a:p>
          <a:p>
            <a:pPr algn="l" indent="-228600" marL="228600">
              <a:spcAft>
                <a:spcPts val="600"/>
              </a:spcAft>
              <a:buClr>
                <a:srgbClr val="1E5EF3"/>
              </a:buClr>
              <a:buChar char="—"/>
            </a:pPr>
            <a:r>
              <a:rPr sz="1300" b="0">
                <a:solidFill>
                  <a:srgbClr val="202B38"/>
                </a:solidFill>
                <a:latin typeface="Arial"/>
              </a:rPr>
              <a:t>Predictable cost and behavior; easy to test step by step</a:t>
            </a:r>
          </a:p>
          <a:p>
            <a:pPr algn="l" indent="-228600" marL="228600">
              <a:spcAft>
                <a:spcPts val="600"/>
              </a:spcAft>
              <a:buClr>
                <a:srgbClr val="1E5EF3"/>
              </a:buClr>
              <a:buChar char="—"/>
            </a:pPr>
            <a:r>
              <a:rPr sz="1300" b="0">
                <a:solidFill>
                  <a:srgbClr val="202B38"/>
                </a:solidFill>
                <a:latin typeface="Arial"/>
              </a:rPr>
              <a:t>Use it when you can draw the flowchart before you start</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Agent</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'LLMs dynamically direct their own processes and tool usage'</a:t>
            </a:r>
          </a:p>
          <a:p>
            <a:pPr algn="l" indent="-228600" marL="228600">
              <a:spcAft>
                <a:spcPts val="600"/>
              </a:spcAft>
              <a:buClr>
                <a:srgbClr val="1E5EF3"/>
              </a:buClr>
              <a:buChar char="—"/>
            </a:pPr>
            <a:r>
              <a:rPr sz="1300" b="0">
                <a:solidFill>
                  <a:srgbClr val="202B38"/>
                </a:solidFill>
                <a:latin typeface="Arial"/>
              </a:rPr>
              <a:t>In plain words: the model decides the path, step by step, until done</a:t>
            </a:r>
          </a:p>
          <a:p>
            <a:pPr algn="l" indent="-228600" marL="228600">
              <a:spcAft>
                <a:spcPts val="600"/>
              </a:spcAft>
              <a:buClr>
                <a:srgbClr val="1E5EF3"/>
              </a:buClr>
              <a:buChar char="—"/>
            </a:pPr>
            <a:r>
              <a:rPr sz="1300" b="0">
                <a:solidFill>
                  <a:srgbClr val="202B38"/>
                </a:solidFill>
                <a:latin typeface="Arial"/>
              </a:rPr>
              <a:t>Needs stop conditions: done, max turns, budget</a:t>
            </a:r>
          </a:p>
          <a:p>
            <a:pPr algn="l" indent="-228600" marL="228600">
              <a:spcAft>
                <a:spcPts val="600"/>
              </a:spcAft>
              <a:buClr>
                <a:srgbClr val="1E5EF3"/>
              </a:buClr>
              <a:buChar char="—"/>
            </a:pPr>
            <a:r>
              <a:rPr sz="1300" b="0">
                <a:solidFill>
                  <a:srgbClr val="202B38"/>
                </a:solidFill>
                <a:latin typeface="Arial"/>
              </a:rPr>
              <a:t>Higher cost and variance; needs guardrails and a trace</a:t>
            </a:r>
          </a:p>
          <a:p>
            <a:pPr algn="l" indent="-228600" marL="228600">
              <a:spcAft>
                <a:spcPts val="600"/>
              </a:spcAft>
              <a:buClr>
                <a:srgbClr val="1E5EF3"/>
              </a:buClr>
              <a:buChar char="—"/>
            </a:pPr>
            <a:r>
              <a:rPr sz="1300" b="0">
                <a:solidFill>
                  <a:srgbClr val="202B38"/>
                </a:solidFill>
                <a:latin typeface="Arial"/>
              </a:rPr>
              <a:t>Use it when the steps depend on what the last step found</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Building effective agents, 19 Dec 2024 - three principles: simplicity, transparency, invest in the agent-computer interface.</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VOCABULARY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disciplines, one direction: from the words to the runtime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0" cy="2743200"/>
        </p:xfrm>
        <a:graphic>
          <a:graphicData uri="http://schemas.openxmlformats.org/drawingml/2006/table">
            <a:tbl>
              <a:tblPr firstRow="1" bandRow="1">
                <a:tableStyleId>{5C22544A-7EE6-4342-B048-85BDC9FD1C3A}</a:tableStyleId>
              </a:tblPr>
              <a:tblGrid>
                <a:gridCol w="1469980"/>
                <a:gridCol w="2672692"/>
                <a:gridCol w="3474499"/>
                <a:gridCol w="3474499"/>
              </a:tblGrid>
              <a:tr h="457200">
                <a:tc>
                  <a:txBody>
                    <a:bodyPr wrap="square"/>
                    <a:lstStyle/>
                    <a:p>
                      <a:pPr algn="l">
                        <a:spcAft>
                          <a:spcPts val="0"/>
                        </a:spcAft>
                        <a:buNone/>
                      </a:pPr>
                      <a:r>
                        <a:rPr sz="1300" b="1">
                          <a:solidFill>
                            <a:srgbClr val="FFFFFF"/>
                          </a:solidFill>
                          <a:latin typeface="Arial"/>
                        </a:rPr>
                        <a:t/>
                      </a:r>
                    </a:p>
                  </a:txBody>
                  <a:tcPr>
                    <a:solidFill>
                      <a:srgbClr val="0A2540"/>
                    </a:solidFill>
                  </a:tcPr>
                </a:tc>
                <a:tc>
                  <a:txBody>
                    <a:bodyPr wrap="square"/>
                    <a:lstStyle/>
                    <a:p>
                      <a:pPr algn="l">
                        <a:spcAft>
                          <a:spcPts val="0"/>
                        </a:spcAft>
                        <a:buNone/>
                      </a:pPr>
                      <a:r>
                        <a:rPr sz="1300" b="1">
                          <a:solidFill>
                            <a:srgbClr val="FFFFFF"/>
                          </a:solidFill>
                          <a:latin typeface="Arial"/>
                        </a:rPr>
                        <a:t>Prompt engineering</a:t>
                      </a:r>
                    </a:p>
                  </a:txBody>
                  <a:tcPr>
                    <a:solidFill>
                      <a:srgbClr val="0A2540"/>
                    </a:solidFill>
                  </a:tcPr>
                </a:tc>
                <a:tc>
                  <a:txBody>
                    <a:bodyPr wrap="square"/>
                    <a:lstStyle/>
                    <a:p>
                      <a:pPr algn="l">
                        <a:spcAft>
                          <a:spcPts val="0"/>
                        </a:spcAft>
                        <a:buNone/>
                      </a:pPr>
                      <a:r>
                        <a:rPr sz="1300" b="1">
                          <a:solidFill>
                            <a:srgbClr val="FFFFFF"/>
                          </a:solidFill>
                          <a:latin typeface="Arial"/>
                        </a:rPr>
                        <a:t>Context engineering</a:t>
                      </a:r>
                    </a:p>
                  </a:txBody>
                  <a:tcPr>
                    <a:solidFill>
                      <a:srgbClr val="0A2540"/>
                    </a:solidFill>
                  </a:tcPr>
                </a:tc>
                <a:tc>
                  <a:txBody>
                    <a:bodyPr wrap="square"/>
                    <a:lstStyle/>
                    <a:p>
                      <a:pPr algn="l">
                        <a:spcAft>
                          <a:spcPts val="0"/>
                        </a:spcAft>
                        <a:buNone/>
                      </a:pPr>
                      <a:r>
                        <a:rPr sz="1300" b="1">
                          <a:solidFill>
                            <a:srgbClr val="FFFFFF"/>
                          </a:solidFill>
                          <a:latin typeface="Arial"/>
                        </a:rPr>
                        <a:t>Harness engineering</a:t>
                      </a:r>
                    </a:p>
                  </a:txBody>
                  <a:tcPr>
                    <a:solidFill>
                      <a:srgbClr val="0A2540"/>
                    </a:solidFill>
                  </a:tcPr>
                </a:tc>
              </a:tr>
              <a:tr h="457200">
                <a:tc>
                  <a:txBody>
                    <a:bodyPr wrap="square"/>
                    <a:lstStyle/>
                    <a:p>
                      <a:pPr algn="l">
                        <a:spcAft>
                          <a:spcPts val="0"/>
                        </a:spcAft>
                        <a:buNone/>
                      </a:pPr>
                      <a:r>
                        <a:rPr sz="1250" b="0">
                          <a:solidFill>
                            <a:srgbClr val="202B38"/>
                          </a:solidFill>
                          <a:latin typeface="Arial"/>
                        </a:rPr>
                        <a:t>What you control</a:t>
                      </a:r>
                    </a:p>
                  </a:txBody>
                  <a:tcPr>
                    <a:solidFill>
                      <a:srgbClr val="FFFFFF"/>
                    </a:solidFill>
                  </a:tcPr>
                </a:tc>
                <a:tc>
                  <a:txBody>
                    <a:bodyPr wrap="square"/>
                    <a:lstStyle/>
                    <a:p>
                      <a:pPr algn="l">
                        <a:spcAft>
                          <a:spcPts val="0"/>
                        </a:spcAft>
                        <a:buNone/>
                      </a:pPr>
                      <a:r>
                        <a:rPr sz="1250" b="0">
                          <a:solidFill>
                            <a:srgbClr val="202B38"/>
                          </a:solidFill>
                          <a:latin typeface="Arial"/>
                        </a:rPr>
                        <a:t>The words of one message</a:t>
                      </a:r>
                    </a:p>
                  </a:txBody>
                  <a:tcPr>
                    <a:solidFill>
                      <a:srgbClr val="FFFFFF"/>
                    </a:solidFill>
                  </a:tcPr>
                </a:tc>
                <a:tc>
                  <a:txBody>
                    <a:bodyPr wrap="square"/>
                    <a:lstStyle/>
                    <a:p>
                      <a:pPr algn="l">
                        <a:spcAft>
                          <a:spcPts val="0"/>
                        </a:spcAft>
                        <a:buNone/>
                      </a:pPr>
                      <a:r>
                        <a:rPr sz="1250" b="0">
                          <a:solidFill>
                            <a:srgbClr val="202B38"/>
                          </a:solidFill>
                          <a:latin typeface="Arial"/>
                        </a:rPr>
                        <a:t>Everything the model sees on one call: system prompt, files, history, tool results</a:t>
                      </a:r>
                    </a:p>
                  </a:txBody>
                  <a:tcPr>
                    <a:solidFill>
                      <a:srgbClr val="FFFFFF"/>
                    </a:solidFill>
                  </a:tcPr>
                </a:tc>
                <a:tc>
                  <a:txBody>
                    <a:bodyPr wrap="square"/>
                    <a:lstStyle/>
                    <a:p>
                      <a:pPr algn="l">
                        <a:spcAft>
                          <a:spcPts val="0"/>
                        </a:spcAft>
                        <a:buNone/>
                      </a:pPr>
                      <a:r>
                        <a:rPr sz="1250" b="0">
                          <a:solidFill>
                            <a:srgbClr val="202B38"/>
                          </a:solidFill>
                          <a:latin typeface="Arial"/>
                        </a:rPr>
                        <a:t>The runtime: loop, tools, context, guardrails, orchestration, evals</a:t>
                      </a:r>
                    </a:p>
                  </a:txBody>
                  <a:tcPr>
                    <a:solidFill>
                      <a:srgbClr val="FFFFFF"/>
                    </a:solidFill>
                  </a:tcPr>
                </a:tc>
              </a:tr>
              <a:tr h="457200">
                <a:tc>
                  <a:txBody>
                    <a:bodyPr wrap="square"/>
                    <a:lstStyle/>
                    <a:p>
                      <a:pPr algn="l">
                        <a:spcAft>
                          <a:spcPts val="0"/>
                        </a:spcAft>
                        <a:buNone/>
                      </a:pPr>
                      <a:r>
                        <a:rPr sz="1250" b="0">
                          <a:solidFill>
                            <a:srgbClr val="202B38"/>
                          </a:solidFill>
                          <a:latin typeface="Arial"/>
                        </a:rPr>
                        <a:t>What you measure</a:t>
                      </a:r>
                    </a:p>
                  </a:txBody>
                  <a:tcPr>
                    <a:solidFill>
                      <a:srgbClr val="EEF3FD"/>
                    </a:solidFill>
                  </a:tcPr>
                </a:tc>
                <a:tc>
                  <a:txBody>
                    <a:bodyPr wrap="square"/>
                    <a:lstStyle/>
                    <a:p>
                      <a:pPr algn="l">
                        <a:spcAft>
                          <a:spcPts val="0"/>
                        </a:spcAft>
                        <a:buNone/>
                      </a:pPr>
                      <a:r>
                        <a:rPr sz="1250" b="0">
                          <a:solidFill>
                            <a:srgbClr val="202B38"/>
                          </a:solidFill>
                          <a:latin typeface="Arial"/>
                        </a:rPr>
                        <a:t>One answer, judged by eye</a:t>
                      </a:r>
                    </a:p>
                  </a:txBody>
                  <a:tcPr>
                    <a:solidFill>
                      <a:srgbClr val="EEF3FD"/>
                    </a:solidFill>
                  </a:tcPr>
                </a:tc>
                <a:tc>
                  <a:txBody>
                    <a:bodyPr wrap="square"/>
                    <a:lstStyle/>
                    <a:p>
                      <a:pPr algn="l">
                        <a:spcAft>
                          <a:spcPts val="0"/>
                        </a:spcAft>
                        <a:buNone/>
                      </a:pPr>
                      <a:r>
                        <a:rPr sz="1250" b="0">
                          <a:solidFill>
                            <a:srgbClr val="202B38"/>
                          </a:solidFill>
                          <a:latin typeface="Arial"/>
                        </a:rPr>
                        <a:t>Tokens per call; does the right fact reach the model in time</a:t>
                      </a:r>
                    </a:p>
                  </a:txBody>
                  <a:tcPr>
                    <a:solidFill>
                      <a:srgbClr val="EEF3FD"/>
                    </a:solidFill>
                  </a:tcPr>
                </a:tc>
                <a:tc>
                  <a:txBody>
                    <a:bodyPr wrap="square"/>
                    <a:lstStyle/>
                    <a:p>
                      <a:pPr algn="l">
                        <a:spcAft>
                          <a:spcPts val="0"/>
                        </a:spcAft>
                        <a:buNone/>
                      </a:pPr>
                      <a:r>
                        <a:rPr sz="1250" b="0">
                          <a:solidFill>
                            <a:srgbClr val="202B38"/>
                          </a:solidFill>
                          <a:latin typeface="Arial"/>
                        </a:rPr>
                        <a:t>Pass rate on an eval suite; cost and steps per task; traces</a:t>
                      </a:r>
                    </a:p>
                  </a:txBody>
                  <a:tcPr>
                    <a:solidFill>
                      <a:srgbClr val="EEF3FD"/>
                    </a:solidFill>
                  </a:tcPr>
                </a:tc>
              </a:tr>
              <a:tr h="457200">
                <a:tc>
                  <a:txBody>
                    <a:bodyPr wrap="square"/>
                    <a:lstStyle/>
                    <a:p>
                      <a:pPr algn="l">
                        <a:spcAft>
                          <a:spcPts val="0"/>
                        </a:spcAft>
                        <a:buNone/>
                      </a:pPr>
                      <a:r>
                        <a:rPr sz="1250" b="0">
                          <a:solidFill>
                            <a:srgbClr val="202B38"/>
                          </a:solidFill>
                          <a:latin typeface="Arial"/>
                        </a:rPr>
                        <a:t>When it breaks</a:t>
                      </a:r>
                    </a:p>
                  </a:txBody>
                  <a:tcPr>
                    <a:solidFill>
                      <a:srgbClr val="FFFFFF"/>
                    </a:solidFill>
                  </a:tcPr>
                </a:tc>
                <a:tc>
                  <a:txBody>
                    <a:bodyPr wrap="square"/>
                    <a:lstStyle/>
                    <a:p>
                      <a:pPr algn="l">
                        <a:spcAft>
                          <a:spcPts val="0"/>
                        </a:spcAft>
                        <a:buNone/>
                      </a:pPr>
                      <a:r>
                        <a:rPr sz="1250" b="0">
                          <a:solidFill>
                            <a:srgbClr val="202B38"/>
                          </a:solidFill>
                          <a:latin typeface="Arial"/>
                        </a:rPr>
                        <a:t>The task needs facts or actions the words cannot supply</a:t>
                      </a:r>
                    </a:p>
                  </a:txBody>
                  <a:tcPr>
                    <a:solidFill>
                      <a:srgbClr val="FFFFFF"/>
                    </a:solidFill>
                  </a:tcPr>
                </a:tc>
                <a:tc>
                  <a:txBody>
                    <a:bodyPr wrap="square"/>
                    <a:lstStyle/>
                    <a:p>
                      <a:pPr algn="l">
                        <a:spcAft>
                          <a:spcPts val="0"/>
                        </a:spcAft>
                        <a:buNone/>
                      </a:pPr>
                      <a:r>
                        <a:rPr sz="1250" b="0">
                          <a:solidFill>
                            <a:srgbClr val="202B38"/>
                          </a:solidFill>
                          <a:latin typeface="Arial"/>
                        </a:rPr>
                        <a:t>The window fills; old or wrong material crowds out the relevant part</a:t>
                      </a:r>
                    </a:p>
                  </a:txBody>
                  <a:tcPr>
                    <a:solidFill>
                      <a:srgbClr val="FFFFFF"/>
                    </a:solidFill>
                  </a:tcPr>
                </a:tc>
                <a:tc>
                  <a:txBody>
                    <a:bodyPr wrap="square"/>
                    <a:lstStyle/>
                    <a:p>
                      <a:pPr algn="l">
                        <a:spcAft>
                          <a:spcPts val="0"/>
                        </a:spcAft>
                        <a:buNone/>
                      </a:pPr>
                      <a:r>
                        <a:rPr sz="1250" b="0">
                          <a:solidFill>
                            <a:srgbClr val="202B38"/>
                          </a:solidFill>
                          <a:latin typeface="Arial"/>
                        </a:rPr>
                        <a:t>No stop condition, no check outside the model, no test - failures repeat</a:t>
                      </a:r>
                    </a:p>
                  </a:txBody>
                  <a:tcPr>
                    <a:solidFill>
                      <a:srgbClr val="FFFFFF"/>
                    </a:solidFill>
                  </a:tcPr>
                </a:tc>
              </a:tr>
              <a:tr h="457200">
                <a:tc>
                  <a:txBody>
                    <a:bodyPr wrap="square"/>
                    <a:lstStyle/>
                    <a:p>
                      <a:pPr algn="l">
                        <a:spcAft>
                          <a:spcPts val="0"/>
                        </a:spcAft>
                        <a:buNone/>
                      </a:pPr>
                      <a:r>
                        <a:rPr sz="1250" b="0">
                          <a:solidFill>
                            <a:srgbClr val="202B38"/>
                          </a:solidFill>
                          <a:latin typeface="Arial"/>
                        </a:rPr>
                        <a:t>Named</a:t>
                      </a:r>
                    </a:p>
                  </a:txBody>
                  <a:tcPr>
                    <a:solidFill>
                      <a:srgbClr val="EEF3FD"/>
                    </a:solidFill>
                  </a:tcPr>
                </a:tc>
                <a:tc>
                  <a:txBody>
                    <a:bodyPr wrap="square"/>
                    <a:lstStyle/>
                    <a:p>
                      <a:pPr algn="l">
                        <a:spcAft>
                          <a:spcPts val="0"/>
                        </a:spcAft>
                        <a:buNone/>
                      </a:pPr>
                      <a:r>
                        <a:rPr sz="1250" b="0">
                          <a:solidFill>
                            <a:srgbClr val="202B38"/>
                          </a:solidFill>
                          <a:latin typeface="Arial"/>
                        </a:rPr>
                        <a:t>2020-2022 (few-shot, chain-of-thought)</a:t>
                      </a:r>
                    </a:p>
                  </a:txBody>
                  <a:tcPr>
                    <a:solidFill>
                      <a:srgbClr val="EEF3FD"/>
                    </a:solidFill>
                  </a:tcPr>
                </a:tc>
                <a:tc>
                  <a:txBody>
                    <a:bodyPr wrap="square"/>
                    <a:lstStyle/>
                    <a:p>
                      <a:pPr algn="l">
                        <a:spcAft>
                          <a:spcPts val="0"/>
                        </a:spcAft>
                        <a:buNone/>
                      </a:pPr>
                      <a:r>
                        <a:rPr sz="1250" b="0">
                          <a:solidFill>
                            <a:srgbClr val="202B38"/>
                          </a:solidFill>
                          <a:latin typeface="Arial"/>
                        </a:rPr>
                        <a:t>Jun 2025 (Lutke; Karpathy)</a:t>
                      </a:r>
                    </a:p>
                  </a:txBody>
                  <a:tcPr>
                    <a:solidFill>
                      <a:srgbClr val="EEF3FD"/>
                    </a:solidFill>
                  </a:tcPr>
                </a:tc>
                <a:tc>
                  <a:txBody>
                    <a:bodyPr wrap="square"/>
                    <a:lstStyle/>
                    <a:p>
                      <a:pPr algn="l">
                        <a:spcAft>
                          <a:spcPts val="0"/>
                        </a:spcAft>
                        <a:buNone/>
                      </a:pPr>
                      <a:r>
                        <a:rPr sz="1250" b="0">
                          <a:solidFill>
                            <a:srgbClr val="202B38"/>
                          </a:solidFill>
                          <a:latin typeface="Arial"/>
                        </a:rPr>
                        <a:t>11 Feb 2026 (OpenAI)</a:t>
                      </a:r>
                    </a:p>
                  </a:txBody>
                  <a:tcPr>
                    <a:solidFill>
                      <a:srgbClr val="EEF3FD"/>
                    </a:solidFill>
                  </a:tcPr>
                </a:tc>
              </a:tr>
              <a:tr h="457200">
                <a:tc>
                  <a:txBody>
                    <a:bodyPr wrap="square"/>
                    <a:lstStyle/>
                    <a:p>
                      <a:pPr algn="l">
                        <a:spcAft>
                          <a:spcPts val="0"/>
                        </a:spcAft>
                        <a:buNone/>
                      </a:pPr>
                      <a:r>
                        <a:rPr sz="1250" b="0">
                          <a:solidFill>
                            <a:srgbClr val="202B38"/>
                          </a:solidFill>
                          <a:latin typeface="Arial"/>
                        </a:rPr>
                        <a:t>In plain words</a:t>
                      </a:r>
                    </a:p>
                  </a:txBody>
                  <a:tcPr>
                    <a:solidFill>
                      <a:srgbClr val="FFFFFF"/>
                    </a:solidFill>
                  </a:tcPr>
                </a:tc>
                <a:tc>
                  <a:txBody>
                    <a:bodyPr wrap="square"/>
                    <a:lstStyle/>
                    <a:p>
                      <a:pPr algn="l">
                        <a:spcAft>
                          <a:spcPts val="0"/>
                        </a:spcAft>
                        <a:buNone/>
                      </a:pPr>
                      <a:r>
                        <a:rPr sz="1250" b="0">
                          <a:solidFill>
                            <a:srgbClr val="202B38"/>
                          </a:solidFill>
                          <a:latin typeface="Arial"/>
                        </a:rPr>
                        <a:t>Choose the words well</a:t>
                      </a:r>
                    </a:p>
                  </a:txBody>
                  <a:tcPr>
                    <a:solidFill>
                      <a:srgbClr val="FFFFFF"/>
                    </a:solidFill>
                  </a:tcPr>
                </a:tc>
                <a:tc>
                  <a:txBody>
                    <a:bodyPr wrap="square"/>
                    <a:lstStyle/>
                    <a:p>
                      <a:pPr algn="l">
                        <a:spcAft>
                          <a:spcPts val="0"/>
                        </a:spcAft>
                        <a:buNone/>
                      </a:pPr>
                      <a:r>
                        <a:rPr sz="1250" b="0">
                          <a:solidFill>
                            <a:srgbClr val="202B38"/>
                          </a:solidFill>
                          <a:latin typeface="Arial"/>
                        </a:rPr>
                        <a:t>Decide what goes in, what stays out, when to summarize</a:t>
                      </a:r>
                    </a:p>
                  </a:txBody>
                  <a:tcPr>
                    <a:solidFill>
                      <a:srgbClr val="FFFFFF"/>
                    </a:solidFill>
                  </a:tcPr>
                </a:tc>
                <a:tc>
                  <a:txBody>
                    <a:bodyPr wrap="square"/>
                    <a:lstStyle/>
                    <a:p>
                      <a:pPr algn="l">
                        <a:spcAft>
                          <a:spcPts val="0"/>
                        </a:spcAft>
                        <a:buNone/>
                      </a:pPr>
                      <a:r>
                        <a:rPr sz="1250" b="0">
                          <a:solidFill>
                            <a:srgbClr val="202B38"/>
                          </a:solidFill>
                          <a:latin typeface="Arial"/>
                        </a:rPr>
                        <a:t>Build the car around the engine</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Sources: Wei et al., arXiv 2201.11903, Jan 2022; Karpathy, 25 Jun 2025; OpenAI, 11 Feb 2026; Anthropic, Effective context engineering for AI agents, 29 Sep 2025.</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GLOSSARY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words of this session, in plain words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3200400"/>
        </p:xfrm>
        <a:graphic>
          <a:graphicData uri="http://schemas.openxmlformats.org/drawingml/2006/table">
            <a:tbl>
              <a:tblPr firstRow="1" bandRow="1">
                <a:tableStyleId>{5C22544A-7EE6-4342-B048-85BDC9FD1C3A}</a:tableStyleId>
              </a:tblPr>
              <a:tblGrid>
                <a:gridCol w="1631128"/>
                <a:gridCol w="5219610"/>
                <a:gridCol w="4240933"/>
              </a:tblGrid>
              <a:tr h="457200">
                <a:tc>
                  <a:txBody>
                    <a:bodyPr wrap="square"/>
                    <a:lstStyle/>
                    <a:p>
                      <a:pPr algn="l">
                        <a:spcAft>
                          <a:spcPts val="0"/>
                        </a:spcAft>
                        <a:buNone/>
                      </a:pPr>
                      <a:r>
                        <a:rPr sz="1300" b="1">
                          <a:solidFill>
                            <a:srgbClr val="FFFFFF"/>
                          </a:solidFill>
                          <a:latin typeface="Arial"/>
                        </a:rPr>
                        <a:t>Term</a:t>
                      </a:r>
                    </a:p>
                  </a:txBody>
                  <a:tcPr>
                    <a:solidFill>
                      <a:srgbClr val="0A2540"/>
                    </a:solidFill>
                  </a:tcPr>
                </a:tc>
                <a:tc>
                  <a:txBody>
                    <a:bodyPr wrap="square"/>
                    <a:lstStyle/>
                    <a:p>
                      <a:pPr algn="l">
                        <a:spcAft>
                          <a:spcPts val="0"/>
                        </a:spcAft>
                        <a:buNone/>
                      </a:pPr>
                      <a:r>
                        <a:rPr sz="1300" b="1">
                          <a:solidFill>
                            <a:srgbClr val="FFFFFF"/>
                          </a:solidFill>
                          <a:latin typeface="Arial"/>
                        </a:rPr>
                        <a:t>In plain words</a:t>
                      </a:r>
                    </a:p>
                  </a:txBody>
                  <a:tcPr>
                    <a:solidFill>
                      <a:srgbClr val="0A2540"/>
                    </a:solidFill>
                  </a:tcPr>
                </a:tc>
                <a:tc>
                  <a:txBody>
                    <a:bodyPr wrap="square"/>
                    <a:lstStyle/>
                    <a:p>
                      <a:pPr algn="l">
                        <a:spcAft>
                          <a:spcPts val="0"/>
                        </a:spcAft>
                        <a:buNone/>
                      </a:pPr>
                      <a:r>
                        <a:rPr sz="1300" b="1">
                          <a:solidFill>
                            <a:srgbClr val="FFFFFF"/>
                          </a:solidFill>
                          <a:latin typeface="Arial"/>
                        </a:rPr>
                        <a:t>Where you will meet it today</a:t>
                      </a:r>
                    </a:p>
                  </a:txBody>
                  <a:tcPr>
                    <a:solidFill>
                      <a:srgbClr val="0A2540"/>
                    </a:solidFill>
                  </a:tcPr>
                </a:tc>
              </a:tr>
              <a:tr h="457200">
                <a:tc>
                  <a:txBody>
                    <a:bodyPr wrap="square"/>
                    <a:lstStyle/>
                    <a:p>
                      <a:pPr algn="l">
                        <a:spcAft>
                          <a:spcPts val="0"/>
                        </a:spcAft>
                        <a:buNone/>
                      </a:pPr>
                      <a:r>
                        <a:rPr sz="1250" b="0">
                          <a:solidFill>
                            <a:srgbClr val="202B38"/>
                          </a:solidFill>
                          <a:latin typeface="Arial"/>
                        </a:rPr>
                        <a:t>Model</a:t>
                      </a:r>
                    </a:p>
                  </a:txBody>
                  <a:tcPr>
                    <a:solidFill>
                      <a:srgbClr val="FFFFFF"/>
                    </a:solidFill>
                  </a:tcPr>
                </a:tc>
                <a:tc>
                  <a:txBody>
                    <a:bodyPr wrap="square"/>
                    <a:lstStyle/>
                    <a:p>
                      <a:pPr algn="l">
                        <a:spcAft>
                          <a:spcPts val="0"/>
                        </a:spcAft>
                        <a:buNone/>
                      </a:pPr>
                      <a:r>
                        <a:rPr sz="1250" b="0">
                          <a:solidFill>
                            <a:srgbClr val="202B38"/>
                          </a:solidFill>
                          <a:latin typeface="Arial"/>
                        </a:rPr>
                        <a:t>The text-in, text-out engine; anything that maps a context to the next message</a:t>
                      </a:r>
                    </a:p>
                  </a:txBody>
                  <a:tcPr>
                    <a:solidFill>
                      <a:srgbClr val="FFFFFF"/>
                    </a:solidFill>
                  </a:tcPr>
                </a:tc>
                <a:tc>
                  <a:txBody>
                    <a:bodyPr wrap="square"/>
                    <a:lstStyle/>
                    <a:p>
                      <a:pPr algn="l">
                        <a:spcAft>
                          <a:spcPts val="0"/>
                        </a:spcAft>
                        <a:buNone/>
                      </a:pPr>
                      <a:r>
                        <a:rPr sz="1250" b="0">
                          <a:solidFill>
                            <a:srgbClr val="202B38"/>
                          </a:solidFill>
                          <a:latin typeface="Arial"/>
                        </a:rPr>
                        <a:t>client.messages.create(model='claude-opus-5'); client.models.retrieve for its real facts</a:t>
                      </a:r>
                    </a:p>
                  </a:txBody>
                  <a:tcPr>
                    <a:solidFill>
                      <a:srgbClr val="FFFFFF"/>
                    </a:solidFill>
                  </a:tcPr>
                </a:tc>
              </a:tr>
              <a:tr h="457200">
                <a:tc>
                  <a:txBody>
                    <a:bodyPr wrap="square"/>
                    <a:lstStyle/>
                    <a:p>
                      <a:pPr algn="l">
                        <a:spcAft>
                          <a:spcPts val="0"/>
                        </a:spcAft>
                        <a:buNone/>
                      </a:pPr>
                      <a:r>
                        <a:rPr sz="1250" b="0">
                          <a:solidFill>
                            <a:srgbClr val="202B38"/>
                          </a:solidFill>
                          <a:latin typeface="Arial"/>
                        </a:rPr>
                        <a:t>Prompt</a:t>
                      </a:r>
                    </a:p>
                  </a:txBody>
                  <a:tcPr>
                    <a:solidFill>
                      <a:srgbClr val="EEF3FD"/>
                    </a:solidFill>
                  </a:tcPr>
                </a:tc>
                <a:tc>
                  <a:txBody>
                    <a:bodyPr wrap="square"/>
                    <a:lstStyle/>
                    <a:p>
                      <a:pPr algn="l">
                        <a:spcAft>
                          <a:spcPts val="0"/>
                        </a:spcAft>
                        <a:buNone/>
                      </a:pPr>
                      <a:r>
                        <a:rPr sz="1250" b="0">
                          <a:solidFill>
                            <a:srgbClr val="202B38"/>
                          </a:solidFill>
                          <a:latin typeface="Arial"/>
                        </a:rPr>
                        <a:t>The words you send</a:t>
                      </a:r>
                    </a:p>
                  </a:txBody>
                  <a:tcPr>
                    <a:solidFill>
                      <a:srgbClr val="EEF3FD"/>
                    </a:solidFill>
                  </a:tcPr>
                </a:tc>
                <a:tc>
                  <a:txBody>
                    <a:bodyPr wrap="square"/>
                    <a:lstStyle/>
                    <a:p>
                      <a:pPr algn="l">
                        <a:spcAft>
                          <a:spcPts val="0"/>
                        </a:spcAft>
                        <a:buNone/>
                      </a:pPr>
                      <a:r>
                        <a:rPr sz="1250" b="0">
                          <a:solidFill>
                            <a:srgbClr val="202B38"/>
                          </a:solidFill>
                          <a:latin typeface="Arial"/>
                        </a:rPr>
                        <a:t>The bare prompt and the careful system prompt</a:t>
                      </a:r>
                    </a:p>
                  </a:txBody>
                  <a:tcPr>
                    <a:solidFill>
                      <a:srgbClr val="EEF3FD"/>
                    </a:solidFill>
                  </a:tcPr>
                </a:tc>
              </a:tr>
              <a:tr h="457200">
                <a:tc>
                  <a:txBody>
                    <a:bodyPr wrap="square"/>
                    <a:lstStyle/>
                    <a:p>
                      <a:pPr algn="l">
                        <a:spcAft>
                          <a:spcPts val="0"/>
                        </a:spcAft>
                        <a:buNone/>
                      </a:pPr>
                      <a:r>
                        <a:rPr sz="1250" b="0">
                          <a:solidFill>
                            <a:srgbClr val="202B38"/>
                          </a:solidFill>
                          <a:latin typeface="Arial"/>
                        </a:rPr>
                        <a:t>Context</a:t>
                      </a:r>
                    </a:p>
                  </a:txBody>
                  <a:tcPr>
                    <a:solidFill>
                      <a:srgbClr val="FFFFFF"/>
                    </a:solidFill>
                  </a:tcPr>
                </a:tc>
                <a:tc>
                  <a:txBody>
                    <a:bodyPr wrap="square"/>
                    <a:lstStyle/>
                    <a:p>
                      <a:pPr algn="l">
                        <a:spcAft>
                          <a:spcPts val="0"/>
                        </a:spcAft>
                        <a:buNone/>
                      </a:pPr>
                      <a:r>
                        <a:rPr sz="1250" b="0">
                          <a:solidFill>
                            <a:srgbClr val="202B38"/>
                          </a:solidFill>
                          <a:latin typeface="Arial"/>
                        </a:rPr>
                        <a:t>Everything the model sees in one call</a:t>
                      </a:r>
                    </a:p>
                  </a:txBody>
                  <a:tcPr>
                    <a:solidFill>
                      <a:srgbClr val="FFFFFF"/>
                    </a:solidFill>
                  </a:tcPr>
                </a:tc>
                <a:tc>
                  <a:txBody>
                    <a:bodyPr wrap="square"/>
                    <a:lstStyle/>
                    <a:p>
                      <a:pPr algn="l">
                        <a:spcAft>
                          <a:spcPts val="0"/>
                        </a:spcAft>
                        <a:buNone/>
                      </a:pPr>
                      <a:r>
                        <a:rPr sz="1250" b="0">
                          <a:solidFill>
                            <a:srgbClr val="202B38"/>
                          </a:solidFill>
                          <a:latin typeface="Arial"/>
                        </a:rPr>
                        <a:t>The system prompt, the messages list and every tool result; usage.input_tokens counts it</a:t>
                      </a:r>
                    </a:p>
                  </a:txBody>
                  <a:tcPr>
                    <a:solidFill>
                      <a:srgbClr val="FFFFFF"/>
                    </a:solidFill>
                  </a:tcPr>
                </a:tc>
              </a:tr>
              <a:tr h="457200">
                <a:tc>
                  <a:txBody>
                    <a:bodyPr wrap="square"/>
                    <a:lstStyle/>
                    <a:p>
                      <a:pPr algn="l">
                        <a:spcAft>
                          <a:spcPts val="0"/>
                        </a:spcAft>
                        <a:buNone/>
                      </a:pPr>
                      <a:r>
                        <a:rPr sz="1250" b="0">
                          <a:solidFill>
                            <a:srgbClr val="202B38"/>
                          </a:solidFill>
                          <a:latin typeface="Arial"/>
                        </a:rPr>
                        <a:t>Tool</a:t>
                      </a:r>
                    </a:p>
                  </a:txBody>
                  <a:tcPr>
                    <a:solidFill>
                      <a:srgbClr val="EEF3FD"/>
                    </a:solidFill>
                  </a:tcPr>
                </a:tc>
                <a:tc>
                  <a:txBody>
                    <a:bodyPr wrap="square"/>
                    <a:lstStyle/>
                    <a:p>
                      <a:pPr algn="l">
                        <a:spcAft>
                          <a:spcPts val="0"/>
                        </a:spcAft>
                        <a:buNone/>
                      </a:pPr>
                      <a:r>
                        <a:rPr sz="1250" b="0">
                          <a:solidFill>
                            <a:srgbClr val="202B38"/>
                          </a:solidFill>
                          <a:latin typeface="Arial"/>
                        </a:rPr>
                        <a:t>A function the model asks for by name, with JSON arguments; the harness runs it</a:t>
                      </a:r>
                    </a:p>
                  </a:txBody>
                  <a:tcPr>
                    <a:solidFill>
                      <a:srgbClr val="EEF3FD"/>
                    </a:solidFill>
                  </a:tcPr>
                </a:tc>
                <a:tc>
                  <a:txBody>
                    <a:bodyPr wrap="square"/>
                    <a:lstStyle/>
                    <a:p>
                      <a:pPr algn="l">
                        <a:spcAft>
                          <a:spcPts val="0"/>
                        </a:spcAft>
                        <a:buNone/>
                      </a:pPr>
                      <a:r>
                        <a:rPr sz="1250" b="0">
                          <a:solidFill>
                            <a:srgbClr val="202B38"/>
                          </a:solidFill>
                          <a:latin typeface="Arial"/>
                        </a:rPr>
                        <a:t>list_files and read_file, once as Python and once as JSON (name, description, input_schema)</a:t>
                      </a:r>
                    </a:p>
                  </a:txBody>
                  <a:tcPr>
                    <a:solidFill>
                      <a:srgbClr val="EEF3FD"/>
                    </a:solidFill>
                  </a:tcPr>
                </a:tc>
              </a:tr>
              <a:tr h="457200">
                <a:tc>
                  <a:txBody>
                    <a:bodyPr wrap="square"/>
                    <a:lstStyle/>
                    <a:p>
                      <a:pPr algn="l">
                        <a:spcAft>
                          <a:spcPts val="0"/>
                        </a:spcAft>
                        <a:buNone/>
                      </a:pPr>
                      <a:r>
                        <a:rPr sz="1250" b="0">
                          <a:solidFill>
                            <a:srgbClr val="202B38"/>
                          </a:solidFill>
                          <a:latin typeface="Arial"/>
                        </a:rPr>
                        <a:t>Harness</a:t>
                      </a:r>
                    </a:p>
                  </a:txBody>
                  <a:tcPr>
                    <a:solidFill>
                      <a:srgbClr val="FFFFFF"/>
                    </a:solidFill>
                  </a:tcPr>
                </a:tc>
                <a:tc>
                  <a:txBody>
                    <a:bodyPr wrap="square"/>
                    <a:lstStyle/>
                    <a:p>
                      <a:pPr algn="l">
                        <a:spcAft>
                          <a:spcPts val="0"/>
                        </a:spcAft>
                        <a:buNone/>
                      </a:pPr>
                      <a:r>
                        <a:rPr sz="1250" b="0">
                          <a:solidFill>
                            <a:srgbClr val="202B38"/>
                          </a:solidFill>
                          <a:latin typeface="Arial"/>
                        </a:rPr>
                        <a:t>The runtime around the model: loop, tools, context, checks</a:t>
                      </a:r>
                    </a:p>
                  </a:txBody>
                  <a:tcPr>
                    <a:solidFill>
                      <a:srgbClr val="FFFFFF"/>
                    </a:solidFill>
                  </a:tcPr>
                </a:tc>
                <a:tc>
                  <a:txBody>
                    <a:bodyPr wrap="square"/>
                    <a:lstStyle/>
                    <a:p>
                      <a:pPr algn="l">
                        <a:spcAft>
                          <a:spcPts val="0"/>
                        </a:spcAft>
                        <a:buNone/>
                      </a:pPr>
                      <a:r>
                        <a:rPr sz="1250" b="0">
                          <a:solidFill>
                            <a:srgbClr val="202B38"/>
                          </a:solidFill>
                          <a:latin typeface="Arial"/>
                        </a:rPr>
                        <a:t>The forty-line loop run_agent; then the SDK's tool_runner</a:t>
                      </a:r>
                    </a:p>
                  </a:txBody>
                  <a:tcPr>
                    <a:solidFill>
                      <a:srgbClr val="FFFFFF"/>
                    </a:solidFill>
                  </a:tcPr>
                </a:tc>
              </a:tr>
              <a:tr h="457200">
                <a:tc>
                  <a:txBody>
                    <a:bodyPr wrap="square"/>
                    <a:lstStyle/>
                    <a:p>
                      <a:pPr algn="l">
                        <a:spcAft>
                          <a:spcPts val="0"/>
                        </a:spcAft>
                        <a:buNone/>
                      </a:pPr>
                      <a:r>
                        <a:rPr sz="1250" b="0">
                          <a:solidFill>
                            <a:srgbClr val="202B38"/>
                          </a:solidFill>
                          <a:latin typeface="Arial"/>
                        </a:rPr>
                        <a:t>Usage</a:t>
                      </a:r>
                    </a:p>
                  </a:txBody>
                  <a:tcPr>
                    <a:solidFill>
                      <a:srgbClr val="EEF3FD"/>
                    </a:solidFill>
                  </a:tcPr>
                </a:tc>
                <a:tc>
                  <a:txBody>
                    <a:bodyPr wrap="square"/>
                    <a:lstStyle/>
                    <a:p>
                      <a:pPr algn="l">
                        <a:spcAft>
                          <a:spcPts val="0"/>
                        </a:spcAft>
                        <a:buNone/>
                      </a:pPr>
                      <a:r>
                        <a:rPr sz="1250" b="0">
                          <a:solidFill>
                            <a:srgbClr val="202B38"/>
                          </a:solidFill>
                          <a:latin typeface="Arial"/>
                        </a:rPr>
                        <a:t>The receipt the API returns with every response: input_tokens and output_tokens</a:t>
                      </a:r>
                    </a:p>
                  </a:txBody>
                  <a:tcPr>
                    <a:solidFill>
                      <a:srgbClr val="EEF3FD"/>
                    </a:solidFill>
                  </a:tcPr>
                </a:tc>
                <a:tc>
                  <a:txBody>
                    <a:bodyPr wrap="square"/>
                    <a:lstStyle/>
                    <a:p>
                      <a:pPr algn="l">
                        <a:spcAft>
                          <a:spcPts val="0"/>
                        </a:spcAft>
                        <a:buNone/>
                      </a:pPr>
                      <a:r>
                        <a:rPr sz="1250" b="0">
                          <a:solidFill>
                            <a:srgbClr val="202B38"/>
                          </a:solidFill>
                          <a:latin typeface="Arial"/>
                        </a:rPr>
                        <a:t>response.usage after every call; cost_usd turns it into dollars; the bill at the end</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Definitions follow the Module 5 course brief; the same lines appear in the notebooks the first time each word is used.</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02</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2 - The practice: one question, three ways, on the raw SDK</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Notebook 01: a bare prompt, a careful system prompt, and a forty-line loop with two tools answer the same question about this repository, on the real claude-opus-5.</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1 - From Prompts to Harnesses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SETUP AND SECTION 3</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setup: a real client, a real model, and a question no model can know from training</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we send</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The official Anthropic SDK 1.9.0; the key comes from .env through dotenv_values and goes to the client, nowhere else</a:t>
            </a:r>
          </a:p>
          <a:p>
            <a:pPr algn="l" indent="-228600" marL="228600">
              <a:spcAft>
                <a:spcPts val="600"/>
              </a:spcAft>
              <a:buClr>
                <a:srgbClr val="1E5EF3"/>
              </a:buClr>
              <a:buChar char="—"/>
            </a:pPr>
            <a:r>
              <a:rPr sz="1200" b="0">
                <a:solidFill>
                  <a:srgbClr val="202B38"/>
                </a:solidFill>
                <a:latin typeface="Arial"/>
              </a:rPr>
              <a:t>client.models.retrieve: Claude Opus 5, a 1,000,000-token context window, 128,000 output tokens at most</a:t>
            </a:r>
          </a:p>
          <a:p>
            <a:pPr algn="l" indent="-228600" marL="228600">
              <a:spcAft>
                <a:spcPts val="600"/>
              </a:spcAft>
              <a:buClr>
                <a:srgbClr val="1E5EF3"/>
              </a:buClr>
              <a:buChar char="—"/>
            </a:pPr>
            <a:r>
              <a:rPr sz="1200" b="0">
                <a:solidFill>
                  <a:srgbClr val="202B38"/>
                </a:solidFill>
                <a:latin typeface="Arial"/>
              </a:rPr>
              <a:t>Every call: max_tokens 2000 and effort medium, so only the machinery around the model changes</a:t>
            </a:r>
          </a:p>
          <a:p>
            <a:pPr algn="l" indent="-228600" marL="228600">
              <a:spcAft>
                <a:spcPts val="600"/>
              </a:spcAft>
              <a:buClr>
                <a:srgbClr val="1E5EF3"/>
              </a:buClr>
              <a:buChar char="—"/>
            </a:pPr>
            <a:r>
              <a:rPr sz="1200" b="0">
                <a:solidFill>
                  <a:srgbClr val="202B38"/>
                </a:solidFill>
                <a:latin typeface="Arial"/>
              </a:rPr>
              <a:t>The question: which Python version does the notebook workflow use, and how many notebooks does its matrix run?</a:t>
            </a:r>
          </a:p>
          <a:p>
            <a:pPr algn="l" indent="-228600" marL="228600">
              <a:spcAft>
                <a:spcPts val="600"/>
              </a:spcAft>
              <a:buClr>
                <a:srgbClr val="1E5EF3"/>
              </a:buClr>
              <a:buChar char="—"/>
            </a:pPr>
            <a:r>
              <a:rPr sz="1200" b="0">
                <a:solidFill>
                  <a:srgbClr val="202B38"/>
                </a:solidFill>
                <a:latin typeface="Arial"/>
              </a:rPr>
              <a:t>The file that settles it, .github/workflows/notebooks.yml: python-version 3.12 and 9 notebooks in the matrix</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came back, in the recorded run</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Bare prompt: 'I don't have access to the repository you're referring to ... Paste the workflow YAML and I'll give you the exact version and count.'</a:t>
            </a:r>
          </a:p>
          <a:p>
            <a:pPr algn="l" indent="-228600" marL="228600">
              <a:spcAft>
                <a:spcPts val="600"/>
              </a:spcAft>
              <a:buClr>
                <a:srgbClr val="1E5EF3"/>
              </a:buClr>
              <a:buChar char="—"/>
            </a:pPr>
            <a:r>
              <a:rPr sz="1200" b="0">
                <a:solidFill>
                  <a:srgbClr val="202B38"/>
                </a:solidFill>
                <a:latin typeface="Arial"/>
              </a:rPr>
              <a:t>Careful system prompt: 'I can't answer that - I have no access to this repository's files', then the file name as a place to look</a:t>
            </a:r>
          </a:p>
          <a:p>
            <a:pPr algn="l" indent="-228600" marL="228600">
              <a:spcAft>
                <a:spcPts val="600"/>
              </a:spcAft>
              <a:buClr>
                <a:srgbClr val="1E5EF3"/>
              </a:buClr>
              <a:buChar char="—"/>
            </a:pPr>
            <a:r>
              <a:rPr sz="1200" b="0">
                <a:solidFill>
                  <a:srgbClr val="202B38"/>
                </a:solidFill>
                <a:latin typeface="Arial"/>
              </a:rPr>
              <a:t>Harness, two tools and a loop: 'Python 3.12, and the execute job's matrix runs 9 notebooks ... Source: .github/workflows/notebooks.yml'</a:t>
            </a:r>
          </a:p>
          <a:p>
            <a:pPr algn="l" indent="-228600" marL="228600">
              <a:spcAft>
                <a:spcPts val="600"/>
              </a:spcAft>
              <a:buClr>
                <a:srgbClr val="1E5EF3"/>
              </a:buClr>
              <a:buChar char="—"/>
            </a:pPr>
            <a:r>
              <a:rPr sz="1200" b="0">
                <a:solidFill>
                  <a:srgbClr val="202B38"/>
                </a:solidFill>
                <a:latin typeface="Arial"/>
              </a:rPr>
              <a:t>Same model, same effort, three times; only the third answer can be checked by opening the file</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Recorded run on claude-opus-5, 30 Sep 2026; live runs vary in wording and route. Model facts from client.models.retrieve; the expected answer is parsed from the workflow file by the notebook itself, not typed by hand.</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3.3</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forty-line loop: messages in, tool_use out, tool_result back, until the model stops asking</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4114800"/>
        </p:xfrm>
        <a:graphic>
          <a:graphicData uri="http://schemas.openxmlformats.org/drawingml/2006/table">
            <a:tbl>
              <a:tblPr firstRow="1" bandRow="1">
                <a:tableStyleId>{5C22544A-7EE6-4342-B048-85BDC9FD1C3A}</a:tableStyleId>
              </a:tblPr>
              <a:tblGrid>
                <a:gridCol w="6140032"/>
                <a:gridCol w="4951639"/>
              </a:tblGrid>
              <a:tr h="457200">
                <a:tc>
                  <a:txBody>
                    <a:bodyPr wrap="square"/>
                    <a:lstStyle/>
                    <a:p>
                      <a:pPr algn="l">
                        <a:spcAft>
                          <a:spcPts val="0"/>
                        </a:spcAft>
                        <a:buNone/>
                      </a:pPr>
                      <a:r>
                        <a:rPr sz="1300" b="1">
                          <a:solidFill>
                            <a:srgbClr val="FFFFFF"/>
                          </a:solidFill>
                          <a:latin typeface="Arial"/>
                        </a:rPr>
                        <a:t>The line, from run_agent in notebook 01</a:t>
                      </a:r>
                    </a:p>
                  </a:txBody>
                  <a:tcPr>
                    <a:solidFill>
                      <a:srgbClr val="0A2540"/>
                    </a:solidFill>
                  </a:tcPr>
                </a:tc>
                <a:tc>
                  <a:txBody>
                    <a:bodyPr wrap="square"/>
                    <a:lstStyle/>
                    <a:p>
                      <a:pPr algn="l">
                        <a:spcAft>
                          <a:spcPts val="0"/>
                        </a:spcAft>
                        <a:buNone/>
                      </a:pPr>
                      <a:r>
                        <a:rPr sz="1300" b="1">
                          <a:solidFill>
                            <a:srgbClr val="FFFFFF"/>
                          </a:solidFill>
                          <a:latin typeface="Arial"/>
                        </a:rPr>
                        <a:t>In plain words</a:t>
                      </a:r>
                    </a:p>
                  </a:txBody>
                  <a:tcPr>
                    <a:solidFill>
                      <a:srgbClr val="0A2540"/>
                    </a:solidFill>
                  </a:tcPr>
                </a:tc>
              </a:tr>
              <a:tr h="457200">
                <a:tc>
                  <a:txBody>
                    <a:bodyPr wrap="square"/>
                    <a:lstStyle/>
                    <a:p>
                      <a:pPr algn="l">
                        <a:spcAft>
                          <a:spcPts val="0"/>
                        </a:spcAft>
                        <a:buNone/>
                      </a:pPr>
                      <a:r>
                        <a:rPr sz="950" b="0">
                          <a:solidFill>
                            <a:srgbClr val="0A2540"/>
                          </a:solidFill>
                          <a:latin typeface="Courier New"/>
                        </a:rPr>
                        <a:t>messages = [{"role": "user", "content": question}]</a:t>
                      </a:r>
                    </a:p>
                  </a:txBody>
                  <a:tcPr>
                    <a:solidFill>
                      <a:srgbClr val="FFFFFF"/>
                    </a:solidFill>
                  </a:tcPr>
                </a:tc>
                <a:tc>
                  <a:txBody>
                    <a:bodyPr wrap="square"/>
                    <a:lstStyle/>
                    <a:p>
                      <a:pPr algn="l">
                        <a:spcAft>
                          <a:spcPts val="0"/>
                        </a:spcAft>
                        <a:buNone/>
                      </a:pPr>
                      <a:r>
                        <a:rPr sz="1150" b="0">
                          <a:solidFill>
                            <a:srgbClr val="202B38"/>
                          </a:solidFill>
                          <a:latin typeface="Arial"/>
                        </a:rPr>
                        <a:t>The context starts with the task; everything the model sees is in this list</a:t>
                      </a:r>
                    </a:p>
                  </a:txBody>
                  <a:tcPr>
                    <a:solidFill>
                      <a:srgbClr val="FFFFFF"/>
                    </a:solidFill>
                  </a:tcPr>
                </a:tc>
              </a:tr>
              <a:tr h="457200">
                <a:tc>
                  <a:txBody>
                    <a:bodyPr wrap="square"/>
                    <a:lstStyle/>
                    <a:p>
                      <a:pPr algn="l">
                        <a:spcAft>
                          <a:spcPts val="0"/>
                        </a:spcAft>
                        <a:buNone/>
                      </a:pPr>
                      <a:r>
                        <a:rPr sz="950" b="0">
                          <a:solidFill>
                            <a:srgbClr val="0A2540"/>
                          </a:solidFill>
                          <a:latin typeface="Courier New"/>
                        </a:rPr>
                        <a:t>for turn in range(1, max_turns + 1):</a:t>
                      </a:r>
                    </a:p>
                  </a:txBody>
                  <a:tcPr>
                    <a:solidFill>
                      <a:srgbClr val="EEF3FD"/>
                    </a:solidFill>
                  </a:tcPr>
                </a:tc>
                <a:tc>
                  <a:txBody>
                    <a:bodyPr wrap="square"/>
                    <a:lstStyle/>
                    <a:p>
                      <a:pPr algn="l">
                        <a:spcAft>
                          <a:spcPts val="0"/>
                        </a:spcAft>
                        <a:buNone/>
                      </a:pPr>
                      <a:r>
                        <a:rPr sz="1150" b="0">
                          <a:solidFill>
                            <a:srgbClr val="202B38"/>
                          </a:solidFill>
                          <a:latin typeface="Arial"/>
                        </a:rPr>
                        <a:t>Stop condition 1: a ceiling on model calls, so an agent never runs forever</a:t>
                      </a:r>
                    </a:p>
                  </a:txBody>
                  <a:tcPr>
                    <a:solidFill>
                      <a:srgbClr val="EEF3FD"/>
                    </a:solidFill>
                  </a:tcPr>
                </a:tc>
              </a:tr>
              <a:tr h="457200">
                <a:tc>
                  <a:txBody>
                    <a:bodyPr wrap="square"/>
                    <a:lstStyle/>
                    <a:p>
                      <a:pPr algn="l">
                        <a:spcAft>
                          <a:spcPts val="0"/>
                        </a:spcAft>
                        <a:buNone/>
                      </a:pPr>
                      <a:r>
                        <a:rPr sz="950" b="0">
                          <a:solidFill>
                            <a:srgbClr val="0A2540"/>
                          </a:solidFill>
                          <a:latin typeface="Courier New"/>
                        </a:rPr>
                        <a:t>response = client.messages.create(model=model, max_tokens=2000, system=system, tools=tools, messages=messages, output_config={"effort": effort})</a:t>
                      </a:r>
                    </a:p>
                  </a:txBody>
                  <a:tcPr>
                    <a:solidFill>
                      <a:srgbClr val="FFFFFF"/>
                    </a:solidFill>
                  </a:tcPr>
                </a:tc>
                <a:tc>
                  <a:txBody>
                    <a:bodyPr wrap="square"/>
                    <a:lstStyle/>
                    <a:p>
                      <a:pPr algn="l">
                        <a:spcAft>
                          <a:spcPts val="0"/>
                        </a:spcAft>
                        <a:buNone/>
                      </a:pPr>
                      <a:r>
                        <a:rPr sz="1150" b="0">
                          <a:solidFill>
                            <a:srgbClr val="202B38"/>
                          </a:solidFill>
                          <a:latin typeface="Arial"/>
                        </a:rPr>
                        <a:t>One real API call; tools is the JSON list of names, descriptions and input schemas</a:t>
                      </a:r>
                    </a:p>
                  </a:txBody>
                  <a:tcPr>
                    <a:solidFill>
                      <a:srgbClr val="FFFFFF"/>
                    </a:solidFill>
                  </a:tcPr>
                </a:tc>
              </a:tr>
              <a:tr h="457200">
                <a:tc>
                  <a:txBody>
                    <a:bodyPr wrap="square"/>
                    <a:lstStyle/>
                    <a:p>
                      <a:pPr algn="l">
                        <a:spcAft>
                          <a:spcPts val="0"/>
                        </a:spcAft>
                        <a:buNone/>
                      </a:pPr>
                      <a:r>
                        <a:rPr sz="950" b="0">
                          <a:solidFill>
                            <a:srgbClr val="0A2540"/>
                          </a:solidFill>
                          <a:latin typeface="Courier New"/>
                        </a:rPr>
                        <a:t>messages.append({"role": "assistant", "content": response.content})</a:t>
                      </a:r>
                    </a:p>
                  </a:txBody>
                  <a:tcPr>
                    <a:solidFill>
                      <a:srgbClr val="EEF3FD"/>
                    </a:solidFill>
                  </a:tcPr>
                </a:tc>
                <a:tc>
                  <a:txBody>
                    <a:bodyPr wrap="square"/>
                    <a:lstStyle/>
                    <a:p>
                      <a:pPr algn="l">
                        <a:spcAft>
                          <a:spcPts val="0"/>
                        </a:spcAft>
                        <a:buNone/>
                      </a:pPr>
                      <a:r>
                        <a:rPr sz="1150" b="0">
                          <a:solidFill>
                            <a:srgbClr val="202B38"/>
                          </a:solidFill>
                          <a:latin typeface="Arial"/>
                        </a:rPr>
                        <a:t>Replay the whole reply verbatim: thinking, text and tool_use blocks</a:t>
                      </a:r>
                    </a:p>
                  </a:txBody>
                  <a:tcPr>
                    <a:solidFill>
                      <a:srgbClr val="EEF3FD"/>
                    </a:solidFill>
                  </a:tcPr>
                </a:tc>
              </a:tr>
              <a:tr h="457200">
                <a:tc>
                  <a:txBody>
                    <a:bodyPr wrap="square"/>
                    <a:lstStyle/>
                    <a:p>
                      <a:pPr algn="l">
                        <a:spcAft>
                          <a:spcPts val="0"/>
                        </a:spcAft>
                        <a:buNone/>
                      </a:pPr>
                      <a:r>
                        <a:rPr sz="950" b="0">
                          <a:solidFill>
                            <a:srgbClr val="0A2540"/>
                          </a:solidFill>
                          <a:latin typeface="Courier New"/>
                        </a:rPr>
                        <a:t>if response.stop_reason != "tool_use": break</a:t>
                      </a:r>
                    </a:p>
                  </a:txBody>
                  <a:tcPr>
                    <a:solidFill>
                      <a:srgbClr val="FFFFFF"/>
                    </a:solidFill>
                  </a:tcPr>
                </a:tc>
                <a:tc>
                  <a:txBody>
                    <a:bodyPr wrap="square"/>
                    <a:lstStyle/>
                    <a:p>
                      <a:pPr algn="l">
                        <a:spcAft>
                          <a:spcPts val="0"/>
                        </a:spcAft>
                        <a:buNone/>
                      </a:pPr>
                      <a:r>
                        <a:rPr sz="1150" b="0">
                          <a:solidFill>
                            <a:srgbClr val="202B38"/>
                          </a:solidFill>
                          <a:latin typeface="Arial"/>
                        </a:rPr>
                        <a:t>Stop condition 2: end_turn means answered; max_tokens and refusal stop the loop too</a:t>
                      </a:r>
                    </a:p>
                  </a:txBody>
                  <a:tcPr>
                    <a:solidFill>
                      <a:srgbClr val="FFFFFF"/>
                    </a:solidFill>
                  </a:tcPr>
                </a:tc>
              </a:tr>
              <a:tr h="457200">
                <a:tc>
                  <a:txBody>
                    <a:bodyPr wrap="square"/>
                    <a:lstStyle/>
                    <a:p>
                      <a:pPr algn="l">
                        <a:spcAft>
                          <a:spcPts val="0"/>
                        </a:spcAft>
                        <a:buNone/>
                      </a:pPr>
                      <a:r>
                        <a:rPr sz="950" b="0">
                          <a:solidFill>
                            <a:srgbClr val="0A2540"/>
                          </a:solidFill>
                          <a:latin typeface="Courier New"/>
                        </a:rPr>
                        <a:t>for block in response.content: if block.type == "tool_use": output = functions[block.name](**block.input)</a:t>
                      </a:r>
                    </a:p>
                  </a:txBody>
                  <a:tcPr>
                    <a:solidFill>
                      <a:srgbClr val="EEF3FD"/>
                    </a:solidFill>
                  </a:tcPr>
                </a:tc>
                <a:tc>
                  <a:txBody>
                    <a:bodyPr wrap="square"/>
                    <a:lstStyle/>
                    <a:p>
                      <a:pPr algn="l">
                        <a:spcAft>
                          <a:spcPts val="0"/>
                        </a:spcAft>
                        <a:buNone/>
                      </a:pPr>
                      <a:r>
                        <a:rPr sz="1150" b="0">
                          <a:solidFill>
                            <a:srgbClr val="202B38"/>
                          </a:solidFill>
                          <a:latin typeface="Arial"/>
                        </a:rPr>
                        <a:t>Your code runs the function the model asked for by name, with its JSON arguments</a:t>
                      </a:r>
                    </a:p>
                  </a:txBody>
                  <a:tcPr>
                    <a:solidFill>
                      <a:srgbClr val="EEF3FD"/>
                    </a:solidFill>
                  </a:tcPr>
                </a:tc>
              </a:tr>
              <a:tr h="457200">
                <a:tc>
                  <a:txBody>
                    <a:bodyPr wrap="square"/>
                    <a:lstStyle/>
                    <a:p>
                      <a:pPr algn="l">
                        <a:spcAft>
                          <a:spcPts val="0"/>
                        </a:spcAft>
                        <a:buNone/>
                      </a:pPr>
                      <a:r>
                        <a:rPr sz="950" b="0">
                          <a:solidFill>
                            <a:srgbClr val="0A2540"/>
                          </a:solidFill>
                          <a:latin typeface="Courier New"/>
                        </a:rPr>
                        <a:t>{"type": "tool_result", "tool_use_id": block.id, "content": output, "is_error": True}  # is_error only on failure</a:t>
                      </a:r>
                    </a:p>
                  </a:txBody>
                  <a:tcPr>
                    <a:solidFill>
                      <a:srgbClr val="FFFFFF"/>
                    </a:solidFill>
                  </a:tcPr>
                </a:tc>
                <a:tc>
                  <a:txBody>
                    <a:bodyPr wrap="square"/>
                    <a:lstStyle/>
                    <a:p>
                      <a:pPr algn="l">
                        <a:spcAft>
                          <a:spcPts val="0"/>
                        </a:spcAft>
                        <a:buNone/>
                      </a:pPr>
                      <a:r>
                        <a:rPr sz="1150" b="0">
                          <a:solidFill>
                            <a:srgbClr val="202B38"/>
                          </a:solidFill>
                          <a:latin typeface="Arial"/>
                        </a:rPr>
                        <a:t>Each result answers one request by id; a failure goes back as an error the model can read, not a crash</a:t>
                      </a:r>
                    </a:p>
                  </a:txBody>
                  <a:tcPr>
                    <a:solidFill>
                      <a:srgbClr val="FFFFFF"/>
                    </a:solidFill>
                  </a:tcPr>
                </a:tc>
              </a:tr>
              <a:tr h="457200">
                <a:tc>
                  <a:txBody>
                    <a:bodyPr wrap="square"/>
                    <a:lstStyle/>
                    <a:p>
                      <a:pPr algn="l">
                        <a:spcAft>
                          <a:spcPts val="0"/>
                        </a:spcAft>
                        <a:buNone/>
                      </a:pPr>
                      <a:r>
                        <a:rPr sz="950" b="0">
                          <a:solidFill>
                            <a:srgbClr val="0A2540"/>
                          </a:solidFill>
                          <a:latin typeface="Courier New"/>
                        </a:rPr>
                        <a:t>messages.append({"role": "user", "content": results})</a:t>
                      </a:r>
                    </a:p>
                  </a:txBody>
                  <a:tcPr>
                    <a:solidFill>
                      <a:srgbClr val="EEF3FD"/>
                    </a:solidFill>
                  </a:tcPr>
                </a:tc>
                <a:tc>
                  <a:txBody>
                    <a:bodyPr wrap="square"/>
                    <a:lstStyle/>
                    <a:p>
                      <a:pPr algn="l">
                        <a:spcAft>
                          <a:spcPts val="0"/>
                        </a:spcAft>
                        <a:buNone/>
                      </a:pPr>
                      <a:r>
                        <a:rPr sz="1150" b="0">
                          <a:solidFill>
                            <a:srgbClr val="202B38"/>
                          </a:solidFill>
                          <a:latin typeface="Arial"/>
                        </a:rPr>
                        <a:t>All results of one turn travel in one user message; then the loop goes round again</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How to read it: left, the lines of run_agent (about forty with printing and bookkeeping, which are left out here); right, what each line does. The loop printed every tool_use and tool_result as it ran.</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3.3, RECORDED RUN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What the loop printed: two listings, one read, then the answer, in 3 model calls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top lane = model calls, bottom lane = tool calls, left to right in time</a:t>
            </a:r>
          </a:p>
          <a:p>
            <a:pPr algn="l" indent="-228600" marL="228600">
              <a:spcAft>
                <a:spcPts val="800"/>
              </a:spcAft>
              <a:buClr>
                <a:srgbClr val="1E5EF3"/>
              </a:buClr>
              <a:buChar char="—"/>
            </a:pPr>
            <a:r>
              <a:rPr sz="1450" b="0">
                <a:solidFill>
                  <a:srgbClr val="202B38"/>
                </a:solidFill>
                <a:latin typeface="Arial"/>
              </a:rPr>
              <a:t>Call 1 asks for two listings at once; the loop runs both and returns both in one message</a:t>
            </a:r>
          </a:p>
          <a:p>
            <a:pPr algn="l" indent="-228600" marL="228600">
              <a:spcAft>
                <a:spcPts val="800"/>
              </a:spcAft>
              <a:buClr>
                <a:srgbClr val="1E5EF3"/>
              </a:buClr>
              <a:buChar char="—"/>
            </a:pPr>
            <a:r>
              <a:rPr sz="1450" b="0">
                <a:solidFill>
                  <a:srgbClr val="202B38"/>
                </a:solidFill>
                <a:latin typeface="Arial"/>
              </a:rPr>
              <a:t>Call 2 asks to read notebooks.yml; 2,809 characters come back as one tool_result</a:t>
            </a:r>
          </a:p>
          <a:p>
            <a:pPr algn="l" indent="-228600" marL="228600">
              <a:spcAft>
                <a:spcPts val="800"/>
              </a:spcAft>
              <a:buClr>
                <a:srgbClr val="1E5EF3"/>
              </a:buClr>
              <a:buChar char="—"/>
            </a:pPr>
            <a:r>
              <a:rPr sz="1450" b="0">
                <a:solidFill>
                  <a:srgbClr val="202B38"/>
                </a:solidFill>
                <a:latin typeface="Arial"/>
              </a:rPr>
              <a:t>Call 3 has no tool_use block: stop_reason end_turn, the loop stops. 3 model calls, 3 tool calls</a:t>
            </a:r>
          </a:p>
          <a:p>
            <a:pPr algn="l" indent="-228600" marL="228600">
              <a:spcAft>
                <a:spcPts val="800"/>
              </a:spcAft>
              <a:buClr>
                <a:srgbClr val="1E5EF3"/>
              </a:buClr>
              <a:buChar char="—"/>
            </a:pPr>
            <a:r>
              <a:rPr sz="1450" b="0">
                <a:solidFill>
                  <a:srgbClr val="202B38"/>
                </a:solidFill>
                <a:latin typeface="Arial"/>
              </a:rPr>
              <a:t>Input tokens grow call by call: 702, then 1,052, then 2,359. Each call carries all of it</a:t>
            </a:r>
          </a:p>
          <a:p>
            <a:pPr algn="l" indent="-228600" marL="228600">
              <a:spcAft>
                <a:spcPts val="800"/>
              </a:spcAft>
              <a:buClr>
                <a:srgbClr val="1E5EF3"/>
              </a:buClr>
              <a:buChar char="—"/>
            </a:pPr>
            <a:r>
              <a:rPr sz="1450" b="0">
                <a:solidFill>
                  <a:srgbClr val="202B38"/>
                </a:solidFill>
                <a:latin typeface="Arial"/>
              </a:rPr>
              <a:t>In plain words: the model never got smarter; it was given a way to look and a loop that kept asking</a:t>
            </a:r>
          </a:p>
        </p:txBody>
      </p:sp>
      <p:pic>
        <p:nvPicPr>
          <p:cNvPr id="8" name="Picture 7" descr="s1_trace.png"/>
          <p:cNvPicPr>
            <a:picLocks noChangeAspect="1"/>
          </p:cNvPicPr>
          <p:nvPr/>
        </p:nvPicPr>
        <p:blipFill>
          <a:blip r:embed="rId2"/>
          <a:stretch>
            <a:fillRect/>
          </a:stretch>
        </p:blipFill>
        <p:spPr>
          <a:xfrm>
            <a:off x="5274395" y="1874519"/>
            <a:ext cx="6184730"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Recorded run on claude-opus-5, 30 Sep 2026; live runs vary in route and tokens. Total 4,113 input and 350 output tokens, 0.0293 USD.</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3.4</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ways side by side: only the harness gives the fact, and it pays for it in input tokens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68" cy="1828800"/>
        </p:xfrm>
        <a:graphic>
          <a:graphicData uri="http://schemas.openxmlformats.org/drawingml/2006/table">
            <a:tbl>
              <a:tblPr firstRow="1" bandRow="1">
                <a:tableStyleId>{5C22544A-7EE6-4342-B048-85BDC9FD1C3A}</a:tableStyleId>
              </a:tblPr>
              <a:tblGrid>
                <a:gridCol w="2401289"/>
                <a:gridCol w="1143471"/>
                <a:gridCol w="1029124"/>
                <a:gridCol w="1257818"/>
                <a:gridCol w="1372165"/>
                <a:gridCol w="1143471"/>
                <a:gridCol w="1372165"/>
                <a:gridCol w="1372165"/>
              </a:tblGrid>
              <a:tr h="457200">
                <a:tc>
                  <a:txBody>
                    <a:bodyPr wrap="square"/>
                    <a:lstStyle/>
                    <a:p>
                      <a:pPr algn="l">
                        <a:spcAft>
                          <a:spcPts val="0"/>
                        </a:spcAft>
                        <a:buNone/>
                      </a:pPr>
                      <a:r>
                        <a:rPr sz="1300" b="1">
                          <a:solidFill>
                            <a:srgbClr val="FFFFFF"/>
                          </a:solidFill>
                          <a:latin typeface="Arial"/>
                        </a:rPr>
                        <a:t>Approach</a:t>
                      </a:r>
                    </a:p>
                  </a:txBody>
                  <a:tcPr>
                    <a:solidFill>
                      <a:srgbClr val="0A2540"/>
                    </a:solidFill>
                  </a:tcPr>
                </a:tc>
                <a:tc>
                  <a:txBody>
                    <a:bodyPr wrap="square"/>
                    <a:lstStyle/>
                    <a:p>
                      <a:pPr algn="l">
                        <a:spcAft>
                          <a:spcPts val="0"/>
                        </a:spcAft>
                        <a:buNone/>
                      </a:pPr>
                      <a:r>
                        <a:rPr sz="1300" b="1">
                          <a:solidFill>
                            <a:srgbClr val="FFFFFF"/>
                          </a:solidFill>
                          <a:latin typeface="Arial"/>
                        </a:rPr>
                        <a:t>Model calls</a:t>
                      </a:r>
                    </a:p>
                  </a:txBody>
                  <a:tcPr>
                    <a:solidFill>
                      <a:srgbClr val="0A2540"/>
                    </a:solidFill>
                  </a:tcPr>
                </a:tc>
                <a:tc>
                  <a:txBody>
                    <a:bodyPr wrap="square"/>
                    <a:lstStyle/>
                    <a:p>
                      <a:pPr algn="l">
                        <a:spcAft>
                          <a:spcPts val="0"/>
                        </a:spcAft>
                        <a:buNone/>
                      </a:pPr>
                      <a:r>
                        <a:rPr sz="1300" b="1">
                          <a:solidFill>
                            <a:srgbClr val="FFFFFF"/>
                          </a:solidFill>
                          <a:latin typeface="Arial"/>
                        </a:rPr>
                        <a:t>Tool calls</a:t>
                      </a:r>
                    </a:p>
                  </a:txBody>
                  <a:tcPr>
                    <a:solidFill>
                      <a:srgbClr val="0A2540"/>
                    </a:solidFill>
                  </a:tcPr>
                </a:tc>
                <a:tc>
                  <a:txBody>
                    <a:bodyPr wrap="square"/>
                    <a:lstStyle/>
                    <a:p>
                      <a:pPr algn="l">
                        <a:spcAft>
                          <a:spcPts val="0"/>
                        </a:spcAft>
                        <a:buNone/>
                      </a:pPr>
                      <a:r>
                        <a:rPr sz="1300" b="1">
                          <a:solidFill>
                            <a:srgbClr val="FFFFFF"/>
                          </a:solidFill>
                          <a:latin typeface="Arial"/>
                        </a:rPr>
                        <a:t>Input tokens</a:t>
                      </a:r>
                    </a:p>
                  </a:txBody>
                  <a:tcPr>
                    <a:solidFill>
                      <a:srgbClr val="0A2540"/>
                    </a:solidFill>
                  </a:tcPr>
                </a:tc>
                <a:tc>
                  <a:txBody>
                    <a:bodyPr wrap="square"/>
                    <a:lstStyle/>
                    <a:p>
                      <a:pPr algn="l">
                        <a:spcAft>
                          <a:spcPts val="0"/>
                        </a:spcAft>
                        <a:buNone/>
                      </a:pPr>
                      <a:r>
                        <a:rPr sz="1300" b="1">
                          <a:solidFill>
                            <a:srgbClr val="FFFFFF"/>
                          </a:solidFill>
                          <a:latin typeface="Arial"/>
                        </a:rPr>
                        <a:t>Output tokens</a:t>
                      </a:r>
                    </a:p>
                  </a:txBody>
                  <a:tcPr>
                    <a:solidFill>
                      <a:srgbClr val="0A2540"/>
                    </a:solidFill>
                  </a:tcPr>
                </a:tc>
                <a:tc>
                  <a:txBody>
                    <a:bodyPr wrap="square"/>
                    <a:lstStyle/>
                    <a:p>
                      <a:pPr algn="l">
                        <a:spcAft>
                          <a:spcPts val="0"/>
                        </a:spcAft>
                        <a:buNone/>
                      </a:pPr>
                      <a:r>
                        <a:rPr sz="1300" b="1">
                          <a:solidFill>
                            <a:srgbClr val="FFFFFF"/>
                          </a:solidFill>
                          <a:latin typeface="Arial"/>
                        </a:rPr>
                        <a:t>Cost (USD)</a:t>
                      </a:r>
                    </a:p>
                  </a:txBody>
                  <a:tcPr>
                    <a:solidFill>
                      <a:srgbClr val="0A2540"/>
                    </a:solidFill>
                  </a:tcPr>
                </a:tc>
                <a:tc>
                  <a:txBody>
                    <a:bodyPr wrap="square"/>
                    <a:lstStyle/>
                    <a:p>
                      <a:pPr algn="l">
                        <a:spcAft>
                          <a:spcPts val="0"/>
                        </a:spcAft>
                        <a:buNone/>
                      </a:pPr>
                      <a:r>
                        <a:rPr sz="1300" b="1">
                          <a:solidFill>
                            <a:srgbClr val="FFFFFF"/>
                          </a:solidFill>
                          <a:latin typeface="Arial"/>
                        </a:rPr>
                        <a:t>Gives the fact</a:t>
                      </a:r>
                    </a:p>
                  </a:txBody>
                  <a:tcPr>
                    <a:solidFill>
                      <a:srgbClr val="0A2540"/>
                    </a:solidFill>
                  </a:tcPr>
                </a:tc>
                <a:tc>
                  <a:txBody>
                    <a:bodyPr wrap="square"/>
                    <a:lstStyle/>
                    <a:p>
                      <a:pPr algn="l">
                        <a:spcAft>
                          <a:spcPts val="0"/>
                        </a:spcAft>
                        <a:buNone/>
                      </a:pPr>
                      <a:r>
                        <a:rPr sz="1300" b="1">
                          <a:solidFill>
                            <a:srgbClr val="FFFFFF"/>
                          </a:solidFill>
                          <a:latin typeface="Arial"/>
                        </a:rPr>
                        <a:t>Names the file</a:t>
                      </a:r>
                    </a:p>
                  </a:txBody>
                  <a:tcPr>
                    <a:solidFill>
                      <a:srgbClr val="0A2540"/>
                    </a:solidFill>
                  </a:tcPr>
                </a:tc>
              </a:tr>
              <a:tr h="457200">
                <a:tc>
                  <a:txBody>
                    <a:bodyPr wrap="square"/>
                    <a:lstStyle/>
                    <a:p>
                      <a:pPr algn="l">
                        <a:spcAft>
                          <a:spcPts val="0"/>
                        </a:spcAft>
                        <a:buNone/>
                      </a:pPr>
                      <a:r>
                        <a:rPr sz="1250" b="0">
                          <a:solidFill>
                            <a:srgbClr val="202B38"/>
                          </a:solidFill>
                          <a:latin typeface="Arial"/>
                        </a:rPr>
                        <a:t>Bare prompt</a:t>
                      </a:r>
                    </a:p>
                  </a:txBody>
                  <a:tcPr>
                    <a:solidFill>
                      <a:srgbClr val="FFFFFF"/>
                    </a:solidFill>
                  </a:tcPr>
                </a:tc>
                <a:tc>
                  <a:txBody>
                    <a:bodyPr wrap="square"/>
                    <a:lstStyle/>
                    <a:p>
                      <a:pPr algn="l">
                        <a:spcAft>
                          <a:spcPts val="0"/>
                        </a:spcAft>
                        <a:buNone/>
                      </a:pPr>
                      <a:r>
                        <a:rPr sz="1250" b="0">
                          <a:solidFill>
                            <a:srgbClr val="202B38"/>
                          </a:solidFill>
                          <a:latin typeface="Arial"/>
                        </a:rPr>
                        <a:t>1</a:t>
                      </a:r>
                    </a:p>
                  </a:txBody>
                  <a:tcPr>
                    <a:solidFill>
                      <a:srgbClr val="FFFFFF"/>
                    </a:solidFill>
                  </a:tcPr>
                </a:tc>
                <a:tc>
                  <a:txBody>
                    <a:bodyPr wrap="square"/>
                    <a:lstStyle/>
                    <a:p>
                      <a:pPr algn="l">
                        <a:spcAft>
                          <a:spcPts val="0"/>
                        </a:spcAft>
                        <a:buNone/>
                      </a:pPr>
                      <a:r>
                        <a:rPr sz="1250" b="0">
                          <a:solidFill>
                            <a:srgbClr val="202B38"/>
                          </a:solidFill>
                          <a:latin typeface="Arial"/>
                        </a:rPr>
                        <a:t>0</a:t>
                      </a:r>
                    </a:p>
                  </a:txBody>
                  <a:tcPr>
                    <a:solidFill>
                      <a:srgbClr val="FFFFFF"/>
                    </a:solidFill>
                  </a:tcPr>
                </a:tc>
                <a:tc>
                  <a:txBody>
                    <a:bodyPr wrap="square"/>
                    <a:lstStyle/>
                    <a:p>
                      <a:pPr algn="l">
                        <a:spcAft>
                          <a:spcPts val="0"/>
                        </a:spcAft>
                        <a:buNone/>
                      </a:pPr>
                      <a:r>
                        <a:rPr sz="1250" b="0">
                          <a:solidFill>
                            <a:srgbClr val="202B38"/>
                          </a:solidFill>
                          <a:latin typeface="Arial"/>
                        </a:rPr>
                        <a:t>39</a:t>
                      </a:r>
                    </a:p>
                  </a:txBody>
                  <a:tcPr>
                    <a:solidFill>
                      <a:srgbClr val="FFFFFF"/>
                    </a:solidFill>
                  </a:tcPr>
                </a:tc>
                <a:tc>
                  <a:txBody>
                    <a:bodyPr wrap="square"/>
                    <a:lstStyle/>
                    <a:p>
                      <a:pPr algn="l">
                        <a:spcAft>
                          <a:spcPts val="0"/>
                        </a:spcAft>
                        <a:buNone/>
                      </a:pPr>
                      <a:r>
                        <a:rPr sz="1250" b="0">
                          <a:solidFill>
                            <a:srgbClr val="202B38"/>
                          </a:solidFill>
                          <a:latin typeface="Arial"/>
                        </a:rPr>
                        <a:t>549</a:t>
                      </a:r>
                    </a:p>
                  </a:txBody>
                  <a:tcPr>
                    <a:solidFill>
                      <a:srgbClr val="FFFFFF"/>
                    </a:solidFill>
                  </a:tcPr>
                </a:tc>
                <a:tc>
                  <a:txBody>
                    <a:bodyPr wrap="square"/>
                    <a:lstStyle/>
                    <a:p>
                      <a:pPr algn="l">
                        <a:spcAft>
                          <a:spcPts val="0"/>
                        </a:spcAft>
                        <a:buNone/>
                      </a:pPr>
                      <a:r>
                        <a:rPr sz="1250" b="0">
                          <a:solidFill>
                            <a:srgbClr val="202B38"/>
                          </a:solidFill>
                          <a:latin typeface="Arial"/>
                        </a:rPr>
                        <a:t>0.0139</a:t>
                      </a:r>
                    </a:p>
                  </a:txBody>
                  <a:tcPr>
                    <a:solidFill>
                      <a:srgbClr val="FFFFFF"/>
                    </a:solidFill>
                  </a:tcPr>
                </a:tc>
                <a:tc>
                  <a:txBody>
                    <a:bodyPr wrap="square"/>
                    <a:lstStyle/>
                    <a:p>
                      <a:pPr algn="l">
                        <a:spcAft>
                          <a:spcPts val="0"/>
                        </a:spcAft>
                        <a:buNone/>
                      </a:pPr>
                      <a:r>
                        <a:rPr sz="1250" b="0">
                          <a:solidFill>
                            <a:srgbClr val="202B38"/>
                          </a:solidFill>
                          <a:latin typeface="Arial"/>
                        </a:rPr>
                        <a:t>No</a:t>
                      </a:r>
                    </a:p>
                  </a:txBody>
                  <a:tcPr>
                    <a:solidFill>
                      <a:srgbClr val="FFFFFF"/>
                    </a:solidFill>
                  </a:tcPr>
                </a:tc>
                <a:tc>
                  <a:txBody>
                    <a:bodyPr wrap="square"/>
                    <a:lstStyle/>
                    <a:p>
                      <a:pPr algn="l">
                        <a:spcAft>
                          <a:spcPts val="0"/>
                        </a:spcAft>
                        <a:buNone/>
                      </a:pPr>
                      <a:r>
                        <a:rPr sz="1250" b="0">
                          <a:solidFill>
                            <a:srgbClr val="202B38"/>
                          </a:solidFill>
                          <a:latin typeface="Arial"/>
                        </a:rPr>
                        <a:t>Yes</a:t>
                      </a:r>
                    </a:p>
                  </a:txBody>
                  <a:tcPr>
                    <a:solidFill>
                      <a:srgbClr val="FFFFFF"/>
                    </a:solidFill>
                  </a:tcPr>
                </a:tc>
              </a:tr>
              <a:tr h="457200">
                <a:tc>
                  <a:txBody>
                    <a:bodyPr wrap="square"/>
                    <a:lstStyle/>
                    <a:p>
                      <a:pPr algn="l">
                        <a:spcAft>
                          <a:spcPts val="0"/>
                        </a:spcAft>
                        <a:buNone/>
                      </a:pPr>
                      <a:r>
                        <a:rPr sz="1250" b="0">
                          <a:solidFill>
                            <a:srgbClr val="202B38"/>
                          </a:solidFill>
                          <a:latin typeface="Arial"/>
                        </a:rPr>
                        <a:t>Careful prompt</a:t>
                      </a:r>
                    </a:p>
                  </a:txBody>
                  <a:tcPr>
                    <a:solidFill>
                      <a:srgbClr val="EEF3FD"/>
                    </a:solidFill>
                  </a:tcPr>
                </a:tc>
                <a:tc>
                  <a:txBody>
                    <a:bodyPr wrap="square"/>
                    <a:lstStyle/>
                    <a:p>
                      <a:pPr algn="l">
                        <a:spcAft>
                          <a:spcPts val="0"/>
                        </a:spcAft>
                        <a:buNone/>
                      </a:pPr>
                      <a:r>
                        <a:rPr sz="1250" b="0">
                          <a:solidFill>
                            <a:srgbClr val="202B38"/>
                          </a:solidFill>
                          <a:latin typeface="Arial"/>
                        </a:rPr>
                        <a:t>1</a:t>
                      </a:r>
                    </a:p>
                  </a:txBody>
                  <a:tcPr>
                    <a:solidFill>
                      <a:srgbClr val="EEF3FD"/>
                    </a:solidFill>
                  </a:tcPr>
                </a:tc>
                <a:tc>
                  <a:txBody>
                    <a:bodyPr wrap="square"/>
                    <a:lstStyle/>
                    <a:p>
                      <a:pPr algn="l">
                        <a:spcAft>
                          <a:spcPts val="0"/>
                        </a:spcAft>
                        <a:buNone/>
                      </a:pPr>
                      <a:r>
                        <a:rPr sz="1250" b="0">
                          <a:solidFill>
                            <a:srgbClr val="202B38"/>
                          </a:solidFill>
                          <a:latin typeface="Arial"/>
                        </a:rPr>
                        <a:t>0</a:t>
                      </a:r>
                    </a:p>
                  </a:txBody>
                  <a:tcPr>
                    <a:solidFill>
                      <a:srgbClr val="EEF3FD"/>
                    </a:solidFill>
                  </a:tcPr>
                </a:tc>
                <a:tc>
                  <a:txBody>
                    <a:bodyPr wrap="square"/>
                    <a:lstStyle/>
                    <a:p>
                      <a:pPr algn="l">
                        <a:spcAft>
                          <a:spcPts val="0"/>
                        </a:spcAft>
                        <a:buNone/>
                      </a:pPr>
                      <a:r>
                        <a:rPr sz="1250" b="0">
                          <a:solidFill>
                            <a:srgbClr val="202B38"/>
                          </a:solidFill>
                          <a:latin typeface="Arial"/>
                        </a:rPr>
                        <a:t>115</a:t>
                      </a:r>
                    </a:p>
                  </a:txBody>
                  <a:tcPr>
                    <a:solidFill>
                      <a:srgbClr val="EEF3FD"/>
                    </a:solidFill>
                  </a:tcPr>
                </a:tc>
                <a:tc>
                  <a:txBody>
                    <a:bodyPr wrap="square"/>
                    <a:lstStyle/>
                    <a:p>
                      <a:pPr algn="l">
                        <a:spcAft>
                          <a:spcPts val="0"/>
                        </a:spcAft>
                        <a:buNone/>
                      </a:pPr>
                      <a:r>
                        <a:rPr sz="1250" b="0">
                          <a:solidFill>
                            <a:srgbClr val="202B38"/>
                          </a:solidFill>
                          <a:latin typeface="Arial"/>
                        </a:rPr>
                        <a:t>481</a:t>
                      </a:r>
                    </a:p>
                  </a:txBody>
                  <a:tcPr>
                    <a:solidFill>
                      <a:srgbClr val="EEF3FD"/>
                    </a:solidFill>
                  </a:tcPr>
                </a:tc>
                <a:tc>
                  <a:txBody>
                    <a:bodyPr wrap="square"/>
                    <a:lstStyle/>
                    <a:p>
                      <a:pPr algn="l">
                        <a:spcAft>
                          <a:spcPts val="0"/>
                        </a:spcAft>
                        <a:buNone/>
                      </a:pPr>
                      <a:r>
                        <a:rPr sz="1250" b="0">
                          <a:solidFill>
                            <a:srgbClr val="202B38"/>
                          </a:solidFill>
                          <a:latin typeface="Arial"/>
                        </a:rPr>
                        <a:t>0.0126</a:t>
                      </a:r>
                    </a:p>
                  </a:txBody>
                  <a:tcPr>
                    <a:solidFill>
                      <a:srgbClr val="EEF3FD"/>
                    </a:solidFill>
                  </a:tcPr>
                </a:tc>
                <a:tc>
                  <a:txBody>
                    <a:bodyPr wrap="square"/>
                    <a:lstStyle/>
                    <a:p>
                      <a:pPr algn="l">
                        <a:spcAft>
                          <a:spcPts val="0"/>
                        </a:spcAft>
                        <a:buNone/>
                      </a:pPr>
                      <a:r>
                        <a:rPr sz="1250" b="0">
                          <a:solidFill>
                            <a:srgbClr val="202B38"/>
                          </a:solidFill>
                          <a:latin typeface="Arial"/>
                        </a:rPr>
                        <a:t>No</a:t>
                      </a:r>
                    </a:p>
                  </a:txBody>
                  <a:tcPr>
                    <a:solidFill>
                      <a:srgbClr val="EEF3FD"/>
                    </a:solidFill>
                  </a:tcPr>
                </a:tc>
                <a:tc>
                  <a:txBody>
                    <a:bodyPr wrap="square"/>
                    <a:lstStyle/>
                    <a:p>
                      <a:pPr algn="l">
                        <a:spcAft>
                          <a:spcPts val="0"/>
                        </a:spcAft>
                        <a:buNone/>
                      </a:pPr>
                      <a:r>
                        <a:rPr sz="1250" b="0">
                          <a:solidFill>
                            <a:srgbClr val="202B38"/>
                          </a:solidFill>
                          <a:latin typeface="Arial"/>
                        </a:rPr>
                        <a:t>Yes</a:t>
                      </a:r>
                    </a:p>
                  </a:txBody>
                  <a:tcPr>
                    <a:solidFill>
                      <a:srgbClr val="EEF3FD"/>
                    </a:solidFill>
                  </a:tcPr>
                </a:tc>
              </a:tr>
              <a:tr h="457200">
                <a:tc>
                  <a:txBody>
                    <a:bodyPr wrap="square"/>
                    <a:lstStyle/>
                    <a:p>
                      <a:pPr algn="l">
                        <a:spcAft>
                          <a:spcPts val="0"/>
                        </a:spcAft>
                        <a:buNone/>
                      </a:pPr>
                      <a:r>
                        <a:rPr sz="1250" b="0">
                          <a:solidFill>
                            <a:srgbClr val="202B38"/>
                          </a:solidFill>
                          <a:latin typeface="Arial"/>
                        </a:rPr>
                        <a:t>Harness: two tools, a loop</a:t>
                      </a:r>
                    </a:p>
                  </a:txBody>
                  <a:tcPr>
                    <a:solidFill>
                      <a:srgbClr val="FFFFFF"/>
                    </a:solidFill>
                  </a:tcPr>
                </a:tc>
                <a:tc>
                  <a:txBody>
                    <a:bodyPr wrap="square"/>
                    <a:lstStyle/>
                    <a:p>
                      <a:pPr algn="l">
                        <a:spcAft>
                          <a:spcPts val="0"/>
                        </a:spcAft>
                        <a:buNone/>
                      </a:pPr>
                      <a:r>
                        <a:rPr sz="1250" b="0">
                          <a:solidFill>
                            <a:srgbClr val="202B38"/>
                          </a:solidFill>
                          <a:latin typeface="Arial"/>
                        </a:rPr>
                        <a:t>3</a:t>
                      </a:r>
                    </a:p>
                  </a:txBody>
                  <a:tcPr>
                    <a:solidFill>
                      <a:srgbClr val="FFFFFF"/>
                    </a:solidFill>
                  </a:tcPr>
                </a:tc>
                <a:tc>
                  <a:txBody>
                    <a:bodyPr wrap="square"/>
                    <a:lstStyle/>
                    <a:p>
                      <a:pPr algn="l">
                        <a:spcAft>
                          <a:spcPts val="0"/>
                        </a:spcAft>
                        <a:buNone/>
                      </a:pPr>
                      <a:r>
                        <a:rPr sz="1250" b="0">
                          <a:solidFill>
                            <a:srgbClr val="202B38"/>
                          </a:solidFill>
                          <a:latin typeface="Arial"/>
                        </a:rPr>
                        <a:t>3</a:t>
                      </a:r>
                    </a:p>
                  </a:txBody>
                  <a:tcPr>
                    <a:solidFill>
                      <a:srgbClr val="FFFFFF"/>
                    </a:solidFill>
                  </a:tcPr>
                </a:tc>
                <a:tc>
                  <a:txBody>
                    <a:bodyPr wrap="square"/>
                    <a:lstStyle/>
                    <a:p>
                      <a:pPr algn="l">
                        <a:spcAft>
                          <a:spcPts val="0"/>
                        </a:spcAft>
                        <a:buNone/>
                      </a:pPr>
                      <a:r>
                        <a:rPr sz="1250" b="0">
                          <a:solidFill>
                            <a:srgbClr val="202B38"/>
                          </a:solidFill>
                          <a:latin typeface="Arial"/>
                        </a:rPr>
                        <a:t>4,113</a:t>
                      </a:r>
                    </a:p>
                  </a:txBody>
                  <a:tcPr>
                    <a:solidFill>
                      <a:srgbClr val="FFFFFF"/>
                    </a:solidFill>
                  </a:tcPr>
                </a:tc>
                <a:tc>
                  <a:txBody>
                    <a:bodyPr wrap="square"/>
                    <a:lstStyle/>
                    <a:p>
                      <a:pPr algn="l">
                        <a:spcAft>
                          <a:spcPts val="0"/>
                        </a:spcAft>
                        <a:buNone/>
                      </a:pPr>
                      <a:r>
                        <a:rPr sz="1250" b="0">
                          <a:solidFill>
                            <a:srgbClr val="202B38"/>
                          </a:solidFill>
                          <a:latin typeface="Arial"/>
                        </a:rPr>
                        <a:t>350</a:t>
                      </a:r>
                    </a:p>
                  </a:txBody>
                  <a:tcPr>
                    <a:solidFill>
                      <a:srgbClr val="FFFFFF"/>
                    </a:solidFill>
                  </a:tcPr>
                </a:tc>
                <a:tc>
                  <a:txBody>
                    <a:bodyPr wrap="square"/>
                    <a:lstStyle/>
                    <a:p>
                      <a:pPr algn="l">
                        <a:spcAft>
                          <a:spcPts val="0"/>
                        </a:spcAft>
                        <a:buNone/>
                      </a:pPr>
                      <a:r>
                        <a:rPr sz="1250" b="0">
                          <a:solidFill>
                            <a:srgbClr val="202B38"/>
                          </a:solidFill>
                          <a:latin typeface="Arial"/>
                        </a:rPr>
                        <a:t>0.0293</a:t>
                      </a:r>
                    </a:p>
                  </a:txBody>
                  <a:tcPr>
                    <a:solidFill>
                      <a:srgbClr val="FFFFFF"/>
                    </a:solidFill>
                  </a:tcPr>
                </a:tc>
                <a:tc>
                  <a:txBody>
                    <a:bodyPr wrap="square"/>
                    <a:lstStyle/>
                    <a:p>
                      <a:pPr algn="l">
                        <a:spcAft>
                          <a:spcPts val="0"/>
                        </a:spcAft>
                        <a:buNone/>
                      </a:pPr>
                      <a:r>
                        <a:rPr sz="1250" b="0">
                          <a:solidFill>
                            <a:srgbClr val="202B38"/>
                          </a:solidFill>
                          <a:latin typeface="Arial"/>
                        </a:rPr>
                        <a:t>Yes</a:t>
                      </a:r>
                    </a:p>
                  </a:txBody>
                  <a:tcPr>
                    <a:solidFill>
                      <a:srgbClr val="FFFFFF"/>
                    </a:solidFill>
                  </a:tcPr>
                </a:tc>
                <a:tc>
                  <a:txBody>
                    <a:bodyPr wrap="square"/>
                    <a:lstStyle/>
                    <a:p>
                      <a:pPr algn="l">
                        <a:spcAft>
                          <a:spcPts val="0"/>
                        </a:spcAft>
                        <a:buNone/>
                      </a:pPr>
                      <a:r>
                        <a:rPr sz="1250" b="0">
                          <a:solidFill>
                            <a:srgbClr val="202B38"/>
                          </a:solidFill>
                          <a:latin typeface="Arial"/>
                        </a:rPr>
                        <a:t>Yes</a:t>
                      </a:r>
                    </a:p>
                  </a:txBody>
                  <a:tcPr>
                    <a:solidFill>
                      <a:srgbClr val="FFFFFF"/>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Recorded run on claude-opus-5, 30 Sep 2026; live runs vary. 'Gives the fact': the answer holds 3.12 and 9, parsed from the workflow file by the notebook. 'Names the file': it mentions notebooks.yml. All three name it; only the harness read it.</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3.4</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fact cost 4,113 input tokens; the two prompts cost 39 and 115 and gave none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bar length = input tokens one approach sent, all its calls added up</a:t>
            </a:r>
          </a:p>
          <a:p>
            <a:pPr algn="l" indent="-228600" marL="228600">
              <a:spcAft>
                <a:spcPts val="800"/>
              </a:spcAft>
              <a:buClr>
                <a:srgbClr val="1E5EF3"/>
              </a:buClr>
              <a:buChar char="—"/>
            </a:pPr>
            <a:r>
              <a:rPr sz="1450" b="0">
                <a:solidFill>
                  <a:srgbClr val="202B38"/>
                </a:solidFill>
                <a:latin typeface="Arial"/>
              </a:rPr>
              <a:t>Bare prompt 39, careful prompt 115: one call each, almost no context, no checkable fact</a:t>
            </a:r>
          </a:p>
          <a:p>
            <a:pPr algn="l" indent="-228600" marL="228600">
              <a:spcAft>
                <a:spcPts val="800"/>
              </a:spcAft>
              <a:buClr>
                <a:srgbClr val="1E5EF3"/>
              </a:buClr>
              <a:buChar char="—"/>
            </a:pPr>
            <a:r>
              <a:rPr sz="1450" b="0">
                <a:solidFill>
                  <a:srgbClr val="202B38"/>
                </a:solidFill>
                <a:latin typeface="Arial"/>
              </a:rPr>
              <a:t>Harness 4,113 over 3 calls: tool descriptions plus every tool result so far, on every call</a:t>
            </a:r>
          </a:p>
          <a:p>
            <a:pPr algn="l" indent="-228600" marL="228600">
              <a:spcAft>
                <a:spcPts val="800"/>
              </a:spcAft>
              <a:buClr>
                <a:srgbClr val="1E5EF3"/>
              </a:buClr>
              <a:buChar char="—"/>
            </a:pPr>
            <a:r>
              <a:rPr sz="1450" b="0">
                <a:solidFill>
                  <a:srgbClr val="202B38"/>
                </a:solidFill>
                <a:latin typeface="Arial"/>
              </a:rPr>
              <a:t>Output went the other way: 549 and 481 tokens of hedging against 350 tokens of answer</a:t>
            </a:r>
          </a:p>
          <a:p>
            <a:pPr algn="l" indent="-228600" marL="228600">
              <a:spcAft>
                <a:spcPts val="800"/>
              </a:spcAft>
              <a:buClr>
                <a:srgbClr val="1E5EF3"/>
              </a:buClr>
              <a:buChar char="—"/>
            </a:pPr>
            <a:r>
              <a:rPr sz="1450" b="0">
                <a:solidFill>
                  <a:srgbClr val="202B38"/>
                </a:solidFill>
                <a:latin typeface="Arial"/>
              </a:rPr>
              <a:t>Cost: 0.0139 and 0.0126 USD without the fact, 0.0293 USD with the fact and the file</a:t>
            </a:r>
          </a:p>
          <a:p>
            <a:pPr algn="l" indent="-228600" marL="228600">
              <a:spcAft>
                <a:spcPts val="800"/>
              </a:spcAft>
              <a:buClr>
                <a:srgbClr val="1E5EF3"/>
              </a:buClr>
              <a:buChar char="—"/>
            </a:pPr>
            <a:r>
              <a:rPr sz="1450" b="0">
                <a:solidFill>
                  <a:srgbClr val="202B38"/>
                </a:solidFill>
                <a:latin typeface="Arial"/>
              </a:rPr>
              <a:t>In plain words: tokens are the currency of harness engineering; spend them where they buy facts</a:t>
            </a:r>
          </a:p>
        </p:txBody>
      </p:sp>
      <p:pic>
        <p:nvPicPr>
          <p:cNvPr id="8" name="Picture 7" descr="s1_tokens.png"/>
          <p:cNvPicPr>
            <a:picLocks noChangeAspect="1"/>
          </p:cNvPicPr>
          <p:nvPr/>
        </p:nvPicPr>
        <p:blipFill>
          <a:blip r:embed="rId2"/>
          <a:stretch>
            <a:fillRect/>
          </a:stretch>
        </p:blipFill>
        <p:spPr>
          <a:xfrm>
            <a:off x="5120640" y="1874519"/>
            <a:ext cx="6492240" cy="3641506"/>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Recorded run on claude-opus-5, 30 Sep 2026; live runs vary. Prices from the Claude API reference: 5.00 USD per million input tokens, 25.00 per million output tokens.</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4</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SDK ships the loop: beta_tool and tool_runner do in ten lines what you wrote in forty</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Ten lines on the SDK</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beta_tool(list_files), beta_tool(read_file): the JSON description is generated from the signature and the docstring</a:t>
            </a:r>
          </a:p>
          <a:p>
            <a:pPr algn="l" indent="-228600" marL="228600">
              <a:spcAft>
                <a:spcPts val="600"/>
              </a:spcAft>
              <a:buClr>
                <a:srgbClr val="1E5EF3"/>
              </a:buClr>
              <a:buChar char="—"/>
            </a:pPr>
            <a:r>
              <a:rPr sz="1200" b="0">
                <a:solidFill>
                  <a:srgbClr val="202B38"/>
                </a:solidFill>
                <a:latin typeface="Arial"/>
              </a:rPr>
              <a:t>Same name, description and schema as the hand-written dicts, plus a title per argument and additionalProperties: false</a:t>
            </a:r>
          </a:p>
          <a:p>
            <a:pPr algn="l" indent="-228600" marL="228600">
              <a:spcAft>
                <a:spcPts val="600"/>
              </a:spcAft>
              <a:buClr>
                <a:srgbClr val="1E5EF3"/>
              </a:buClr>
              <a:buChar char="—"/>
            </a:pPr>
            <a:r>
              <a:rPr sz="1200" b="0">
                <a:solidFill>
                  <a:srgbClr val="202B38"/>
                </a:solidFill>
                <a:latin typeface="Arial"/>
              </a:rPr>
              <a:t>client.beta.messages.tool_runner(model, max_tokens, system, tools, messages, max_iterations=8)</a:t>
            </a:r>
          </a:p>
          <a:p>
            <a:pPr algn="l" indent="-228600" marL="228600">
              <a:spcAft>
                <a:spcPts val="600"/>
              </a:spcAft>
              <a:buClr>
                <a:srgbClr val="1E5EF3"/>
              </a:buClr>
              <a:buChar char="—"/>
            </a:pPr>
            <a:r>
              <a:rPr sz="1200" b="0">
                <a:solidFill>
                  <a:srgbClr val="202B38"/>
                </a:solidFill>
                <a:latin typeface="Arial"/>
              </a:rPr>
              <a:t>One iteration per model call; generate_tool_call_response() runs the requested tools and returns the tool_result message</a:t>
            </a:r>
          </a:p>
          <a:p>
            <a:pPr algn="l" indent="-228600" marL="228600">
              <a:spcAft>
                <a:spcPts val="600"/>
              </a:spcAft>
              <a:buClr>
                <a:srgbClr val="1E5EF3"/>
              </a:buClr>
              <a:buChar char="—"/>
            </a:pPr>
            <a:r>
              <a:rPr sz="1200" b="0">
                <a:solidFill>
                  <a:srgbClr val="202B38"/>
                </a:solidFill>
                <a:latin typeface="Arial"/>
              </a:rPr>
              <a:t>Beta in the Python SDK, hence client.beta; the right default for a small agent</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it produced in the recorded run</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200" b="0">
                <a:solidFill>
                  <a:srgbClr val="202B38"/>
                </a:solidFill>
                <a:latin typeface="Arial"/>
              </a:rPr>
              <a:t>The same route as your loop: list the root and .github/workflows, read notebooks.yml, answer</a:t>
            </a:r>
          </a:p>
          <a:p>
            <a:pPr algn="l" indent="-228600" marL="228600">
              <a:spcAft>
                <a:spcPts val="600"/>
              </a:spcAft>
              <a:buClr>
                <a:srgbClr val="1E5EF3"/>
              </a:buClr>
              <a:buChar char="—"/>
            </a:pPr>
            <a:r>
              <a:rPr sz="1200" b="0">
                <a:solidFill>
                  <a:srgbClr val="202B38"/>
                </a:solidFill>
                <a:latin typeface="Arial"/>
              </a:rPr>
              <a:t>3 model calls, 4,251 input tokens, 358 output tokens, 0.0302 USD (your loop: 4,113 and 350, 0.0293 USD)</a:t>
            </a:r>
          </a:p>
          <a:p>
            <a:pPr algn="l" indent="-228600" marL="228600">
              <a:spcAft>
                <a:spcPts val="600"/>
              </a:spcAft>
              <a:buClr>
                <a:srgbClr val="1E5EF3"/>
              </a:buClr>
              <a:buChar char="—"/>
            </a:pPr>
            <a:r>
              <a:rPr sz="1200" b="0">
                <a:solidFill>
                  <a:srgbClr val="202B38"/>
                </a:solidFill>
                <a:latin typeface="Arial"/>
              </a:rPr>
              <a:t>The same answer: Python 3.12, 9 notebooks, source notebooks.yml; gives the fact = True for both loops</a:t>
            </a:r>
          </a:p>
          <a:p>
            <a:pPr algn="l" indent="-228600" marL="228600">
              <a:spcAft>
                <a:spcPts val="600"/>
              </a:spcAft>
              <a:buClr>
                <a:srgbClr val="1E5EF3"/>
              </a:buClr>
              <a:buChar char="—"/>
            </a:pPr>
            <a:r>
              <a:rPr sz="1200" b="0">
                <a:solidFill>
                  <a:srgbClr val="202B38"/>
                </a:solidFill>
                <a:latin typeface="Arial"/>
              </a:rPr>
              <a:t>The same message shape: a user question, then assistant turns with tool_use blocks and user turns of tool_result blocks</a:t>
            </a:r>
          </a:p>
          <a:p>
            <a:pPr algn="l" indent="-228600" marL="228600">
              <a:spcAft>
                <a:spcPts val="600"/>
              </a:spcAft>
              <a:buClr>
                <a:srgbClr val="1E5EF3"/>
              </a:buClr>
              <a:buChar char="—"/>
            </a:pPr>
            <a:r>
              <a:rPr sz="1200" b="0">
                <a:solidFill>
                  <a:srgbClr val="202B38"/>
                </a:solidFill>
                <a:latin typeface="Arial"/>
              </a:rPr>
              <a:t>In plain words: the runner saves the typing; it decides nothing about what surrounds the loop. That is the harness</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Recorded run on claude-opus-5, 30 Sep 2026; live runs vary. The runner sent a conversation of the same shape and size as the hand-written loop; what it does not decide is which tools to offer, what to refuse, when to stop, what to measure, how to test.</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01, SECTION 5</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eight pieces and where each one lives in this module: SDK, harness package, Claude Code, CI</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0" cy="4114800"/>
        </p:xfrm>
        <a:graphic>
          <a:graphicData uri="http://schemas.openxmlformats.org/drawingml/2006/table">
            <a:tbl>
              <a:tblPr firstRow="1" bandRow="1">
                <a:tableStyleId>{5C22544A-7EE6-4342-B048-85BDC9FD1C3A}</a:tableStyleId>
              </a:tblPr>
              <a:tblGrid>
                <a:gridCol w="1507605"/>
                <a:gridCol w="2799839"/>
                <a:gridCol w="2476781"/>
                <a:gridCol w="2476781"/>
                <a:gridCol w="1830664"/>
              </a:tblGrid>
              <a:tr h="457200">
                <a:tc>
                  <a:txBody>
                    <a:bodyPr wrap="square"/>
                    <a:lstStyle/>
                    <a:p>
                      <a:pPr algn="l">
                        <a:spcAft>
                          <a:spcPts val="0"/>
                        </a:spcAft>
                        <a:buNone/>
                      </a:pPr>
                      <a:r>
                        <a:rPr sz="1150" b="1">
                          <a:solidFill>
                            <a:srgbClr val="FFFFFF"/>
                          </a:solidFill>
                          <a:latin typeface="Arial"/>
                        </a:rPr>
                        <a:t>Piece</a:t>
                      </a:r>
                    </a:p>
                  </a:txBody>
                  <a:tcPr>
                    <a:solidFill>
                      <a:srgbClr val="0A2540"/>
                    </a:solidFill>
                  </a:tcPr>
                </a:tc>
                <a:tc>
                  <a:txBody>
                    <a:bodyPr wrap="square"/>
                    <a:lstStyle/>
                    <a:p>
                      <a:pPr algn="l">
                        <a:spcAft>
                          <a:spcPts val="0"/>
                        </a:spcAft>
                        <a:buNone/>
                      </a:pPr>
                      <a:r>
                        <a:rPr sz="1150" b="1">
                          <a:solidFill>
                            <a:srgbClr val="FFFFFF"/>
                          </a:solidFill>
                          <a:latin typeface="Arial"/>
                        </a:rPr>
                        <a:t>Anthropic SDK (Sessions 1-2)</a:t>
                      </a:r>
                    </a:p>
                  </a:txBody>
                  <a:tcPr>
                    <a:solidFill>
                      <a:srgbClr val="0A2540"/>
                    </a:solidFill>
                  </a:tcPr>
                </a:tc>
                <a:tc>
                  <a:txBody>
                    <a:bodyPr wrap="square"/>
                    <a:lstStyle/>
                    <a:p>
                      <a:pPr algn="l">
                        <a:spcAft>
                          <a:spcPts val="0"/>
                        </a:spcAft>
                        <a:buNone/>
                      </a:pPr>
                      <a:r>
                        <a:rPr sz="1150" b="1">
                          <a:solidFill>
                            <a:srgbClr val="FFFFFF"/>
                          </a:solidFill>
                          <a:latin typeface="Arial"/>
                        </a:rPr>
                        <a:t>harness package (Sessions 3-4)</a:t>
                      </a:r>
                    </a:p>
                  </a:txBody>
                  <a:tcPr>
                    <a:solidFill>
                      <a:srgbClr val="0A2540"/>
                    </a:solidFill>
                  </a:tcPr>
                </a:tc>
                <a:tc>
                  <a:txBody>
                    <a:bodyPr wrap="square"/>
                    <a:lstStyle/>
                    <a:p>
                      <a:pPr algn="l">
                        <a:spcAft>
                          <a:spcPts val="0"/>
                        </a:spcAft>
                        <a:buNone/>
                      </a:pPr>
                      <a:r>
                        <a:rPr sz="1150" b="1">
                          <a:solidFill>
                            <a:srgbClr val="FFFFFF"/>
                          </a:solidFill>
                          <a:latin typeface="Arial"/>
                        </a:rPr>
                        <a:t>Claude Code labs (Sessions 2, 4)</a:t>
                      </a:r>
                    </a:p>
                  </a:txBody>
                  <a:tcPr>
                    <a:solidFill>
                      <a:srgbClr val="0A2540"/>
                    </a:solidFill>
                  </a:tcPr>
                </a:tc>
                <a:tc>
                  <a:txBody>
                    <a:bodyPr wrap="square"/>
                    <a:lstStyle/>
                    <a:p>
                      <a:pPr algn="l">
                        <a:spcAft>
                          <a:spcPts val="0"/>
                        </a:spcAft>
                        <a:buNone/>
                      </a:pPr>
                      <a:r>
                        <a:rPr sz="1150" b="1">
                          <a:solidFill>
                            <a:srgbClr val="FFFFFF"/>
                          </a:solidFill>
                          <a:latin typeface="Arial"/>
                        </a:rPr>
                        <a:t>CI (Session 3)</a:t>
                      </a:r>
                    </a:p>
                  </a:txBody>
                  <a:tcPr>
                    <a:solidFill>
                      <a:srgbClr val="0A2540"/>
                    </a:solidFill>
                  </a:tcPr>
                </a:tc>
              </a:tr>
              <a:tr h="457200">
                <a:tc>
                  <a:txBody>
                    <a:bodyPr wrap="square"/>
                    <a:lstStyle/>
                    <a:p>
                      <a:pPr algn="l">
                        <a:spcAft>
                          <a:spcPts val="0"/>
                        </a:spcAft>
                        <a:buNone/>
                      </a:pPr>
                      <a:r>
                        <a:rPr sz="1000" b="0">
                          <a:solidFill>
                            <a:srgbClr val="202B38"/>
                          </a:solidFill>
                          <a:latin typeface="Arial"/>
                        </a:rPr>
                        <a:t>1 Model</a:t>
                      </a:r>
                    </a:p>
                  </a:txBody>
                  <a:tcPr>
                    <a:solidFill>
                      <a:srgbClr val="FFFFFF"/>
                    </a:solidFill>
                  </a:tcPr>
                </a:tc>
                <a:tc>
                  <a:txBody>
                    <a:bodyPr wrap="square"/>
                    <a:lstStyle/>
                    <a:p>
                      <a:pPr algn="l">
                        <a:spcAft>
                          <a:spcPts val="0"/>
                        </a:spcAft>
                        <a:buNone/>
                      </a:pPr>
                      <a:r>
                        <a:rPr sz="1000" b="0">
                          <a:solidFill>
                            <a:srgbClr val="202B38"/>
                          </a:solidFill>
                          <a:latin typeface="Arial"/>
                        </a:rPr>
                        <a:t>messages.create(model=...), models.retrieve; choose by capability, cost, latency</a:t>
                      </a:r>
                    </a:p>
                  </a:txBody>
                  <a:tcPr>
                    <a:solidFill>
                      <a:srgbClr val="FFFFFF"/>
                    </a:solidFill>
                  </a:tcPr>
                </a:tc>
                <a:tc>
                  <a:txBody>
                    <a:bodyPr wrap="square"/>
                    <a:lstStyle/>
                    <a:p>
                      <a:pPr algn="l">
                        <a:spcAft>
                          <a:spcPts val="0"/>
                        </a:spcAft>
                        <a:buNone/>
                      </a:pPr>
                      <a:r>
                        <a:rPr sz="1000" b="0">
                          <a:solidFill>
                            <a:srgbClr val="202B38"/>
                          </a:solidFill>
                          <a:latin typeface="Arial"/>
                        </a:rPr>
                        <a:t>MAIN_MODEL opus-5, WORKER_MODEL sonnet-5</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r>
              <a:tr h="457200">
                <a:tc>
                  <a:txBody>
                    <a:bodyPr wrap="square"/>
                    <a:lstStyle/>
                    <a:p>
                      <a:pPr algn="l">
                        <a:spcAft>
                          <a:spcPts val="0"/>
                        </a:spcAft>
                        <a:buNone/>
                      </a:pPr>
                      <a:r>
                        <a:rPr sz="1000" b="0">
                          <a:solidFill>
                            <a:srgbClr val="202B38"/>
                          </a:solidFill>
                          <a:latin typeface="Arial"/>
                        </a:rPr>
                        <a:t>2 Context</a:t>
                      </a:r>
                    </a:p>
                  </a:txBody>
                  <a:tcPr>
                    <a:solidFill>
                      <a:srgbClr val="EEF3FD"/>
                    </a:solidFill>
                  </a:tcPr>
                </a:tc>
                <a:tc>
                  <a:txBody>
                    <a:bodyPr wrap="square"/>
                    <a:lstStyle/>
                    <a:p>
                      <a:pPr algn="l">
                        <a:spcAft>
                          <a:spcPts val="0"/>
                        </a:spcAft>
                        <a:buNone/>
                      </a:pPr>
                      <a:r>
                        <a:rPr sz="1000" b="0">
                          <a:solidFill>
                            <a:srgbClr val="202B38"/>
                          </a:solidFill>
                          <a:latin typeface="Arial"/>
                        </a:rPr>
                        <a:t>system, messages, usage.input_tokens; count_tokens, compaction, notes</a:t>
                      </a:r>
                    </a:p>
                  </a:txBody>
                  <a:tcPr>
                    <a:solidFill>
                      <a:srgbClr val="EEF3FD"/>
                    </a:solidFill>
                  </a:tcPr>
                </a:tc>
                <a:tc>
                  <a:txBody>
                    <a:bodyPr wrap="square"/>
                    <a:lstStyle/>
                    <a:p>
                      <a:pPr algn="l">
                        <a:spcAft>
                          <a:spcPts val="0"/>
                        </a:spcAft>
                        <a:buNone/>
                      </a:pPr>
                      <a:r>
                        <a:rPr sz="1000" b="0">
                          <a:solidFill>
                            <a:srgbClr val="202B38"/>
                          </a:solidFill>
                          <a:latin typeface="Arial"/>
                        </a:rPr>
                        <a:t>max_input_tokens budget stop</a:t>
                      </a:r>
                    </a:p>
                  </a:txBody>
                  <a:tcPr>
                    <a:solidFill>
                      <a:srgbClr val="EEF3FD"/>
                    </a:solidFill>
                  </a:tcPr>
                </a:tc>
                <a:tc>
                  <a:txBody>
                    <a:bodyPr wrap="square"/>
                    <a:lstStyle/>
                    <a:p>
                      <a:pPr algn="l">
                        <a:spcAft>
                          <a:spcPts val="0"/>
                        </a:spcAft>
                        <a:buNone/>
                      </a:pPr>
                      <a:r>
                        <a:rPr sz="1000" b="0">
                          <a:solidFill>
                            <a:srgbClr val="202B38"/>
                          </a:solidFill>
                          <a:latin typeface="Arial"/>
                        </a:rPr>
                        <a:t>CLAUDE.md in the project</a:t>
                      </a:r>
                    </a:p>
                  </a:txBody>
                  <a:tcPr>
                    <a:solidFill>
                      <a:srgbClr val="EEF3FD"/>
                    </a:solidFill>
                  </a:tcPr>
                </a:tc>
                <a:tc>
                  <a:txBody>
                    <a:bodyPr wrap="square"/>
                    <a:lstStyle/>
                    <a:p>
                      <a:pPr algn="l">
                        <a:spcAft>
                          <a:spcPts val="0"/>
                        </a:spcAft>
                        <a:buNone/>
                      </a:pPr>
                      <a:r>
                        <a:rPr sz="1000" b="0">
                          <a:solidFill>
                            <a:srgbClr val="202B38"/>
                          </a:solidFill>
                          <a:latin typeface="Arial"/>
                        </a:rPr>
                        <a:t>-</a:t>
                      </a:r>
                    </a:p>
                  </a:txBody>
                  <a:tcPr>
                    <a:solidFill>
                      <a:srgbClr val="EEF3FD"/>
                    </a:solidFill>
                  </a:tcPr>
                </a:tc>
              </a:tr>
              <a:tr h="457200">
                <a:tc>
                  <a:txBody>
                    <a:bodyPr wrap="square"/>
                    <a:lstStyle/>
                    <a:p>
                      <a:pPr algn="l">
                        <a:spcAft>
                          <a:spcPts val="0"/>
                        </a:spcAft>
                        <a:buNone/>
                      </a:pPr>
                      <a:r>
                        <a:rPr sz="1000" b="0">
                          <a:solidFill>
                            <a:srgbClr val="202B38"/>
                          </a:solidFill>
                          <a:latin typeface="Arial"/>
                        </a:rPr>
                        <a:t>3 Tools</a:t>
                      </a:r>
                    </a:p>
                  </a:txBody>
                  <a:tcPr>
                    <a:solidFill>
                      <a:srgbClr val="FFFFFF"/>
                    </a:solidFill>
                  </a:tcPr>
                </a:tc>
                <a:tc>
                  <a:txBody>
                    <a:bodyPr wrap="square"/>
                    <a:lstStyle/>
                    <a:p>
                      <a:pPr algn="l">
                        <a:spcAft>
                          <a:spcPts val="0"/>
                        </a:spcAft>
                        <a:buNone/>
                      </a:pPr>
                      <a:r>
                        <a:rPr sz="1000" b="0">
                          <a:solidFill>
                            <a:srgbClr val="202B38"/>
                          </a:solidFill>
                          <a:latin typeface="Arial"/>
                        </a:rPr>
                        <a:t>raw tool dicts, tool_use, tool_result, beta_tool</a:t>
                      </a:r>
                    </a:p>
                  </a:txBody>
                  <a:tcPr>
                    <a:solidFill>
                      <a:srgbClr val="FFFFFF"/>
                    </a:solidFill>
                  </a:tcPr>
                </a:tc>
                <a:tc>
                  <a:txBody>
                    <a:bodyPr wrap="square"/>
                    <a:lstStyle/>
                    <a:p>
                      <a:pPr algn="l">
                        <a:spcAft>
                          <a:spcPts val="0"/>
                        </a:spcAft>
                        <a:buNone/>
                      </a:pPr>
                      <a:r>
                        <a:rPr sz="1000" b="0">
                          <a:solidFill>
                            <a:srgbClr val="202B38"/>
                          </a:solidFill>
                          <a:latin typeface="Arial"/>
                        </a:rPr>
                        <a:t>@tool(risk=...), ToolRegistry</a:t>
                      </a:r>
                    </a:p>
                  </a:txBody>
                  <a:tcPr>
                    <a:solidFill>
                      <a:srgbClr val="FFFFFF"/>
                    </a:solidFill>
                  </a:tcPr>
                </a:tc>
                <a:tc>
                  <a:txBody>
                    <a:bodyPr wrap="square"/>
                    <a:lstStyle/>
                    <a:p>
                      <a:pPr algn="l">
                        <a:spcAft>
                          <a:spcPts val="0"/>
                        </a:spcAft>
                        <a:buNone/>
                      </a:pPr>
                      <a:r>
                        <a:rPr sz="1000" b="0">
                          <a:solidFill>
                            <a:srgbClr val="202B38"/>
                          </a:solidFill>
                          <a:latin typeface="Arial"/>
                        </a:rPr>
                        <a:t>MCP servers: claude mcp add</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r>
              <a:tr h="457200">
                <a:tc>
                  <a:txBody>
                    <a:bodyPr wrap="square"/>
                    <a:lstStyle/>
                    <a:p>
                      <a:pPr algn="l">
                        <a:spcAft>
                          <a:spcPts val="0"/>
                        </a:spcAft>
                        <a:buNone/>
                      </a:pPr>
                      <a:r>
                        <a:rPr sz="1000" b="0">
                          <a:solidFill>
                            <a:srgbClr val="202B38"/>
                          </a:solidFill>
                          <a:latin typeface="Arial"/>
                        </a:rPr>
                        <a:t>4 Skills</a:t>
                      </a:r>
                    </a:p>
                  </a:txBody>
                  <a:tcPr>
                    <a:solidFill>
                      <a:srgbClr val="EEF3FD"/>
                    </a:solidFill>
                  </a:tcPr>
                </a:tc>
                <a:tc>
                  <a:txBody>
                    <a:bodyPr wrap="square"/>
                    <a:lstStyle/>
                    <a:p>
                      <a:pPr algn="l">
                        <a:spcAft>
                          <a:spcPts val="0"/>
                        </a:spcAft>
                        <a:buNone/>
                      </a:pPr>
                      <a:r>
                        <a:rPr sz="1000" b="0">
                          <a:solidFill>
                            <a:srgbClr val="202B38"/>
                          </a:solidFill>
                          <a:latin typeface="Arial"/>
                        </a:rPr>
                        <a:t>a load_skill tool; SKILL.md measured on the real tokenizer</a:t>
                      </a:r>
                    </a:p>
                  </a:txBody>
                  <a:tcPr>
                    <a:solidFill>
                      <a:srgbClr val="EEF3FD"/>
                    </a:solidFill>
                  </a:tcPr>
                </a:tc>
                <a:tc>
                  <a:txBody>
                    <a:bodyPr wrap="square"/>
                    <a:lstStyle/>
                    <a:p>
                      <a:pPr algn="l">
                        <a:spcAft>
                          <a:spcPts val="0"/>
                        </a:spcAft>
                        <a:buNone/>
                      </a:pPr>
                      <a:r>
                        <a:rPr sz="1000" b="0">
                          <a:solidFill>
                            <a:srgbClr val="202B38"/>
                          </a:solidFill>
                          <a:latin typeface="Arial"/>
                        </a:rPr>
                        <a:t>-</a:t>
                      </a:r>
                    </a:p>
                  </a:txBody>
                  <a:tcPr>
                    <a:solidFill>
                      <a:srgbClr val="EEF3FD"/>
                    </a:solidFill>
                  </a:tcPr>
                </a:tc>
                <a:tc>
                  <a:txBody>
                    <a:bodyPr wrap="square"/>
                    <a:lstStyle/>
                    <a:p>
                      <a:pPr algn="l">
                        <a:spcAft>
                          <a:spcPts val="0"/>
                        </a:spcAft>
                        <a:buNone/>
                      </a:pPr>
                      <a:r>
                        <a:rPr sz="1000" b="0">
                          <a:solidFill>
                            <a:srgbClr val="202B38"/>
                          </a:solidFill>
                          <a:latin typeface="Arial"/>
                        </a:rPr>
                        <a:t>.claude/skills/&lt;name&gt;/SKILL.md</a:t>
                      </a:r>
                    </a:p>
                  </a:txBody>
                  <a:tcPr>
                    <a:solidFill>
                      <a:srgbClr val="EEF3FD"/>
                    </a:solidFill>
                  </a:tcPr>
                </a:tc>
                <a:tc>
                  <a:txBody>
                    <a:bodyPr wrap="square"/>
                    <a:lstStyle/>
                    <a:p>
                      <a:pPr algn="l">
                        <a:spcAft>
                          <a:spcPts val="0"/>
                        </a:spcAft>
                        <a:buNone/>
                      </a:pPr>
                      <a:r>
                        <a:rPr sz="1000" b="0">
                          <a:solidFill>
                            <a:srgbClr val="202B38"/>
                          </a:solidFill>
                          <a:latin typeface="Arial"/>
                        </a:rPr>
                        <a:t>-</a:t>
                      </a:r>
                    </a:p>
                  </a:txBody>
                  <a:tcPr>
                    <a:solidFill>
                      <a:srgbClr val="EEF3FD"/>
                    </a:solidFill>
                  </a:tcPr>
                </a:tc>
              </a:tr>
              <a:tr h="457200">
                <a:tc>
                  <a:txBody>
                    <a:bodyPr wrap="square"/>
                    <a:lstStyle/>
                    <a:p>
                      <a:pPr algn="l">
                        <a:spcAft>
                          <a:spcPts val="0"/>
                        </a:spcAft>
                        <a:buNone/>
                      </a:pPr>
                      <a:r>
                        <a:rPr sz="1000" b="0">
                          <a:solidFill>
                            <a:srgbClr val="202B38"/>
                          </a:solidFill>
                          <a:latin typeface="Arial"/>
                        </a:rPr>
                        <a:t>5 The loop</a:t>
                      </a:r>
                    </a:p>
                  </a:txBody>
                  <a:tcPr>
                    <a:solidFill>
                      <a:srgbClr val="FFFFFF"/>
                    </a:solidFill>
                  </a:tcPr>
                </a:tc>
                <a:tc>
                  <a:txBody>
                    <a:bodyPr wrap="square"/>
                    <a:lstStyle/>
                    <a:p>
                      <a:pPr algn="l">
                        <a:spcAft>
                          <a:spcPts val="0"/>
                        </a:spcAft>
                        <a:buNone/>
                      </a:pPr>
                      <a:r>
                        <a:rPr sz="1000" b="0">
                          <a:solidFill>
                            <a:srgbClr val="202B38"/>
                          </a:solidFill>
                          <a:latin typeface="Arial"/>
                        </a:rPr>
                        <a:t>run_agent, tool_runner</a:t>
                      </a:r>
                    </a:p>
                  </a:txBody>
                  <a:tcPr>
                    <a:solidFill>
                      <a:srgbClr val="FFFFFF"/>
                    </a:solidFill>
                  </a:tcPr>
                </a:tc>
                <a:tc>
                  <a:txBody>
                    <a:bodyPr wrap="square"/>
                    <a:lstStyle/>
                    <a:p>
                      <a:pPr algn="l">
                        <a:spcAft>
                          <a:spcPts val="0"/>
                        </a:spcAft>
                        <a:buNone/>
                      </a:pPr>
                      <a:r>
                        <a:rPr sz="1000" b="0">
                          <a:solidFill>
                            <a:srgbClr val="202B38"/>
                          </a:solidFill>
                          <a:latin typeface="Arial"/>
                        </a:rPr>
                        <a:t>Agent.run, stopped_because</a:t>
                      </a:r>
                    </a:p>
                  </a:txBody>
                  <a:tcPr>
                    <a:solidFill>
                      <a:srgbClr val="FFFFFF"/>
                    </a:solidFill>
                  </a:tcPr>
                </a:tc>
                <a:tc>
                  <a:txBody>
                    <a:bodyPr wrap="square"/>
                    <a:lstStyle/>
                    <a:p>
                      <a:pPr algn="l">
                        <a:spcAft>
                          <a:spcPts val="0"/>
                        </a:spcAft>
                        <a:buNone/>
                      </a:pPr>
                      <a:r>
                        <a:rPr sz="1000" b="0">
                          <a:solidFill>
                            <a:srgbClr val="202B38"/>
                          </a:solidFill>
                          <a:latin typeface="Arial"/>
                        </a:rPr>
                        <a:t>the CLI's own loop</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r>
              <a:tr h="457200">
                <a:tc>
                  <a:txBody>
                    <a:bodyPr wrap="square"/>
                    <a:lstStyle/>
                    <a:p>
                      <a:pPr algn="l">
                        <a:spcAft>
                          <a:spcPts val="0"/>
                        </a:spcAft>
                        <a:buNone/>
                      </a:pPr>
                      <a:r>
                        <a:rPr sz="1000" b="0">
                          <a:solidFill>
                            <a:srgbClr val="202B38"/>
                          </a:solidFill>
                          <a:latin typeface="Arial"/>
                        </a:rPr>
                        <a:t>6 Guardrails</a:t>
                      </a:r>
                    </a:p>
                  </a:txBody>
                  <a:tcPr>
                    <a:solidFill>
                      <a:srgbClr val="EEF3FD"/>
                    </a:solidFill>
                  </a:tcPr>
                </a:tc>
                <a:tc>
                  <a:txBody>
                    <a:bodyPr wrap="square"/>
                    <a:lstStyle/>
                    <a:p>
                      <a:pPr algn="l">
                        <a:spcAft>
                          <a:spcPts val="0"/>
                        </a:spcAft>
                        <a:buNone/>
                      </a:pPr>
                      <a:r>
                        <a:rPr sz="1000" b="0">
                          <a:solidFill>
                            <a:srgbClr val="202B38"/>
                          </a:solidFill>
                          <a:latin typeface="Arial"/>
                        </a:rPr>
                        <a:t>the .env refusal inside read_file</a:t>
                      </a:r>
                    </a:p>
                  </a:txBody>
                  <a:tcPr>
                    <a:solidFill>
                      <a:srgbClr val="EEF3FD"/>
                    </a:solidFill>
                  </a:tcPr>
                </a:tc>
                <a:tc>
                  <a:txBody>
                    <a:bodyPr wrap="square"/>
                    <a:lstStyle/>
                    <a:p>
                      <a:pPr algn="l">
                        <a:spcAft>
                          <a:spcPts val="0"/>
                        </a:spcAft>
                        <a:buNone/>
                      </a:pPr>
                      <a:r>
                        <a:rPr sz="1000" b="0">
                          <a:solidFill>
                            <a:srgbClr val="202B38"/>
                          </a:solidFill>
                          <a:latin typeface="Arial"/>
                        </a:rPr>
                        <a:t>Hooks.before_tool, deny_risk</a:t>
                      </a:r>
                    </a:p>
                  </a:txBody>
                  <a:tcPr>
                    <a:solidFill>
                      <a:srgbClr val="EEF3FD"/>
                    </a:solidFill>
                  </a:tcPr>
                </a:tc>
                <a:tc>
                  <a:txBody>
                    <a:bodyPr wrap="square"/>
                    <a:lstStyle/>
                    <a:p>
                      <a:pPr algn="l">
                        <a:spcAft>
                          <a:spcPts val="0"/>
                        </a:spcAft>
                        <a:buNone/>
                      </a:pPr>
                      <a:r>
                        <a:rPr sz="1000" b="0">
                          <a:solidFill>
                            <a:srgbClr val="202B38"/>
                          </a:solidFill>
                          <a:latin typeface="Arial"/>
                        </a:rPr>
                        <a:t>settings.json hooks, permission modes</a:t>
                      </a:r>
                    </a:p>
                  </a:txBody>
                  <a:tcPr>
                    <a:solidFill>
                      <a:srgbClr val="EEF3FD"/>
                    </a:solidFill>
                  </a:tcPr>
                </a:tc>
                <a:tc>
                  <a:txBody>
                    <a:bodyPr wrap="square"/>
                    <a:lstStyle/>
                    <a:p>
                      <a:pPr algn="l">
                        <a:spcAft>
                          <a:spcPts val="0"/>
                        </a:spcAft>
                        <a:buNone/>
                      </a:pPr>
                      <a:r>
                        <a:rPr sz="1000" b="0">
                          <a:solidFill>
                            <a:srgbClr val="202B38"/>
                          </a:solidFill>
                          <a:latin typeface="Arial"/>
                        </a:rPr>
                        <a:t>unit job: pytest on the path guard</a:t>
                      </a:r>
                    </a:p>
                  </a:txBody>
                  <a:tcPr>
                    <a:solidFill>
                      <a:srgbClr val="EEF3FD"/>
                    </a:solidFill>
                  </a:tcPr>
                </a:tc>
              </a:tr>
              <a:tr h="457200">
                <a:tc>
                  <a:txBody>
                    <a:bodyPr wrap="square"/>
                    <a:lstStyle/>
                    <a:p>
                      <a:pPr algn="l">
                        <a:spcAft>
                          <a:spcPts val="0"/>
                        </a:spcAft>
                        <a:buNone/>
                      </a:pPr>
                      <a:r>
                        <a:rPr sz="1000" b="0">
                          <a:solidFill>
                            <a:srgbClr val="202B38"/>
                          </a:solidFill>
                          <a:latin typeface="Arial"/>
                        </a:rPr>
                        <a:t>7 Orchestration</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c>
                  <a:txBody>
                    <a:bodyPr wrap="square"/>
                    <a:lstStyle/>
                    <a:p>
                      <a:pPr algn="l">
                        <a:spcAft>
                          <a:spcPts val="0"/>
                        </a:spcAft>
                        <a:buNone/>
                      </a:pPr>
                      <a:r>
                        <a:rPr sz="1000" b="0">
                          <a:solidFill>
                            <a:srgbClr val="202B38"/>
                          </a:solidFill>
                          <a:latin typeface="Arial"/>
                        </a:rPr>
                        <a:t>five workflow patterns; delegate, TaskBoard</a:t>
                      </a:r>
                    </a:p>
                  </a:txBody>
                  <a:tcPr>
                    <a:solidFill>
                      <a:srgbClr val="FFFFFF"/>
                    </a:solidFill>
                  </a:tcPr>
                </a:tc>
                <a:tc>
                  <a:txBody>
                    <a:bodyPr wrap="square"/>
                    <a:lstStyle/>
                    <a:p>
                      <a:pPr algn="l">
                        <a:spcAft>
                          <a:spcPts val="0"/>
                        </a:spcAft>
                        <a:buNone/>
                      </a:pPr>
                      <a:r>
                        <a:rPr sz="1000" b="0">
                          <a:solidFill>
                            <a:srgbClr val="202B38"/>
                          </a:solidFill>
                          <a:latin typeface="Arial"/>
                        </a:rPr>
                        <a:t>.claude/agents/*.md, agent teams</a:t>
                      </a:r>
                    </a:p>
                  </a:txBody>
                  <a:tcPr>
                    <a:solidFill>
                      <a:srgbClr val="FFFFFF"/>
                    </a:solidFill>
                  </a:tcPr>
                </a:tc>
                <a:tc>
                  <a:txBody>
                    <a:bodyPr wrap="square"/>
                    <a:lstStyle/>
                    <a:p>
                      <a:pPr algn="l">
                        <a:spcAft>
                          <a:spcPts val="0"/>
                        </a:spcAft>
                        <a:buNone/>
                      </a:pPr>
                      <a:r>
                        <a:rPr sz="1000" b="0">
                          <a:solidFill>
                            <a:srgbClr val="202B38"/>
                          </a:solidFill>
                          <a:latin typeface="Arial"/>
                        </a:rPr>
                        <a:t>-</a:t>
                      </a:r>
                    </a:p>
                  </a:txBody>
                  <a:tcPr>
                    <a:solidFill>
                      <a:srgbClr val="FFFFFF"/>
                    </a:solidFill>
                  </a:tcPr>
                </a:tc>
              </a:tr>
              <a:tr h="457200">
                <a:tc>
                  <a:txBody>
                    <a:bodyPr wrap="square"/>
                    <a:lstStyle/>
                    <a:p>
                      <a:pPr algn="l">
                        <a:spcAft>
                          <a:spcPts val="0"/>
                        </a:spcAft>
                        <a:buNone/>
                      </a:pPr>
                      <a:r>
                        <a:rPr sz="1000" b="0">
                          <a:solidFill>
                            <a:srgbClr val="202B38"/>
                          </a:solidFill>
                          <a:latin typeface="Arial"/>
                        </a:rPr>
                        <a:t>8 Evals + observability</a:t>
                      </a:r>
                    </a:p>
                  </a:txBody>
                  <a:tcPr>
                    <a:solidFill>
                      <a:srgbClr val="EEF3FD"/>
                    </a:solidFill>
                  </a:tcPr>
                </a:tc>
                <a:tc>
                  <a:txBody>
                    <a:bodyPr wrap="square"/>
                    <a:lstStyle/>
                    <a:p>
                      <a:pPr algn="l">
                        <a:spcAft>
                          <a:spcPts val="0"/>
                        </a:spcAft>
                        <a:buNone/>
                      </a:pPr>
                      <a:r>
                        <a:rPr sz="1000" b="0">
                          <a:solidFill>
                            <a:srgbClr val="202B38"/>
                          </a:solidFill>
                          <a:latin typeface="Arial"/>
                        </a:rPr>
                        <a:t>usage, the cost table, the ledger</a:t>
                      </a:r>
                    </a:p>
                  </a:txBody>
                  <a:tcPr>
                    <a:solidFill>
                      <a:srgbClr val="EEF3FD"/>
                    </a:solidFill>
                  </a:tcPr>
                </a:tc>
                <a:tc>
                  <a:txBody>
                    <a:bodyPr wrap="square"/>
                    <a:lstStyle/>
                    <a:p>
                      <a:pPr algn="l">
                        <a:spcAft>
                          <a:spcPts val="0"/>
                        </a:spcAft>
                        <a:buNone/>
                      </a:pPr>
                      <a:r>
                        <a:rPr sz="1000" b="0">
                          <a:solidFill>
                            <a:srgbClr val="202B38"/>
                          </a:solidFill>
                          <a:latin typeface="Arial"/>
                        </a:rPr>
                        <a:t>Trace, evals/cases.yaml, run_evals</a:t>
                      </a:r>
                    </a:p>
                  </a:txBody>
                  <a:tcPr>
                    <a:solidFill>
                      <a:srgbClr val="EEF3FD"/>
                    </a:solidFill>
                  </a:tcPr>
                </a:tc>
                <a:tc>
                  <a:txBody>
                    <a:bodyPr wrap="square"/>
                    <a:lstStyle/>
                    <a:p>
                      <a:pPr algn="l">
                        <a:spcAft>
                          <a:spcPts val="0"/>
                        </a:spcAft>
                        <a:buNone/>
                      </a:pPr>
                      <a:r>
                        <a:rPr sz="1000" b="0">
                          <a:solidFill>
                            <a:srgbClr val="202B38"/>
                          </a:solidFill>
                          <a:latin typeface="Arial"/>
                        </a:rPr>
                        <a:t>/cost</a:t>
                      </a:r>
                    </a:p>
                  </a:txBody>
                  <a:tcPr>
                    <a:solidFill>
                      <a:srgbClr val="EEF3FD"/>
                    </a:solidFill>
                  </a:tcPr>
                </a:tc>
                <a:tc>
                  <a:txBody>
                    <a:bodyPr wrap="square"/>
                    <a:lstStyle/>
                    <a:p>
                      <a:pPr algn="l">
                        <a:spcAft>
                          <a:spcPts val="0"/>
                        </a:spcAft>
                        <a:buNone/>
                      </a:pPr>
                      <a:r>
                        <a:rPr sz="1000" b="0">
                          <a:solidFill>
                            <a:srgbClr val="202B38"/>
                          </a:solidFill>
                          <a:latin typeface="Arial"/>
                        </a:rPr>
                        <a:t>evals job, only with the secret: results.json</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How to read it: one row per piece, in the canon order; each cell names the real artefact you will touch; a dash means none of its own there.</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TAKEAWAY</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One number to keep: the same model, two harnesses, 9.5 points apart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9.5</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points of harness-only variation on SWE-bench Pro for Claude Opus 4.5: 45.9% under SEAL, 55.4% under Claude Code</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arXiv 2605.23950, May 2026; arXiv 2609.11987, Sep 2026. Notebook 01 shows the same effect at small scale: the same claude-opus-5 gave no checkable fact without a harness and the fact with its file inside one (recorded run, 30 Sep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1 - From Prompts to Harnesses</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l">
              <a:spcAft>
                <a:spcPts val="600"/>
              </a:spcAft>
              <a:buNone/>
            </a:pPr>
            <a:r>
              <a:rPr sz="3400" b="1">
                <a:solidFill>
                  <a:srgbClr val="FFFFFF"/>
                </a:solidFill>
                <a:latin typeface="Arial"/>
              </a:rPr>
              <a:t>You now know what a harness is - next session you build its pieces</a:t>
            </a:r>
          </a:p>
        </p:txBody>
      </p:sp>
      <p:sp>
        <p:nvSpPr>
          <p:cNvPr id="4" name="TextBox 3"/>
          <p:cNvSpPr txBox="1"/>
          <p:nvPr/>
        </p:nvSpPr>
        <p:spPr>
          <a:xfrm>
            <a:off x="914400" y="2651760"/>
            <a:ext cx="10058400" cy="2926080"/>
          </a:xfrm>
          <a:prstGeom prst="rect">
            <a:avLst/>
          </a:prstGeom>
          <a:noFill/>
        </p:spPr>
        <p:txBody>
          <a:bodyPr wrap="square">
            <a:spAutoFit/>
          </a:bodyPr>
          <a:lstStyle/>
          <a:p>
            <a:pPr algn="l" indent="-228600" marL="228600">
              <a:spcAft>
                <a:spcPts val="1000"/>
              </a:spcAft>
              <a:buClr>
                <a:srgbClr val="1E5EF3"/>
              </a:buClr>
              <a:buChar char="—"/>
            </a:pPr>
            <a:r>
              <a:rPr sz="1600" b="0">
                <a:solidFill>
                  <a:srgbClr val="B9D0FA"/>
                </a:solidFill>
                <a:latin typeface="Arial"/>
              </a:rPr>
              <a:t>Agent = Model + Harness: the model is the engine, the harness is the rest of the car</a:t>
            </a:r>
          </a:p>
          <a:p>
            <a:pPr algn="l" indent="-228600" marL="228600">
              <a:spcAft>
                <a:spcPts val="1000"/>
              </a:spcAft>
              <a:buClr>
                <a:srgbClr val="1E5EF3"/>
              </a:buClr>
              <a:buChar char="—"/>
            </a:pPr>
            <a:r>
              <a:rPr sz="1600" b="0">
                <a:solidFill>
                  <a:srgbClr val="B9D0FA"/>
                </a:solidFill>
                <a:latin typeface="Arial"/>
              </a:rPr>
              <a:t>Six years moved the lever from the words (prompt) to the window (context) to the runtime (harness)</a:t>
            </a:r>
          </a:p>
          <a:p>
            <a:pPr algn="l" indent="-228600" marL="228600">
              <a:spcAft>
                <a:spcPts val="1000"/>
              </a:spcAft>
              <a:buClr>
                <a:srgbClr val="1E5EF3"/>
              </a:buClr>
              <a:buChar char="—"/>
            </a:pPr>
            <a:r>
              <a:rPr sz="1600" b="0">
                <a:solidFill>
                  <a:srgbClr val="B9D0FA"/>
                </a:solidFill>
                <a:latin typeface="Arial"/>
              </a:rPr>
              <a:t>Same model, different harness: 9.5 points on SWE-bench Pro - harness-only variation</a:t>
            </a:r>
          </a:p>
          <a:p>
            <a:pPr algn="l" indent="-228600" marL="228600">
              <a:spcAft>
                <a:spcPts val="1000"/>
              </a:spcAft>
              <a:buClr>
                <a:srgbClr val="1E5EF3"/>
              </a:buClr>
              <a:buChar char="—"/>
            </a:pPr>
            <a:r>
              <a:rPr sz="1600" b="0">
                <a:solidFill>
                  <a:srgbClr val="B9D0FA"/>
                </a:solidFill>
                <a:latin typeface="Arial"/>
              </a:rPr>
              <a:t>Eight pieces: model, context, tools, skills, loop, guardrails, orchestration, evals and traces</a:t>
            </a:r>
          </a:p>
          <a:p>
            <a:pPr algn="l" indent="-228600" marL="228600">
              <a:spcAft>
                <a:spcPts val="1000"/>
              </a:spcAft>
              <a:buClr>
                <a:srgbClr val="1E5EF3"/>
              </a:buClr>
              <a:buChar char="—"/>
            </a:pPr>
            <a:r>
              <a:rPr sz="1600" b="0">
                <a:solidFill>
                  <a:srgbClr val="B9D0FA"/>
                </a:solidFill>
                <a:latin typeface="Arial"/>
              </a:rPr>
              <a:t>Workflows when the path is known; agents when the steps depend on the last result</a:t>
            </a:r>
          </a:p>
          <a:p>
            <a:pPr algn="l" indent="-228600" marL="228600">
              <a:spcAft>
                <a:spcPts val="1000"/>
              </a:spcAft>
              <a:buClr>
                <a:srgbClr val="1E5EF3"/>
              </a:buClr>
              <a:buChar char="—"/>
            </a:pPr>
            <a:r>
              <a:rPr sz="1600" b="0">
                <a:solidFill>
                  <a:srgbClr val="B9D0FA"/>
                </a:solidFill>
                <a:latin typeface="Arial"/>
              </a:rPr>
              <a:t>Notebook 01: one question three ways on the raw SDK; only the forty-line loop gives the fact and the file, at 4,113 input tokens against 39</a:t>
            </a:r>
          </a:p>
          <a:p>
            <a:pPr algn="l" indent="-228600" marL="228600">
              <a:spcAft>
                <a:spcPts val="1000"/>
              </a:spcAft>
              <a:buClr>
                <a:srgbClr val="1E5EF3"/>
              </a:buClr>
              <a:buChar char="—"/>
            </a:pPr>
            <a:r>
              <a:rPr sz="1600" b="0">
                <a:solidFill>
                  <a:srgbClr val="B9D0FA"/>
                </a:solidFill>
                <a:latin typeface="Arial"/>
              </a:rPr>
              <a:t>The SDK ships the loop (tool_runner); the harness is everything around it, and Session 3 builds it as a package</a:t>
            </a:r>
          </a:p>
        </p:txBody>
      </p:sp>
      <p:sp>
        <p:nvSpPr>
          <p:cNvPr id="5" name="TextBox 4"/>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B9D0FA"/>
                </a:solidFill>
                <a:latin typeface="Arial"/>
              </a:rPr>
              <a:t>Harness Engineering - Module 5</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1 - From Prompts to Harnesses</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Session 1 - From Prompts to Harnesses</dc:title>
  <dc:subject/>
  <dc:creator>M5 Harness Engineering course</dc:creator>
  <cp:keywords/>
  <dc:description/>
  <cp:lastModifiedBy>M5 Harness Engineering course</cp:lastModifiedBy>
  <cp:revision>1</cp:revision>
  <dcterms:created xsi:type="dcterms:W3CDTF">2013-01-27T09:14:16Z</dcterms:created>
  <dcterms:modified xsi:type="dcterms:W3CDTF">2013-01-27T09:15:58Z</dcterms:modified>
  <cp:category/>
</cp:coreProperties>
</file>