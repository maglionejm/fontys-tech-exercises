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we built one harness and measured it. Today the question is what happens when one agent is not enough: the context fills up, the task has independent parts, or a specialist is needed. We cover the shapes - sub-agents, teams, handoffs - the failure modes, and then step back to what the discipline demands. Part 2 is notebook 04 and lab 4. Ask the class: when you split a job between people, what usually goes wrong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moves from one agent to many: why to isolate context, the three shapes, the failure modes, and then the discipline itself. Ask the class: what is the most agents you have seen cooperate on one task, and did it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problem, not the pattern: in Session 2 the context window was a budget, and compaction was the emergency brake. Sub-agents are the structural fix - the expensive exploration happens in a window you throw away, and only a short summary comes back. Point at the arrow widths: gray brief out, blue summary back, nothing else crosses. Ask the class: what would you lose if the sub-agent returned its whole transcript instead of a summary?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that made multi-agent systems respectable: a lead Opus with parallel Sonnet sub-agents beat a lone Opus by 90.2% on breadth-first research questions. Then say the second half of the label louder than the first: fifteen times the tokens of a normal chat. The gain came from parallel exploration across separate context windows - exactly the isolation from the previous slide. Ask the class: which kinds of task would NOT benefit from splitting - and why?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two owners. The left is prompt work for the lead: it must brief its workers like a good manager - objective, format, tools, boundaries - and decide how much effort a question deserves. The right is harness work: parallelism, memory, a citation pass, evals. Notice that the fix for wandering sub-agents was not a smarter model; it was a better brief. Ask the class: write a one-line brief for a sub-agent that should find when function calling shipped - what would you include?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pictures every time you design a multi-agent system. Hierarchy: one lead, workers that report up and never talk sideways - simple and predictable. Flat team: a shared task list, teammates that claim work and message each other, a lead that assigns and synthesizes - more parallel, harder to reason about. Handoff: the conversation itself moves to a specialist and the first agent steps back. In plain words: a convoy, a crew with one job board, a change of drivers. Ask the class: which shape is a hospital triage desk?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table as a decision aid, row by row. The communication row is the one students miss: sub-agents cannot talk to each other by design, which is a feature - no cross-contamination - until two of them need the same fact. Teams fix that with a board and a mailbox at the price of coordination. Handoffs are different in kind: nothing is summarized, the receiver gets everything. Ask the class: you have 40 independent documents to summarize - which column, and what is the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workflow-versus-agent choice, one level up. On the left, orchestration is a Python function: the plan is a list, the loop is a for-loop, the merge is a call. On the right, orchestration is a tool the lead may call, and the structure lives in the model's head. Notebook 04 runs both on the same three-part question; the totals came out close (0.0415 against 0.0444 USD) because the reading is the same and only the coordination differs: two cheap planner and synthesizer calls against two calls on the expensive lead model. Ask the class: which side would you pick for a nightly report that must look the same every 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is a real incident type; the last one is the notebook's own exercise - a before_tool hook that denies a third delegation. In the recorded run the hook never had to fire: told about the cap in its system prompt, the lead planned two workers, one of them covering two files, and answered all three parts for slightly less than the uncapped lead. The two survey findings deserve emphasis: chains of more than four handoffs almost always failed - each handoff loses intent - and adding a reviewer agent made things worse by eight points, probably because the reviewer second-guessed correct answers. The lesson is not 'never add agents'; it is 'never add an agent without an eval that shows it helped'. Ask the class: which of these six would a trace catch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the course in six lines; right column is the gap. Read them as pairs: instruction files exist but are not enforced; security rules exist but 4.4% have a control; permission prompts exist but 93% are waved through; and 60% of harnesses could not tell you whether their last change helped. The eleven-harness study found the same thing from the code side: the loops are hand-rolled and the retrieval is deterministic - engineering, not magic. Ask the class: which of the six did your notebook 03 harness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twice. It is the most reassuring sentence in the module: the systems students read about - Claude Code, Codex CLI, Gemini CLI, Aider, OpenHands and the rest - are loops, tool registries and file search, written by hand. The harness package in this course is the same species, smaller. Ask the class: after four sessions, which line of the harness package would you now want to read in one of those eleven?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signposts, all dated, none speculative. Repositories are being rewritten for agent readers; skills let one folder work across forty platforms; twenty-one thousand harness repos in one year says everyone is building the same car; and the discipline now has a name and a first anatomy paper. The closing line of the module: models are bought, harnesses are built. Ask the class: which of the eight pieces do you think will be standardized next, after tools (MCP) and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04. Everything runs on real Claude models: claude-opus-5 leads and synthesizes, claude-sonnet-5 does the reading, and the agents read files of this repository, so every answer can be checked by opening the file. The key sits in the git-ignored .env at the repository root and only load_client() reads it. The numbers on the next slides are from the run recorded on 30 September 2026, which cost 0.4413 USD for the whole notebook; a live run will differ in wording, in the route the model takes and in cents. Ask the class: which of the three shapes do you expect to cost the most tokens, and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has two kinds of bar on purpose. The navy bars are context sizes - what one agent was carrying at the end, counted by the API on the exact messages. The sky bar is the sum of the three workers' final contexts, which never touched the lead's window. Say the honest part out loud: on this three-part question the solo agent on opus-5 was not polluted. It read exactly the three files it needed, answered all three parts, and cost less and finished in a third of the time because it made no detours. The lesson is 'scale effort to the query': the sub-agent design earns its cost when the question has ten facts or the files are ten times longer, because then the solo context keeps growing and you cannot tell which fact it dropped without a grader. Ask the class: how would you change the question so that the solo agent does drop a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top to bottom: the three teammates claimed one task each at the start, and whoever finished first took the next open task, so each ended with two. The right panel is the only thing the team buys: the clock. The six worker runs happen either way, so the tokens and the cost are the same; parallel work moved 19.9 seconds of work into 7.5. The four-teammate exercise makes the point twice: with six tasks and four hands you still need two rounds, so nothing is saved and the cost is unchanged. Ask the class: what breaks first if two teammates claim the same task at the same time, and which line of TaskBoard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handoff is the simplest of the three shapes and the easiest to overuse. The calculator specialist gets the entire research conversation and one new instruction; it needs only the two numbers, but pays for the README the worker read, its tool calls and its answer - 7,017 tokens on the first call and again on the second. That is why the survey found chains of more than four handoffs almost always fail: the history grows and the intent blurs. Ask the class: when is inheriting the full history actually necessary, and what would a summary lose in that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stop conditions made visible on a real model. Nothing is staged: the task is simply open-ended, and a worker will list folders and read files for as long as it is allowed. Each call re-sends the previous tool results, so the bars grow, slowly while it lists and then in a jump when it asks for fourteen files at once. The dashed line is the budget; the hatched bar is the call the harness measured with count_tokens and never sent. The text box is the other seatbelt, max_turns=4, which stopped a second run after four calls. Neither produced a summary; together they cost about seven cents. A trace is how you notice a runaway before the invoice does. Ask the class: what would a smarter guard look at, so it could stop this task after the second call instead of the fifth?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with the 'answered' column in hand. The team answered six questions, the others the same three-part question, so the number to compare is the cost per answered question - and in this run it was roughly flat everywhere, between 1.2 and 1.5 cents, because every answer needs its own listing, reading and writing. The team cost 1.8 times the solo agent for twice the questions. The one outlier is the handoff: five cents for a single answer, because the specialist carried the whole research conversation on both of its calls. What multiplies is the number of contexts doing the reading, plus the coordination on top, and coordination on the strong model is the expensive part. Anthropic's research system paid fifteen times the tokens for its 90.2 percent gain: a good trade for a hard question, a terrible one for a lookup. Ask the class: which row would you delete from your own design first, and what eval would you run before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whole subagent: YAML front matter and a system prompt. Map the fields to the notebook - name is Agent(name=...), description is the delegate tool's docstring written for a machine, tools is the allow-list, model is WORKER_MODEL, maxTurns is max_turns. Right is the PostToolUse log after the first observed run: seven tool calls happened inside the subagent, including a 2,583-character file read, and the main agent received a single 3,284-character result. That is section 1 of the notebook in eight log lines. The trap question is the second lesson: the subagent answered correctly that the repository does not contain a dean, but it searched only the lab folder, because --add-dir allows a read and does not tell the model where to look - teach the orchestrator how to delegate. Ask the class: which front matter field would you change so that the fact-checker subagent can never be given write tools by mistake?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layers, two observed runs. Asked outright to cat the key file, the model refused by itself and no tool ran - the instruction file worked, and the lab says why that is not enough: a differently worded request, a long session or a compaction can make a sentence go missing. Asked for something that sounds harmless - does the file exist and how big is it - the model tried, and the hook stopped the call before it ran; the model read the reason and adapted instead of retrying, which is notebook 03's is_error tool result as a product. Notice the log has no line for the blocked call: the brakes and the dashboard are different instruments. On the right, the modes are the permission argument with more shapes, dontAsk is what you use when nobody is there to answer, and agent teams are one environment variable away - interactive only, so the recorded runs could not form one. Ask the class: which of these four controls would you add to your notebook 03 harness first,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Session 1's anatomy slide: the same eight pieces, now with the notebook or lab where each one was built on real components - the Anthropic SDK, the harness package, Claude Code and GitHub Actions. Students have run every one of them. The point of the middle column is that the car metaphor was never decoration - each piece answers one question a driver would ask. Ask the class: which piece would you replace first if this harness went to production, and with what?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capability, not theory. Every line is something they ran this module, on real models and real tools, with the bill printed after every experiment. The last line is the invitation: the parts they built by hand exist as product features, and now they can read those features for what they are. Ask the class: what is the first agent you would build with this, and which of the eight pieces would you spend most of your time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4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Sub-agents, Teams and the Discipline</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One agent runs out of context; several agents multiply the cost. This session shows how to split work between agents without losing control, where multi-agent systems fail, and what harness engineering asks of you as a discipline. Then notebook 04 runs a lead with sub-agents, a team, a handoff and an open-ended task on real Claude models, and lab 4 finds the same parts in Claude Code.</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many agents, one harness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Why to isolate context, three shapes of multi-agent work, how they fail, and what the discipline of harness engineering looks like.</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WHY ISOLATE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Sub-agents exist to keep the lead's context small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 sub-agent is a fresh agent with a clean context, one task, a short report back</a:t>
            </a:r>
          </a:p>
          <a:p>
            <a:pPr algn="l" indent="-228600" marL="228600">
              <a:spcAft>
                <a:spcPts val="800"/>
              </a:spcAft>
              <a:buClr>
                <a:srgbClr val="1E5EF3"/>
              </a:buClr>
              <a:buChar char="—"/>
            </a:pPr>
            <a:r>
              <a:rPr sz="1450" b="0">
                <a:solidFill>
                  <a:srgbClr val="202B38"/>
                </a:solidFill>
                <a:latin typeface="Arial"/>
              </a:rPr>
              <a:t>Context is a finite budget; search results and long documents burn it fast</a:t>
            </a:r>
          </a:p>
          <a:p>
            <a:pPr algn="l" indent="-228600" marL="228600">
              <a:spcAft>
                <a:spcPts val="800"/>
              </a:spcAft>
              <a:buClr>
                <a:srgbClr val="1E5EF3"/>
              </a:buClr>
              <a:buChar char="—"/>
            </a:pPr>
            <a:r>
              <a:rPr sz="1450" b="0">
                <a:solidFill>
                  <a:srgbClr val="202B38"/>
                </a:solidFill>
                <a:latin typeface="Arial"/>
              </a:rPr>
              <a:t>A sub-agent spends tens of thousands of tokens exploring in its own window</a:t>
            </a:r>
          </a:p>
          <a:p>
            <a:pPr algn="l" indent="-228600" marL="228600">
              <a:spcAft>
                <a:spcPts val="800"/>
              </a:spcAft>
              <a:buClr>
                <a:srgbClr val="1E5EF3"/>
              </a:buClr>
              <a:buChar char="—"/>
            </a:pPr>
            <a:r>
              <a:rPr sz="1450" b="0">
                <a:solidFill>
                  <a:srgbClr val="202B38"/>
                </a:solidFill>
                <a:latin typeface="Arial"/>
              </a:rPr>
              <a:t>It returns a 1,000-2,000 token summary; only that enters the lead's context</a:t>
            </a:r>
          </a:p>
          <a:p>
            <a:pPr algn="l" indent="-228600" marL="228600">
              <a:spcAft>
                <a:spcPts val="800"/>
              </a:spcAft>
              <a:buClr>
                <a:srgbClr val="1E5EF3"/>
              </a:buClr>
              <a:buChar char="—"/>
            </a:pPr>
            <a:r>
              <a:rPr sz="1450" b="0">
                <a:solidFill>
                  <a:srgbClr val="202B38"/>
                </a:solidFill>
                <a:latin typeface="Arial"/>
              </a:rPr>
              <a:t>The lead keeps the plan; the details never pollute it</a:t>
            </a:r>
          </a:p>
          <a:p>
            <a:pPr algn="l" indent="-228600" marL="228600">
              <a:spcAft>
                <a:spcPts val="800"/>
              </a:spcAft>
              <a:buClr>
                <a:srgbClr val="1E5EF3"/>
              </a:buClr>
              <a:buChar char="—"/>
            </a:pPr>
            <a:r>
              <a:rPr sz="1450" b="0">
                <a:solidFill>
                  <a:srgbClr val="202B38"/>
                </a:solidFill>
                <a:latin typeface="Arial"/>
              </a:rPr>
              <a:t>The car: a convoy - the lead car reads the map, scouts drive the side roads</a:t>
            </a:r>
          </a:p>
        </p:txBody>
      </p:sp>
      <p:pic>
        <p:nvPicPr>
          <p:cNvPr id="8" name="Picture 7" descr="s4_isolate.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 architectures and the 1,000-2,000 token summaries: Anthropic, Effective context engineering for AI agents, 29 Sep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RESEARCH SYSTEM</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Splitting the work beat one big agent - at a price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90.2%</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better than a single Opus 4 agent on Anthropic's internal research eval - at about 15x the tokens of a chat</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 lead agent (Opus) plans and spawns 3-5 Sonnet sub-agents in parallel, each with its own context; a separate citation pass at the end. Anthropic, How we built our multi-agent research system, 13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ORCHESTRATOR-WORKERS IN PRODUCTION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research system's lessons: teach delegation, scale the effort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lead agent must learn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Teach delegation: each sub-agent gets an objective, output format, tools and boundaries</a:t>
            </a:r>
          </a:p>
          <a:p>
            <a:pPr algn="l" indent="-228600" marL="228600">
              <a:spcAft>
                <a:spcPts val="600"/>
              </a:spcAft>
              <a:buClr>
                <a:srgbClr val="1E5EF3"/>
              </a:buClr>
              <a:buChar char="—"/>
            </a:pPr>
            <a:r>
              <a:rPr sz="1300" b="0">
                <a:solidFill>
                  <a:srgbClr val="202B38"/>
                </a:solidFill>
                <a:latin typeface="Arial"/>
              </a:rPr>
              <a:t>Vague briefs made sub-agents duplicate work or wander off</a:t>
            </a:r>
          </a:p>
          <a:p>
            <a:pPr algn="l" indent="-228600" marL="228600">
              <a:spcAft>
                <a:spcPts val="600"/>
              </a:spcAft>
              <a:buClr>
                <a:srgbClr val="1E5EF3"/>
              </a:buClr>
              <a:buChar char="—"/>
            </a:pPr>
            <a:r>
              <a:rPr sz="1300" b="0">
                <a:solidFill>
                  <a:srgbClr val="202B38"/>
                </a:solidFill>
                <a:latin typeface="Arial"/>
              </a:rPr>
              <a:t>Scale effort to complexity: a simple fact needs one agent; a survey needs ten or more</a:t>
            </a:r>
          </a:p>
          <a:p>
            <a:pPr algn="l" indent="-228600" marL="228600">
              <a:spcAft>
                <a:spcPts val="600"/>
              </a:spcAft>
              <a:buClr>
                <a:srgbClr val="1E5EF3"/>
              </a:buClr>
              <a:buChar char="—"/>
            </a:pPr>
            <a:r>
              <a:rPr sz="1300" b="0">
                <a:solidFill>
                  <a:srgbClr val="202B38"/>
                </a:solidFill>
                <a:latin typeface="Arial"/>
              </a:rPr>
              <a:t>Explicit rules for how many sub-agents and how many tool calls</a:t>
            </a:r>
          </a:p>
          <a:p>
            <a:pPr algn="l" indent="-228600" marL="228600">
              <a:spcAft>
                <a:spcPts val="600"/>
              </a:spcAft>
              <a:buClr>
                <a:srgbClr val="1E5EF3"/>
              </a:buClr>
              <a:buChar char="—"/>
            </a:pPr>
            <a:r>
              <a:rPr sz="1300" b="0">
                <a:solidFill>
                  <a:srgbClr val="202B38"/>
                </a:solidFill>
                <a:latin typeface="Arial"/>
              </a:rPr>
              <a:t>In plain words: the lead writes a good ticket, not a vague wish</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harness must provide</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Parallel execution: sub-agents run at once and the wall clock drops sharply</a:t>
            </a:r>
          </a:p>
          <a:p>
            <a:pPr algn="l" indent="-228600" marL="228600">
              <a:spcAft>
                <a:spcPts val="600"/>
              </a:spcAft>
              <a:buClr>
                <a:srgbClr val="1E5EF3"/>
              </a:buClr>
              <a:buChar char="—"/>
            </a:pPr>
            <a:r>
              <a:rPr sz="1300" b="0">
                <a:solidFill>
                  <a:srgbClr val="202B38"/>
                </a:solidFill>
                <a:latin typeface="Arial"/>
              </a:rPr>
              <a:t>External memory: the lead saves its plan before context nears the limit</a:t>
            </a:r>
          </a:p>
          <a:p>
            <a:pPr algn="l" indent="-228600" marL="228600">
              <a:spcAft>
                <a:spcPts val="600"/>
              </a:spcAft>
              <a:buClr>
                <a:srgbClr val="1E5EF3"/>
              </a:buClr>
              <a:buChar char="—"/>
            </a:pPr>
            <a:r>
              <a:rPr sz="1300" b="0">
                <a:solidFill>
                  <a:srgbClr val="202B38"/>
                </a:solidFill>
                <a:latin typeface="Arial"/>
              </a:rPr>
              <a:t>A separate citation pass: one agent checks sources after the research</a:t>
            </a:r>
          </a:p>
          <a:p>
            <a:pPr algn="l" indent="-228600" marL="228600">
              <a:spcAft>
                <a:spcPts val="600"/>
              </a:spcAft>
              <a:buClr>
                <a:srgbClr val="1E5EF3"/>
              </a:buClr>
              <a:buChar char="—"/>
            </a:pPr>
            <a:r>
              <a:rPr sz="1300" b="0">
                <a:solidFill>
                  <a:srgbClr val="202B38"/>
                </a:solidFill>
                <a:latin typeface="Arial"/>
              </a:rPr>
              <a:t>Evals with calibrated LLM judges to compare versions</a:t>
            </a:r>
          </a:p>
          <a:p>
            <a:pPr algn="l" indent="-228600" marL="228600">
              <a:spcAft>
                <a:spcPts val="600"/>
              </a:spcAft>
              <a:buClr>
                <a:srgbClr val="1E5EF3"/>
              </a:buClr>
              <a:buChar char="—"/>
            </a:pPr>
            <a:r>
              <a:rPr sz="1300" b="0">
                <a:solidFill>
                  <a:srgbClr val="202B38"/>
                </a:solidFill>
                <a:latin typeface="Arial"/>
              </a:rPr>
              <a:t>Cost awareness: at ~15x tokens the task must be worth it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How we built our multi-agent research system, 13 Jun 2025.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shapes of multi-agent work: hierarchy, flat team, handoff</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_shapes.png"/>
          <p:cNvPicPr>
            <a:picLocks noChangeAspect="1"/>
          </p:cNvPicPr>
          <p:nvPr/>
        </p:nvPicPr>
        <p:blipFill>
          <a:blip r:embed="rId2"/>
          <a:stretch>
            <a:fillRect/>
          </a:stretch>
        </p:blipFill>
        <p:spPr>
          <a:xfrm>
            <a:off x="1554480" y="1874519"/>
            <a:ext cx="9052560" cy="3849939"/>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Sub-agents: Claude Code, GA 2025. Agent teams: Claude Code research preview, Feb 2026.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Which shape when: sub-agents, agent teams and handoffs compared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9" cy="3200400"/>
        </p:xfrm>
        <a:graphic>
          <a:graphicData uri="http://schemas.openxmlformats.org/drawingml/2006/table">
            <a:tbl>
              <a:tblPr firstRow="1" bandRow="1">
                <a:tableStyleId>{5C22544A-7EE6-4342-B048-85BDC9FD1C3A}</a:tableStyleId>
              </a:tblPr>
              <a:tblGrid>
                <a:gridCol w="1556725"/>
                <a:gridCol w="3113451"/>
                <a:gridCol w="3308042"/>
                <a:gridCol w="3113451"/>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Sub-agents</a:t>
                      </a:r>
                    </a:p>
                  </a:txBody>
                  <a:tcPr>
                    <a:solidFill>
                      <a:srgbClr val="0A2540"/>
                    </a:solidFill>
                  </a:tcPr>
                </a:tc>
                <a:tc>
                  <a:txBody>
                    <a:bodyPr wrap="square"/>
                    <a:lstStyle/>
                    <a:p>
                      <a:pPr algn="l">
                        <a:spcAft>
                          <a:spcPts val="0"/>
                        </a:spcAft>
                        <a:buNone/>
                      </a:pPr>
                      <a:r>
                        <a:rPr sz="1300" b="1">
                          <a:solidFill>
                            <a:srgbClr val="FFFFFF"/>
                          </a:solidFill>
                          <a:latin typeface="Arial"/>
                        </a:rPr>
                        <a:t>Agent teams</a:t>
                      </a:r>
                    </a:p>
                  </a:txBody>
                  <a:tcPr>
                    <a:solidFill>
                      <a:srgbClr val="0A2540"/>
                    </a:solidFill>
                  </a:tcPr>
                </a:tc>
                <a:tc>
                  <a:txBody>
                    <a:bodyPr wrap="square"/>
                    <a:lstStyle/>
                    <a:p>
                      <a:pPr algn="l">
                        <a:spcAft>
                          <a:spcPts val="0"/>
                        </a:spcAft>
                        <a:buNone/>
                      </a:pPr>
                      <a:r>
                        <a:rPr sz="1300" b="1">
                          <a:solidFill>
                            <a:srgbClr val="FFFFFF"/>
                          </a:solidFill>
                          <a:latin typeface="Arial"/>
                        </a:rPr>
                        <a:t>Handoffs</a:t>
                      </a:r>
                    </a:p>
                  </a:txBody>
                  <a:tcPr>
                    <a:solidFill>
                      <a:srgbClr val="0A2540"/>
                    </a:solidFill>
                  </a:tcPr>
                </a:tc>
              </a:tr>
              <a:tr h="457200">
                <a:tc>
                  <a:txBody>
                    <a:bodyPr wrap="square"/>
                    <a:lstStyle/>
                    <a:p>
                      <a:pPr algn="l">
                        <a:spcAft>
                          <a:spcPts val="0"/>
                        </a:spcAft>
                        <a:buNone/>
                      </a:pPr>
                      <a:r>
                        <a:rPr sz="1250" b="0">
                          <a:solidFill>
                            <a:srgbClr val="202B38"/>
                          </a:solidFill>
                          <a:latin typeface="Arial"/>
                        </a:rPr>
                        <a:t>Shape</a:t>
                      </a:r>
                    </a:p>
                  </a:txBody>
                  <a:tcPr>
                    <a:solidFill>
                      <a:srgbClr val="FFFFFF"/>
                    </a:solidFill>
                  </a:tcPr>
                </a:tc>
                <a:tc>
                  <a:txBody>
                    <a:bodyPr wrap="square"/>
                    <a:lstStyle/>
                    <a:p>
                      <a:pPr algn="l">
                        <a:spcAft>
                          <a:spcPts val="0"/>
                        </a:spcAft>
                        <a:buNone/>
                      </a:pPr>
                      <a:r>
                        <a:rPr sz="1250" b="0">
                          <a:solidFill>
                            <a:srgbClr val="202B38"/>
                          </a:solidFill>
                          <a:latin typeface="Arial"/>
                        </a:rPr>
                        <a:t>Hierarchy: a lead spawns workers</a:t>
                      </a:r>
                    </a:p>
                  </a:txBody>
                  <a:tcPr>
                    <a:solidFill>
                      <a:srgbClr val="FFFFFF"/>
                    </a:solidFill>
                  </a:tcPr>
                </a:tc>
                <a:tc>
                  <a:txBody>
                    <a:bodyPr wrap="square"/>
                    <a:lstStyle/>
                    <a:p>
                      <a:pPr algn="l">
                        <a:spcAft>
                          <a:spcPts val="0"/>
                        </a:spcAft>
                        <a:buNone/>
                      </a:pPr>
                      <a:r>
                        <a:rPr sz="1250" b="0">
                          <a:solidFill>
                            <a:srgbClr val="202B38"/>
                          </a:solidFill>
                          <a:latin typeface="Arial"/>
                        </a:rPr>
                        <a:t>Flat: peers share one task list</a:t>
                      </a:r>
                    </a:p>
                  </a:txBody>
                  <a:tcPr>
                    <a:solidFill>
                      <a:srgbClr val="FFFFFF"/>
                    </a:solidFill>
                  </a:tcPr>
                </a:tc>
                <a:tc>
                  <a:txBody>
                    <a:bodyPr wrap="square"/>
                    <a:lstStyle/>
                    <a:p>
                      <a:pPr algn="l">
                        <a:spcAft>
                          <a:spcPts val="0"/>
                        </a:spcAft>
                        <a:buNone/>
                      </a:pPr>
                      <a:r>
                        <a:rPr sz="1250" b="0">
                          <a:solidFill>
                            <a:srgbClr val="202B38"/>
                          </a:solidFill>
                          <a:latin typeface="Arial"/>
                        </a:rPr>
                        <a:t>Chain: one agent replaces another</a:t>
                      </a:r>
                    </a:p>
                  </a:txBody>
                  <a:tcPr>
                    <a:solidFill>
                      <a:srgbClr val="FFFFFF"/>
                    </a:solidFill>
                  </a:tcPr>
                </a:tc>
              </a:tr>
              <a:tr h="457200">
                <a:tc>
                  <a:txBody>
                    <a:bodyPr wrap="square"/>
                    <a:lstStyle/>
                    <a:p>
                      <a:pPr algn="l">
                        <a:spcAft>
                          <a:spcPts val="0"/>
                        </a:spcAft>
                        <a:buNone/>
                      </a:pPr>
                      <a:r>
                        <a:rPr sz="1250" b="0">
                          <a:solidFill>
                            <a:srgbClr val="202B38"/>
                          </a:solidFill>
                          <a:latin typeface="Arial"/>
                        </a:rPr>
                        <a:t>Communication</a:t>
                      </a:r>
                    </a:p>
                  </a:txBody>
                  <a:tcPr>
                    <a:solidFill>
                      <a:srgbClr val="EEF3FD"/>
                    </a:solidFill>
                  </a:tcPr>
                </a:tc>
                <a:tc>
                  <a:txBody>
                    <a:bodyPr wrap="square"/>
                    <a:lstStyle/>
                    <a:p>
                      <a:pPr algn="l">
                        <a:spcAft>
                          <a:spcPts val="0"/>
                        </a:spcAft>
                        <a:buNone/>
                      </a:pPr>
                      <a:r>
                        <a:rPr sz="1250" b="0">
                          <a:solidFill>
                            <a:srgbClr val="202B38"/>
                          </a:solidFill>
                          <a:latin typeface="Arial"/>
                        </a:rPr>
                        <a:t>Results flow up only; no lateral talk</a:t>
                      </a:r>
                    </a:p>
                  </a:txBody>
                  <a:tcPr>
                    <a:solidFill>
                      <a:srgbClr val="EEF3FD"/>
                    </a:solidFill>
                  </a:tcPr>
                </a:tc>
                <a:tc>
                  <a:txBody>
                    <a:bodyPr wrap="square"/>
                    <a:lstStyle/>
                    <a:p>
                      <a:pPr algn="l">
                        <a:spcAft>
                          <a:spcPts val="0"/>
                        </a:spcAft>
                        <a:buNone/>
                      </a:pPr>
                      <a:r>
                        <a:rPr sz="1250" b="0">
                          <a:solidFill>
                            <a:srgbClr val="202B38"/>
                          </a:solidFill>
                          <a:latin typeface="Arial"/>
                        </a:rPr>
                        <a:t>Direct messages between teammates; a shared board</a:t>
                      </a:r>
                    </a:p>
                  </a:txBody>
                  <a:tcPr>
                    <a:solidFill>
                      <a:srgbClr val="EEF3FD"/>
                    </a:solidFill>
                  </a:tcPr>
                </a:tc>
                <a:tc>
                  <a:txBody>
                    <a:bodyPr wrap="square"/>
                    <a:lstStyle/>
                    <a:p>
                      <a:pPr algn="l">
                        <a:spcAft>
                          <a:spcPts val="0"/>
                        </a:spcAft>
                        <a:buNone/>
                      </a:pPr>
                      <a:r>
                        <a:rPr sz="1250" b="0">
                          <a:solidFill>
                            <a:srgbClr val="202B38"/>
                          </a:solidFill>
                          <a:latin typeface="Arial"/>
                        </a:rPr>
                        <a:t>The whole conversation moves, once</a:t>
                      </a:r>
                    </a:p>
                  </a:txBody>
                  <a:tcPr>
                    <a:solidFill>
                      <a:srgbClr val="EEF3FD"/>
                    </a:solidFill>
                  </a:tcPr>
                </a:tc>
              </a:tr>
              <a:tr h="457200">
                <a:tc>
                  <a:txBody>
                    <a:bodyPr wrap="square"/>
                    <a:lstStyle/>
                    <a:p>
                      <a:pPr algn="l">
                        <a:spcAft>
                          <a:spcPts val="0"/>
                        </a:spcAft>
                        <a:buNone/>
                      </a:pPr>
                      <a:r>
                        <a:rPr sz="1250" b="0">
                          <a:solidFill>
                            <a:srgbClr val="202B38"/>
                          </a:solidFill>
                          <a:latin typeface="Arial"/>
                        </a:rPr>
                        <a:t>Who decides</a:t>
                      </a:r>
                    </a:p>
                  </a:txBody>
                  <a:tcPr>
                    <a:solidFill>
                      <a:srgbClr val="FFFFFF"/>
                    </a:solidFill>
                  </a:tcPr>
                </a:tc>
                <a:tc>
                  <a:txBody>
                    <a:bodyPr wrap="square"/>
                    <a:lstStyle/>
                    <a:p>
                      <a:pPr algn="l">
                        <a:spcAft>
                          <a:spcPts val="0"/>
                        </a:spcAft>
                        <a:buNone/>
                      </a:pPr>
                      <a:r>
                        <a:rPr sz="1250" b="0">
                          <a:solidFill>
                            <a:srgbClr val="202B38"/>
                          </a:solidFill>
                          <a:latin typeface="Arial"/>
                        </a:rPr>
                        <a:t>The lead assigns and synthesizes</a:t>
                      </a:r>
                    </a:p>
                  </a:txBody>
                  <a:tcPr>
                    <a:solidFill>
                      <a:srgbClr val="FFFFFF"/>
                    </a:solidFill>
                  </a:tcPr>
                </a:tc>
                <a:tc>
                  <a:txBody>
                    <a:bodyPr wrap="square"/>
                    <a:lstStyle/>
                    <a:p>
                      <a:pPr algn="l">
                        <a:spcAft>
                          <a:spcPts val="0"/>
                        </a:spcAft>
                        <a:buNone/>
                      </a:pPr>
                      <a:r>
                        <a:rPr sz="1250" b="0">
                          <a:solidFill>
                            <a:srgbClr val="202B38"/>
                          </a:solidFill>
                          <a:latin typeface="Arial"/>
                        </a:rPr>
                        <a:t>The lead assigns; teammates claim and coordinate</a:t>
                      </a:r>
                    </a:p>
                  </a:txBody>
                  <a:tcPr>
                    <a:solidFill>
                      <a:srgbClr val="FFFFFF"/>
                    </a:solidFill>
                  </a:tcPr>
                </a:tc>
                <a:tc>
                  <a:txBody>
                    <a:bodyPr wrap="square"/>
                    <a:lstStyle/>
                    <a:p>
                      <a:pPr algn="l">
                        <a:spcAft>
                          <a:spcPts val="0"/>
                        </a:spcAft>
                        <a:buNone/>
                      </a:pPr>
                      <a:r>
                        <a:rPr sz="1250" b="0">
                          <a:solidFill>
                            <a:srgbClr val="202B38"/>
                          </a:solidFill>
                          <a:latin typeface="Arial"/>
                        </a:rPr>
                        <a:t>The current agent picks the next one</a:t>
                      </a:r>
                    </a:p>
                  </a:txBody>
                  <a:tcPr>
                    <a:solidFill>
                      <a:srgbClr val="FFFFFF"/>
                    </a:solidFill>
                  </a:tcPr>
                </a:tc>
              </a:tr>
              <a:tr h="457200">
                <a:tc>
                  <a:txBody>
                    <a:bodyPr wrap="square"/>
                    <a:lstStyle/>
                    <a:p>
                      <a:pPr algn="l">
                        <a:spcAft>
                          <a:spcPts val="0"/>
                        </a:spcAft>
                        <a:buNone/>
                      </a:pPr>
                      <a:r>
                        <a:rPr sz="1250" b="0">
                          <a:solidFill>
                            <a:srgbClr val="202B38"/>
                          </a:solidFill>
                          <a:latin typeface="Arial"/>
                        </a:rPr>
                        <a:t>Context</a:t>
                      </a:r>
                    </a:p>
                  </a:txBody>
                  <a:tcPr>
                    <a:solidFill>
                      <a:srgbClr val="EEF3FD"/>
                    </a:solidFill>
                  </a:tcPr>
                </a:tc>
                <a:tc>
                  <a:txBody>
                    <a:bodyPr wrap="square"/>
                    <a:lstStyle/>
                    <a:p>
                      <a:pPr algn="l">
                        <a:spcAft>
                          <a:spcPts val="0"/>
                        </a:spcAft>
                        <a:buNone/>
                      </a:pPr>
                      <a:r>
                        <a:rPr sz="1250" b="0">
                          <a:solidFill>
                            <a:srgbClr val="202B38"/>
                          </a:solidFill>
                          <a:latin typeface="Arial"/>
                        </a:rPr>
                        <a:t>Each worker has its own clean window</a:t>
                      </a:r>
                    </a:p>
                  </a:txBody>
                  <a:tcPr>
                    <a:solidFill>
                      <a:srgbClr val="EEF3FD"/>
                    </a:solidFill>
                  </a:tcPr>
                </a:tc>
                <a:tc>
                  <a:txBody>
                    <a:bodyPr wrap="square"/>
                    <a:lstStyle/>
                    <a:p>
                      <a:pPr algn="l">
                        <a:spcAft>
                          <a:spcPts val="0"/>
                        </a:spcAft>
                        <a:buNone/>
                      </a:pPr>
                      <a:r>
                        <a:rPr sz="1250" b="0">
                          <a:solidFill>
                            <a:srgbClr val="202B38"/>
                          </a:solidFill>
                          <a:latin typeface="Arial"/>
                        </a:rPr>
                        <a:t>Each teammate has its own window; the board is shared</a:t>
                      </a:r>
                    </a:p>
                  </a:txBody>
                  <a:tcPr>
                    <a:solidFill>
                      <a:srgbClr val="EEF3FD"/>
                    </a:solidFill>
                  </a:tcPr>
                </a:tc>
                <a:tc>
                  <a:txBody>
                    <a:bodyPr wrap="square"/>
                    <a:lstStyle/>
                    <a:p>
                      <a:pPr algn="l">
                        <a:spcAft>
                          <a:spcPts val="0"/>
                        </a:spcAft>
                        <a:buNone/>
                      </a:pPr>
                      <a:r>
                        <a:rPr sz="1250" b="0">
                          <a:solidFill>
                            <a:srgbClr val="202B38"/>
                          </a:solidFill>
                          <a:latin typeface="Arial"/>
                        </a:rPr>
                        <a:t>The receiver inherits the full history</a:t>
                      </a:r>
                    </a:p>
                  </a:txBody>
                  <a:tcPr>
                    <a:solidFill>
                      <a:srgbClr val="EEF3FD"/>
                    </a:solidFill>
                  </a:tcPr>
                </a:tc>
              </a:tr>
              <a:tr h="457200">
                <a:tc>
                  <a:txBody>
                    <a:bodyPr wrap="square"/>
                    <a:lstStyle/>
                    <a:p>
                      <a:pPr algn="l">
                        <a:spcAft>
                          <a:spcPts val="0"/>
                        </a:spcAft>
                        <a:buNone/>
                      </a:pPr>
                      <a:r>
                        <a:rPr sz="1250" b="0">
                          <a:solidFill>
                            <a:srgbClr val="202B38"/>
                          </a:solidFill>
                          <a:latin typeface="Arial"/>
                        </a:rPr>
                        <a:t>When to use</a:t>
                      </a:r>
                    </a:p>
                  </a:txBody>
                  <a:tcPr>
                    <a:solidFill>
                      <a:srgbClr val="FFFFFF"/>
                    </a:solidFill>
                  </a:tcPr>
                </a:tc>
                <a:tc>
                  <a:txBody>
                    <a:bodyPr wrap="square"/>
                    <a:lstStyle/>
                    <a:p>
                      <a:pPr algn="l">
                        <a:spcAft>
                          <a:spcPts val="0"/>
                        </a:spcAft>
                        <a:buNone/>
                      </a:pPr>
                      <a:r>
                        <a:rPr sz="1250" b="0">
                          <a:solidFill>
                            <a:srgbClr val="202B38"/>
                          </a:solidFill>
                          <a:latin typeface="Arial"/>
                        </a:rPr>
                        <a:t>Isolation: research, review, long reads</a:t>
                      </a:r>
                    </a:p>
                  </a:txBody>
                  <a:tcPr>
                    <a:solidFill>
                      <a:srgbClr val="FFFFFF"/>
                    </a:solidFill>
                  </a:tcPr>
                </a:tc>
                <a:tc>
                  <a:txBody>
                    <a:bodyPr wrap="square"/>
                    <a:lstStyle/>
                    <a:p>
                      <a:pPr algn="l">
                        <a:spcAft>
                          <a:spcPts val="0"/>
                        </a:spcAft>
                        <a:buNone/>
                      </a:pPr>
                      <a:r>
                        <a:rPr sz="1250" b="0">
                          <a:solidFill>
                            <a:srgbClr val="202B38"/>
                          </a:solidFill>
                          <a:latin typeface="Arial"/>
                        </a:rPr>
                        <a:t>Parallel work on many independent tasks</a:t>
                      </a:r>
                    </a:p>
                  </a:txBody>
                  <a:tcPr>
                    <a:solidFill>
                      <a:srgbClr val="FFFFFF"/>
                    </a:solidFill>
                  </a:tcPr>
                </a:tc>
                <a:tc>
                  <a:txBody>
                    <a:bodyPr wrap="square"/>
                    <a:lstStyle/>
                    <a:p>
                      <a:pPr algn="l">
                        <a:spcAft>
                          <a:spcPts val="0"/>
                        </a:spcAft>
                        <a:buNone/>
                      </a:pPr>
                      <a:r>
                        <a:rPr sz="1250" b="0">
                          <a:solidFill>
                            <a:srgbClr val="202B38"/>
                          </a:solidFill>
                          <a:latin typeface="Arial"/>
                        </a:rPr>
                        <a:t>Specialists: triage to billing, research to calculator</a:t>
                      </a:r>
                    </a:p>
                  </a:txBody>
                  <a:tcPr>
                    <a:solidFill>
                      <a:srgbClr val="FFFFFF"/>
                    </a:solidFill>
                  </a:tcPr>
                </a:tc>
              </a:tr>
              <a:tr h="457200">
                <a:tc>
                  <a:txBody>
                    <a:bodyPr wrap="square"/>
                    <a:lstStyle/>
                    <a:p>
                      <a:pPr algn="l">
                        <a:spcAft>
                          <a:spcPts val="0"/>
                        </a:spcAft>
                        <a:buNone/>
                      </a:pPr>
                      <a:r>
                        <a:rPr sz="1250" b="0">
                          <a:solidFill>
                            <a:srgbClr val="202B38"/>
                          </a:solidFill>
                          <a:latin typeface="Arial"/>
                        </a:rPr>
                        <a:t>Source</a:t>
                      </a:r>
                    </a:p>
                  </a:txBody>
                  <a:tcPr>
                    <a:solidFill>
                      <a:srgbClr val="EEF3FD"/>
                    </a:solidFill>
                  </a:tcPr>
                </a:tc>
                <a:tc>
                  <a:txBody>
                    <a:bodyPr wrap="square"/>
                    <a:lstStyle/>
                    <a:p>
                      <a:pPr algn="l">
                        <a:spcAft>
                          <a:spcPts val="0"/>
                        </a:spcAft>
                        <a:buNone/>
                      </a:pPr>
                      <a:r>
                        <a:rPr sz="1250" b="0">
                          <a:solidFill>
                            <a:srgbClr val="202B38"/>
                          </a:solidFill>
                          <a:latin typeface="Arial"/>
                        </a:rPr>
                        <a:t>Claude Code sub-agents, GA 2025</a:t>
                      </a:r>
                    </a:p>
                  </a:txBody>
                  <a:tcPr>
                    <a:solidFill>
                      <a:srgbClr val="EEF3FD"/>
                    </a:solidFill>
                  </a:tcPr>
                </a:tc>
                <a:tc>
                  <a:txBody>
                    <a:bodyPr wrap="square"/>
                    <a:lstStyle/>
                    <a:p>
                      <a:pPr algn="l">
                        <a:spcAft>
                          <a:spcPts val="0"/>
                        </a:spcAft>
                        <a:buNone/>
                      </a:pPr>
                      <a:r>
                        <a:rPr sz="1250" b="0">
                          <a:solidFill>
                            <a:srgbClr val="202B38"/>
                          </a:solidFill>
                          <a:latin typeface="Arial"/>
                        </a:rPr>
                        <a:t>Claude Code agent teams, Feb 2026</a:t>
                      </a:r>
                    </a:p>
                  </a:txBody>
                  <a:tcPr>
                    <a:solidFill>
                      <a:srgbClr val="EEF3FD"/>
                    </a:solidFill>
                  </a:tcPr>
                </a:tc>
                <a:tc>
                  <a:txBody>
                    <a:bodyPr wrap="square"/>
                    <a:lstStyle/>
                    <a:p>
                      <a:pPr algn="l">
                        <a:spcAft>
                          <a:spcPts val="0"/>
                        </a:spcAft>
                        <a:buNone/>
                      </a:pPr>
                      <a:r>
                        <a:rPr sz="1250" b="0">
                          <a:solidFill>
                            <a:srgbClr val="202B38"/>
                          </a:solidFill>
                          <a:latin typeface="Arial"/>
                        </a:rPr>
                        <a:t>OpenAI, Apr 2025: the decentralized pattern</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OpenAI's manager pattern = sub-agents used as tools; its decentralized pattern =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Who orchestrates: your code, or the lead model?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code: the orchestrator-workers pattern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A planner agent splits the task; code loops over the sub-tasks</a:t>
            </a:r>
          </a:p>
          <a:p>
            <a:pPr algn="l" indent="-228600" marL="228600">
              <a:spcAft>
                <a:spcPts val="600"/>
              </a:spcAft>
              <a:buClr>
                <a:srgbClr val="1E5EF3"/>
              </a:buClr>
              <a:buChar char="—"/>
            </a:pPr>
            <a:r>
              <a:rPr sz="1300" b="0">
                <a:solidFill>
                  <a:srgbClr val="202B38"/>
                </a:solidFill>
                <a:latin typeface="Arial"/>
              </a:rPr>
              <a:t>Code starts one worker per sub-task, in a thread pool, and collects the results</a:t>
            </a:r>
          </a:p>
          <a:p>
            <a:pPr algn="l" indent="-228600" marL="228600">
              <a:spcAft>
                <a:spcPts val="600"/>
              </a:spcAft>
              <a:buClr>
                <a:srgbClr val="1E5EF3"/>
              </a:buClr>
              <a:buChar char="—"/>
            </a:pPr>
            <a:r>
              <a:rPr sz="1300" b="0">
                <a:solidFill>
                  <a:srgbClr val="202B38"/>
                </a:solidFill>
                <a:latin typeface="Arial"/>
              </a:rPr>
              <a:t>A synthesizer agent writes the final answer</a:t>
            </a:r>
          </a:p>
          <a:p>
            <a:pPr algn="l" indent="-228600" marL="228600">
              <a:spcAft>
                <a:spcPts val="600"/>
              </a:spcAft>
              <a:buClr>
                <a:srgbClr val="1E5EF3"/>
              </a:buClr>
              <a:buChar char="—"/>
            </a:pPr>
            <a:r>
              <a:rPr sz="1300" b="0">
                <a:solidFill>
                  <a:srgbClr val="202B38"/>
                </a:solidFill>
                <a:latin typeface="Arial"/>
              </a:rPr>
              <a:t>You see and test every step; the structure cannot drift</a:t>
            </a:r>
          </a:p>
          <a:p>
            <a:pPr algn="l" indent="-228600" marL="228600">
              <a:spcAft>
                <a:spcPts val="600"/>
              </a:spcAft>
              <a:buClr>
                <a:srgbClr val="1E5EF3"/>
              </a:buClr>
              <a:buChar char="—"/>
            </a:pPr>
            <a:r>
              <a:rPr sz="1300" b="0">
                <a:solidFill>
                  <a:srgbClr val="202B38"/>
                </a:solidFill>
                <a:latin typeface="Arial"/>
              </a:rPr>
              <a:t>Use when the shape of the work is known: split, solve, merge</a:t>
            </a:r>
          </a:p>
          <a:p>
            <a:pPr algn="l" indent="-228600" marL="228600">
              <a:spcAft>
                <a:spcPts val="600"/>
              </a:spcAft>
              <a:buClr>
                <a:srgbClr val="1E5EF3"/>
              </a:buClr>
              <a:buChar char="—"/>
            </a:pPr>
            <a:r>
              <a:rPr sz="1300" b="0">
                <a:solidFill>
                  <a:srgbClr val="202B38"/>
                </a:solidFill>
                <a:latin typeface="Arial"/>
              </a:rPr>
              <a:t>Notebook 04: 4 sub-questions, workers in parallel in 6.0 s, 0.0415 USD in all</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a model decision: a delegate tool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The lead has one tool, delegate(task), that starts a fresh worker Agent</a:t>
            </a:r>
          </a:p>
          <a:p>
            <a:pPr algn="l" indent="-228600" marL="228600">
              <a:spcAft>
                <a:spcPts val="600"/>
              </a:spcAft>
              <a:buClr>
                <a:srgbClr val="1E5EF3"/>
              </a:buClr>
              <a:buChar char="—"/>
            </a:pPr>
            <a:r>
              <a:rPr sz="1300" b="0">
                <a:solidFill>
                  <a:srgbClr val="202B38"/>
                </a:solidFill>
                <a:latin typeface="Arial"/>
              </a:rPr>
              <a:t>The model decides when, how many, and with what brief</a:t>
            </a:r>
          </a:p>
          <a:p>
            <a:pPr algn="l" indent="-228600" marL="228600">
              <a:spcAft>
                <a:spcPts val="600"/>
              </a:spcAft>
              <a:buClr>
                <a:srgbClr val="1E5EF3"/>
              </a:buClr>
              <a:buChar char="—"/>
            </a:pPr>
            <a:r>
              <a:rPr sz="1300" b="0">
                <a:solidFill>
                  <a:srgbClr val="202B38"/>
                </a:solidFill>
                <a:latin typeface="Arial"/>
              </a:rPr>
              <a:t>Flexible: it can delegate twice, or not at all</a:t>
            </a:r>
          </a:p>
          <a:p>
            <a:pPr algn="l" indent="-228600" marL="228600">
              <a:spcAft>
                <a:spcPts val="600"/>
              </a:spcAft>
              <a:buClr>
                <a:srgbClr val="1E5EF3"/>
              </a:buClr>
              <a:buChar char="—"/>
            </a:pPr>
            <a:r>
              <a:rPr sz="1300" b="0">
                <a:solidFill>
                  <a:srgbClr val="202B38"/>
                </a:solidFill>
                <a:latin typeface="Arial"/>
              </a:rPr>
              <a:t>Harder to test; needs max_turns and a token budget</a:t>
            </a:r>
          </a:p>
          <a:p>
            <a:pPr algn="l" indent="-228600" marL="228600">
              <a:spcAft>
                <a:spcPts val="600"/>
              </a:spcAft>
              <a:buClr>
                <a:srgbClr val="1E5EF3"/>
              </a:buClr>
              <a:buChar char="—"/>
            </a:pPr>
            <a:r>
              <a:rPr sz="1300" b="0">
                <a:solidFill>
                  <a:srgbClr val="202B38"/>
                </a:solidFill>
                <a:latin typeface="Arial"/>
              </a:rPr>
              <a:t>Use when the sub-tasks only appear as you go</a:t>
            </a:r>
          </a:p>
          <a:p>
            <a:pPr algn="l" indent="-228600" marL="228600">
              <a:spcAft>
                <a:spcPts val="600"/>
              </a:spcAft>
              <a:buClr>
                <a:srgbClr val="1E5EF3"/>
              </a:buClr>
              <a:buChar char="—"/>
            </a:pPr>
            <a:r>
              <a:rPr sz="1300" b="0">
                <a:solidFill>
                  <a:srgbClr val="202B38"/>
                </a:solidFill>
                <a:latin typeface="Arial"/>
              </a:rPr>
              <a:t>Notebook 04: 3 sub-questions, delegations run one after another, 0.0444 USD in all</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Both run in notebook 04 on the same compound question about the repository: planner and synthesizer as harness Agents (the planner with a JSON-schema output), delegate as an @tool that starts a worker Agent. Anthropic, Building effective agents, Dec 2024.</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FAILURE MODES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Six ways multi-agent systems fail - and the guard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2218334"/>
                <a:gridCol w="4638335"/>
                <a:gridCol w="4235002"/>
              </a:tblGrid>
              <a:tr h="457200">
                <a:tc>
                  <a:txBody>
                    <a:bodyPr wrap="square"/>
                    <a:lstStyle/>
                    <a:p>
                      <a:pPr algn="l">
                        <a:spcAft>
                          <a:spcPts val="0"/>
                        </a:spcAft>
                        <a:buNone/>
                      </a:pPr>
                      <a:r>
                        <a:rPr sz="1300" b="1">
                          <a:solidFill>
                            <a:srgbClr val="FFFFFF"/>
                          </a:solidFill>
                          <a:latin typeface="Arial"/>
                        </a:rPr>
                        <a:t>Failure mode</a:t>
                      </a:r>
                    </a:p>
                  </a:txBody>
                  <a:tcPr>
                    <a:solidFill>
                      <a:srgbClr val="0A2540"/>
                    </a:solidFill>
                  </a:tcPr>
                </a:tc>
                <a:tc>
                  <a:txBody>
                    <a:bodyPr wrap="square"/>
                    <a:lstStyle/>
                    <a:p>
                      <a:pPr algn="l">
                        <a:spcAft>
                          <a:spcPts val="0"/>
                        </a:spcAft>
                        <a:buNone/>
                      </a:pPr>
                      <a:r>
                        <a:rPr sz="1300" b="1">
                          <a:solidFill>
                            <a:srgbClr val="FFFFFF"/>
                          </a:solidFill>
                          <a:latin typeface="Arial"/>
                        </a:rPr>
                        <a:t>What it looks like</a:t>
                      </a:r>
                    </a:p>
                  </a:txBody>
                  <a:tcPr>
                    <a:solidFill>
                      <a:srgbClr val="0A2540"/>
                    </a:solidFill>
                  </a:tcPr>
                </a:tc>
                <a:tc>
                  <a:txBody>
                    <a:bodyPr wrap="square"/>
                    <a:lstStyle/>
                    <a:p>
                      <a:pPr algn="l">
                        <a:spcAft>
                          <a:spcPts val="0"/>
                        </a:spcAft>
                        <a:buNone/>
                      </a:pPr>
                      <a:r>
                        <a:rPr sz="1300" b="1">
                          <a:solidFill>
                            <a:srgbClr val="FFFFFF"/>
                          </a:solidFill>
                          <a:latin typeface="Arial"/>
                        </a:rPr>
                        <a:t>The guard</a:t>
                      </a:r>
                    </a:p>
                  </a:txBody>
                  <a:tcPr>
                    <a:solidFill>
                      <a:srgbClr val="0A2540"/>
                    </a:solidFill>
                  </a:tcPr>
                </a:tc>
              </a:tr>
              <a:tr h="457200">
                <a:tc>
                  <a:txBody>
                    <a:bodyPr wrap="square"/>
                    <a:lstStyle/>
                    <a:p>
                      <a:pPr algn="l">
                        <a:spcAft>
                          <a:spcPts val="0"/>
                        </a:spcAft>
                        <a:buNone/>
                      </a:pPr>
                      <a:r>
                        <a:rPr sz="1250" b="0">
                          <a:solidFill>
                            <a:srgbClr val="202B38"/>
                          </a:solidFill>
                          <a:latin typeface="Arial"/>
                        </a:rPr>
                        <a:t>Context pollution</a:t>
                      </a:r>
                    </a:p>
                  </a:txBody>
                  <a:tcPr>
                    <a:solidFill>
                      <a:srgbClr val="FFFFFF"/>
                    </a:solidFill>
                  </a:tcPr>
                </a:tc>
                <a:tc>
                  <a:txBody>
                    <a:bodyPr wrap="square"/>
                    <a:lstStyle/>
                    <a:p>
                      <a:pPr algn="l">
                        <a:spcAft>
                          <a:spcPts val="0"/>
                        </a:spcAft>
                        <a:buNone/>
                      </a:pPr>
                      <a:r>
                        <a:rPr sz="1250" b="0">
                          <a:solidFill>
                            <a:srgbClr val="202B38"/>
                          </a:solidFill>
                          <a:latin typeface="Arial"/>
                        </a:rPr>
                        <a:t>Sub-agent details and tool dumps flood the lead's window</a:t>
                      </a:r>
                    </a:p>
                  </a:txBody>
                  <a:tcPr>
                    <a:solidFill>
                      <a:srgbClr val="FFFFFF"/>
                    </a:solidFill>
                  </a:tcPr>
                </a:tc>
                <a:tc>
                  <a:txBody>
                    <a:bodyPr wrap="square"/>
                    <a:lstStyle/>
                    <a:p>
                      <a:pPr algn="l">
                        <a:spcAft>
                          <a:spcPts val="0"/>
                        </a:spcAft>
                        <a:buNone/>
                      </a:pPr>
                      <a:r>
                        <a:rPr sz="1250" b="0">
                          <a:solidFill>
                            <a:srgbClr val="202B38"/>
                          </a:solidFill>
                          <a:latin typeface="Arial"/>
                        </a:rPr>
                        <a:t>Isolation: summaries in, details stay out</a:t>
                      </a:r>
                    </a:p>
                  </a:txBody>
                  <a:tcPr>
                    <a:solidFill>
                      <a:srgbClr val="FFFFFF"/>
                    </a:solidFill>
                  </a:tcPr>
                </a:tc>
              </a:tr>
              <a:tr h="457200">
                <a:tc>
                  <a:txBody>
                    <a:bodyPr wrap="square"/>
                    <a:lstStyle/>
                    <a:p>
                      <a:pPr algn="l">
                        <a:spcAft>
                          <a:spcPts val="0"/>
                        </a:spcAft>
                        <a:buNone/>
                      </a:pPr>
                      <a:r>
                        <a:rPr sz="1250" b="0">
                          <a:solidFill>
                            <a:srgbClr val="202B38"/>
                          </a:solidFill>
                          <a:latin typeface="Arial"/>
                        </a:rPr>
                        <a:t>Runaway loops</a:t>
                      </a:r>
                    </a:p>
                  </a:txBody>
                  <a:tcPr>
                    <a:solidFill>
                      <a:srgbClr val="EEF3FD"/>
                    </a:solidFill>
                  </a:tcPr>
                </a:tc>
                <a:tc>
                  <a:txBody>
                    <a:bodyPr wrap="square"/>
                    <a:lstStyle/>
                    <a:p>
                      <a:pPr algn="l">
                        <a:spcAft>
                          <a:spcPts val="0"/>
                        </a:spcAft>
                        <a:buNone/>
                      </a:pPr>
                      <a:r>
                        <a:rPr sz="1250" b="0">
                          <a:solidFill>
                            <a:srgbClr val="202B38"/>
                          </a:solidFill>
                          <a:latin typeface="Arial"/>
                        </a:rPr>
                        <a:t>An open-ended task: the agent keeps listing and reading and never says done</a:t>
                      </a:r>
                    </a:p>
                  </a:txBody>
                  <a:tcPr>
                    <a:solidFill>
                      <a:srgbClr val="EEF3FD"/>
                    </a:solidFill>
                  </a:tcPr>
                </a:tc>
                <a:tc>
                  <a:txBody>
                    <a:bodyPr wrap="square"/>
                    <a:lstStyle/>
                    <a:p>
                      <a:pPr algn="l">
                        <a:spcAft>
                          <a:spcPts val="0"/>
                        </a:spcAft>
                        <a:buNone/>
                      </a:pPr>
                      <a:r>
                        <a:rPr sz="1250" b="0">
                          <a:solidFill>
                            <a:srgbClr val="202B38"/>
                          </a:solidFill>
                          <a:latin typeface="Arial"/>
                        </a:rPr>
                        <a:t>max_turns, a token budget, a validator that fails loudly</a:t>
                      </a:r>
                    </a:p>
                  </a:txBody>
                  <a:tcPr>
                    <a:solidFill>
                      <a:srgbClr val="EEF3FD"/>
                    </a:solidFill>
                  </a:tcPr>
                </a:tc>
              </a:tr>
              <a:tr h="457200">
                <a:tc>
                  <a:txBody>
                    <a:bodyPr wrap="square"/>
                    <a:lstStyle/>
                    <a:p>
                      <a:pPr algn="l">
                        <a:spcAft>
                          <a:spcPts val="0"/>
                        </a:spcAft>
                        <a:buNone/>
                      </a:pPr>
                      <a:r>
                        <a:rPr sz="1250" b="0">
                          <a:solidFill>
                            <a:srgbClr val="202B38"/>
                          </a:solidFill>
                          <a:latin typeface="Arial"/>
                        </a:rPr>
                        <a:t>Cost multiplication</a:t>
                      </a:r>
                    </a:p>
                  </a:txBody>
                  <a:tcPr>
                    <a:solidFill>
                      <a:srgbClr val="FFFFFF"/>
                    </a:solidFill>
                  </a:tcPr>
                </a:tc>
                <a:tc>
                  <a:txBody>
                    <a:bodyPr wrap="square"/>
                    <a:lstStyle/>
                    <a:p>
                      <a:pPr algn="l">
                        <a:spcAft>
                          <a:spcPts val="0"/>
                        </a:spcAft>
                        <a:buNone/>
                      </a:pPr>
                      <a:r>
                        <a:rPr sz="1250" b="0">
                          <a:solidFill>
                            <a:srgbClr val="202B38"/>
                          </a:solidFill>
                          <a:latin typeface="Arial"/>
                        </a:rPr>
                        <a:t>Multi-agent ~15x the tokens of a chat; teams multiply again</a:t>
                      </a:r>
                    </a:p>
                  </a:txBody>
                  <a:tcPr>
                    <a:solidFill>
                      <a:srgbClr val="FFFFFF"/>
                    </a:solidFill>
                  </a:tcPr>
                </a:tc>
                <a:tc>
                  <a:txBody>
                    <a:bodyPr wrap="square"/>
                    <a:lstStyle/>
                    <a:p>
                      <a:pPr algn="l">
                        <a:spcAft>
                          <a:spcPts val="0"/>
                        </a:spcAft>
                        <a:buNone/>
                      </a:pPr>
                      <a:r>
                        <a:rPr sz="1250" b="0">
                          <a:solidFill>
                            <a:srgbClr val="202B38"/>
                          </a:solidFill>
                          <a:latin typeface="Arial"/>
                        </a:rPr>
                        <a:t>Trace every run; scale the number of agents to the task</a:t>
                      </a:r>
                    </a:p>
                  </a:txBody>
                  <a:tcPr>
                    <a:solidFill>
                      <a:srgbClr val="FFFFFF"/>
                    </a:solidFill>
                  </a:tcPr>
                </a:tc>
              </a:tr>
              <a:tr h="457200">
                <a:tc>
                  <a:txBody>
                    <a:bodyPr wrap="square"/>
                    <a:lstStyle/>
                    <a:p>
                      <a:pPr algn="l">
                        <a:spcAft>
                          <a:spcPts val="0"/>
                        </a:spcAft>
                        <a:buNone/>
                      </a:pPr>
                      <a:r>
                        <a:rPr sz="1250" b="0">
                          <a:solidFill>
                            <a:srgbClr val="202B38"/>
                          </a:solidFill>
                          <a:latin typeface="Arial"/>
                        </a:rPr>
                        <a:t>Too many handoffs</a:t>
                      </a:r>
                    </a:p>
                  </a:txBody>
                  <a:tcPr>
                    <a:solidFill>
                      <a:srgbClr val="EEF3FD"/>
                    </a:solidFill>
                  </a:tcPr>
                </a:tc>
                <a:tc>
                  <a:txBody>
                    <a:bodyPr wrap="square"/>
                    <a:lstStyle/>
                    <a:p>
                      <a:pPr algn="l">
                        <a:spcAft>
                          <a:spcPts val="0"/>
                        </a:spcAft>
                        <a:buNone/>
                      </a:pPr>
                      <a:r>
                        <a:rPr sz="1250" b="0">
                          <a:solidFill>
                            <a:srgbClr val="202B38"/>
                          </a:solidFill>
                          <a:latin typeface="Arial"/>
                        </a:rPr>
                        <a:t>Problems needing more than four handoffs almost always failed</a:t>
                      </a:r>
                    </a:p>
                  </a:txBody>
                  <a:tcPr>
                    <a:solidFill>
                      <a:srgbClr val="EEF3FD"/>
                    </a:solidFill>
                  </a:tcPr>
                </a:tc>
                <a:tc>
                  <a:txBody>
                    <a:bodyPr wrap="square"/>
                    <a:lstStyle/>
                    <a:p>
                      <a:pPr algn="l">
                        <a:spcAft>
                          <a:spcPts val="0"/>
                        </a:spcAft>
                        <a:buNone/>
                      </a:pPr>
                      <a:r>
                        <a:rPr sz="1250" b="0">
                          <a:solidFill>
                            <a:srgbClr val="202B38"/>
                          </a:solidFill>
                          <a:latin typeface="Arial"/>
                        </a:rPr>
                        <a:t>Fewer, clearer specialists; a router instead of a chain</a:t>
                      </a:r>
                    </a:p>
                  </a:txBody>
                  <a:tcPr>
                    <a:solidFill>
                      <a:srgbClr val="EEF3FD"/>
                    </a:solidFill>
                  </a:tcPr>
                </a:tc>
              </a:tr>
              <a:tr h="457200">
                <a:tc>
                  <a:txBody>
                    <a:bodyPr wrap="square"/>
                    <a:lstStyle/>
                    <a:p>
                      <a:pPr algn="l">
                        <a:spcAft>
                          <a:spcPts val="0"/>
                        </a:spcAft>
                        <a:buNone/>
                      </a:pPr>
                      <a:r>
                        <a:rPr sz="1250" b="0">
                          <a:solidFill>
                            <a:srgbClr val="202B38"/>
                          </a:solidFill>
                          <a:latin typeface="Arial"/>
                        </a:rPr>
                        <a:t>The extra reviewer</a:t>
                      </a:r>
                    </a:p>
                  </a:txBody>
                  <a:tcPr>
                    <a:solidFill>
                      <a:srgbClr val="FFFFFF"/>
                    </a:solidFill>
                  </a:tcPr>
                </a:tc>
                <a:tc>
                  <a:txBody>
                    <a:bodyPr wrap="square"/>
                    <a:lstStyle/>
                    <a:p>
                      <a:pPr algn="l">
                        <a:spcAft>
                          <a:spcPts val="0"/>
                        </a:spcAft>
                        <a:buNone/>
                      </a:pPr>
                      <a:r>
                        <a:rPr sz="1250" b="0">
                          <a:solidFill>
                            <a:srgbClr val="202B38"/>
                          </a:solidFill>
                          <a:latin typeface="Arial"/>
                        </a:rPr>
                        <a:t>Adding a reviewer agent lowered success by 8%</a:t>
                      </a:r>
                    </a:p>
                  </a:txBody>
                  <a:tcPr>
                    <a:solidFill>
                      <a:srgbClr val="FFFFFF"/>
                    </a:solidFill>
                  </a:tcPr>
                </a:tc>
                <a:tc>
                  <a:txBody>
                    <a:bodyPr wrap="square"/>
                    <a:lstStyle/>
                    <a:p>
                      <a:pPr algn="l">
                        <a:spcAft>
                          <a:spcPts val="0"/>
                        </a:spcAft>
                        <a:buNone/>
                      </a:pPr>
                      <a:r>
                        <a:rPr sz="1250" b="0">
                          <a:solidFill>
                            <a:srgbClr val="202B38"/>
                          </a:solidFill>
                          <a:latin typeface="Arial"/>
                        </a:rPr>
                        <a:t>Evals before adding an agent; more agents is not more quality</a:t>
                      </a:r>
                    </a:p>
                  </a:txBody>
                  <a:tcPr>
                    <a:solidFill>
                      <a:srgbClr val="FFFFFF"/>
                    </a:solidFill>
                  </a:tcPr>
                </a:tc>
              </a:tr>
              <a:tr h="457200">
                <a:tc>
                  <a:txBody>
                    <a:bodyPr wrap="square"/>
                    <a:lstStyle/>
                    <a:p>
                      <a:pPr algn="l">
                        <a:spcAft>
                          <a:spcPts val="0"/>
                        </a:spcAft>
                        <a:buNone/>
                      </a:pPr>
                      <a:r>
                        <a:rPr sz="1250" b="0">
                          <a:solidFill>
                            <a:srgbClr val="202B38"/>
                          </a:solidFill>
                          <a:latin typeface="Arial"/>
                        </a:rPr>
                        <a:t>Unbounded delegation</a:t>
                      </a:r>
                    </a:p>
                  </a:txBody>
                  <a:tcPr>
                    <a:solidFill>
                      <a:srgbClr val="EEF3FD"/>
                    </a:solidFill>
                  </a:tcPr>
                </a:tc>
                <a:tc>
                  <a:txBody>
                    <a:bodyPr wrap="square"/>
                    <a:lstStyle/>
                    <a:p>
                      <a:pPr algn="l">
                        <a:spcAft>
                          <a:spcPts val="0"/>
                        </a:spcAft>
                        <a:buNone/>
                      </a:pPr>
                      <a:r>
                        <a:rPr sz="1250" b="0">
                          <a:solidFill>
                            <a:srgbClr val="202B38"/>
                          </a:solidFill>
                          <a:latin typeface="Arial"/>
                        </a:rPr>
                        <a:t>The lead keeps spawning sub-agents until the budget is gone</a:t>
                      </a:r>
                    </a:p>
                  </a:txBody>
                  <a:tcPr>
                    <a:solidFill>
                      <a:srgbClr val="EEF3FD"/>
                    </a:solidFill>
                  </a:tcPr>
                </a:tc>
                <a:tc>
                  <a:txBody>
                    <a:bodyPr wrap="square"/>
                    <a:lstStyle/>
                    <a:p>
                      <a:pPr algn="l">
                        <a:spcAft>
                          <a:spcPts val="0"/>
                        </a:spcAft>
                        <a:buNone/>
                      </a:pPr>
                      <a:r>
                        <a:rPr sz="1250" b="0">
                          <a:solidFill>
                            <a:srgbClr val="202B38"/>
                          </a:solidFill>
                          <a:latin typeface="Arial"/>
                        </a:rPr>
                        <a:t>A before_tool hook caps delegations at two; told about the cap, the lead planned two workers and still answered all three parts (notebook 04, exercise 1)</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Handoffs and reviewer findings: Marmelab, The State of AI Harness Engineering 2026, Sep 2026. 15x tokens: Anthropic, Jun 2025. Delegation cap: notebook 04 exercise 1, recorded run: 2 workers started, 0 denied, 0.0424 USD.</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HARNESS ENGINEERING AS A DISCIPLINE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discipline: six things every harness needs, few have them</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checklist</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Instruction files in the repo (CLAUDE.md, AGENTS.md): what the agent must know</a:t>
            </a:r>
          </a:p>
          <a:p>
            <a:pPr algn="l" indent="-228600" marL="228600">
              <a:spcAft>
                <a:spcPts val="600"/>
              </a:spcAft>
              <a:buClr>
                <a:srgbClr val="1E5EF3"/>
              </a:buClr>
              <a:buChar char="—"/>
            </a:pPr>
            <a:r>
              <a:rPr sz="1300" b="0">
                <a:solidFill>
                  <a:srgbClr val="202B38"/>
                </a:solidFill>
                <a:latin typeface="Arial"/>
              </a:rPr>
              <a:t>Executable guards: linters, structural tests, hooks - rules the agent cannot skip</a:t>
            </a:r>
          </a:p>
          <a:p>
            <a:pPr algn="l" indent="-228600" marL="228600">
              <a:spcAft>
                <a:spcPts val="600"/>
              </a:spcAft>
              <a:buClr>
                <a:srgbClr val="1E5EF3"/>
              </a:buClr>
              <a:buChar char="—"/>
            </a:pPr>
            <a:r>
              <a:rPr sz="1300" b="0">
                <a:solidFill>
                  <a:srgbClr val="202B38"/>
                </a:solidFill>
                <a:latin typeface="Arial"/>
              </a:rPr>
              <a:t>Permission design: a risk level per tool; deny danger by default</a:t>
            </a:r>
          </a:p>
          <a:p>
            <a:pPr algn="l" indent="-228600" marL="228600">
              <a:spcAft>
                <a:spcPts val="600"/>
              </a:spcAft>
              <a:buClr>
                <a:srgbClr val="1E5EF3"/>
              </a:buClr>
              <a:buChar char="—"/>
            </a:pPr>
            <a:r>
              <a:rPr sz="1300" b="0">
                <a:solidFill>
                  <a:srgbClr val="202B38"/>
                </a:solidFill>
                <a:latin typeface="Arial"/>
              </a:rPr>
              <a:t>Evals in CI: a suite with a pass rate, re-run on every change</a:t>
            </a:r>
          </a:p>
          <a:p>
            <a:pPr algn="l" indent="-228600" marL="228600">
              <a:spcAft>
                <a:spcPts val="600"/>
              </a:spcAft>
              <a:buClr>
                <a:srgbClr val="1E5EF3"/>
              </a:buClr>
              <a:buChar char="—"/>
            </a:pPr>
            <a:r>
              <a:rPr sz="1300" b="0">
                <a:solidFill>
                  <a:srgbClr val="202B38"/>
                </a:solidFill>
                <a:latin typeface="Arial"/>
              </a:rPr>
              <a:t>Observability: a trace of every call, token and second</a:t>
            </a:r>
          </a:p>
          <a:p>
            <a:pPr algn="l" indent="-228600" marL="228600">
              <a:spcAft>
                <a:spcPts val="600"/>
              </a:spcAft>
              <a:buClr>
                <a:srgbClr val="1E5EF3"/>
              </a:buClr>
              <a:buChar char="—"/>
            </a:pPr>
            <a:r>
              <a:rPr sz="1300" b="0">
                <a:solidFill>
                  <a:srgbClr val="202B38"/>
                </a:solidFill>
                <a:latin typeface="Arial"/>
              </a:rPr>
              <a:t>Cost budgets: max turns, token caps, alarms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field in 2026</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63% of large projects ship instruction files; only a handful enforce them</a:t>
            </a:r>
          </a:p>
          <a:p>
            <a:pPr algn="l" indent="-228600" marL="228600">
              <a:spcAft>
                <a:spcPts val="600"/>
              </a:spcAft>
              <a:buClr>
                <a:srgbClr val="1E5EF3"/>
              </a:buClr>
              <a:buChar char="—"/>
            </a:pPr>
            <a:r>
              <a:rPr sz="1300" b="0">
                <a:solidFill>
                  <a:srgbClr val="202B38"/>
                </a:solidFill>
                <a:latin typeface="Arial"/>
              </a:rPr>
              <a:t>4.4% of security rules are backed by a real control</a:t>
            </a:r>
          </a:p>
          <a:p>
            <a:pPr algn="l" indent="-228600" marL="228600">
              <a:spcAft>
                <a:spcPts val="600"/>
              </a:spcAft>
              <a:buClr>
                <a:srgbClr val="1E5EF3"/>
              </a:buClr>
              <a:buChar char="—"/>
            </a:pPr>
            <a:r>
              <a:rPr sz="1300" b="0">
                <a:solidFill>
                  <a:srgbClr val="202B38"/>
                </a:solidFill>
                <a:latin typeface="Arial"/>
              </a:rPr>
              <a:t>60% of harnesses have no tests or evals</a:t>
            </a:r>
          </a:p>
          <a:p>
            <a:pPr algn="l" indent="-228600" marL="228600">
              <a:spcAft>
                <a:spcPts val="600"/>
              </a:spcAft>
              <a:buClr>
                <a:srgbClr val="1E5EF3"/>
              </a:buClr>
              <a:buChar char="—"/>
            </a:pPr>
            <a:r>
              <a:rPr sz="1300" b="0">
                <a:solidFill>
                  <a:srgbClr val="202B38"/>
                </a:solidFill>
                <a:latin typeface="Arial"/>
              </a:rPr>
              <a:t>93% of permission prompts get approved</a:t>
            </a:r>
          </a:p>
          <a:p>
            <a:pPr algn="l" indent="-228600" marL="228600">
              <a:spcAft>
                <a:spcPts val="600"/>
              </a:spcAft>
              <a:buClr>
                <a:srgbClr val="1E5EF3"/>
              </a:buClr>
              <a:buChar char="—"/>
            </a:pPr>
            <a:r>
              <a:rPr sz="1300" b="0">
                <a:solidFill>
                  <a:srgbClr val="202B38"/>
                </a:solidFill>
                <a:latin typeface="Arial"/>
              </a:rPr>
              <a:t>Eleven harnesses studied: 'hand-rolled async loops and deterministic retrieval'</a:t>
            </a:r>
          </a:p>
          <a:p>
            <a:pPr algn="l" indent="-228600" marL="228600">
              <a:spcAft>
                <a:spcPts val="600"/>
              </a:spcAft>
              <a:buClr>
                <a:srgbClr val="1E5EF3"/>
              </a:buClr>
              <a:buChar char="—"/>
            </a:pPr>
            <a:r>
              <a:rPr sz="1300" b="0">
                <a:solidFill>
                  <a:srgbClr val="202B38"/>
                </a:solidFill>
                <a:latin typeface="Arial"/>
              </a:rPr>
              <a:t>In plain words: most harnesses are cars with the brakes drawn on paper</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Marmelab, The State of AI Harness Engineering 2026, Sep 2026; Barbaste, Darrigol, Vu and Wiltberger, Harness Engineering: Anatomy, Architecture, and Evolution of Coding Agents, arXiv 2609.00006, Jul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The field runs on hand-rolled async loops and deterministic retrieval.</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Barbaste, Darrigol, Vu and Wiltberger - Harness Engineering: Anatomy, Architecture, and Evolution of Coding Agents (arXiv 2609.00006, Jul 2026), a source-code study of eleven coding-agent harnesses.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FUTURE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Where this is going: agent-first repositories and shared standards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Agent-first repositories: about one million lines in five months, zero by hand</a:t>
            </a:r>
          </a:p>
          <a:p>
            <a:pPr algn="l" indent="-228600" marL="228600">
              <a:spcAft>
                <a:spcPts val="800"/>
              </a:spcAft>
              <a:buClr>
                <a:srgbClr val="1E5EF3"/>
              </a:buClr>
              <a:buChar char="—"/>
            </a:pPr>
            <a:r>
              <a:rPr sz="1450" b="0">
                <a:solidFill>
                  <a:srgbClr val="202B38"/>
                </a:solidFill>
                <a:latin typeface="Arial"/>
              </a:rPr>
              <a:t>The repo becomes the system of record: docs, decisions and plans written for agents</a:t>
            </a:r>
          </a:p>
          <a:p>
            <a:pPr algn="l" indent="-228600" marL="228600">
              <a:spcAft>
                <a:spcPts val="800"/>
              </a:spcAft>
              <a:buClr>
                <a:srgbClr val="1E5EF3"/>
              </a:buClr>
              <a:buChar char="—"/>
            </a:pPr>
            <a:r>
              <a:rPr sz="1450" b="0">
                <a:solidFill>
                  <a:srgbClr val="202B38"/>
                </a:solidFill>
                <a:latin typeface="Arial"/>
              </a:rPr>
              <a:t>Skills are an open standard since Dec 2025; 40+ platforms load the same SKILL.md</a:t>
            </a:r>
          </a:p>
          <a:p>
            <a:pPr algn="l" indent="-228600" marL="228600">
              <a:spcAft>
                <a:spcPts val="800"/>
              </a:spcAft>
              <a:buClr>
                <a:srgbClr val="1E5EF3"/>
              </a:buClr>
              <a:buChar char="—"/>
            </a:pPr>
            <a:r>
              <a:rPr sz="1450" b="0">
                <a:solidFill>
                  <a:srgbClr val="202B38"/>
                </a:solidFill>
                <a:latin typeface="Arial"/>
              </a:rPr>
              <a:t>21,500 harness repositories created in 2026, median age 8.7 months: a young field</a:t>
            </a:r>
          </a:p>
          <a:p>
            <a:pPr algn="l" indent="-228600" marL="228600">
              <a:spcAft>
                <a:spcPts val="800"/>
              </a:spcAft>
              <a:buClr>
                <a:srgbClr val="1E5EF3"/>
              </a:buClr>
              <a:buChar char="—"/>
            </a:pPr>
            <a:r>
              <a:rPr sz="1450" b="0">
                <a:solidFill>
                  <a:srgbClr val="202B38"/>
                </a:solidFill>
                <a:latin typeface="Arial"/>
              </a:rPr>
              <a:t>The job moves from writing prompts to engineering the runtime around the model</a:t>
            </a:r>
          </a:p>
          <a:p>
            <a:pPr algn="l" indent="-228600" marL="228600">
              <a:spcAft>
                <a:spcPts val="800"/>
              </a:spcAft>
              <a:buClr>
                <a:srgbClr val="1E5EF3"/>
              </a:buClr>
              <a:buChar char="—"/>
            </a:pPr>
            <a:r>
              <a:rPr sz="1450" b="0">
                <a:solidFill>
                  <a:srgbClr val="202B38"/>
                </a:solidFill>
                <a:latin typeface="Arial"/>
              </a:rPr>
              <a:t>In plain words: the engine is bought; the car is what you build</a:t>
            </a:r>
          </a:p>
        </p:txBody>
      </p:sp>
      <p:pic>
        <p:nvPicPr>
          <p:cNvPr id="8" name="Picture 7" descr="s4_signpost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OpenAI, Harness engineering, Feb 2026; Anthropic, Agent Skills open standard, Dec 2025; Marmelab, Sep 2026; Barbaste et al., Jul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04 and lab 4</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A lead with sub-agents against a solo agent, a team of three on a six-task board, a handoff, two seatbelts on an open-ended task, the bill - then the same parts as Claude Code features.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SUB-AGENTS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Lead: 1,527 tokens of final context; solo agent: 3,985</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navy bars = one agent's own context when it finished; sky bar = the workers' contexts, which the lead never saw</a:t>
            </a:r>
          </a:p>
          <a:p>
            <a:pPr algn="l" indent="-228600" marL="228600">
              <a:spcAft>
                <a:spcPts val="800"/>
              </a:spcAft>
              <a:buClr>
                <a:srgbClr val="1E5EF3"/>
              </a:buClr>
              <a:buChar char="—"/>
            </a:pPr>
            <a:r>
              <a:rPr sz="1450" b="0">
                <a:solidFill>
                  <a:srgbClr val="202B38"/>
                </a:solidFill>
                <a:latin typeface="Arial"/>
              </a:rPr>
              <a:t>The lead (opus-5) has no read_file: its only tool is delegate(task), which starts a fresh worker Agent on sonnet-5</a:t>
            </a:r>
          </a:p>
          <a:p>
            <a:pPr algn="l" indent="-228600" marL="228600">
              <a:spcAft>
                <a:spcPts val="800"/>
              </a:spcAft>
              <a:buClr>
                <a:srgbClr val="1E5EF3"/>
              </a:buClr>
              <a:buChar char="—"/>
            </a:pPr>
            <a:r>
              <a:rPr sz="1450" b="0">
                <a:solidFill>
                  <a:srgbClr val="202B38"/>
                </a:solidFill>
                <a:latin typeface="Arial"/>
              </a:rPr>
              <a:t>It made 3 delegate calls in one turn and 2 model calls; it holds three reports, not three files: 1,527 tokens</a:t>
            </a:r>
          </a:p>
          <a:p>
            <a:pPr algn="l" indent="-228600" marL="228600">
              <a:spcAft>
                <a:spcPts val="800"/>
              </a:spcAft>
              <a:buClr>
                <a:srgbClr val="1E5EF3"/>
              </a:buClr>
              <a:buChar char="—"/>
            </a:pPr>
            <a:r>
              <a:rPr sz="1450" b="0">
                <a:solidFill>
                  <a:srgbClr val="202B38"/>
                </a:solidFill>
                <a:latin typeface="Arial"/>
              </a:rPr>
              <a:t>The solo agent read the same three files itself: 3 model calls, 5 tool calls, 3,985 tokens, about 2.5x the lead</a:t>
            </a:r>
          </a:p>
          <a:p>
            <a:pPr algn="l" indent="-228600" marL="228600">
              <a:spcAft>
                <a:spcPts val="800"/>
              </a:spcAft>
              <a:buClr>
                <a:srgbClr val="1E5EF3"/>
              </a:buClr>
              <a:buChar char="—"/>
            </a:pPr>
            <a:r>
              <a:rPr sz="1450" b="0">
                <a:solidFill>
                  <a:srgbClr val="202B38"/>
                </a:solidFill>
                <a:latin typeface="Arial"/>
              </a:rPr>
              <a:t>Plainly: the solo agent was not polluted here. It answered 3 of 3 parts, cheaper (0.0402 vs 0.0444 USD) and faster</a:t>
            </a:r>
          </a:p>
          <a:p>
            <a:pPr algn="l" indent="-228600" marL="228600">
              <a:spcAft>
                <a:spcPts val="800"/>
              </a:spcAft>
              <a:buClr>
                <a:srgbClr val="1E5EF3"/>
              </a:buClr>
              <a:buChar char="—"/>
            </a:pPr>
            <a:r>
              <a:rPr sz="1450" b="0">
                <a:solidFill>
                  <a:srgbClr val="202B38"/>
                </a:solidFill>
                <a:latin typeface="Arial"/>
              </a:rPr>
              <a:t>Isolation pays when the question or the files outgrow one context; on three facts the strong model coped</a:t>
            </a:r>
          </a:p>
        </p:txBody>
      </p:sp>
      <p:pic>
        <p:nvPicPr>
          <p:cNvPr id="8" name="Picture 7" descr="s4_lead_context.png"/>
          <p:cNvPicPr>
            <a:picLocks noChangeAspect="1"/>
          </p:cNvPicPr>
          <p:nvPr/>
        </p:nvPicPr>
        <p:blipFill>
          <a:blip r:embed="rId2"/>
          <a:stretch>
            <a:fillRect/>
          </a:stretch>
        </p:blipFill>
        <p:spPr>
          <a:xfrm>
            <a:off x="5120640" y="1874519"/>
            <a:ext cx="6492240" cy="3276259"/>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count_tokens on each agent's final message list (notebook 04, section 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AGENT TEAMS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teammates cleared six tasks in 7.5 s, not 19.9 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row per task, the owner is the teammate that claimed it; right, wall-clock against the summed run times</a:t>
            </a:r>
          </a:p>
          <a:p>
            <a:pPr algn="l" indent="-228600" marL="228600">
              <a:spcAft>
                <a:spcPts val="800"/>
              </a:spcAft>
              <a:buClr>
                <a:srgbClr val="1E5EF3"/>
              </a:buClr>
              <a:buChar char="—"/>
            </a:pPr>
            <a:r>
              <a:rPr sz="1450" b="0">
                <a:solidFill>
                  <a:srgbClr val="202B38"/>
                </a:solidFill>
                <a:latin typeface="Arial"/>
              </a:rPr>
              <a:t>A TaskBoard with a lock: claim() moves a task todo -&gt; doing; three teammate threads claim, run a fresh worker, post, repeat</a:t>
            </a:r>
          </a:p>
          <a:p>
            <a:pPr algn="l" indent="-228600" marL="228600">
              <a:spcAft>
                <a:spcPts val="800"/>
              </a:spcAft>
              <a:buClr>
                <a:srgbClr val="1E5EF3"/>
              </a:buClr>
              <a:buChar char="—"/>
            </a:pPr>
            <a:r>
              <a:rPr sz="1450" b="0">
                <a:solidFill>
                  <a:srgbClr val="202B38"/>
                </a:solidFill>
                <a:latin typeface="Arial"/>
              </a:rPr>
              <a:t>Nobody assigned anything: each teammate took one task, and whoever finished first took the next; two each in this run</a:t>
            </a:r>
          </a:p>
          <a:p>
            <a:pPr algn="l" indent="-228600" marL="228600">
              <a:spcAft>
                <a:spcPts val="800"/>
              </a:spcAft>
              <a:buClr>
                <a:srgbClr val="1E5EF3"/>
              </a:buClr>
              <a:buChar char="—"/>
            </a:pPr>
            <a:r>
              <a:rPr sz="1450" b="0">
                <a:solidFill>
                  <a:srgbClr val="202B38"/>
                </a:solidFill>
                <a:latin typeface="Arial"/>
              </a:rPr>
              <a:t>17 model calls, 10 tool calls, 0.0706 USD including the team lead's briefing on opus-5; the six answers are gradable</a:t>
            </a:r>
          </a:p>
          <a:p>
            <a:pPr algn="l" indent="-228600" marL="228600">
              <a:spcAft>
                <a:spcPts val="800"/>
              </a:spcAft>
              <a:buClr>
                <a:srgbClr val="1E5EF3"/>
              </a:buClr>
              <a:buChar char="—"/>
            </a:pPr>
            <a:r>
              <a:rPr sz="1450" b="0">
                <a:solidFill>
                  <a:srgbClr val="202B38"/>
                </a:solidFill>
                <a:latin typeface="Arial"/>
              </a:rPr>
              <a:t>Exercise 2, four teammates: 7.9 s and 0.0715 USD - the same within noise, because six tasks still take two rounds</a:t>
            </a:r>
          </a:p>
          <a:p>
            <a:pPr algn="l" indent="-228600" marL="228600">
              <a:spcAft>
                <a:spcPts val="800"/>
              </a:spcAft>
              <a:buClr>
                <a:srgbClr val="1E5EF3"/>
              </a:buClr>
              <a:buChar char="—"/>
            </a:pPr>
            <a:r>
              <a:rPr sz="1450" b="0">
                <a:solidFill>
                  <a:srgbClr val="202B38"/>
                </a:solidFill>
                <a:latin typeface="Arial"/>
              </a:rPr>
              <a:t>Claude Code's agent teams do this natively, plus a mailbox between teammates: see the lab</a:t>
            </a:r>
          </a:p>
        </p:txBody>
      </p:sp>
      <p:pic>
        <p:nvPicPr>
          <p:cNvPr id="8" name="Picture 7" descr="s4_team_board.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TaskBoard, three threads, tasks from evals/cases.yaml (notebook 04, section 3).</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HANDOFF</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handoff carries everything: 7,017 inherited tokens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conversation moves right; the research worker steps back</a:t>
            </a:r>
          </a:p>
          <a:p>
            <a:pPr algn="l" indent="-228600" marL="228600">
              <a:spcAft>
                <a:spcPts val="800"/>
              </a:spcAft>
              <a:buClr>
                <a:srgbClr val="1E5EF3"/>
              </a:buClr>
              <a:buChar char="—"/>
            </a:pPr>
            <a:r>
              <a:rPr sz="1450" b="0">
                <a:solidFill>
                  <a:srgbClr val="202B38"/>
                </a:solidFill>
                <a:latin typeface="Arial"/>
              </a:rPr>
              <a:t>One argument does it: run(task, history=research_run.messages); 6 inherited messages, 4 new</a:t>
            </a:r>
          </a:p>
          <a:p>
            <a:pPr algn="l" indent="-228600" marL="228600">
              <a:spcAft>
                <a:spcPts val="800"/>
              </a:spcAft>
              <a:buClr>
                <a:srgbClr val="1E5EF3"/>
              </a:buClr>
              <a:buChar char="—"/>
            </a:pPr>
            <a:r>
              <a:rPr sz="1450" b="0">
                <a:solidFill>
                  <a:srgbClr val="202B38"/>
                </a:solidFill>
                <a:latin typeface="Arial"/>
              </a:rPr>
              <a:t>The calculator called its tool once (342/891*100): about 38.4% of the passengers survived</a:t>
            </a:r>
          </a:p>
          <a:p>
            <a:pPr algn="l" indent="-228600" marL="228600">
              <a:spcAft>
                <a:spcPts val="800"/>
              </a:spcAft>
              <a:buClr>
                <a:srgbClr val="1E5EF3"/>
              </a:buClr>
              <a:buChar char="—"/>
            </a:pPr>
            <a:r>
              <a:rPr sz="1450" b="0">
                <a:solidFill>
                  <a:srgbClr val="202B38"/>
                </a:solidFill>
                <a:latin typeface="Arial"/>
              </a:rPr>
              <a:t>First model call: 7,539 input tokens; a fresh calculator on the same sum: 522. Inherited: 7,017</a:t>
            </a:r>
          </a:p>
          <a:p>
            <a:pPr algn="l" indent="-228600" marL="228600">
              <a:spcAft>
                <a:spcPts val="800"/>
              </a:spcAft>
              <a:buClr>
                <a:srgbClr val="1E5EF3"/>
              </a:buClr>
              <a:buChar char="—"/>
            </a:pPr>
            <a:r>
              <a:rPr sz="1450" b="0">
                <a:solidFill>
                  <a:srgbClr val="202B38"/>
                </a:solidFill>
                <a:latin typeface="Arial"/>
              </a:rPr>
              <a:t>0.0514 USD for one answer, 0.0029 fresh. Delegation asks for a report; a handoff hands over</a:t>
            </a:r>
          </a:p>
          <a:p>
            <a:pPr algn="l" indent="-228600" marL="228600">
              <a:spcAft>
                <a:spcPts val="800"/>
              </a:spcAft>
              <a:buClr>
                <a:srgbClr val="1E5EF3"/>
              </a:buClr>
              <a:buChar char="—"/>
            </a:pPr>
            <a:r>
              <a:rPr sz="1450" b="0">
                <a:solidFill>
                  <a:srgbClr val="202B38"/>
                </a:solidFill>
                <a:latin typeface="Arial"/>
              </a:rPr>
              <a:t>Marmelab 2026: more than four handoffs almost always failed; the history goes stale</a:t>
            </a:r>
          </a:p>
        </p:txBody>
      </p:sp>
      <p:pic>
        <p:nvPicPr>
          <p:cNvPr id="8" name="Picture 7" descr="s4_handoff.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Input tokens from the trace of the first model call (notebook 04, section 4).</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STOP CONDITIONS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An open-ended task never says done; two seatbelts stop it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bar per model call, in order; height = input tokens the API billed for that call, the context it saw</a:t>
            </a:r>
          </a:p>
          <a:p>
            <a:pPr algn="l" indent="-228600" marL="228600">
              <a:spcAft>
                <a:spcPts val="800"/>
              </a:spcAft>
              <a:buClr>
                <a:srgbClr val="1E5EF3"/>
              </a:buClr>
              <a:buChar char="—"/>
            </a:pPr>
            <a:r>
              <a:rPr sz="1450" b="0">
                <a:solidFill>
                  <a:srgbClr val="202B38"/>
                </a:solidFill>
                <a:latin typeface="Arial"/>
              </a:rPr>
              <a:t>The task: 'read every file in this repository and summarise each one'. Nothing staged; the worker just keeps going</a:t>
            </a:r>
          </a:p>
          <a:p>
            <a:pPr algn="l" indent="-228600" marL="228600">
              <a:spcAft>
                <a:spcPts val="800"/>
              </a:spcAft>
              <a:buClr>
                <a:srgbClr val="1E5EF3"/>
              </a:buClr>
              <a:buChar char="—"/>
            </a:pPr>
            <a:r>
              <a:rPr sz="1450" b="0">
                <a:solidFill>
                  <a:srgbClr val="202B38"/>
                </a:solidFill>
                <a:latin typeface="Arial"/>
              </a:rPr>
              <a:t>Seatbelt 1, max_turns=4: stopped_because = 'max_turns' after 4 model calls and 23 tool calls, 0.0279 USD</a:t>
            </a:r>
          </a:p>
          <a:p>
            <a:pPr algn="l" indent="-228600" marL="228600">
              <a:spcAft>
                <a:spcPts val="800"/>
              </a:spcAft>
              <a:buClr>
                <a:srgbClr val="1E5EF3"/>
              </a:buClr>
              <a:buChar char="—"/>
            </a:pPr>
            <a:r>
              <a:rPr sz="1450" b="0">
                <a:solidFill>
                  <a:srgbClr val="202B38"/>
                </a:solidFill>
                <a:latin typeface="Arial"/>
              </a:rPr>
              <a:t>Seatbelt 2, max_input_tokens=12,000: the calls saw 738, 991, 2,197, 3,587 and 4,112 tokens as folders were listed</a:t>
            </a:r>
          </a:p>
          <a:p>
            <a:pPr algn="l" indent="-228600" marL="228600">
              <a:spcAft>
                <a:spcPts val="800"/>
              </a:spcAft>
              <a:buClr>
                <a:srgbClr val="1E5EF3"/>
              </a:buClr>
              <a:buChar char="—"/>
            </a:pPr>
            <a:r>
              <a:rPr sz="1450" b="0">
                <a:solidFill>
                  <a:srgbClr val="202B38"/>
                </a:solidFill>
                <a:latin typeface="Arial"/>
              </a:rPr>
              <a:t>Then the worker asked for a whole batch of files; count_tokens measured the next call at 17,810 and the loop refused to send it</a:t>
            </a:r>
          </a:p>
          <a:p>
            <a:pPr algn="l" indent="-228600" marL="228600">
              <a:spcAft>
                <a:spcPts val="800"/>
              </a:spcAft>
              <a:buClr>
                <a:srgbClr val="1E5EF3"/>
              </a:buClr>
              <a:buChar char="—"/>
            </a:pPr>
            <a:r>
              <a:rPr sz="1450" b="0">
                <a:solidFill>
                  <a:srgbClr val="202B38"/>
                </a:solidFill>
                <a:latin typeface="Arial"/>
              </a:rPr>
              <a:t>stopped_because = 'budget', 37 tool calls, 0.0450 USD, no summary. Both runs together: 0.0729 USD for nothing</a:t>
            </a:r>
          </a:p>
        </p:txBody>
      </p:sp>
      <p:pic>
        <p:nvPicPr>
          <p:cNvPr id="8" name="Picture 7" descr="s4_runaway.png"/>
          <p:cNvPicPr>
            <a:picLocks noChangeAspect="1"/>
          </p:cNvPicPr>
          <p:nvPr/>
        </p:nvPicPr>
        <p:blipFill>
          <a:blip r:embed="rId2"/>
          <a:stretch>
            <a:fillRect/>
          </a:stretch>
        </p:blipFill>
        <p:spPr>
          <a:xfrm>
            <a:off x="5120640" y="1874519"/>
            <a:ext cx="6492240" cy="3885252"/>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Recorded run on claude-opus-5 (lead) and claude-sonnet-5 (workers), 30 Sep 2026; live runs vary. Trace input tokens per call; call 6 is the count_tokens figure (nb 04, 5.1).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COST MULTIPLICATION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Every context that reads pays: the bill per architecture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8" cy="3657600"/>
        </p:xfrm>
        <a:graphic>
          <a:graphicData uri="http://schemas.openxmlformats.org/drawingml/2006/table">
            <a:tbl>
              <a:tblPr firstRow="1" bandRow="1">
                <a:tableStyleId>{5C22544A-7EE6-4342-B048-85BDC9FD1C3A}</a:tableStyleId>
              </a:tblPr>
              <a:tblGrid>
                <a:gridCol w="2986219"/>
                <a:gridCol w="948006"/>
                <a:gridCol w="900605"/>
                <a:gridCol w="1090207"/>
                <a:gridCol w="1137607"/>
                <a:gridCol w="995406"/>
                <a:gridCol w="1090207"/>
                <a:gridCol w="1185007"/>
                <a:gridCol w="758404"/>
              </a:tblGrid>
              <a:tr h="457200">
                <a:tc>
                  <a:txBody>
                    <a:bodyPr wrap="square"/>
                    <a:lstStyle/>
                    <a:p>
                      <a:pPr algn="l">
                        <a:spcAft>
                          <a:spcPts val="0"/>
                        </a:spcAft>
                        <a:buNone/>
                      </a:pPr>
                      <a:r>
                        <a:rPr sz="1300" b="1">
                          <a:solidFill>
                            <a:srgbClr val="FFFFFF"/>
                          </a:solidFill>
                          <a:latin typeface="Arial"/>
                        </a:rPr>
                        <a:t>Architecture</a:t>
                      </a:r>
                    </a:p>
                  </a:txBody>
                  <a:tcPr>
                    <a:solidFill>
                      <a:srgbClr val="0A2540"/>
                    </a:solidFill>
                  </a:tcPr>
                </a:tc>
                <a:tc>
                  <a:txBody>
                    <a:bodyPr wrap="square"/>
                    <a:lstStyle/>
                    <a:p>
                      <a:pPr algn="l">
                        <a:spcAft>
                          <a:spcPts val="0"/>
                        </a:spcAft>
                        <a:buNone/>
                      </a:pPr>
                      <a:r>
                        <a:rPr sz="1300" b="1">
                          <a:solidFill>
                            <a:srgbClr val="FFFFFF"/>
                          </a:solidFill>
                          <a:latin typeface="Arial"/>
                        </a:rPr>
                        <a:t>Model calls</a:t>
                      </a:r>
                    </a:p>
                  </a:txBody>
                  <a:tcPr>
                    <a:solidFill>
                      <a:srgbClr val="0A2540"/>
                    </a:solidFill>
                  </a:tcPr>
                </a:tc>
                <a:tc>
                  <a:txBody>
                    <a:bodyPr wrap="square"/>
                    <a:lstStyle/>
                    <a:p>
                      <a:pPr algn="l">
                        <a:spcAft>
                          <a:spcPts val="0"/>
                        </a:spcAft>
                        <a:buNone/>
                      </a:pPr>
                      <a:r>
                        <a:rPr sz="1300" b="1">
                          <a:solidFill>
                            <a:srgbClr val="FFFFFF"/>
                          </a:solidFill>
                          <a:latin typeface="Arial"/>
                        </a:rPr>
                        <a:t>Tool calls</a:t>
                      </a:r>
                    </a:p>
                  </a:txBody>
                  <a:tcPr>
                    <a:solidFill>
                      <a:srgbClr val="0A2540"/>
                    </a:solidFill>
                  </a:tcPr>
                </a:tc>
                <a:tc>
                  <a:txBody>
                    <a:bodyPr wrap="square"/>
                    <a:lstStyle/>
                    <a:p>
                      <a:pPr algn="l">
                        <a:spcAft>
                          <a:spcPts val="0"/>
                        </a:spcAft>
                        <a:buNone/>
                      </a:pPr>
                      <a:r>
                        <a:rPr sz="1300" b="1">
                          <a:solidFill>
                            <a:srgbClr val="FFFFFF"/>
                          </a:solidFill>
                          <a:latin typeface="Arial"/>
                        </a:rPr>
                        <a:t>Input tokens</a:t>
                      </a:r>
                    </a:p>
                  </a:txBody>
                  <a:tcPr>
                    <a:solidFill>
                      <a:srgbClr val="0A2540"/>
                    </a:solidFill>
                  </a:tcPr>
                </a:tc>
                <a:tc>
                  <a:txBody>
                    <a:bodyPr wrap="square"/>
                    <a:lstStyle/>
                    <a:p>
                      <a:pPr algn="l">
                        <a:spcAft>
                          <a:spcPts val="0"/>
                        </a:spcAft>
                        <a:buNone/>
                      </a:pPr>
                      <a:r>
                        <a:rPr sz="1300" b="1">
                          <a:solidFill>
                            <a:srgbClr val="FFFFFF"/>
                          </a:solidFill>
                          <a:latin typeface="Arial"/>
                        </a:rPr>
                        <a:t>Output tokens</a:t>
                      </a:r>
                    </a:p>
                  </a:txBody>
                  <a:tcPr>
                    <a:solidFill>
                      <a:srgbClr val="0A2540"/>
                    </a:solidFill>
                  </a:tcPr>
                </a:tc>
                <a:tc>
                  <a:txBody>
                    <a:bodyPr wrap="square"/>
                    <a:lstStyle/>
                    <a:p>
                      <a:pPr algn="l">
                        <a:spcAft>
                          <a:spcPts val="0"/>
                        </a:spcAft>
                        <a:buNone/>
                      </a:pPr>
                      <a:r>
                        <a:rPr sz="1300" b="1">
                          <a:solidFill>
                            <a:srgbClr val="FFFFFF"/>
                          </a:solidFill>
                          <a:latin typeface="Arial"/>
                        </a:rPr>
                        <a:t>Cost (USD)</a:t>
                      </a:r>
                    </a:p>
                  </a:txBody>
                  <a:tcPr>
                    <a:solidFill>
                      <a:srgbClr val="0A2540"/>
                    </a:solidFill>
                  </a:tcPr>
                </a:tc>
                <a:tc>
                  <a:txBody>
                    <a:bodyPr wrap="square"/>
                    <a:lstStyle/>
                    <a:p>
                      <a:pPr algn="l">
                        <a:spcAft>
                          <a:spcPts val="0"/>
                        </a:spcAft>
                        <a:buNone/>
                      </a:pPr>
                      <a:r>
                        <a:rPr sz="1300" b="1">
                          <a:solidFill>
                            <a:srgbClr val="FFFFFF"/>
                          </a:solidFill>
                          <a:latin typeface="Arial"/>
                        </a:rPr>
                        <a:t>Answered</a:t>
                      </a:r>
                    </a:p>
                  </a:txBody>
                  <a:tcPr>
                    <a:solidFill>
                      <a:srgbClr val="0A2540"/>
                    </a:solidFill>
                  </a:tcPr>
                </a:tc>
                <a:tc>
                  <a:txBody>
                    <a:bodyPr wrap="square"/>
                    <a:lstStyle/>
                    <a:p>
                      <a:pPr algn="l">
                        <a:spcAft>
                          <a:spcPts val="0"/>
                        </a:spcAft>
                        <a:buNone/>
                      </a:pPr>
                      <a:r>
                        <a:rPr sz="1300" b="1">
                          <a:solidFill>
                            <a:srgbClr val="FFFFFF"/>
                          </a:solidFill>
                          <a:latin typeface="Arial"/>
                        </a:rPr>
                        <a:t>USD per answer</a:t>
                      </a:r>
                    </a:p>
                  </a:txBody>
                  <a:tcPr>
                    <a:solidFill>
                      <a:srgbClr val="0A2540"/>
                    </a:solidFill>
                  </a:tcPr>
                </a:tc>
                <a:tc>
                  <a:txBody>
                    <a:bodyPr wrap="square"/>
                    <a:lstStyle/>
                    <a:p>
                      <a:pPr algn="l">
                        <a:spcAft>
                          <a:spcPts val="0"/>
                        </a:spcAft>
                        <a:buNone/>
                      </a:pPr>
                      <a:r>
                        <a:rPr sz="1300" b="1">
                          <a:solidFill>
                            <a:srgbClr val="FFFFFF"/>
                          </a:solidFill>
                          <a:latin typeface="Arial"/>
                        </a:rPr>
                        <a:t>x solo</a:t>
                      </a:r>
                    </a:p>
                  </a:txBody>
                  <a:tcPr>
                    <a:solidFill>
                      <a:srgbClr val="0A2540"/>
                    </a:solidFill>
                  </a:tcPr>
                </a:tc>
              </a:tr>
              <a:tr h="457200">
                <a:tc>
                  <a:txBody>
                    <a:bodyPr wrap="square"/>
                    <a:lstStyle/>
                    <a:p>
                      <a:pPr algn="l">
                        <a:spcAft>
                          <a:spcPts val="0"/>
                        </a:spcAft>
                        <a:buNone/>
                      </a:pPr>
                      <a:r>
                        <a:rPr sz="1250" b="0">
                          <a:solidFill>
                            <a:srgbClr val="202B38"/>
                          </a:solidFill>
                          <a:latin typeface="Arial"/>
                        </a:rPr>
                        <a:t>Lead + workers</a:t>
                      </a:r>
                    </a:p>
                  </a:txBody>
                  <a:tcPr>
                    <a:solidFill>
                      <a:srgbClr val="FFFFFF"/>
                    </a:solidFill>
                  </a:tcPr>
                </a:tc>
                <a:tc>
                  <a:txBody>
                    <a:bodyPr wrap="square"/>
                    <a:lstStyle/>
                    <a:p>
                      <a:pPr algn="l">
                        <a:spcAft>
                          <a:spcPts val="0"/>
                        </a:spcAft>
                        <a:buNone/>
                      </a:pPr>
                      <a:r>
                        <a:rPr sz="1250" b="0">
                          <a:solidFill>
                            <a:srgbClr val="202B38"/>
                          </a:solidFill>
                          <a:latin typeface="Arial"/>
                        </a:rPr>
                        <a:t>9</a:t>
                      </a:r>
                    </a:p>
                  </a:txBody>
                  <a:tcPr>
                    <a:solidFill>
                      <a:srgbClr val="FFFFFF"/>
                    </a:solidFill>
                  </a:tcPr>
                </a:tc>
                <a:tc>
                  <a:txBody>
                    <a:bodyPr wrap="square"/>
                    <a:lstStyle/>
                    <a:p>
                      <a:pPr algn="l">
                        <a:spcAft>
                          <a:spcPts val="0"/>
                        </a:spcAft>
                        <a:buNone/>
                      </a:pPr>
                      <a:r>
                        <a:rPr sz="1250" b="0">
                          <a:solidFill>
                            <a:srgbClr val="202B38"/>
                          </a:solidFill>
                          <a:latin typeface="Arial"/>
                        </a:rPr>
                        <a:t>7</a:t>
                      </a:r>
                    </a:p>
                  </a:txBody>
                  <a:tcPr>
                    <a:solidFill>
                      <a:srgbClr val="FFFFFF"/>
                    </a:solidFill>
                  </a:tcPr>
                </a:tc>
                <a:tc>
                  <a:txBody>
                    <a:bodyPr wrap="square"/>
                    <a:lstStyle/>
                    <a:p>
                      <a:pPr algn="l">
                        <a:spcAft>
                          <a:spcPts val="0"/>
                        </a:spcAft>
                        <a:buNone/>
                      </a:pPr>
                      <a:r>
                        <a:rPr sz="1250" b="0">
                          <a:solidFill>
                            <a:srgbClr val="202B38"/>
                          </a:solidFill>
                          <a:latin typeface="Arial"/>
                        </a:rPr>
                        <a:t>10,081</a:t>
                      </a:r>
                    </a:p>
                  </a:txBody>
                  <a:tcPr>
                    <a:solidFill>
                      <a:srgbClr val="FFFFFF"/>
                    </a:solidFill>
                  </a:tcPr>
                </a:tc>
                <a:tc>
                  <a:txBody>
                    <a:bodyPr wrap="square"/>
                    <a:lstStyle/>
                    <a:p>
                      <a:pPr algn="l">
                        <a:spcAft>
                          <a:spcPts val="0"/>
                        </a:spcAft>
                        <a:buNone/>
                      </a:pPr>
                      <a:r>
                        <a:rPr sz="1250" b="0">
                          <a:solidFill>
                            <a:srgbClr val="202B38"/>
                          </a:solidFill>
                          <a:latin typeface="Arial"/>
                        </a:rPr>
                        <a:t>995</a:t>
                      </a:r>
                    </a:p>
                  </a:txBody>
                  <a:tcPr>
                    <a:solidFill>
                      <a:srgbClr val="FFFFFF"/>
                    </a:solidFill>
                  </a:tcPr>
                </a:tc>
                <a:tc>
                  <a:txBody>
                    <a:bodyPr wrap="square"/>
                    <a:lstStyle/>
                    <a:p>
                      <a:pPr algn="l">
                        <a:spcAft>
                          <a:spcPts val="0"/>
                        </a:spcAft>
                        <a:buNone/>
                      </a:pPr>
                      <a:r>
                        <a:rPr sz="1250" b="0">
                          <a:solidFill>
                            <a:srgbClr val="202B38"/>
                          </a:solidFill>
                          <a:latin typeface="Arial"/>
                        </a:rPr>
                        <a:t>0.0444</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0.0148</a:t>
                      </a:r>
                    </a:p>
                  </a:txBody>
                  <a:tcPr>
                    <a:solidFill>
                      <a:srgbClr val="FFFFFF"/>
                    </a:solidFill>
                  </a:tcPr>
                </a:tc>
                <a:tc>
                  <a:txBody>
                    <a:bodyPr wrap="square"/>
                    <a:lstStyle/>
                    <a:p>
                      <a:pPr algn="l">
                        <a:spcAft>
                          <a:spcPts val="0"/>
                        </a:spcAft>
                        <a:buNone/>
                      </a:pPr>
                      <a:r>
                        <a:rPr sz="1250" b="0">
                          <a:solidFill>
                            <a:srgbClr val="202B38"/>
                          </a:solidFill>
                          <a:latin typeface="Arial"/>
                        </a:rPr>
                        <a:t>1.1</a:t>
                      </a:r>
                    </a:p>
                  </a:txBody>
                  <a:tcPr>
                    <a:solidFill>
                      <a:srgbClr val="FFFFFF"/>
                    </a:solidFill>
                  </a:tcPr>
                </a:tc>
              </a:tr>
              <a:tr h="457200">
                <a:tc>
                  <a:txBody>
                    <a:bodyPr wrap="square"/>
                    <a:lstStyle/>
                    <a:p>
                      <a:pPr algn="l">
                        <a:spcAft>
                          <a:spcPts val="0"/>
                        </a:spcAft>
                        <a:buNone/>
                      </a:pPr>
                      <a:r>
                        <a:rPr sz="1250" b="0">
                          <a:solidFill>
                            <a:srgbClr val="202B38"/>
                          </a:solidFill>
                          <a:latin typeface="Arial"/>
                        </a:rPr>
                        <a:t>Solo agent</a:t>
                      </a:r>
                    </a:p>
                  </a:txBody>
                  <a:tcPr>
                    <a:solidFill>
                      <a:srgbClr val="EEF3FD"/>
                    </a:solidFill>
                  </a:tcPr>
                </a:tc>
                <a:tc>
                  <a:txBody>
                    <a:bodyPr wrap="square"/>
                    <a:lstStyle/>
                    <a:p>
                      <a:pPr algn="l">
                        <a:spcAft>
                          <a:spcPts val="0"/>
                        </a:spcAft>
                        <a:buNone/>
                      </a:pPr>
                      <a:r>
                        <a:rPr sz="1250" b="0">
                          <a:solidFill>
                            <a:srgbClr val="202B38"/>
                          </a:solidFill>
                          <a:latin typeface="Arial"/>
                        </a:rPr>
                        <a:t>3</a:t>
                      </a:r>
                    </a:p>
                  </a:txBody>
                  <a:tcPr>
                    <a:solidFill>
                      <a:srgbClr val="EEF3FD"/>
                    </a:solidFill>
                  </a:tcPr>
                </a:tc>
                <a:tc>
                  <a:txBody>
                    <a:bodyPr wrap="square"/>
                    <a:lstStyle/>
                    <a:p>
                      <a:pPr algn="l">
                        <a:spcAft>
                          <a:spcPts val="0"/>
                        </a:spcAft>
                        <a:buNone/>
                      </a:pPr>
                      <a:r>
                        <a:rPr sz="1250" b="0">
                          <a:solidFill>
                            <a:srgbClr val="202B38"/>
                          </a:solidFill>
                          <a:latin typeface="Arial"/>
                        </a:rPr>
                        <a:t>5</a:t>
                      </a:r>
                    </a:p>
                  </a:txBody>
                  <a:tcPr>
                    <a:solidFill>
                      <a:srgbClr val="EEF3FD"/>
                    </a:solidFill>
                  </a:tcPr>
                </a:tc>
                <a:tc>
                  <a:txBody>
                    <a:bodyPr wrap="square"/>
                    <a:lstStyle/>
                    <a:p>
                      <a:pPr algn="l">
                        <a:spcAft>
                          <a:spcPts val="0"/>
                        </a:spcAft>
                        <a:buNone/>
                      </a:pPr>
                      <a:r>
                        <a:rPr sz="1250" b="0">
                          <a:solidFill>
                            <a:srgbClr val="202B38"/>
                          </a:solidFill>
                          <a:latin typeface="Arial"/>
                        </a:rPr>
                        <a:t>5,702</a:t>
                      </a:r>
                    </a:p>
                  </a:txBody>
                  <a:tcPr>
                    <a:solidFill>
                      <a:srgbClr val="EEF3FD"/>
                    </a:solidFill>
                  </a:tcPr>
                </a:tc>
                <a:tc>
                  <a:txBody>
                    <a:bodyPr wrap="square"/>
                    <a:lstStyle/>
                    <a:p>
                      <a:pPr algn="l">
                        <a:spcAft>
                          <a:spcPts val="0"/>
                        </a:spcAft>
                        <a:buNone/>
                      </a:pPr>
                      <a:r>
                        <a:rPr sz="1250" b="0">
                          <a:solidFill>
                            <a:srgbClr val="202B38"/>
                          </a:solidFill>
                          <a:latin typeface="Arial"/>
                        </a:rPr>
                        <a:t>469</a:t>
                      </a:r>
                    </a:p>
                  </a:txBody>
                  <a:tcPr>
                    <a:solidFill>
                      <a:srgbClr val="EEF3FD"/>
                    </a:solidFill>
                  </a:tcPr>
                </a:tc>
                <a:tc>
                  <a:txBody>
                    <a:bodyPr wrap="square"/>
                    <a:lstStyle/>
                    <a:p>
                      <a:pPr algn="l">
                        <a:spcAft>
                          <a:spcPts val="0"/>
                        </a:spcAft>
                        <a:buNone/>
                      </a:pPr>
                      <a:r>
                        <a:rPr sz="1250" b="0">
                          <a:solidFill>
                            <a:srgbClr val="202B38"/>
                          </a:solidFill>
                          <a:latin typeface="Arial"/>
                        </a:rPr>
                        <a:t>0.0402</a:t>
                      </a:r>
                    </a:p>
                  </a:txBody>
                  <a:tcPr>
                    <a:solidFill>
                      <a:srgbClr val="EEF3FD"/>
                    </a:solidFill>
                  </a:tcPr>
                </a:tc>
                <a:tc>
                  <a:txBody>
                    <a:bodyPr wrap="square"/>
                    <a:lstStyle/>
                    <a:p>
                      <a:pPr algn="l">
                        <a:spcAft>
                          <a:spcPts val="0"/>
                        </a:spcAft>
                        <a:buNone/>
                      </a:pPr>
                      <a:r>
                        <a:rPr sz="1250" b="0">
                          <a:solidFill>
                            <a:srgbClr val="202B38"/>
                          </a:solidFill>
                          <a:latin typeface="Arial"/>
                        </a:rPr>
                        <a:t>3</a:t>
                      </a:r>
                    </a:p>
                  </a:txBody>
                  <a:tcPr>
                    <a:solidFill>
                      <a:srgbClr val="EEF3FD"/>
                    </a:solidFill>
                  </a:tcPr>
                </a:tc>
                <a:tc>
                  <a:txBody>
                    <a:bodyPr wrap="square"/>
                    <a:lstStyle/>
                    <a:p>
                      <a:pPr algn="l">
                        <a:spcAft>
                          <a:spcPts val="0"/>
                        </a:spcAft>
                        <a:buNone/>
                      </a:pPr>
                      <a:r>
                        <a:rPr sz="1250" b="0">
                          <a:solidFill>
                            <a:srgbClr val="202B38"/>
                          </a:solidFill>
                          <a:latin typeface="Arial"/>
                        </a:rPr>
                        <a:t>0.0134</a:t>
                      </a:r>
                    </a:p>
                  </a:txBody>
                  <a:tcPr>
                    <a:solidFill>
                      <a:srgbClr val="EEF3FD"/>
                    </a:solidFill>
                  </a:tcPr>
                </a:tc>
                <a:tc>
                  <a:txBody>
                    <a:bodyPr wrap="square"/>
                    <a:lstStyle/>
                    <a:p>
                      <a:pPr algn="l">
                        <a:spcAft>
                          <a:spcPts val="0"/>
                        </a:spcAft>
                        <a:buNone/>
                      </a:pPr>
                      <a:r>
                        <a:rPr sz="1250" b="0">
                          <a:solidFill>
                            <a:srgbClr val="202B38"/>
                          </a:solidFill>
                          <a:latin typeface="Arial"/>
                        </a:rPr>
                        <a:t>1.0</a:t>
                      </a:r>
                    </a:p>
                  </a:txBody>
                  <a:tcPr>
                    <a:solidFill>
                      <a:srgbClr val="EEF3FD"/>
                    </a:solidFill>
                  </a:tcPr>
                </a:tc>
              </a:tr>
              <a:tr h="457200">
                <a:tc>
                  <a:txBody>
                    <a:bodyPr wrap="square"/>
                    <a:lstStyle/>
                    <a:p>
                      <a:pPr algn="l">
                        <a:spcAft>
                          <a:spcPts val="0"/>
                        </a:spcAft>
                        <a:buNone/>
                      </a:pPr>
                      <a:r>
                        <a:rPr sz="1250" b="0">
                          <a:solidFill>
                            <a:srgbClr val="202B38"/>
                          </a:solidFill>
                          <a:latin typeface="Arial"/>
                        </a:rPr>
                        <a:t>Orchestrator-workers</a:t>
                      </a:r>
                    </a:p>
                  </a:txBody>
                  <a:tcPr>
                    <a:solidFill>
                      <a:srgbClr val="FFFFFF"/>
                    </a:solidFill>
                  </a:tcPr>
                </a:tc>
                <a:tc>
                  <a:txBody>
                    <a:bodyPr wrap="square"/>
                    <a:lstStyle/>
                    <a:p>
                      <a:pPr algn="l">
                        <a:spcAft>
                          <a:spcPts val="0"/>
                        </a:spcAft>
                        <a:buNone/>
                      </a:pPr>
                      <a:r>
                        <a:rPr sz="1250" b="0">
                          <a:solidFill>
                            <a:srgbClr val="202B38"/>
                          </a:solidFill>
                          <a:latin typeface="Arial"/>
                        </a:rPr>
                        <a:t>12</a:t>
                      </a:r>
                    </a:p>
                  </a:txBody>
                  <a:tcPr>
                    <a:solidFill>
                      <a:srgbClr val="FFFFFF"/>
                    </a:solidFill>
                  </a:tcPr>
                </a:tc>
                <a:tc>
                  <a:txBody>
                    <a:bodyPr wrap="square"/>
                    <a:lstStyle/>
                    <a:p>
                      <a:pPr algn="l">
                        <a:spcAft>
                          <a:spcPts val="0"/>
                        </a:spcAft>
                        <a:buNone/>
                      </a:pPr>
                      <a:r>
                        <a:rPr sz="1250" b="0">
                          <a:solidFill>
                            <a:srgbClr val="202B38"/>
                          </a:solidFill>
                          <a:latin typeface="Arial"/>
                        </a:rPr>
                        <a:t>6</a:t>
                      </a:r>
                    </a:p>
                  </a:txBody>
                  <a:tcPr>
                    <a:solidFill>
                      <a:srgbClr val="FFFFFF"/>
                    </a:solidFill>
                  </a:tcPr>
                </a:tc>
                <a:tc>
                  <a:txBody>
                    <a:bodyPr wrap="square"/>
                    <a:lstStyle/>
                    <a:p>
                      <a:pPr algn="l">
                        <a:spcAft>
                          <a:spcPts val="0"/>
                        </a:spcAft>
                        <a:buNone/>
                      </a:pPr>
                      <a:r>
                        <a:rPr sz="1250" b="0">
                          <a:solidFill>
                            <a:srgbClr val="202B38"/>
                          </a:solidFill>
                          <a:latin typeface="Arial"/>
                        </a:rPr>
                        <a:t>12,519</a:t>
                      </a:r>
                    </a:p>
                  </a:txBody>
                  <a:tcPr>
                    <a:solidFill>
                      <a:srgbClr val="FFFFFF"/>
                    </a:solidFill>
                  </a:tcPr>
                </a:tc>
                <a:tc>
                  <a:txBody>
                    <a:bodyPr wrap="square"/>
                    <a:lstStyle/>
                    <a:p>
                      <a:pPr algn="l">
                        <a:spcAft>
                          <a:spcPts val="0"/>
                        </a:spcAft>
                        <a:buNone/>
                      </a:pPr>
                      <a:r>
                        <a:rPr sz="1250" b="0">
                          <a:solidFill>
                            <a:srgbClr val="202B38"/>
                          </a:solidFill>
                          <a:latin typeface="Arial"/>
                        </a:rPr>
                        <a:t>1,074</a:t>
                      </a:r>
                    </a:p>
                  </a:txBody>
                  <a:tcPr>
                    <a:solidFill>
                      <a:srgbClr val="FFFFFF"/>
                    </a:solidFill>
                  </a:tcPr>
                </a:tc>
                <a:tc>
                  <a:txBody>
                    <a:bodyPr wrap="square"/>
                    <a:lstStyle/>
                    <a:p>
                      <a:pPr algn="l">
                        <a:spcAft>
                          <a:spcPts val="0"/>
                        </a:spcAft>
                        <a:buNone/>
                      </a:pPr>
                      <a:r>
                        <a:rPr sz="1250" b="0">
                          <a:solidFill>
                            <a:srgbClr val="202B38"/>
                          </a:solidFill>
                          <a:latin typeface="Arial"/>
                        </a:rPr>
                        <a:t>0.0415</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0.0138</a:t>
                      </a:r>
                    </a:p>
                  </a:txBody>
                  <a:tcPr>
                    <a:solidFill>
                      <a:srgbClr val="FFFFFF"/>
                    </a:solidFill>
                  </a:tcPr>
                </a:tc>
                <a:tc>
                  <a:txBody>
                    <a:bodyPr wrap="square"/>
                    <a:lstStyle/>
                    <a:p>
                      <a:pPr algn="l">
                        <a:spcAft>
                          <a:spcPts val="0"/>
                        </a:spcAft>
                        <a:buNone/>
                      </a:pPr>
                      <a:r>
                        <a:rPr sz="1250" b="0">
                          <a:solidFill>
                            <a:srgbClr val="202B38"/>
                          </a:solidFill>
                          <a:latin typeface="Arial"/>
                        </a:rPr>
                        <a:t>1.0</a:t>
                      </a:r>
                    </a:p>
                  </a:txBody>
                  <a:tcPr>
                    <a:solidFill>
                      <a:srgbClr val="FFFFFF"/>
                    </a:solidFill>
                  </a:tcPr>
                </a:tc>
              </a:tr>
              <a:tr h="457200">
                <a:tc>
                  <a:txBody>
                    <a:bodyPr wrap="square"/>
                    <a:lstStyle/>
                    <a:p>
                      <a:pPr algn="l">
                        <a:spcAft>
                          <a:spcPts val="0"/>
                        </a:spcAft>
                        <a:buNone/>
                      </a:pPr>
                      <a:r>
                        <a:rPr sz="1250" b="0">
                          <a:solidFill>
                            <a:srgbClr val="202B38"/>
                          </a:solidFill>
                          <a:latin typeface="Arial"/>
                        </a:rPr>
                        <a:t>Team of 3 + lead</a:t>
                      </a:r>
                    </a:p>
                  </a:txBody>
                  <a:tcPr>
                    <a:solidFill>
                      <a:srgbClr val="EEF3FD"/>
                    </a:solidFill>
                  </a:tcPr>
                </a:tc>
                <a:tc>
                  <a:txBody>
                    <a:bodyPr wrap="square"/>
                    <a:lstStyle/>
                    <a:p>
                      <a:pPr algn="l">
                        <a:spcAft>
                          <a:spcPts val="0"/>
                        </a:spcAft>
                        <a:buNone/>
                      </a:pPr>
                      <a:r>
                        <a:rPr sz="1250" b="0">
                          <a:solidFill>
                            <a:srgbClr val="202B38"/>
                          </a:solidFill>
                          <a:latin typeface="Arial"/>
                        </a:rPr>
                        <a:t>17</a:t>
                      </a:r>
                    </a:p>
                  </a:txBody>
                  <a:tcPr>
                    <a:solidFill>
                      <a:srgbClr val="EEF3FD"/>
                    </a:solidFill>
                  </a:tcPr>
                </a:tc>
                <a:tc>
                  <a:txBody>
                    <a:bodyPr wrap="square"/>
                    <a:lstStyle/>
                    <a:p>
                      <a:pPr algn="l">
                        <a:spcAft>
                          <a:spcPts val="0"/>
                        </a:spcAft>
                        <a:buNone/>
                      </a:pPr>
                      <a:r>
                        <a:rPr sz="1250" b="0">
                          <a:solidFill>
                            <a:srgbClr val="202B38"/>
                          </a:solidFill>
                          <a:latin typeface="Arial"/>
                        </a:rPr>
                        <a:t>10</a:t>
                      </a:r>
                    </a:p>
                  </a:txBody>
                  <a:tcPr>
                    <a:solidFill>
                      <a:srgbClr val="EEF3FD"/>
                    </a:solidFill>
                  </a:tcPr>
                </a:tc>
                <a:tc>
                  <a:txBody>
                    <a:bodyPr wrap="square"/>
                    <a:lstStyle/>
                    <a:p>
                      <a:pPr algn="l">
                        <a:spcAft>
                          <a:spcPts val="0"/>
                        </a:spcAft>
                        <a:buNone/>
                      </a:pPr>
                      <a:r>
                        <a:rPr sz="1250" b="0">
                          <a:solidFill>
                            <a:srgbClr val="202B38"/>
                          </a:solidFill>
                          <a:latin typeface="Arial"/>
                        </a:rPr>
                        <a:t>24,611</a:t>
                      </a:r>
                    </a:p>
                  </a:txBody>
                  <a:tcPr>
                    <a:solidFill>
                      <a:srgbClr val="EEF3FD"/>
                    </a:solidFill>
                  </a:tcPr>
                </a:tc>
                <a:tc>
                  <a:txBody>
                    <a:bodyPr wrap="square"/>
                    <a:lstStyle/>
                    <a:p>
                      <a:pPr algn="l">
                        <a:spcAft>
                          <a:spcPts val="0"/>
                        </a:spcAft>
                        <a:buNone/>
                      </a:pPr>
                      <a:r>
                        <a:rPr sz="1250" b="0">
                          <a:solidFill>
                            <a:srgbClr val="202B38"/>
                          </a:solidFill>
                          <a:latin typeface="Arial"/>
                        </a:rPr>
                        <a:t>1,322</a:t>
                      </a:r>
                    </a:p>
                  </a:txBody>
                  <a:tcPr>
                    <a:solidFill>
                      <a:srgbClr val="EEF3FD"/>
                    </a:solidFill>
                  </a:tcPr>
                </a:tc>
                <a:tc>
                  <a:txBody>
                    <a:bodyPr wrap="square"/>
                    <a:lstStyle/>
                    <a:p>
                      <a:pPr algn="l">
                        <a:spcAft>
                          <a:spcPts val="0"/>
                        </a:spcAft>
                        <a:buNone/>
                      </a:pPr>
                      <a:r>
                        <a:rPr sz="1250" b="0">
                          <a:solidFill>
                            <a:srgbClr val="202B38"/>
                          </a:solidFill>
                          <a:latin typeface="Arial"/>
                        </a:rPr>
                        <a:t>0.0706</a:t>
                      </a:r>
                    </a:p>
                  </a:txBody>
                  <a:tcPr>
                    <a:solidFill>
                      <a:srgbClr val="EEF3FD"/>
                    </a:solidFill>
                  </a:tcPr>
                </a:tc>
                <a:tc>
                  <a:txBody>
                    <a:bodyPr wrap="square"/>
                    <a:lstStyle/>
                    <a:p>
                      <a:pPr algn="l">
                        <a:spcAft>
                          <a:spcPts val="0"/>
                        </a:spcAft>
                        <a:buNone/>
                      </a:pPr>
                      <a:r>
                        <a:rPr sz="1250" b="0">
                          <a:solidFill>
                            <a:srgbClr val="202B38"/>
                          </a:solidFill>
                          <a:latin typeface="Arial"/>
                        </a:rPr>
                        <a:t>6</a:t>
                      </a:r>
                    </a:p>
                  </a:txBody>
                  <a:tcPr>
                    <a:solidFill>
                      <a:srgbClr val="EEF3FD"/>
                    </a:solidFill>
                  </a:tcPr>
                </a:tc>
                <a:tc>
                  <a:txBody>
                    <a:bodyPr wrap="square"/>
                    <a:lstStyle/>
                    <a:p>
                      <a:pPr algn="l">
                        <a:spcAft>
                          <a:spcPts val="0"/>
                        </a:spcAft>
                        <a:buNone/>
                      </a:pPr>
                      <a:r>
                        <a:rPr sz="1250" b="0">
                          <a:solidFill>
                            <a:srgbClr val="202B38"/>
                          </a:solidFill>
                          <a:latin typeface="Arial"/>
                        </a:rPr>
                        <a:t>0.0118</a:t>
                      </a:r>
                    </a:p>
                  </a:txBody>
                  <a:tcPr>
                    <a:solidFill>
                      <a:srgbClr val="EEF3FD"/>
                    </a:solidFill>
                  </a:tcPr>
                </a:tc>
                <a:tc>
                  <a:txBody>
                    <a:bodyPr wrap="square"/>
                    <a:lstStyle/>
                    <a:p>
                      <a:pPr algn="l">
                        <a:spcAft>
                          <a:spcPts val="0"/>
                        </a:spcAft>
                        <a:buNone/>
                      </a:pPr>
                      <a:r>
                        <a:rPr sz="1250" b="0">
                          <a:solidFill>
                            <a:srgbClr val="202B38"/>
                          </a:solidFill>
                          <a:latin typeface="Arial"/>
                        </a:rPr>
                        <a:t>1.8</a:t>
                      </a:r>
                    </a:p>
                  </a:txBody>
                  <a:tcPr>
                    <a:solidFill>
                      <a:srgbClr val="EEF3FD"/>
                    </a:solidFill>
                  </a:tcPr>
                </a:tc>
              </a:tr>
              <a:tr h="457200">
                <a:tc>
                  <a:txBody>
                    <a:bodyPr wrap="square"/>
                    <a:lstStyle/>
                    <a:p>
                      <a:pPr algn="l">
                        <a:spcAft>
                          <a:spcPts val="0"/>
                        </a:spcAft>
                        <a:buNone/>
                      </a:pPr>
                      <a:r>
                        <a:rPr sz="1250" b="0">
                          <a:solidFill>
                            <a:srgbClr val="202B38"/>
                          </a:solidFill>
                          <a:latin typeface="Arial"/>
                        </a:rPr>
                        <a:t>Handoff (research, then calculator)</a:t>
                      </a:r>
                    </a:p>
                  </a:txBody>
                  <a:tcPr>
                    <a:solidFill>
                      <a:srgbClr val="FFFFFF"/>
                    </a:solidFill>
                  </a:tcPr>
                </a:tc>
                <a:tc>
                  <a:txBody>
                    <a:bodyPr wrap="square"/>
                    <a:lstStyle/>
                    <a:p>
                      <a:pPr algn="l">
                        <a:spcAft>
                          <a:spcPts val="0"/>
                        </a:spcAft>
                        <a:buNone/>
                      </a:pPr>
                      <a:r>
                        <a:rPr sz="1250" b="0">
                          <a:solidFill>
                            <a:srgbClr val="202B38"/>
                          </a:solidFill>
                          <a:latin typeface="Arial"/>
                        </a:rPr>
                        <a:t>5</a:t>
                      </a:r>
                    </a:p>
                  </a:txBody>
                  <a:tcPr>
                    <a:solidFill>
                      <a:srgbClr val="FFFFFF"/>
                    </a:solidFill>
                  </a:tcPr>
                </a:tc>
                <a:tc>
                  <a:txBody>
                    <a:bodyPr wrap="square"/>
                    <a:lstStyle/>
                    <a:p>
                      <a:pPr algn="l">
                        <a:spcAft>
                          <a:spcPts val="0"/>
                        </a:spcAft>
                        <a:buNone/>
                      </a:pPr>
                      <a:r>
                        <a:rPr sz="1250" b="0">
                          <a:solidFill>
                            <a:srgbClr val="202B38"/>
                          </a:solidFill>
                          <a:latin typeface="Arial"/>
                        </a:rPr>
                        <a:t>3</a:t>
                      </a:r>
                    </a:p>
                  </a:txBody>
                  <a:tcPr>
                    <a:solidFill>
                      <a:srgbClr val="FFFFFF"/>
                    </a:solidFill>
                  </a:tcPr>
                </a:tc>
                <a:tc>
                  <a:txBody>
                    <a:bodyPr wrap="square"/>
                    <a:lstStyle/>
                    <a:p>
                      <a:pPr algn="l">
                        <a:spcAft>
                          <a:spcPts val="0"/>
                        </a:spcAft>
                        <a:buNone/>
                      </a:pPr>
                      <a:r>
                        <a:rPr sz="1250" b="0">
                          <a:solidFill>
                            <a:srgbClr val="202B38"/>
                          </a:solidFill>
                          <a:latin typeface="Arial"/>
                        </a:rPr>
                        <a:t>24,469</a:t>
                      </a:r>
                    </a:p>
                  </a:txBody>
                  <a:tcPr>
                    <a:solidFill>
                      <a:srgbClr val="FFFFFF"/>
                    </a:solidFill>
                  </a:tcPr>
                </a:tc>
                <a:tc>
                  <a:txBody>
                    <a:bodyPr wrap="square"/>
                    <a:lstStyle/>
                    <a:p>
                      <a:pPr algn="l">
                        <a:spcAft>
                          <a:spcPts val="0"/>
                        </a:spcAft>
                        <a:buNone/>
                      </a:pPr>
                      <a:r>
                        <a:rPr sz="1250" b="0">
                          <a:solidFill>
                            <a:srgbClr val="202B38"/>
                          </a:solidFill>
                          <a:latin typeface="Arial"/>
                        </a:rPr>
                        <a:t>242</a:t>
                      </a:r>
                    </a:p>
                  </a:txBody>
                  <a:tcPr>
                    <a:solidFill>
                      <a:srgbClr val="FFFFFF"/>
                    </a:solidFill>
                  </a:tcPr>
                </a:tc>
                <a:tc>
                  <a:txBody>
                    <a:bodyPr wrap="square"/>
                    <a:lstStyle/>
                    <a:p>
                      <a:pPr algn="l">
                        <a:spcAft>
                          <a:spcPts val="0"/>
                        </a:spcAft>
                        <a:buNone/>
                      </a:pPr>
                      <a:r>
                        <a:rPr sz="1250" b="0">
                          <a:solidFill>
                            <a:srgbClr val="202B38"/>
                          </a:solidFill>
                          <a:latin typeface="Arial"/>
                        </a:rPr>
                        <a:t>0.0514</a:t>
                      </a:r>
                    </a:p>
                  </a:txBody>
                  <a:tcPr>
                    <a:solidFill>
                      <a:srgbClr val="FFFFFF"/>
                    </a:solidFill>
                  </a:tcPr>
                </a:tc>
                <a:tc>
                  <a:txBody>
                    <a:bodyPr wrap="square"/>
                    <a:lstStyle/>
                    <a:p>
                      <a:pPr algn="l">
                        <a:spcAft>
                          <a:spcPts val="0"/>
                        </a:spcAft>
                        <a:buNone/>
                      </a:pPr>
                      <a:r>
                        <a:rPr sz="1250" b="0">
                          <a:solidFill>
                            <a:srgbClr val="202B38"/>
                          </a:solidFill>
                          <a:latin typeface="Arial"/>
                        </a:rPr>
                        <a:t>1</a:t>
                      </a:r>
                    </a:p>
                  </a:txBody>
                  <a:tcPr>
                    <a:solidFill>
                      <a:srgbClr val="FFFFFF"/>
                    </a:solidFill>
                  </a:tcPr>
                </a:tc>
                <a:tc>
                  <a:txBody>
                    <a:bodyPr wrap="square"/>
                    <a:lstStyle/>
                    <a:p>
                      <a:pPr algn="l">
                        <a:spcAft>
                          <a:spcPts val="0"/>
                        </a:spcAft>
                        <a:buNone/>
                      </a:pPr>
                      <a:r>
                        <a:rPr sz="1250" b="0">
                          <a:solidFill>
                            <a:srgbClr val="202B38"/>
                          </a:solidFill>
                          <a:latin typeface="Arial"/>
                        </a:rPr>
                        <a:t>0.0514</a:t>
                      </a:r>
                    </a:p>
                  </a:txBody>
                  <a:tcPr>
                    <a:solidFill>
                      <a:srgbClr val="FFFFFF"/>
                    </a:solidFill>
                  </a:tcPr>
                </a:tc>
                <a:tc>
                  <a:txBody>
                    <a:bodyPr wrap="square"/>
                    <a:lstStyle/>
                    <a:p>
                      <a:pPr algn="l">
                        <a:spcAft>
                          <a:spcPts val="0"/>
                        </a:spcAft>
                        <a:buNone/>
                      </a:pPr>
                      <a:r>
                        <a:rPr sz="1250" b="0">
                          <a:solidFill>
                            <a:srgbClr val="202B38"/>
                          </a:solidFill>
                          <a:latin typeface="Arial"/>
                        </a:rPr>
                        <a:t>1.3</a:t>
                      </a:r>
                    </a:p>
                  </a:txBody>
                  <a:tcPr>
                    <a:solidFill>
                      <a:srgbClr val="FFFFFF"/>
                    </a:solidFill>
                  </a:tcPr>
                </a:tc>
              </a:tr>
              <a:tr h="457200">
                <a:tc>
                  <a:txBody>
                    <a:bodyPr wrap="square"/>
                    <a:lstStyle/>
                    <a:p>
                      <a:pPr algn="l">
                        <a:spcAft>
                          <a:spcPts val="0"/>
                        </a:spcAft>
                        <a:buNone/>
                      </a:pPr>
                      <a:r>
                        <a:rPr sz="1250" b="0">
                          <a:solidFill>
                            <a:srgbClr val="202B38"/>
                          </a:solidFill>
                          <a:latin typeface="Arial"/>
                        </a:rPr>
                        <a:t>Fresh calculator (for comparison)</a:t>
                      </a:r>
                    </a:p>
                  </a:txBody>
                  <a:tcPr>
                    <a:solidFill>
                      <a:srgbClr val="EEF3FD"/>
                    </a:solidFill>
                  </a:tcPr>
                </a:tc>
                <a:tc>
                  <a:txBody>
                    <a:bodyPr wrap="square"/>
                    <a:lstStyle/>
                    <a:p>
                      <a:pPr algn="l">
                        <a:spcAft>
                          <a:spcPts val="0"/>
                        </a:spcAft>
                        <a:buNone/>
                      </a:pPr>
                      <a:r>
                        <a:rPr sz="1250" b="0">
                          <a:solidFill>
                            <a:srgbClr val="202B38"/>
                          </a:solidFill>
                          <a:latin typeface="Arial"/>
                        </a:rPr>
                        <a:t>2</a:t>
                      </a:r>
                    </a:p>
                  </a:txBody>
                  <a:tcPr>
                    <a:solidFill>
                      <a:srgbClr val="EEF3FD"/>
                    </a:solidFill>
                  </a:tcPr>
                </a:tc>
                <a:tc>
                  <a:txBody>
                    <a:bodyPr wrap="square"/>
                    <a:lstStyle/>
                    <a:p>
                      <a:pPr algn="l">
                        <a:spcAft>
                          <a:spcPts val="0"/>
                        </a:spcAft>
                        <a:buNone/>
                      </a:pPr>
                      <a:r>
                        <a:rPr sz="1250" b="0">
                          <a:solidFill>
                            <a:srgbClr val="202B38"/>
                          </a:solidFill>
                          <a:latin typeface="Arial"/>
                        </a:rPr>
                        <a:t>1</a:t>
                      </a:r>
                    </a:p>
                  </a:txBody>
                  <a:tcPr>
                    <a:solidFill>
                      <a:srgbClr val="EEF3FD"/>
                    </a:solidFill>
                  </a:tcPr>
                </a:tc>
                <a:tc>
                  <a:txBody>
                    <a:bodyPr wrap="square"/>
                    <a:lstStyle/>
                    <a:p>
                      <a:pPr algn="l">
                        <a:spcAft>
                          <a:spcPts val="0"/>
                        </a:spcAft>
                        <a:buNone/>
                      </a:pPr>
                      <a:r>
                        <a:rPr sz="1250" b="0">
                          <a:solidFill>
                            <a:srgbClr val="202B38"/>
                          </a:solidFill>
                          <a:latin typeface="Arial"/>
                        </a:rPr>
                        <a:t>1,110</a:t>
                      </a:r>
                    </a:p>
                  </a:txBody>
                  <a:tcPr>
                    <a:solidFill>
                      <a:srgbClr val="EEF3FD"/>
                    </a:solidFill>
                  </a:tcPr>
                </a:tc>
                <a:tc>
                  <a:txBody>
                    <a:bodyPr wrap="square"/>
                    <a:lstStyle/>
                    <a:p>
                      <a:pPr algn="l">
                        <a:spcAft>
                          <a:spcPts val="0"/>
                        </a:spcAft>
                        <a:buNone/>
                      </a:pPr>
                      <a:r>
                        <a:rPr sz="1250" b="0">
                          <a:solidFill>
                            <a:srgbClr val="202B38"/>
                          </a:solidFill>
                          <a:latin typeface="Arial"/>
                        </a:rPr>
                        <a:t>71</a:t>
                      </a:r>
                    </a:p>
                  </a:txBody>
                  <a:tcPr>
                    <a:solidFill>
                      <a:srgbClr val="EEF3FD"/>
                    </a:solidFill>
                  </a:tcPr>
                </a:tc>
                <a:tc>
                  <a:txBody>
                    <a:bodyPr wrap="square"/>
                    <a:lstStyle/>
                    <a:p>
                      <a:pPr algn="l">
                        <a:spcAft>
                          <a:spcPts val="0"/>
                        </a:spcAft>
                        <a:buNone/>
                      </a:pPr>
                      <a:r>
                        <a:rPr sz="1250" b="0">
                          <a:solidFill>
                            <a:srgbClr val="202B38"/>
                          </a:solidFill>
                          <a:latin typeface="Arial"/>
                        </a:rPr>
                        <a:t>0.0029</a:t>
                      </a:r>
                    </a:p>
                  </a:txBody>
                  <a:tcPr>
                    <a:solidFill>
                      <a:srgbClr val="EEF3FD"/>
                    </a:solidFill>
                  </a:tcPr>
                </a:tc>
                <a:tc>
                  <a:txBody>
                    <a:bodyPr wrap="square"/>
                    <a:lstStyle/>
                    <a:p>
                      <a:pPr algn="l">
                        <a:spcAft>
                          <a:spcPts val="0"/>
                        </a:spcAft>
                        <a:buNone/>
                      </a:pPr>
                      <a:r>
                        <a:rPr sz="1250" b="0">
                          <a:solidFill>
                            <a:srgbClr val="202B38"/>
                          </a:solidFill>
                          <a:latin typeface="Arial"/>
                        </a:rPr>
                        <a:t>1</a:t>
                      </a:r>
                    </a:p>
                  </a:txBody>
                  <a:tcPr>
                    <a:solidFill>
                      <a:srgbClr val="EEF3FD"/>
                    </a:solidFill>
                  </a:tcPr>
                </a:tc>
                <a:tc>
                  <a:txBody>
                    <a:bodyPr wrap="square"/>
                    <a:lstStyle/>
                    <a:p>
                      <a:pPr algn="l">
                        <a:spcAft>
                          <a:spcPts val="0"/>
                        </a:spcAft>
                        <a:buNone/>
                      </a:pPr>
                      <a:r>
                        <a:rPr sz="1250" b="0">
                          <a:solidFill>
                            <a:srgbClr val="202B38"/>
                          </a:solidFill>
                          <a:latin typeface="Arial"/>
                        </a:rPr>
                        <a:t>0.0029</a:t>
                      </a:r>
                    </a:p>
                  </a:txBody>
                  <a:tcPr>
                    <a:solidFill>
                      <a:srgbClr val="EEF3FD"/>
                    </a:solidFill>
                  </a:tcPr>
                </a:tc>
                <a:tc>
                  <a:txBody>
                    <a:bodyPr wrap="square"/>
                    <a:lstStyle/>
                    <a:p>
                      <a:pPr algn="l">
                        <a:spcAft>
                          <a:spcPts val="0"/>
                        </a:spcAft>
                        <a:buNone/>
                      </a:pPr>
                      <a:r>
                        <a:rPr sz="1250" b="0">
                          <a:solidFill>
                            <a:srgbClr val="202B38"/>
                          </a:solidFill>
                          <a:latin typeface="Arial"/>
                        </a:rPr>
                        <a:t>0.1</a:t>
                      </a:r>
                    </a:p>
                  </a:txBody>
                  <a:tcPr>
                    <a:solidFill>
                      <a:srgbClr val="EEF3FD"/>
                    </a:solidFill>
                  </a:tcPr>
                </a:tc>
              </a:tr>
              <a:tr h="457200">
                <a:tc>
                  <a:txBody>
                    <a:bodyPr wrap="square"/>
                    <a:lstStyle/>
                    <a:p>
                      <a:pPr algn="l">
                        <a:spcAft>
                          <a:spcPts val="0"/>
                        </a:spcAft>
                        <a:buNone/>
                      </a:pPr>
                      <a:r>
                        <a:rPr sz="1250" b="0">
                          <a:solidFill>
                            <a:srgbClr val="202B38"/>
                          </a:solidFill>
                          <a:latin typeface="Arial"/>
                        </a:rPr>
                        <a:t>Runaway prevention (two capped runs)</a:t>
                      </a:r>
                    </a:p>
                  </a:txBody>
                  <a:tcPr>
                    <a:solidFill>
                      <a:srgbClr val="FFFFFF"/>
                    </a:solidFill>
                  </a:tcPr>
                </a:tc>
                <a:tc>
                  <a:txBody>
                    <a:bodyPr wrap="square"/>
                    <a:lstStyle/>
                    <a:p>
                      <a:pPr algn="l">
                        <a:spcAft>
                          <a:spcPts val="0"/>
                        </a:spcAft>
                        <a:buNone/>
                      </a:pPr>
                      <a:r>
                        <a:rPr sz="1250" b="0">
                          <a:solidFill>
                            <a:srgbClr val="202B38"/>
                          </a:solidFill>
                          <a:latin typeface="Arial"/>
                        </a:rPr>
                        <a:t>10</a:t>
                      </a:r>
                    </a:p>
                  </a:txBody>
                  <a:tcPr>
                    <a:solidFill>
                      <a:srgbClr val="FFFFFF"/>
                    </a:solidFill>
                  </a:tcPr>
                </a:tc>
                <a:tc>
                  <a:txBody>
                    <a:bodyPr wrap="square"/>
                    <a:lstStyle/>
                    <a:p>
                      <a:pPr algn="l">
                        <a:spcAft>
                          <a:spcPts val="0"/>
                        </a:spcAft>
                        <a:buNone/>
                      </a:pPr>
                      <a:r>
                        <a:rPr sz="1250" b="0">
                          <a:solidFill>
                            <a:srgbClr val="202B38"/>
                          </a:solidFill>
                          <a:latin typeface="Arial"/>
                        </a:rPr>
                        <a:t>60</a:t>
                      </a:r>
                    </a:p>
                  </a:txBody>
                  <a:tcPr>
                    <a:solidFill>
                      <a:srgbClr val="FFFFFF"/>
                    </a:solidFill>
                  </a:tcPr>
                </a:tc>
                <a:tc>
                  <a:txBody>
                    <a:bodyPr wrap="square"/>
                    <a:lstStyle/>
                    <a:p>
                      <a:pPr algn="l">
                        <a:spcAft>
                          <a:spcPts val="0"/>
                        </a:spcAft>
                        <a:buNone/>
                      </a:pPr>
                      <a:r>
                        <a:rPr sz="1250" b="0">
                          <a:solidFill>
                            <a:srgbClr val="202B38"/>
                          </a:solidFill>
                          <a:latin typeface="Arial"/>
                        </a:rPr>
                        <a:t>18,958</a:t>
                      </a:r>
                    </a:p>
                  </a:txBody>
                  <a:tcPr>
                    <a:solidFill>
                      <a:srgbClr val="FFFFFF"/>
                    </a:solidFill>
                  </a:tcPr>
                </a:tc>
                <a:tc>
                  <a:txBody>
                    <a:bodyPr wrap="square"/>
                    <a:lstStyle/>
                    <a:p>
                      <a:pPr algn="l">
                        <a:spcAft>
                          <a:spcPts val="0"/>
                        </a:spcAft>
                        <a:buNone/>
                      </a:pPr>
                      <a:r>
                        <a:rPr sz="1250" b="0">
                          <a:solidFill>
                            <a:srgbClr val="202B38"/>
                          </a:solidFill>
                          <a:latin typeface="Arial"/>
                        </a:rPr>
                        <a:t>3,495</a:t>
                      </a:r>
                    </a:p>
                  </a:txBody>
                  <a:tcPr>
                    <a:solidFill>
                      <a:srgbClr val="FFFFFF"/>
                    </a:solidFill>
                  </a:tcPr>
                </a:tc>
                <a:tc>
                  <a:txBody>
                    <a:bodyPr wrap="square"/>
                    <a:lstStyle/>
                    <a:p>
                      <a:pPr algn="l">
                        <a:spcAft>
                          <a:spcPts val="0"/>
                        </a:spcAft>
                        <a:buNone/>
                      </a:pPr>
                      <a:r>
                        <a:rPr sz="1250" b="0">
                          <a:solidFill>
                            <a:srgbClr val="202B38"/>
                          </a:solidFill>
                          <a:latin typeface="Arial"/>
                        </a:rPr>
                        <a:t>0.0729</a:t>
                      </a:r>
                    </a:p>
                  </a:txBody>
                  <a:tcPr>
                    <a:solidFill>
                      <a:srgbClr val="FFFFFF"/>
                    </a:solidFill>
                  </a:tcPr>
                </a:tc>
                <a:tc>
                  <a:txBody>
                    <a:bodyPr wrap="square"/>
                    <a:lstStyle/>
                    <a:p>
                      <a:pPr algn="l">
                        <a:spcAft>
                          <a:spcPts val="0"/>
                        </a:spcAft>
                        <a:buNone/>
                      </a:pPr>
                      <a:r>
                        <a:rPr sz="1250" b="0">
                          <a:solidFill>
                            <a:srgbClr val="202B38"/>
                          </a:solidFill>
                          <a:latin typeface="Arial"/>
                        </a:rPr>
                        <a:t>0</a:t>
                      </a:r>
                    </a:p>
                  </a:txBody>
                  <a:tcPr>
                    <a:solidFill>
                      <a:srgbClr val="FFFFFF"/>
                    </a:solidFill>
                  </a:tcPr>
                </a:tc>
                <a:tc>
                  <a:txBody>
                    <a:bodyPr wrap="square"/>
                    <a:lstStyle/>
                    <a:p>
                      <a:pPr algn="l">
                        <a:spcAft>
                          <a:spcPts val="0"/>
                        </a:spcAft>
                        <a:buNone/>
                      </a:pPr>
                      <a:r>
                        <a:rPr sz="1250" b="0">
                          <a:solidFill>
                            <a:srgbClr val="202B38"/>
                          </a:solidFill>
                          <a:latin typeface="Arial"/>
                        </a:rPr>
                        <a:t>-</a:t>
                      </a:r>
                    </a:p>
                  </a:txBody>
                  <a:tcPr>
                    <a:solidFill>
                      <a:srgbClr val="FFFFFF"/>
                    </a:solidFill>
                  </a:tcPr>
                </a:tc>
                <a:tc>
                  <a:txBody>
                    <a:bodyPr wrap="square"/>
                    <a:lstStyle/>
                    <a:p>
                      <a:pPr algn="l">
                        <a:spcAft>
                          <a:spcPts val="0"/>
                        </a:spcAft>
                        <a:buNone/>
                      </a:pPr>
                      <a:r>
                        <a:rPr sz="1250" b="0">
                          <a:solidFill>
                            <a:srgbClr val="202B38"/>
                          </a:solidFill>
                          <a:latin typeface="Arial"/>
                        </a:rPr>
                        <a:t>1.8</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How to read it: one row per architecture, every model call it made, workers included. Compare USD per answer: flat at 0.0118 to 0.0148 except the handoff, whose two specialist calls each carried 7,017 inherited tokens. Recorded run on claude-opus-5 (lead) and claude-sonnet-5 (workers), 30 Sep 2026; live runs vary.</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LAB 4 - CLAUDE CODE SUBAGENTS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Lab 4: a subagent is one Markdown file with its own context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You type: 'Use the repo-researcher subagent to find the Python version of the notebook workflow'</a:t>
            </a:r>
          </a:p>
          <a:p>
            <a:pPr algn="l" indent="-228600" marL="228600">
              <a:spcAft>
                <a:spcPts val="800"/>
              </a:spcAft>
              <a:buClr>
                <a:srgbClr val="1E5EF3"/>
              </a:buClr>
              <a:buChar char="—"/>
            </a:pPr>
            <a:r>
              <a:rPr sz="1450" b="0">
                <a:solidFill>
                  <a:srgbClr val="202B38"/>
                </a:solidFill>
                <a:latin typeface="Arial"/>
              </a:rPr>
              <a:t>You see: Python 3.12, quoting .github/workflows/notebooks.yml; 2 turns, total_cost_usd 0.1709</a:t>
            </a:r>
          </a:p>
          <a:p>
            <a:pPr algn="l" indent="-228600" marL="228600">
              <a:spcAft>
                <a:spcPts val="800"/>
              </a:spcAft>
              <a:buClr>
                <a:srgbClr val="1E5EF3"/>
              </a:buClr>
              <a:buChar char="—"/>
            </a:pPr>
            <a:r>
              <a:rPr sz="1450" b="0">
                <a:solidFill>
                  <a:srgbClr val="202B38"/>
                </a:solidFill>
                <a:latin typeface="Arial"/>
              </a:rPr>
              <a:t>Inside: 7 tool calls, one 2,583-character Read; out: a single 3,284-character result</a:t>
            </a:r>
          </a:p>
          <a:p>
            <a:pPr algn="l" indent="-228600" marL="228600">
              <a:spcAft>
                <a:spcPts val="800"/>
              </a:spcAft>
              <a:buClr>
                <a:srgbClr val="1E5EF3"/>
              </a:buClr>
              <a:buChar char="—"/>
            </a:pPr>
            <a:r>
              <a:rPr sz="1450" b="0">
                <a:solidFill>
                  <a:srgbClr val="202B38"/>
                </a:solidFill>
                <a:latin typeface="Arial"/>
              </a:rPr>
              <a:t>modelUsage bills each model: main agent 0.1168 USD, the sonnet subagent 0.0541 USD</a:t>
            </a:r>
          </a:p>
          <a:p>
            <a:pPr algn="l" indent="-228600" marL="228600">
              <a:spcAft>
                <a:spcPts val="800"/>
              </a:spcAft>
              <a:buClr>
                <a:srgbClr val="1E5EF3"/>
              </a:buClr>
              <a:buChar char="—"/>
            </a:pPr>
            <a:r>
              <a:rPr sz="1450" b="0">
                <a:solidFill>
                  <a:srgbClr val="202B38"/>
                </a:solidFill>
                <a:latin typeface="Arial"/>
              </a:rPr>
              <a:t>Trap question (the dean): 'not in the repository', 0.2455 USD; it only searched lab/ - teach delegation</a:t>
            </a:r>
          </a:p>
          <a:p>
            <a:pPr algn="l" indent="-228600" marL="228600">
              <a:spcAft>
                <a:spcPts val="800"/>
              </a:spcAft>
              <a:buClr>
                <a:srgbClr val="1E5EF3"/>
              </a:buClr>
              <a:buChar char="—"/>
            </a:pPr>
            <a:r>
              <a:rPr sz="1450" b="0">
                <a:solidFill>
                  <a:srgbClr val="202B38"/>
                </a:solidFill>
                <a:latin typeface="Arial"/>
              </a:rPr>
              <a:t>In plain words: the notebook's delegate tool, shipped as a feature you configure in a file</a:t>
            </a:r>
          </a:p>
        </p:txBody>
      </p:sp>
      <p:pic>
        <p:nvPicPr>
          <p:cNvPr id="8" name="Picture 7" descr="s4_lab_subagent.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Observed with Claude Code 2.1.278 on 30 Sep 2026, claude -p from lab/; live runs vary. Files: lab/.claude/agents/*.md, log lab/.claude/tool-calls.log (lab guide, section 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LAB 4 - HOOKS, PERMISSIONS, AGENT TEAMS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Lab 4: hooks are the brake, rules the law, teams a preview</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Hooks and rules in .claude/settings.json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PreToolUse on Bash runs block_env_access.py: any command touching .env exits 2 and the reason goes back to the model</a:t>
            </a:r>
          </a:p>
          <a:p>
            <a:pPr algn="l" indent="-228600" marL="228600">
              <a:spcAft>
                <a:spcPts val="600"/>
              </a:spcAft>
              <a:buClr>
                <a:srgbClr val="1E5EF3"/>
              </a:buClr>
              <a:buChar char="—"/>
            </a:pPr>
            <a:r>
              <a:rPr sz="1300" b="0">
                <a:solidFill>
                  <a:srgbClr val="202B38"/>
                </a:solidFill>
                <a:latin typeface="Arial"/>
              </a:rPr>
              <a:t>Run 2, 'cat ../../.env': the model refused on its own, 1 turn, 0.1500 USD. CLAUDE.md held; on its own it is the weakest layer</a:t>
            </a:r>
          </a:p>
          <a:p>
            <a:pPr algn="l" indent="-228600" marL="228600">
              <a:spcAft>
                <a:spcPts val="600"/>
              </a:spcAft>
              <a:buClr>
                <a:srgbClr val="1E5EF3"/>
              </a:buClr>
              <a:buChar char="—"/>
            </a:pPr>
            <a:r>
              <a:rPr sz="1300" b="0">
                <a:solidFill>
                  <a:srgbClr val="202B38"/>
                </a:solidFill>
                <a:latin typeface="Arial"/>
              </a:rPr>
              <a:t>Run 4, 'check the size of ../../.env': the model tried stat, the hook blocked it, 2 turns, 0.2522 USD; it reported the block and offered alternatives</a:t>
            </a:r>
          </a:p>
          <a:p>
            <a:pPr algn="l" indent="-228600" marL="228600">
              <a:spcAft>
                <a:spcPts val="600"/>
              </a:spcAft>
              <a:buClr>
                <a:srgbClr val="1E5EF3"/>
              </a:buClr>
              <a:buChar char="—"/>
            </a:pPr>
            <a:r>
              <a:rPr sz="1300" b="0">
                <a:solidFill>
                  <a:srgbClr val="202B38"/>
                </a:solidFill>
                <a:latin typeface="Arial"/>
              </a:rPr>
              <a:t>PostToolUse on * logs tool, input and result size, never the result; the blocked call left no line</a:t>
            </a:r>
          </a:p>
          <a:p>
            <a:pPr algn="l" indent="-228600" marL="228600">
              <a:spcAft>
                <a:spcPts val="600"/>
              </a:spcAft>
              <a:buClr>
                <a:srgbClr val="1E5EF3"/>
              </a:buClr>
              <a:buChar char="—"/>
            </a:pPr>
            <a:r>
              <a:rPr sz="1300" b="0">
                <a:solidFill>
                  <a:srgbClr val="202B38"/>
                </a:solidFill>
                <a:latin typeface="Arial"/>
              </a:rPr>
              <a:t>deny: Read(**/.env) blocks in every mode; a blocking hook beats an allow rule such as Bash(cat *)</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Modes, agent teams and the bill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--permission-mode: default (reads only), acceptEdits, plan, auto, dontAsk, bypassPermissions</a:t>
            </a:r>
          </a:p>
          <a:p>
            <a:pPr algn="l" indent="-228600" marL="228600">
              <a:spcAft>
                <a:spcPts val="600"/>
              </a:spcAft>
              <a:buClr>
                <a:srgbClr val="1E5EF3"/>
              </a:buClr>
              <a:buChar char="—"/>
            </a:pPr>
            <a:r>
              <a:rPr sz="1300" b="0">
                <a:solidFill>
                  <a:srgbClr val="202B38"/>
                </a:solidFill>
                <a:latin typeface="Arial"/>
              </a:rPr>
              <a:t>For scripts and CI: dontAsk plus an exact --allowedTools list; anything else is denied, not asked</a:t>
            </a:r>
          </a:p>
          <a:p>
            <a:pPr algn="l" indent="-228600" marL="228600">
              <a:spcAft>
                <a:spcPts val="600"/>
              </a:spcAft>
              <a:buClr>
                <a:srgbClr val="1E5EF3"/>
              </a:buClr>
              <a:buChar char="—"/>
            </a:pPr>
            <a:r>
              <a:rPr sz="1300" b="0">
                <a:solidFill>
                  <a:srgbClr val="202B38"/>
                </a:solidFill>
                <a:latin typeface="Arial"/>
              </a:rPr>
              <a:t>Agent teams are experimental and off: "env": {"CLAUDE_CODE_EXPERIMENTAL_AGENT_TEAMS": "1"} in settings.json switches them on</a:t>
            </a:r>
          </a:p>
          <a:p>
            <a:pPr algn="l" indent="-228600" marL="228600">
              <a:spcAft>
                <a:spcPts val="600"/>
              </a:spcAft>
              <a:buClr>
                <a:srgbClr val="1E5EF3"/>
              </a:buClr>
              <a:buChar char="—"/>
            </a:pPr>
            <a:r>
              <a:rPr sz="1300" b="0">
                <a:solidFill>
                  <a:srgbClr val="202B38"/>
                </a:solidFill>
                <a:latin typeface="Arial"/>
              </a:rPr>
              <a:t>Teams need an interactive terminal; named subagents become teammates; the docs quote about 7x the tokens of a session</a:t>
            </a:r>
          </a:p>
          <a:p>
            <a:pPr algn="l" indent="-228600" marL="228600">
              <a:spcAft>
                <a:spcPts val="600"/>
              </a:spcAft>
              <a:buClr>
                <a:srgbClr val="1E5EF3"/>
              </a:buClr>
              <a:buChar char="—"/>
            </a:pPr>
            <a:r>
              <a:rPr sz="1300" b="0">
                <a:solidFill>
                  <a:srgbClr val="202B38"/>
                </a:solidFill>
                <a:latin typeface="Arial"/>
              </a:rPr>
              <a:t>/usage shows the session bill; the four recorded -p runs cost 0.8186 USD, mostly cache reads</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Observed with Claude Code 2.1.278 on 30 Sep 2026, claude -p from lab/; live runs vary. Interactive-only behaviour is 'expected' per code.claude.com/docs. Files: lab/.claude/settings.json, lab/.claude/hooks/*.py (lab guide, sections 2 to 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ANATOMY, REVISITED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eight pieces of a harness - and what you built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4114800"/>
        </p:xfrm>
        <a:graphic>
          <a:graphicData uri="http://schemas.openxmlformats.org/drawingml/2006/table">
            <a:tbl>
              <a:tblPr firstRow="1" bandRow="1">
                <a:tableStyleId>{5C22544A-7EE6-4342-B048-85BDC9FD1C3A}</a:tableStyleId>
              </a:tblPr>
              <a:tblGrid>
                <a:gridCol w="1833334"/>
                <a:gridCol w="2016667"/>
                <a:gridCol w="7241670"/>
              </a:tblGrid>
              <a:tr h="457200">
                <a:tc>
                  <a:txBody>
                    <a:bodyPr wrap="square"/>
                    <a:lstStyle/>
                    <a:p>
                      <a:pPr algn="l">
                        <a:spcAft>
                          <a:spcPts val="0"/>
                        </a:spcAft>
                        <a:buNone/>
                      </a:pPr>
                      <a:r>
                        <a:rPr sz="1300" b="1">
                          <a:solidFill>
                            <a:srgbClr val="FFFFFF"/>
                          </a:solidFill>
                          <a:latin typeface="Arial"/>
                        </a:rPr>
                        <a:t>Piece</a:t>
                      </a:r>
                    </a:p>
                  </a:txBody>
                  <a:tcPr>
                    <a:solidFill>
                      <a:srgbClr val="0A2540"/>
                    </a:solidFill>
                  </a:tcPr>
                </a:tc>
                <a:tc>
                  <a:txBody>
                    <a:bodyPr wrap="square"/>
                    <a:lstStyle/>
                    <a:p>
                      <a:pPr algn="l">
                        <a:spcAft>
                          <a:spcPts val="0"/>
                        </a:spcAft>
                        <a:buNone/>
                      </a:pPr>
                      <a:r>
                        <a:rPr sz="1300" b="1">
                          <a:solidFill>
                            <a:srgbClr val="FFFFFF"/>
                          </a:solidFill>
                          <a:latin typeface="Arial"/>
                        </a:rPr>
                        <a:t>In the car</a:t>
                      </a:r>
                    </a:p>
                  </a:txBody>
                  <a:tcPr>
                    <a:solidFill>
                      <a:srgbClr val="0A2540"/>
                    </a:solidFill>
                  </a:tcPr>
                </a:tc>
                <a:tc>
                  <a:txBody>
                    <a:bodyPr wrap="square"/>
                    <a:lstStyle/>
                    <a:p>
                      <a:pPr algn="l">
                        <a:spcAft>
                          <a:spcPts val="0"/>
                        </a:spcAft>
                        <a:buNone/>
                      </a:pPr>
                      <a:r>
                        <a:rPr sz="1300" b="1">
                          <a:solidFill>
                            <a:srgbClr val="FFFFFF"/>
                          </a:solidFill>
                          <a:latin typeface="Arial"/>
                        </a:rPr>
                        <a:t>What you built (notebooks 01 to 04, labs 2 and 4)</a:t>
                      </a:r>
                    </a:p>
                  </a:txBody>
                  <a:tcPr>
                    <a:solidFill>
                      <a:srgbClr val="0A2540"/>
                    </a:solidFill>
                  </a:tcPr>
                </a:tc>
              </a:tr>
              <a:tr h="457200">
                <a:tc>
                  <a:txBody>
                    <a:bodyPr wrap="square"/>
                    <a:lstStyle/>
                    <a:p>
                      <a:pPr algn="l">
                        <a:spcAft>
                          <a:spcPts val="0"/>
                        </a:spcAft>
                        <a:buNone/>
                      </a:pPr>
                      <a:r>
                        <a:rPr sz="1250" b="0">
                          <a:solidFill>
                            <a:srgbClr val="202B38"/>
                          </a:solidFill>
                          <a:latin typeface="Arial"/>
                        </a:rPr>
                        <a:t>1. Model</a:t>
                      </a:r>
                    </a:p>
                  </a:txBody>
                  <a:tcPr>
                    <a:solidFill>
                      <a:srgbClr val="FFFFFF"/>
                    </a:solidFill>
                  </a:tcPr>
                </a:tc>
                <a:tc>
                  <a:txBody>
                    <a:bodyPr wrap="square"/>
                    <a:lstStyle/>
                    <a:p>
                      <a:pPr algn="l">
                        <a:spcAft>
                          <a:spcPts val="0"/>
                        </a:spcAft>
                        <a:buNone/>
                      </a:pPr>
                      <a:r>
                        <a:rPr sz="1250" b="0">
                          <a:solidFill>
                            <a:srgbClr val="202B38"/>
                          </a:solidFill>
                          <a:latin typeface="Arial"/>
                        </a:rPr>
                        <a:t>the engine</a:t>
                      </a:r>
                    </a:p>
                  </a:txBody>
                  <a:tcPr>
                    <a:solidFill>
                      <a:srgbClr val="FFFFFF"/>
                    </a:solidFill>
                  </a:tcPr>
                </a:tc>
                <a:tc>
                  <a:txBody>
                    <a:bodyPr wrap="square"/>
                    <a:lstStyle/>
                    <a:p>
                      <a:pPr algn="l">
                        <a:spcAft>
                          <a:spcPts val="0"/>
                        </a:spcAft>
                        <a:buNone/>
                      </a:pPr>
                      <a:r>
                        <a:rPr sz="1250" b="0">
                          <a:solidFill>
                            <a:srgbClr val="202B38"/>
                          </a:solidFill>
                          <a:latin typeface="Arial"/>
                        </a:rPr>
                        <a:t>Nb 01: messages.create on the raw SDK and its cost; nb 02: three Claude models</a:t>
                      </a:r>
                    </a:p>
                  </a:txBody>
                  <a:tcPr>
                    <a:solidFill>
                      <a:srgbClr val="FFFFFF"/>
                    </a:solidFill>
                  </a:tcPr>
                </a:tc>
              </a:tr>
              <a:tr h="457200">
                <a:tc>
                  <a:txBody>
                    <a:bodyPr wrap="square"/>
                    <a:lstStyle/>
                    <a:p>
                      <a:pPr algn="l">
                        <a:spcAft>
                          <a:spcPts val="0"/>
                        </a:spcAft>
                        <a:buNone/>
                      </a:pPr>
                      <a:r>
                        <a:rPr sz="1250" b="0">
                          <a:solidFill>
                            <a:srgbClr val="202B38"/>
                          </a:solidFill>
                          <a:latin typeface="Arial"/>
                        </a:rPr>
                        <a:t>2. Context</a:t>
                      </a:r>
                    </a:p>
                  </a:txBody>
                  <a:tcPr>
                    <a:solidFill>
                      <a:srgbClr val="EEF3FD"/>
                    </a:solidFill>
                  </a:tcPr>
                </a:tc>
                <a:tc>
                  <a:txBody>
                    <a:bodyPr wrap="square"/>
                    <a:lstStyle/>
                    <a:p>
                      <a:pPr algn="l">
                        <a:spcAft>
                          <a:spcPts val="0"/>
                        </a:spcAft>
                        <a:buNone/>
                      </a:pPr>
                      <a:r>
                        <a:rPr sz="1250" b="0">
                          <a:solidFill>
                            <a:srgbClr val="202B38"/>
                          </a:solidFill>
                          <a:latin typeface="Arial"/>
                        </a:rPr>
                        <a:t>dashboard and mirrors</a:t>
                      </a:r>
                    </a:p>
                  </a:txBody>
                  <a:tcPr>
                    <a:solidFill>
                      <a:srgbClr val="EEF3FD"/>
                    </a:solidFill>
                  </a:tcPr>
                </a:tc>
                <a:tc>
                  <a:txBody>
                    <a:bodyPr wrap="square"/>
                    <a:lstStyle/>
                    <a:p>
                      <a:pPr algn="l">
                        <a:spcAft>
                          <a:spcPts val="0"/>
                        </a:spcAft>
                        <a:buNone/>
                      </a:pPr>
                      <a:r>
                        <a:rPr sz="1250" b="0">
                          <a:solidFill>
                            <a:srgbClr val="202B38"/>
                          </a:solidFill>
                          <a:latin typeface="Arial"/>
                        </a:rPr>
                        <a:t>Nb 02: count_tokens, growing session, compaction, notes; nb 04: a small lead</a:t>
                      </a:r>
                    </a:p>
                  </a:txBody>
                  <a:tcPr>
                    <a:solidFill>
                      <a:srgbClr val="EEF3FD"/>
                    </a:solidFill>
                  </a:tcPr>
                </a:tc>
              </a:tr>
              <a:tr h="457200">
                <a:tc>
                  <a:txBody>
                    <a:bodyPr wrap="square"/>
                    <a:lstStyle/>
                    <a:p>
                      <a:pPr algn="l">
                        <a:spcAft>
                          <a:spcPts val="0"/>
                        </a:spcAft>
                        <a:buNone/>
                      </a:pPr>
                      <a:r>
                        <a:rPr sz="1250" b="0">
                          <a:solidFill>
                            <a:srgbClr val="202B38"/>
                          </a:solidFill>
                          <a:latin typeface="Arial"/>
                        </a:rPr>
                        <a:t>3. Tools</a:t>
                      </a:r>
                    </a:p>
                  </a:txBody>
                  <a:tcPr>
                    <a:solidFill>
                      <a:srgbClr val="FFFFFF"/>
                    </a:solidFill>
                  </a:tcPr>
                </a:tc>
                <a:tc>
                  <a:txBody>
                    <a:bodyPr wrap="square"/>
                    <a:lstStyle/>
                    <a:p>
                      <a:pPr algn="l">
                        <a:spcAft>
                          <a:spcPts val="0"/>
                        </a:spcAft>
                        <a:buNone/>
                      </a:pPr>
                      <a:r>
                        <a:rPr sz="1250" b="0">
                          <a:solidFill>
                            <a:srgbClr val="202B38"/>
                          </a:solidFill>
                          <a:latin typeface="Arial"/>
                        </a:rPr>
                        <a:t>the trailer hitch</a:t>
                      </a:r>
                    </a:p>
                  </a:txBody>
                  <a:tcPr>
                    <a:solidFill>
                      <a:srgbClr val="FFFFFF"/>
                    </a:solidFill>
                  </a:tcPr>
                </a:tc>
                <a:tc>
                  <a:txBody>
                    <a:bodyPr wrap="square"/>
                    <a:lstStyle/>
                    <a:p>
                      <a:pPr algn="l">
                        <a:spcAft>
                          <a:spcPts val="0"/>
                        </a:spcAft>
                        <a:buNone/>
                      </a:pPr>
                      <a:r>
                        <a:rPr sz="1250" b="0">
                          <a:solidFill>
                            <a:srgbClr val="202B38"/>
                          </a:solidFill>
                          <a:latin typeface="Arial"/>
                        </a:rPr>
                        <a:t>Nb 01: list_files, read_file as JSON schemas, 40-line loop; nb 02: vague tool</a:t>
                      </a:r>
                    </a:p>
                  </a:txBody>
                  <a:tcPr>
                    <a:solidFill>
                      <a:srgbClr val="FFFFFF"/>
                    </a:solidFill>
                  </a:tcPr>
                </a:tc>
              </a:tr>
              <a:tr h="457200">
                <a:tc>
                  <a:txBody>
                    <a:bodyPr wrap="square"/>
                    <a:lstStyle/>
                    <a:p>
                      <a:pPr algn="l">
                        <a:spcAft>
                          <a:spcPts val="0"/>
                        </a:spcAft>
                        <a:buNone/>
                      </a:pPr>
                      <a:r>
                        <a:rPr sz="1250" b="0">
                          <a:solidFill>
                            <a:srgbClr val="202B38"/>
                          </a:solidFill>
                          <a:latin typeface="Arial"/>
                        </a:rPr>
                        <a:t>4. Skills</a:t>
                      </a:r>
                    </a:p>
                  </a:txBody>
                  <a:tcPr>
                    <a:solidFill>
                      <a:srgbClr val="EEF3FD"/>
                    </a:solidFill>
                  </a:tcPr>
                </a:tc>
                <a:tc>
                  <a:txBody>
                    <a:bodyPr wrap="square"/>
                    <a:lstStyle/>
                    <a:p>
                      <a:pPr algn="l">
                        <a:spcAft>
                          <a:spcPts val="0"/>
                        </a:spcAft>
                        <a:buNone/>
                      </a:pPr>
                      <a:r>
                        <a:rPr sz="1250" b="0">
                          <a:solidFill>
                            <a:srgbClr val="202B38"/>
                          </a:solidFill>
                          <a:latin typeface="Arial"/>
                        </a:rPr>
                        <a:t>the glovebox manuals</a:t>
                      </a:r>
                    </a:p>
                  </a:txBody>
                  <a:tcPr>
                    <a:solidFill>
                      <a:srgbClr val="EEF3FD"/>
                    </a:solidFill>
                  </a:tcPr>
                </a:tc>
                <a:tc>
                  <a:txBody>
                    <a:bodyPr wrap="square"/>
                    <a:lstStyle/>
                    <a:p>
                      <a:pPr algn="l">
                        <a:spcAft>
                          <a:spcPts val="0"/>
                        </a:spcAft>
                        <a:buNone/>
                      </a:pPr>
                      <a:r>
                        <a:rPr sz="1250" b="0">
                          <a:solidFill>
                            <a:srgbClr val="202B38"/>
                          </a:solidFill>
                          <a:latin typeface="Arial"/>
                        </a:rPr>
                        <a:t>Nb 02: a real SKILL.md, catalog vs body tokens, load_skill; lab 2: Claude Code</a:t>
                      </a:r>
                    </a:p>
                  </a:txBody>
                  <a:tcPr>
                    <a:solidFill>
                      <a:srgbClr val="EEF3FD"/>
                    </a:solidFill>
                  </a:tcPr>
                </a:tc>
              </a:tr>
              <a:tr h="457200">
                <a:tc>
                  <a:txBody>
                    <a:bodyPr wrap="square"/>
                    <a:lstStyle/>
                    <a:p>
                      <a:pPr algn="l">
                        <a:spcAft>
                          <a:spcPts val="0"/>
                        </a:spcAft>
                        <a:buNone/>
                      </a:pPr>
                      <a:r>
                        <a:rPr sz="1250" b="0">
                          <a:solidFill>
                            <a:srgbClr val="202B38"/>
                          </a:solidFill>
                          <a:latin typeface="Arial"/>
                        </a:rPr>
                        <a:t>5. The loop</a:t>
                      </a:r>
                    </a:p>
                  </a:txBody>
                  <a:tcPr>
                    <a:solidFill>
                      <a:srgbClr val="FFFFFF"/>
                    </a:solidFill>
                  </a:tcPr>
                </a:tc>
                <a:tc>
                  <a:txBody>
                    <a:bodyPr wrap="square"/>
                    <a:lstStyle/>
                    <a:p>
                      <a:pPr algn="l">
                        <a:spcAft>
                          <a:spcPts val="0"/>
                        </a:spcAft>
                        <a:buNone/>
                      </a:pPr>
                      <a:r>
                        <a:rPr sz="1250" b="0">
                          <a:solidFill>
                            <a:srgbClr val="202B38"/>
                          </a:solidFill>
                          <a:latin typeface="Arial"/>
                        </a:rPr>
                        <a:t>steering wheel and pedals</a:t>
                      </a:r>
                    </a:p>
                  </a:txBody>
                  <a:tcPr>
                    <a:solidFill>
                      <a:srgbClr val="FFFFFF"/>
                    </a:solidFill>
                  </a:tcPr>
                </a:tc>
                <a:tc>
                  <a:txBody>
                    <a:bodyPr wrap="square"/>
                    <a:lstStyle/>
                    <a:p>
                      <a:pPr algn="l">
                        <a:spcAft>
                          <a:spcPts val="0"/>
                        </a:spcAft>
                        <a:buNone/>
                      </a:pPr>
                      <a:r>
                        <a:rPr sz="1250" b="0">
                          <a:solidFill>
                            <a:srgbClr val="202B38"/>
                          </a:solidFill>
                          <a:latin typeface="Arial"/>
                        </a:rPr>
                        <a:t>Nb 01: loop by hand, then tool_runner; nb 03: Agent.run() stops; nb 04: budget</a:t>
                      </a:r>
                    </a:p>
                  </a:txBody>
                  <a:tcPr>
                    <a:solidFill>
                      <a:srgbClr val="FFFFFF"/>
                    </a:solidFill>
                  </a:tcPr>
                </a:tc>
              </a:tr>
              <a:tr h="457200">
                <a:tc>
                  <a:txBody>
                    <a:bodyPr wrap="square"/>
                    <a:lstStyle/>
                    <a:p>
                      <a:pPr algn="l">
                        <a:spcAft>
                          <a:spcPts val="0"/>
                        </a:spcAft>
                        <a:buNone/>
                      </a:pPr>
                      <a:r>
                        <a:rPr sz="1250" b="0">
                          <a:solidFill>
                            <a:srgbClr val="202B38"/>
                          </a:solidFill>
                          <a:latin typeface="Arial"/>
                        </a:rPr>
                        <a:t>6. Guardrails</a:t>
                      </a:r>
                    </a:p>
                  </a:txBody>
                  <a:tcPr>
                    <a:solidFill>
                      <a:srgbClr val="EEF3FD"/>
                    </a:solidFill>
                  </a:tcPr>
                </a:tc>
                <a:tc>
                  <a:txBody>
                    <a:bodyPr wrap="square"/>
                    <a:lstStyle/>
                    <a:p>
                      <a:pPr algn="l">
                        <a:spcAft>
                          <a:spcPts val="0"/>
                        </a:spcAft>
                        <a:buNone/>
                      </a:pPr>
                      <a:r>
                        <a:rPr sz="1250" b="0">
                          <a:solidFill>
                            <a:srgbClr val="202B38"/>
                          </a:solidFill>
                          <a:latin typeface="Arial"/>
                        </a:rPr>
                        <a:t>brakes, seatbelts, airbags</a:t>
                      </a:r>
                    </a:p>
                  </a:txBody>
                  <a:tcPr>
                    <a:solidFill>
                      <a:srgbClr val="EEF3FD"/>
                    </a:solidFill>
                  </a:tcPr>
                </a:tc>
                <a:tc>
                  <a:txBody>
                    <a:bodyPr wrap="square"/>
                    <a:lstStyle/>
                    <a:p>
                      <a:pPr algn="l">
                        <a:spcAft>
                          <a:spcPts val="0"/>
                        </a:spcAft>
                        <a:buNone/>
                      </a:pPr>
                      <a:r>
                        <a:rPr sz="1250" b="0">
                          <a:solidFill>
                            <a:srgbClr val="202B38"/>
                          </a:solidFill>
                          <a:latin typeface="Arial"/>
                        </a:rPr>
                        <a:t>Nb 03: before_tool, validate_answer, deny_risk; nb 04: cap; lab 4: PreToolUse</a:t>
                      </a:r>
                    </a:p>
                  </a:txBody>
                  <a:tcPr>
                    <a:solidFill>
                      <a:srgbClr val="EEF3FD"/>
                    </a:solidFill>
                  </a:tcPr>
                </a:tc>
              </a:tr>
              <a:tr h="457200">
                <a:tc>
                  <a:txBody>
                    <a:bodyPr wrap="square"/>
                    <a:lstStyle/>
                    <a:p>
                      <a:pPr algn="l">
                        <a:spcAft>
                          <a:spcPts val="0"/>
                        </a:spcAft>
                        <a:buNone/>
                      </a:pPr>
                      <a:r>
                        <a:rPr sz="1250" b="0">
                          <a:solidFill>
                            <a:srgbClr val="202B38"/>
                          </a:solidFill>
                          <a:latin typeface="Arial"/>
                        </a:rPr>
                        <a:t>7. Orchestration</a:t>
                      </a:r>
                    </a:p>
                  </a:txBody>
                  <a:tcPr>
                    <a:solidFill>
                      <a:srgbClr val="FFFFFF"/>
                    </a:solidFill>
                  </a:tcPr>
                </a:tc>
                <a:tc>
                  <a:txBody>
                    <a:bodyPr wrap="square"/>
                    <a:lstStyle/>
                    <a:p>
                      <a:pPr algn="l">
                        <a:spcAft>
                          <a:spcPts val="0"/>
                        </a:spcAft>
                        <a:buNone/>
                      </a:pPr>
                      <a:r>
                        <a:rPr sz="1250" b="0">
                          <a:solidFill>
                            <a:srgbClr val="202B38"/>
                          </a:solidFill>
                          <a:latin typeface="Arial"/>
                        </a:rPr>
                        <a:t>convoy and job board</a:t>
                      </a:r>
                    </a:p>
                  </a:txBody>
                  <a:tcPr>
                    <a:solidFill>
                      <a:srgbClr val="FFFFFF"/>
                    </a:solidFill>
                  </a:tcPr>
                </a:tc>
                <a:tc>
                  <a:txBody>
                    <a:bodyPr wrap="square"/>
                    <a:lstStyle/>
                    <a:p>
                      <a:pPr algn="l">
                        <a:spcAft>
                          <a:spcPts val="0"/>
                        </a:spcAft>
                        <a:buNone/>
                      </a:pPr>
                      <a:r>
                        <a:rPr sz="1250" b="0">
                          <a:solidFill>
                            <a:srgbClr val="202B38"/>
                          </a:solidFill>
                          <a:latin typeface="Arial"/>
                        </a:rPr>
                        <a:t>Nb 03: five workflow patterns; nb 04: delegate, TaskBoard, handoff; lab 4: teams</a:t>
                      </a:r>
                    </a:p>
                  </a:txBody>
                  <a:tcPr>
                    <a:solidFill>
                      <a:srgbClr val="FFFFFF"/>
                    </a:solidFill>
                  </a:tcPr>
                </a:tc>
              </a:tr>
              <a:tr h="457200">
                <a:tc>
                  <a:txBody>
                    <a:bodyPr wrap="square"/>
                    <a:lstStyle/>
                    <a:p>
                      <a:pPr algn="l">
                        <a:spcAft>
                          <a:spcPts val="0"/>
                        </a:spcAft>
                        <a:buNone/>
                      </a:pPr>
                      <a:r>
                        <a:rPr sz="1250" b="0">
                          <a:solidFill>
                            <a:srgbClr val="202B38"/>
                          </a:solidFill>
                          <a:latin typeface="Arial"/>
                        </a:rPr>
                        <a:t>8. Evals and observability</a:t>
                      </a:r>
                    </a:p>
                  </a:txBody>
                  <a:tcPr>
                    <a:solidFill>
                      <a:srgbClr val="EEF3FD"/>
                    </a:solidFill>
                  </a:tcPr>
                </a:tc>
                <a:tc>
                  <a:txBody>
                    <a:bodyPr wrap="square"/>
                    <a:lstStyle/>
                    <a:p>
                      <a:pPr algn="l">
                        <a:spcAft>
                          <a:spcPts val="0"/>
                        </a:spcAft>
                        <a:buNone/>
                      </a:pPr>
                      <a:r>
                        <a:rPr sz="1250" b="0">
                          <a:solidFill>
                            <a:srgbClr val="202B38"/>
                          </a:solidFill>
                          <a:latin typeface="Arial"/>
                        </a:rPr>
                        <a:t>the logbook</a:t>
                      </a:r>
                    </a:p>
                  </a:txBody>
                  <a:tcPr>
                    <a:solidFill>
                      <a:srgbClr val="EEF3FD"/>
                    </a:solidFill>
                  </a:tcPr>
                </a:tc>
                <a:tc>
                  <a:txBody>
                    <a:bodyPr wrap="square"/>
                    <a:lstStyle/>
                    <a:p>
                      <a:pPr algn="l">
                        <a:spcAft>
                          <a:spcPts val="0"/>
                        </a:spcAft>
                        <a:buNone/>
                      </a:pPr>
                      <a:r>
                        <a:rPr sz="1250" b="0">
                          <a:solidFill>
                            <a:srgbClr val="202B38"/>
                          </a:solidFill>
                          <a:latin typeface="Arial"/>
                        </a:rPr>
                        <a:t>Nb 03: eval suite over three configs, CI workflow; nb 04: cost table, a judge</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Canon order from Session 1. The harness package sits next to the notebooks; the lab folder holds the Claude Code artefacts.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What you can now build</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A harness on the real SDK: model + loop + tools + skills + guardrails + traces, the key in a git-ignored .env</a:t>
            </a:r>
          </a:p>
          <a:p>
            <a:pPr algn="l" indent="-228600" marL="228600">
              <a:spcAft>
                <a:spcPts val="1000"/>
              </a:spcAft>
              <a:buClr>
                <a:srgbClr val="1E5EF3"/>
              </a:buClr>
              <a:buChar char="—"/>
            </a:pPr>
            <a:r>
              <a:rPr sz="1600" b="0">
                <a:solidFill>
                  <a:srgbClr val="B9D0FA"/>
                </a:solidFill>
                <a:latin typeface="Arial"/>
              </a:rPr>
              <a:t>A workflow when the path is known; an agent when it is not</a:t>
            </a:r>
          </a:p>
          <a:p>
            <a:pPr algn="l" indent="-228600" marL="228600">
              <a:spcAft>
                <a:spcPts val="1000"/>
              </a:spcAft>
              <a:buClr>
                <a:srgbClr val="1E5EF3"/>
              </a:buClr>
              <a:buChar char="—"/>
            </a:pPr>
            <a:r>
              <a:rPr sz="1600" b="0">
                <a:solidFill>
                  <a:srgbClr val="B9D0FA"/>
                </a:solidFill>
                <a:latin typeface="Arial"/>
              </a:rPr>
              <a:t>Sub-agents to keep the lead small; teams for parallel tasks; handoffs for specialists - each with its measured price</a:t>
            </a:r>
          </a:p>
          <a:p>
            <a:pPr algn="l" indent="-228600" marL="228600">
              <a:spcAft>
                <a:spcPts val="1000"/>
              </a:spcAft>
              <a:buClr>
                <a:srgbClr val="1E5EF3"/>
              </a:buClr>
              <a:buChar char="—"/>
            </a:pPr>
            <a:r>
              <a:rPr sz="1600" b="0">
                <a:solidFill>
                  <a:srgbClr val="B9D0FA"/>
                </a:solidFill>
                <a:latin typeface="Arial"/>
              </a:rPr>
              <a:t>An eval suite that puts a pass rate and a price on every change</a:t>
            </a:r>
          </a:p>
          <a:p>
            <a:pPr algn="l" indent="-228600" marL="228600">
              <a:spcAft>
                <a:spcPts val="1000"/>
              </a:spcAft>
              <a:buClr>
                <a:srgbClr val="1E5EF3"/>
              </a:buClr>
              <a:buChar char="—"/>
            </a:pPr>
            <a:r>
              <a:rPr sz="1600" b="0">
                <a:solidFill>
                  <a:srgbClr val="B9D0FA"/>
                </a:solidFill>
                <a:latin typeface="Arial"/>
              </a:rPr>
              <a:t>Guards that run in code: risk levels, validators, max turns, token budgets, hooks</a:t>
            </a:r>
          </a:p>
          <a:p>
            <a:pPr algn="l" indent="-228600" marL="228600">
              <a:spcAft>
                <a:spcPts val="1000"/>
              </a:spcAft>
              <a:buClr>
                <a:srgbClr val="1E5EF3"/>
              </a:buClr>
              <a:buChar char="—"/>
            </a:pPr>
            <a:r>
              <a:rPr sz="1600" b="0">
                <a:solidFill>
                  <a:srgbClr val="B9D0FA"/>
                </a:solidFill>
                <a:latin typeface="Arial"/>
              </a:rPr>
              <a:t>The discipline: instruction files, executable guards, evals in CI, observability, permission design</a:t>
            </a:r>
          </a:p>
          <a:p>
            <a:pPr algn="l" indent="-228600" marL="228600">
              <a:spcAft>
                <a:spcPts val="1000"/>
              </a:spcAft>
              <a:buClr>
                <a:srgbClr val="1E5EF3"/>
              </a:buClr>
              <a:buChar char="—"/>
            </a:pPr>
            <a:r>
              <a:rPr sz="1600" b="0">
                <a:solidFill>
                  <a:srgbClr val="B9D0FA"/>
                </a:solidFill>
                <a:latin typeface="Arial"/>
              </a:rPr>
              <a:t>The same parts in Claude Code: SKILL.md, .claude/agents, settings.json hooks and rules, agent teams</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4 - Sub-agents, Teams and the Discipline</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