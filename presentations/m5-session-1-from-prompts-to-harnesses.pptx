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Module 5. Four sessions, four notebooks, one idea: an agent is a model plus a harness, and the harness is where most of the engineering happens. Today: where the word comes from, what a harness is made of, and one question answered three ways in notebook 01. Class question to open: what do you think happens between your message and the model's answer in a tool like Claude Code or Codex?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is ideas only, about 35 minutes: the timeline, three definitions, the car, the evidence, the eight pieces, workflows against agents, and the vocabulary. Class question: before we start, in one sentence, what is prompt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line left to right. 2020 to 2023 is the prompt era: few-shot prompting (Brown et al.), chain-of-thought (Wei et al., Jan 2022), ReAct (Yao et al., Oct 2022) which interleaves reasoning and actions and is the seed of the agent loop, and OpenAI function calling (13 Jun 2023) which made structured tool calls a product feature. 2024-2025 is the context era: MCP (25 Nov 2024), Building effective agents (19 Dec 2024), context engineering replacing prompt engineering in Jun 2025, Anthropic's context-engineering post and the Agent SDK (29 Sep 2025), Agent Skills (16 Oct 2025). 2026 is the harness era: evals (Jan), OpenAI names harness engineering (11 Feb), the eleven-harness source study (Jul). Class question: which of these twelve steps have you already used, knowingly or not?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to set expectations: 21,500 repositories in one year, and a median age of 8.7 months. Nobody has ten years of harness experience. The practices we teach in this module are the ones that survived the first two years. Class question: what does a median age of 8.7 months tell you about the tutorials you find online?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once, then unpack it: a loop, tools, context management, safety controls, orchestration, extension surfaces. Those six words are the table of contents of this module. The paper read the source code of eleven systems (Claude Code, Codex CLI, Gemini CLI, Aider, OpenHands, mini-SWE-agent, Hermes, Pi, OpenCode, OpenClaw, Mistral Vibe) and found that 'the field runs on hand-rolled async loops and deterministic retrieval'. Class question: which of the six words do you think is hardest to get right, and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shortest definition we have, and the plain-words version we will repeat all module - the model is the engine, the harness is the rest of the car. Right: OpenAI's experiment makes it concrete. When no human writes code by hand, everything that keeps quality up must live in the harness: documents in the repository that the agent reads, and checks in CI that the agent cannot skip. 'Deterministic scaffolding around probabilistic model steps' is the phrase to remember. Class question: if the model is probabilistic, which parts of the car must not be?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the concrete thing first, then the picture. Claude Code, Codex CLI and Gemini CLI are all the same shape: a program calls a model, the model asks for a tool, the program runs it and pastes the result back, until the model says it is done. The car gives us one word per piece for the rest of the module. Class question: which car part is missing when an agent deletes a file it should not have touched?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justifies the module. The model is held fixed and the score moves by 7 to 15 points depending on the runtime around it. Be careful with the wording: the harness does not beat the model, it changes how much of the model's capability reaches the task. That is why the May 2026 paper asks every benchmark to disclose the harness. Class question: if two papers report different scores for the same model, what is the first question you now 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ring clockwise from the top and give each piece its plain-words line: context is everything the model sees on one call; a tool is a function the model asks for by name with JSON arguments; a skill is a folder of instructions opened when the task matches; the loop is gather context, act, verify, repeat, with stop conditions; guardrails are checks that run outside the model; orchestration is workflows when the path is known and agents when it is not; evals are a task, a grader and an outcome, and a trace records every step. Class question: which of the eight would you build first if you had one afternoon?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December 2024 post drew this line and it has held. Start with the simplest thing: a single model call with retrieval. Move to a workflow when you can draw the steps. Move to an agent only when the steps depend on what the previous step found, and then pay for it with stop conditions and traces. Class question: booking a flight from a fixed form - workflow or agent? Debugging a failing test - workflow or agent?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here replaces the previous column; each contains the one before. Prompt engineering is still inside context engineering (the system prompt is words), and context engineering is inside harness engineering (the harness decides what enters the window). What changes is what you control and, above all, what you measure. Class question: which row would your current chatbot project fail on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each line once and make the students say it back. These six words carry the whole practice part. Class question: in one sentence, what is the difference between a prompt and a context?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01 in Colab now; the first cell downloads the small harness library, no key needed. Everything in Part 2 is printed by the notebook, so students can follow on their own screen. Class question: what do you expect the bare model to answer, and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three cells live if you can. The same model answers all three times; the only thing that changes is what surrounds it. Better words do not add facts the model does not have - the prompt-engineered version is more polite and equally wrong. The harness adds a library, a way to search it, and a check before answering. Class question: what would you have to add to the prompt to make the bare model right, and would that scale to the next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docstrings in the notebook: the first paragraph becomes the description the model reads, and each 'argument: explanation' line becomes the schema of that argument. Nothing is hidden. Class question: what happens if search_docs's description just said 'Searches'?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picture is what every harness produces if you ask it to. Read it as a story: the model did not know the date, so it searched; it found a document, so it read it; it drafted an answer and had it checked; the check passed, so it answered. The trace is also where debugging happens in Session 3. Class question: where in this trace would a wrong answer have been caught?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is free. Every tool result is pasted into the context and the model reads it again on the next call. That is why Session 2 spends time on token-efficient tools and on compaction. Anthropic reported that its multi-agent research system used about 15 times the tokens of a chat, and accepted the bill because the task was worth it. Class question: for which questions would you refuse to pay 76x?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students count the lines: eight shown here, fifteen with the Message class and the tool registry. Everything else in a production harness - permissions, compaction, traces, sub-agents - is added around these lines, never instead of them. Class question: which line would you change first to add a token budget?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the evidence slide. At benchmark scale the harness moves the score by 9.5 points; at notebook scale it moves the answer from wrong to right and cited. Same lesson, two scales. Class question: if you could only change the model or only change the harness for your project, which would you pick and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seven lines, then point at the exercises at the end of notebook 01: they extend the 15-line loop. Next session opens the four pieces the model sees: models, context, tools and skills. Class question to close: which of the eight pieces did notebook 01's harness NOT have, and what could go wrong because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1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From Prompts to Harnesses</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Same model, two harnesses, 9.5 points apart. In six years the lever moved from the words you send to the runtime around the model. First the ideas, then one question answered three ways.</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from the prompt to the harness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Where the word comes from, what a harness is made of, and the evidence that it changes results.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TIMELINE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years moved the lever from the words you send to the runtime around the model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_timeline.png"/>
          <p:cNvPicPr>
            <a:picLocks noChangeAspect="1"/>
          </p:cNvPicPr>
          <p:nvPr/>
        </p:nvPicPr>
        <p:blipFill>
          <a:blip r:embed="rId2"/>
          <a:stretch>
            <a:fillRect/>
          </a:stretch>
        </p:blipFill>
        <p:spPr>
          <a:xfrm>
            <a:off x="1554480" y="1874519"/>
            <a:ext cx="9052560" cy="4024464"/>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How to read it: left to right in time, evenly spaced (not to scale). Gray = prompt era, blue = context era, navy = harness era. Dates from the cited papers and posts.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WHY NOW</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field is young: most harnesses are less than a year old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21,500</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'agent harness' repositories created in 2026; median harness age 8.7 months</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Marmelab, The State of AI Harness Engineering 2026, 24 Sep 2026. In plain words: almost everyone building this is a beginner too - the discipline is being written now.</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“An agent is a model plus a harness: the runtime that couples an LLM to the world through a loop, tools, context management, safety controls, orchestration, and extension surfaces. Harness engineering, named as a discipline in early 2026, is the design and evolution of that runtime.”</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Barbaste, Darrigol, Vu and Wiltberger, Harness Engineering: Anatomy, Architecture, and Evolution of Coding Agents, arXiv 2609.00006, Jul 2026 - a source-code study of eleven coding agents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THREE DEFINITIONS, ONE IDEA</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Agent = Model + Harness: one equation, two framings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Agent = Model + Harness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Birgitta Bockeler's one-line canon, quoted in Marmelab, Sep 2026</a:t>
            </a:r>
          </a:p>
          <a:p>
            <a:pPr algn="l" indent="-228600" marL="228600">
              <a:spcAft>
                <a:spcPts val="600"/>
              </a:spcAft>
              <a:buClr>
                <a:srgbClr val="1E5EF3"/>
              </a:buClr>
              <a:buChar char="—"/>
            </a:pPr>
            <a:r>
              <a:rPr sz="1300" b="0">
                <a:solidFill>
                  <a:srgbClr val="202B38"/>
                </a:solidFill>
                <a:latin typeface="Arial"/>
              </a:rPr>
              <a:t>In plain words: the model is the engine; the harness is the rest of the car</a:t>
            </a:r>
          </a:p>
          <a:p>
            <a:pPr algn="l" indent="-228600" marL="228600">
              <a:spcAft>
                <a:spcPts val="600"/>
              </a:spcAft>
              <a:buClr>
                <a:srgbClr val="1E5EF3"/>
              </a:buClr>
              <a:buChar char="—"/>
            </a:pPr>
            <a:r>
              <a:rPr sz="1300" b="0">
                <a:solidFill>
                  <a:srgbClr val="202B38"/>
                </a:solidFill>
                <a:latin typeface="Arial"/>
              </a:rPr>
              <a:t>The model maps a context to the next message - nothing else</a:t>
            </a:r>
          </a:p>
          <a:p>
            <a:pPr algn="l" indent="-228600" marL="228600">
              <a:spcAft>
                <a:spcPts val="600"/>
              </a:spcAft>
              <a:buClr>
                <a:srgbClr val="1E5EF3"/>
              </a:buClr>
              <a:buChar char="—"/>
            </a:pPr>
            <a:r>
              <a:rPr sz="1300" b="0">
                <a:solidFill>
                  <a:srgbClr val="202B38"/>
                </a:solidFill>
                <a:latin typeface="Arial"/>
              </a:rPr>
              <a:t>The harness decides what the model sees, what it may do, and when to stop</a:t>
            </a:r>
          </a:p>
          <a:p>
            <a:pPr algn="l" indent="-228600" marL="228600">
              <a:spcAft>
                <a:spcPts val="600"/>
              </a:spcAft>
              <a:buClr>
                <a:srgbClr val="1E5EF3"/>
              </a:buClr>
              <a:buChar char="—"/>
            </a:pPr>
            <a:r>
              <a:rPr sz="1300" b="0">
                <a:solidFill>
                  <a:srgbClr val="202B38"/>
                </a:solidFill>
                <a:latin typeface="Arial"/>
              </a:rPr>
              <a:t>Swap the harness and the same model behaves differently (evidence in two slides)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OpenAI's framing, Feb 2026</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Five-month experiment: about one million lines of production code, zero written by hand</a:t>
            </a:r>
          </a:p>
          <a:p>
            <a:pPr algn="l" indent="-228600" marL="228600">
              <a:spcAft>
                <a:spcPts val="600"/>
              </a:spcAft>
              <a:buClr>
                <a:srgbClr val="1E5EF3"/>
              </a:buClr>
              <a:buChar char="—"/>
            </a:pPr>
            <a:r>
              <a:rPr sz="1300" b="0">
                <a:solidFill>
                  <a:srgbClr val="202B38"/>
                </a:solidFill>
                <a:latin typeface="Arial"/>
              </a:rPr>
              <a:t>The repository is the system of record: design docs, decision records, plans, quality scores</a:t>
            </a:r>
          </a:p>
          <a:p>
            <a:pPr algn="l" indent="-228600" marL="228600">
              <a:spcAft>
                <a:spcPts val="600"/>
              </a:spcAft>
              <a:buClr>
                <a:srgbClr val="1E5EF3"/>
              </a:buClr>
              <a:buChar char="—"/>
            </a:pPr>
            <a:r>
              <a:rPr sz="1300" b="0">
                <a:solidFill>
                  <a:srgbClr val="202B38"/>
                </a:solidFill>
                <a:latin typeface="Arial"/>
              </a:rPr>
              <a:t>Constraints enforced mechanically: custom linters and structural tests in CI</a:t>
            </a:r>
          </a:p>
          <a:p>
            <a:pPr algn="l" indent="-228600" marL="228600">
              <a:spcAft>
                <a:spcPts val="600"/>
              </a:spcAft>
              <a:buClr>
                <a:srgbClr val="1E5EF3"/>
              </a:buClr>
              <a:buChar char="—"/>
            </a:pPr>
            <a:r>
              <a:rPr sz="1300" b="0">
                <a:solidFill>
                  <a:srgbClr val="202B38"/>
                </a:solidFill>
                <a:latin typeface="Arial"/>
              </a:rPr>
              <a:t>Harness engineering = deterministic scaffolding around probabilistic model steps</a:t>
            </a:r>
          </a:p>
          <a:p>
            <a:pPr algn="l" indent="-228600" marL="228600">
              <a:spcAft>
                <a:spcPts val="600"/>
              </a:spcAft>
              <a:buClr>
                <a:srgbClr val="1E5EF3"/>
              </a:buClr>
              <a:buChar char="—"/>
            </a:pPr>
            <a:r>
              <a:rPr sz="1300" b="0">
                <a:solidFill>
                  <a:srgbClr val="202B38"/>
                </a:solidFill>
                <a:latin typeface="Arial"/>
              </a:rPr>
              <a:t>Ryan Lopopolo, Harness engineering: leveraging Codex in an agent-first world, 11 Feb 2026</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Sources: Marmelab, The State of AI Harness Engineering 2026, 24 Sep 2026; OpenAI, 11 Feb 2026; arXiv 2609.00006, Jul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METAPHOR FOR THIS MODULE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Concretely: a model called in a loop, with tools and checks. In plain words: an engine inside a car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Concrete first: Claude Code is a program that calls a model in a loop, runs tools, and checks permissions</a:t>
            </a:r>
          </a:p>
          <a:p>
            <a:pPr algn="l" indent="-228600" marL="228600">
              <a:spcAft>
                <a:spcPts val="800"/>
              </a:spcAft>
              <a:buClr>
                <a:srgbClr val="1E5EF3"/>
              </a:buClr>
              <a:buChar char="—"/>
            </a:pPr>
            <a:r>
              <a:rPr sz="1450" b="0">
                <a:solidFill>
                  <a:srgbClr val="202B38"/>
                </a:solidFill>
                <a:latin typeface="Arial"/>
              </a:rPr>
              <a:t>Engine = the model; steering and pedals = the loop that picks the next step</a:t>
            </a:r>
          </a:p>
          <a:p>
            <a:pPr algn="l" indent="-228600" marL="228600">
              <a:spcAft>
                <a:spcPts val="800"/>
              </a:spcAft>
              <a:buClr>
                <a:srgbClr val="1E5EF3"/>
              </a:buClr>
              <a:buChar char="—"/>
            </a:pPr>
            <a:r>
              <a:rPr sz="1450" b="0">
                <a:solidFill>
                  <a:srgbClr val="202B38"/>
                </a:solidFill>
                <a:latin typeface="Arial"/>
              </a:rPr>
              <a:t>Dashboard and mirrors = context and observability: what the driver sees</a:t>
            </a:r>
          </a:p>
          <a:p>
            <a:pPr algn="l" indent="-228600" marL="228600">
              <a:spcAft>
                <a:spcPts val="800"/>
              </a:spcAft>
              <a:buClr>
                <a:srgbClr val="1E5EF3"/>
              </a:buClr>
              <a:buChar char="—"/>
            </a:pPr>
            <a:r>
              <a:rPr sz="1450" b="0">
                <a:solidFill>
                  <a:srgbClr val="202B38"/>
                </a:solidFill>
                <a:latin typeface="Arial"/>
              </a:rPr>
              <a:t>Brakes, belts, airbags = guardrails and permissions, outside the model</a:t>
            </a:r>
          </a:p>
          <a:p>
            <a:pPr algn="l" indent="-228600" marL="228600">
              <a:spcAft>
                <a:spcPts val="800"/>
              </a:spcAft>
              <a:buClr>
                <a:srgbClr val="1E5EF3"/>
              </a:buClr>
              <a:buChar char="—"/>
            </a:pPr>
            <a:r>
              <a:rPr sz="1450" b="0">
                <a:solidFill>
                  <a:srgbClr val="202B38"/>
                </a:solidFill>
                <a:latin typeface="Arial"/>
              </a:rPr>
              <a:t>Glovebox manuals = skills, opened only when needed; hitch = tools, MCP the standard coupling</a:t>
            </a:r>
          </a:p>
          <a:p>
            <a:pPr algn="l" indent="-228600" marL="228600">
              <a:spcAft>
                <a:spcPts val="800"/>
              </a:spcAft>
              <a:buClr>
                <a:srgbClr val="1E5EF3"/>
              </a:buClr>
              <a:buChar char="—"/>
            </a:pPr>
            <a:r>
              <a:rPr sz="1450" b="0">
                <a:solidFill>
                  <a:srgbClr val="202B38"/>
                </a:solidFill>
                <a:latin typeface="Arial"/>
              </a:rPr>
              <a:t>Convoy with a lead car = orchestrator and sub-agents (Session 4)</a:t>
            </a:r>
          </a:p>
        </p:txBody>
      </p:sp>
      <p:pic>
        <p:nvPicPr>
          <p:cNvPr id="8" name="Picture 7" descr="s1_car.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How to read it: each label pins one harness piece to one car part. The route on the GPS (the plan) and the drivers' job board (teams) come in Sessions 3 and 4.</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EVIDENCE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Same model, different harness: up to 9.5 points of harness-only variation on SWE-bench Pro</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pair of bars is one model; only the harness around it changes</a:t>
            </a:r>
          </a:p>
          <a:p>
            <a:pPr algn="l" indent="-228600" marL="228600">
              <a:spcAft>
                <a:spcPts val="800"/>
              </a:spcAft>
              <a:buClr>
                <a:srgbClr val="1E5EF3"/>
              </a:buClr>
              <a:buChar char="—"/>
            </a:pPr>
            <a:r>
              <a:rPr sz="1450" b="0">
                <a:solidFill>
                  <a:srgbClr val="202B38"/>
                </a:solidFill>
                <a:latin typeface="Arial"/>
              </a:rPr>
              <a:t>Claude Opus 4.5 on SWE-bench Pro: 45.9% under the SEAL scaffold, 55.4% under Claude Code</a:t>
            </a:r>
          </a:p>
          <a:p>
            <a:pPr algn="l" indent="-228600" marL="228600">
              <a:spcAft>
                <a:spcPts val="800"/>
              </a:spcAft>
              <a:buClr>
                <a:srgbClr val="1E5EF3"/>
              </a:buClr>
              <a:buChar char="—"/>
            </a:pPr>
            <a:r>
              <a:rPr sz="1450" b="0">
                <a:solidFill>
                  <a:srgbClr val="202B38"/>
                </a:solidFill>
                <a:latin typeface="Arial"/>
              </a:rPr>
              <a:t>Three harnesses on that same model spanned 50.2% to 55.4%</a:t>
            </a:r>
          </a:p>
          <a:p>
            <a:pPr algn="l" indent="-228600" marL="228600">
              <a:spcAft>
                <a:spcPts val="800"/>
              </a:spcAft>
              <a:buClr>
                <a:srgbClr val="1E5EF3"/>
              </a:buClr>
              <a:buChar char="—"/>
            </a:pPr>
            <a:r>
              <a:rPr sz="1450" b="0">
                <a:solidFill>
                  <a:srgbClr val="202B38"/>
                </a:solidFill>
                <a:latin typeface="Arial"/>
              </a:rPr>
              <a:t>Terminal-Bench 2 pass@1: 69.7% to 77.0% by changing only the harness</a:t>
            </a:r>
          </a:p>
          <a:p>
            <a:pPr algn="l" indent="-228600" marL="228600">
              <a:spcAft>
                <a:spcPts val="800"/>
              </a:spcAft>
              <a:buClr>
                <a:srgbClr val="1E5EF3"/>
              </a:buClr>
              <a:buChar char="—"/>
            </a:pPr>
            <a:r>
              <a:rPr sz="1450" b="0">
                <a:solidFill>
                  <a:srgbClr val="202B38"/>
                </a:solidFill>
                <a:latin typeface="Arial"/>
              </a:rPr>
              <a:t>Third-party monitoring: up to 11 points for GPT-5, 15 points for Kimi K2 Thinking on SWE-bench Verified</a:t>
            </a:r>
          </a:p>
          <a:p>
            <a:pPr algn="l" indent="-228600" marL="228600">
              <a:spcAft>
                <a:spcPts val="800"/>
              </a:spcAft>
              <a:buClr>
                <a:srgbClr val="1E5EF3"/>
              </a:buClr>
              <a:buChar char="—"/>
            </a:pPr>
            <a:r>
              <a:rPr sz="1450" b="0">
                <a:solidFill>
                  <a:srgbClr val="202B38"/>
                </a:solidFill>
                <a:latin typeface="Arial"/>
              </a:rPr>
              <a:t>Wording matters: harness-only variation, not 'the harness beats the model'</a:t>
            </a:r>
          </a:p>
        </p:txBody>
      </p:sp>
      <p:pic>
        <p:nvPicPr>
          <p:cNvPr id="8" name="Picture 7" descr="s1_harness_effect.png"/>
          <p:cNvPicPr>
            <a:picLocks noChangeAspect="1"/>
          </p:cNvPicPr>
          <p:nvPr/>
        </p:nvPicPr>
        <p:blipFill>
          <a:blip r:embed="rId2"/>
          <a:stretch>
            <a:fillRect/>
          </a:stretch>
        </p:blipFill>
        <p:spPr>
          <a:xfrm>
            <a:off x="5120640" y="1874519"/>
            <a:ext cx="6492240" cy="3978556"/>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Sources: Stop Comparing LLM Agents Without Disclosing the Harness, arXiv 2605.23950, May 2026; Harness or Model? Isolating the Harness Effect, arXiv 2609.11987, Sep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ANATOMY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harness has eight pieces - the model is one of them, the other seven surround it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_eight_pieces.png"/>
          <p:cNvPicPr>
            <a:picLocks noChangeAspect="1"/>
          </p:cNvPicPr>
          <p:nvPr/>
        </p:nvPicPr>
        <p:blipFill>
          <a:blip r:embed="rId2"/>
          <a:stretch>
            <a:fillRect/>
          </a:stretch>
        </p:blipFill>
        <p:spPr>
          <a:xfrm>
            <a:off x="1554480" y="1874519"/>
            <a:ext cx="9052560" cy="4024464"/>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How to read it: the numbered order is the canon order used in every deck and in the harness library. Pieces 1-4 are Session 2; 5, 6, 8 are Session 3; 7 is Session 4.</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TWO WAYS TO ORCHESTRATE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Workflows when the path is known, agents when it is not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Workflow</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'LLMs and tools orchestrated through predefined code paths'</a:t>
            </a:r>
          </a:p>
          <a:p>
            <a:pPr algn="l" indent="-228600" marL="228600">
              <a:spcAft>
                <a:spcPts val="600"/>
              </a:spcAft>
              <a:buClr>
                <a:srgbClr val="1E5EF3"/>
              </a:buClr>
              <a:buChar char="—"/>
            </a:pPr>
            <a:r>
              <a:rPr sz="1300" b="0">
                <a:solidFill>
                  <a:srgbClr val="202B38"/>
                </a:solidFill>
                <a:latin typeface="Arial"/>
              </a:rPr>
              <a:t>In plain words: a path you wrote in code, with model steps inside</a:t>
            </a:r>
          </a:p>
          <a:p>
            <a:pPr algn="l" indent="-228600" marL="228600">
              <a:spcAft>
                <a:spcPts val="600"/>
              </a:spcAft>
              <a:buClr>
                <a:srgbClr val="1E5EF3"/>
              </a:buClr>
              <a:buChar char="—"/>
            </a:pPr>
            <a:r>
              <a:rPr sz="1300" b="0">
                <a:solidFill>
                  <a:srgbClr val="202B38"/>
                </a:solidFill>
                <a:latin typeface="Arial"/>
              </a:rPr>
              <a:t>Five patterns: prompt chaining, routing, parallelization, orchestrator-workers, evaluator-optimizer</a:t>
            </a:r>
          </a:p>
          <a:p>
            <a:pPr algn="l" indent="-228600" marL="228600">
              <a:spcAft>
                <a:spcPts val="600"/>
              </a:spcAft>
              <a:buClr>
                <a:srgbClr val="1E5EF3"/>
              </a:buClr>
              <a:buChar char="—"/>
            </a:pPr>
            <a:r>
              <a:rPr sz="1300" b="0">
                <a:solidFill>
                  <a:srgbClr val="202B38"/>
                </a:solidFill>
                <a:latin typeface="Arial"/>
              </a:rPr>
              <a:t>Predictable cost and behavior; easy to test step by step</a:t>
            </a:r>
          </a:p>
          <a:p>
            <a:pPr algn="l" indent="-228600" marL="228600">
              <a:spcAft>
                <a:spcPts val="600"/>
              </a:spcAft>
              <a:buClr>
                <a:srgbClr val="1E5EF3"/>
              </a:buClr>
              <a:buChar char="—"/>
            </a:pPr>
            <a:r>
              <a:rPr sz="1300" b="0">
                <a:solidFill>
                  <a:srgbClr val="202B38"/>
                </a:solidFill>
                <a:latin typeface="Arial"/>
              </a:rPr>
              <a:t>Use it when you can draw the flowchart before you start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Agent</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'LLMs dynamically direct their own processes and tool usage'</a:t>
            </a:r>
          </a:p>
          <a:p>
            <a:pPr algn="l" indent="-228600" marL="228600">
              <a:spcAft>
                <a:spcPts val="600"/>
              </a:spcAft>
              <a:buClr>
                <a:srgbClr val="1E5EF3"/>
              </a:buClr>
              <a:buChar char="—"/>
            </a:pPr>
            <a:r>
              <a:rPr sz="1300" b="0">
                <a:solidFill>
                  <a:srgbClr val="202B38"/>
                </a:solidFill>
                <a:latin typeface="Arial"/>
              </a:rPr>
              <a:t>In plain words: the model decides the path, step by step, until done</a:t>
            </a:r>
          </a:p>
          <a:p>
            <a:pPr algn="l" indent="-228600" marL="228600">
              <a:spcAft>
                <a:spcPts val="600"/>
              </a:spcAft>
              <a:buClr>
                <a:srgbClr val="1E5EF3"/>
              </a:buClr>
              <a:buChar char="—"/>
            </a:pPr>
            <a:r>
              <a:rPr sz="1300" b="0">
                <a:solidFill>
                  <a:srgbClr val="202B38"/>
                </a:solidFill>
                <a:latin typeface="Arial"/>
              </a:rPr>
              <a:t>Needs stop conditions: done, max turns, budget</a:t>
            </a:r>
          </a:p>
          <a:p>
            <a:pPr algn="l" indent="-228600" marL="228600">
              <a:spcAft>
                <a:spcPts val="600"/>
              </a:spcAft>
              <a:buClr>
                <a:srgbClr val="1E5EF3"/>
              </a:buClr>
              <a:buChar char="—"/>
            </a:pPr>
            <a:r>
              <a:rPr sz="1300" b="0">
                <a:solidFill>
                  <a:srgbClr val="202B38"/>
                </a:solidFill>
                <a:latin typeface="Arial"/>
              </a:rPr>
              <a:t>Higher cost and variance; needs guardrails and a trace</a:t>
            </a:r>
          </a:p>
          <a:p>
            <a:pPr algn="l" indent="-228600" marL="228600">
              <a:spcAft>
                <a:spcPts val="600"/>
              </a:spcAft>
              <a:buClr>
                <a:srgbClr val="1E5EF3"/>
              </a:buClr>
              <a:buChar char="—"/>
            </a:pPr>
            <a:r>
              <a:rPr sz="1300" b="0">
                <a:solidFill>
                  <a:srgbClr val="202B38"/>
                </a:solidFill>
                <a:latin typeface="Arial"/>
              </a:rPr>
              <a:t>Use it when the steps depend on what the last step found</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Building effective agents, 19 Dec 2024 - three principles: simplicity, transparency, invest in the agent-computer interface.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VOCABULARY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disciplines, one direction: from the words to the runtime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2743200"/>
        </p:xfrm>
        <a:graphic>
          <a:graphicData uri="http://schemas.openxmlformats.org/drawingml/2006/table">
            <a:tbl>
              <a:tblPr firstRow="1" bandRow="1">
                <a:tableStyleId>{5C22544A-7EE6-4342-B048-85BDC9FD1C3A}</a:tableStyleId>
              </a:tblPr>
              <a:tblGrid>
                <a:gridCol w="1469980"/>
                <a:gridCol w="2672692"/>
                <a:gridCol w="3474499"/>
                <a:gridCol w="3474499"/>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Prompt engineering</a:t>
                      </a:r>
                    </a:p>
                  </a:txBody>
                  <a:tcPr>
                    <a:solidFill>
                      <a:srgbClr val="0A2540"/>
                    </a:solidFill>
                  </a:tcPr>
                </a:tc>
                <a:tc>
                  <a:txBody>
                    <a:bodyPr wrap="square"/>
                    <a:lstStyle/>
                    <a:p>
                      <a:pPr algn="l">
                        <a:spcAft>
                          <a:spcPts val="0"/>
                        </a:spcAft>
                        <a:buNone/>
                      </a:pPr>
                      <a:r>
                        <a:rPr sz="1300" b="1">
                          <a:solidFill>
                            <a:srgbClr val="FFFFFF"/>
                          </a:solidFill>
                          <a:latin typeface="Arial"/>
                        </a:rPr>
                        <a:t>Context engineering</a:t>
                      </a:r>
                    </a:p>
                  </a:txBody>
                  <a:tcPr>
                    <a:solidFill>
                      <a:srgbClr val="0A2540"/>
                    </a:solidFill>
                  </a:tcPr>
                </a:tc>
                <a:tc>
                  <a:txBody>
                    <a:bodyPr wrap="square"/>
                    <a:lstStyle/>
                    <a:p>
                      <a:pPr algn="l">
                        <a:spcAft>
                          <a:spcPts val="0"/>
                        </a:spcAft>
                        <a:buNone/>
                      </a:pPr>
                      <a:r>
                        <a:rPr sz="1300" b="1">
                          <a:solidFill>
                            <a:srgbClr val="FFFFFF"/>
                          </a:solidFill>
                          <a:latin typeface="Arial"/>
                        </a:rPr>
                        <a:t>Harness engineering</a:t>
                      </a:r>
                    </a:p>
                  </a:txBody>
                  <a:tcPr>
                    <a:solidFill>
                      <a:srgbClr val="0A2540"/>
                    </a:solidFill>
                  </a:tcPr>
                </a:tc>
              </a:tr>
              <a:tr h="457200">
                <a:tc>
                  <a:txBody>
                    <a:bodyPr wrap="square"/>
                    <a:lstStyle/>
                    <a:p>
                      <a:pPr algn="l">
                        <a:spcAft>
                          <a:spcPts val="0"/>
                        </a:spcAft>
                        <a:buNone/>
                      </a:pPr>
                      <a:r>
                        <a:rPr sz="1250" b="0">
                          <a:solidFill>
                            <a:srgbClr val="202B38"/>
                          </a:solidFill>
                          <a:latin typeface="Arial"/>
                        </a:rPr>
                        <a:t>What you control</a:t>
                      </a:r>
                    </a:p>
                  </a:txBody>
                  <a:tcPr>
                    <a:solidFill>
                      <a:srgbClr val="FFFFFF"/>
                    </a:solidFill>
                  </a:tcPr>
                </a:tc>
                <a:tc>
                  <a:txBody>
                    <a:bodyPr wrap="square"/>
                    <a:lstStyle/>
                    <a:p>
                      <a:pPr algn="l">
                        <a:spcAft>
                          <a:spcPts val="0"/>
                        </a:spcAft>
                        <a:buNone/>
                      </a:pPr>
                      <a:r>
                        <a:rPr sz="1250" b="0">
                          <a:solidFill>
                            <a:srgbClr val="202B38"/>
                          </a:solidFill>
                          <a:latin typeface="Arial"/>
                        </a:rPr>
                        <a:t>The words of one message</a:t>
                      </a:r>
                    </a:p>
                  </a:txBody>
                  <a:tcPr>
                    <a:solidFill>
                      <a:srgbClr val="FFFFFF"/>
                    </a:solidFill>
                  </a:tcPr>
                </a:tc>
                <a:tc>
                  <a:txBody>
                    <a:bodyPr wrap="square"/>
                    <a:lstStyle/>
                    <a:p>
                      <a:pPr algn="l">
                        <a:spcAft>
                          <a:spcPts val="0"/>
                        </a:spcAft>
                        <a:buNone/>
                      </a:pPr>
                      <a:r>
                        <a:rPr sz="1250" b="0">
                          <a:solidFill>
                            <a:srgbClr val="202B38"/>
                          </a:solidFill>
                          <a:latin typeface="Arial"/>
                        </a:rPr>
                        <a:t>Everything the model sees on one call: system prompt, files, history, tool results</a:t>
                      </a:r>
                    </a:p>
                  </a:txBody>
                  <a:tcPr>
                    <a:solidFill>
                      <a:srgbClr val="FFFFFF"/>
                    </a:solidFill>
                  </a:tcPr>
                </a:tc>
                <a:tc>
                  <a:txBody>
                    <a:bodyPr wrap="square"/>
                    <a:lstStyle/>
                    <a:p>
                      <a:pPr algn="l">
                        <a:spcAft>
                          <a:spcPts val="0"/>
                        </a:spcAft>
                        <a:buNone/>
                      </a:pPr>
                      <a:r>
                        <a:rPr sz="1250" b="0">
                          <a:solidFill>
                            <a:srgbClr val="202B38"/>
                          </a:solidFill>
                          <a:latin typeface="Arial"/>
                        </a:rPr>
                        <a:t>The runtime: loop, tools, context, guardrails, orchestration, evals</a:t>
                      </a:r>
                    </a:p>
                  </a:txBody>
                  <a:tcPr>
                    <a:solidFill>
                      <a:srgbClr val="FFFFFF"/>
                    </a:solidFill>
                  </a:tcPr>
                </a:tc>
              </a:tr>
              <a:tr h="457200">
                <a:tc>
                  <a:txBody>
                    <a:bodyPr wrap="square"/>
                    <a:lstStyle/>
                    <a:p>
                      <a:pPr algn="l">
                        <a:spcAft>
                          <a:spcPts val="0"/>
                        </a:spcAft>
                        <a:buNone/>
                      </a:pPr>
                      <a:r>
                        <a:rPr sz="1250" b="0">
                          <a:solidFill>
                            <a:srgbClr val="202B38"/>
                          </a:solidFill>
                          <a:latin typeface="Arial"/>
                        </a:rPr>
                        <a:t>What you measure</a:t>
                      </a:r>
                    </a:p>
                  </a:txBody>
                  <a:tcPr>
                    <a:solidFill>
                      <a:srgbClr val="EEF3FD"/>
                    </a:solidFill>
                  </a:tcPr>
                </a:tc>
                <a:tc>
                  <a:txBody>
                    <a:bodyPr wrap="square"/>
                    <a:lstStyle/>
                    <a:p>
                      <a:pPr algn="l">
                        <a:spcAft>
                          <a:spcPts val="0"/>
                        </a:spcAft>
                        <a:buNone/>
                      </a:pPr>
                      <a:r>
                        <a:rPr sz="1250" b="0">
                          <a:solidFill>
                            <a:srgbClr val="202B38"/>
                          </a:solidFill>
                          <a:latin typeface="Arial"/>
                        </a:rPr>
                        <a:t>One answer, judged by eye</a:t>
                      </a:r>
                    </a:p>
                  </a:txBody>
                  <a:tcPr>
                    <a:solidFill>
                      <a:srgbClr val="EEF3FD"/>
                    </a:solidFill>
                  </a:tcPr>
                </a:tc>
                <a:tc>
                  <a:txBody>
                    <a:bodyPr wrap="square"/>
                    <a:lstStyle/>
                    <a:p>
                      <a:pPr algn="l">
                        <a:spcAft>
                          <a:spcPts val="0"/>
                        </a:spcAft>
                        <a:buNone/>
                      </a:pPr>
                      <a:r>
                        <a:rPr sz="1250" b="0">
                          <a:solidFill>
                            <a:srgbClr val="202B38"/>
                          </a:solidFill>
                          <a:latin typeface="Arial"/>
                        </a:rPr>
                        <a:t>Tokens per call; does the right fact reach the model in time</a:t>
                      </a:r>
                    </a:p>
                  </a:txBody>
                  <a:tcPr>
                    <a:solidFill>
                      <a:srgbClr val="EEF3FD"/>
                    </a:solidFill>
                  </a:tcPr>
                </a:tc>
                <a:tc>
                  <a:txBody>
                    <a:bodyPr wrap="square"/>
                    <a:lstStyle/>
                    <a:p>
                      <a:pPr algn="l">
                        <a:spcAft>
                          <a:spcPts val="0"/>
                        </a:spcAft>
                        <a:buNone/>
                      </a:pPr>
                      <a:r>
                        <a:rPr sz="1250" b="0">
                          <a:solidFill>
                            <a:srgbClr val="202B38"/>
                          </a:solidFill>
                          <a:latin typeface="Arial"/>
                        </a:rPr>
                        <a:t>Pass rate on an eval suite; cost and steps per task; traces</a:t>
                      </a:r>
                    </a:p>
                  </a:txBody>
                  <a:tcPr>
                    <a:solidFill>
                      <a:srgbClr val="EEF3FD"/>
                    </a:solidFill>
                  </a:tcPr>
                </a:tc>
              </a:tr>
              <a:tr h="457200">
                <a:tc>
                  <a:txBody>
                    <a:bodyPr wrap="square"/>
                    <a:lstStyle/>
                    <a:p>
                      <a:pPr algn="l">
                        <a:spcAft>
                          <a:spcPts val="0"/>
                        </a:spcAft>
                        <a:buNone/>
                      </a:pPr>
                      <a:r>
                        <a:rPr sz="1250" b="0">
                          <a:solidFill>
                            <a:srgbClr val="202B38"/>
                          </a:solidFill>
                          <a:latin typeface="Arial"/>
                        </a:rPr>
                        <a:t>When it breaks</a:t>
                      </a:r>
                    </a:p>
                  </a:txBody>
                  <a:tcPr>
                    <a:solidFill>
                      <a:srgbClr val="FFFFFF"/>
                    </a:solidFill>
                  </a:tcPr>
                </a:tc>
                <a:tc>
                  <a:txBody>
                    <a:bodyPr wrap="square"/>
                    <a:lstStyle/>
                    <a:p>
                      <a:pPr algn="l">
                        <a:spcAft>
                          <a:spcPts val="0"/>
                        </a:spcAft>
                        <a:buNone/>
                      </a:pPr>
                      <a:r>
                        <a:rPr sz="1250" b="0">
                          <a:solidFill>
                            <a:srgbClr val="202B38"/>
                          </a:solidFill>
                          <a:latin typeface="Arial"/>
                        </a:rPr>
                        <a:t>The task needs facts or actions the words cannot supply</a:t>
                      </a:r>
                    </a:p>
                  </a:txBody>
                  <a:tcPr>
                    <a:solidFill>
                      <a:srgbClr val="FFFFFF"/>
                    </a:solidFill>
                  </a:tcPr>
                </a:tc>
                <a:tc>
                  <a:txBody>
                    <a:bodyPr wrap="square"/>
                    <a:lstStyle/>
                    <a:p>
                      <a:pPr algn="l">
                        <a:spcAft>
                          <a:spcPts val="0"/>
                        </a:spcAft>
                        <a:buNone/>
                      </a:pPr>
                      <a:r>
                        <a:rPr sz="1250" b="0">
                          <a:solidFill>
                            <a:srgbClr val="202B38"/>
                          </a:solidFill>
                          <a:latin typeface="Arial"/>
                        </a:rPr>
                        <a:t>The window fills; old or wrong material crowds out the relevant part</a:t>
                      </a:r>
                    </a:p>
                  </a:txBody>
                  <a:tcPr>
                    <a:solidFill>
                      <a:srgbClr val="FFFFFF"/>
                    </a:solidFill>
                  </a:tcPr>
                </a:tc>
                <a:tc>
                  <a:txBody>
                    <a:bodyPr wrap="square"/>
                    <a:lstStyle/>
                    <a:p>
                      <a:pPr algn="l">
                        <a:spcAft>
                          <a:spcPts val="0"/>
                        </a:spcAft>
                        <a:buNone/>
                      </a:pPr>
                      <a:r>
                        <a:rPr sz="1250" b="0">
                          <a:solidFill>
                            <a:srgbClr val="202B38"/>
                          </a:solidFill>
                          <a:latin typeface="Arial"/>
                        </a:rPr>
                        <a:t>No stop condition, no check outside the model, no test - failures repeat</a:t>
                      </a:r>
                    </a:p>
                  </a:txBody>
                  <a:tcPr>
                    <a:solidFill>
                      <a:srgbClr val="FFFFFF"/>
                    </a:solidFill>
                  </a:tcPr>
                </a:tc>
              </a:tr>
              <a:tr h="457200">
                <a:tc>
                  <a:txBody>
                    <a:bodyPr wrap="square"/>
                    <a:lstStyle/>
                    <a:p>
                      <a:pPr algn="l">
                        <a:spcAft>
                          <a:spcPts val="0"/>
                        </a:spcAft>
                        <a:buNone/>
                      </a:pPr>
                      <a:r>
                        <a:rPr sz="1250" b="0">
                          <a:solidFill>
                            <a:srgbClr val="202B38"/>
                          </a:solidFill>
                          <a:latin typeface="Arial"/>
                        </a:rPr>
                        <a:t>Named</a:t>
                      </a:r>
                    </a:p>
                  </a:txBody>
                  <a:tcPr>
                    <a:solidFill>
                      <a:srgbClr val="EEF3FD"/>
                    </a:solidFill>
                  </a:tcPr>
                </a:tc>
                <a:tc>
                  <a:txBody>
                    <a:bodyPr wrap="square"/>
                    <a:lstStyle/>
                    <a:p>
                      <a:pPr algn="l">
                        <a:spcAft>
                          <a:spcPts val="0"/>
                        </a:spcAft>
                        <a:buNone/>
                      </a:pPr>
                      <a:r>
                        <a:rPr sz="1250" b="0">
                          <a:solidFill>
                            <a:srgbClr val="202B38"/>
                          </a:solidFill>
                          <a:latin typeface="Arial"/>
                        </a:rPr>
                        <a:t>2020-2022 (few-shot, chain-of-thought)</a:t>
                      </a:r>
                    </a:p>
                  </a:txBody>
                  <a:tcPr>
                    <a:solidFill>
                      <a:srgbClr val="EEF3FD"/>
                    </a:solidFill>
                  </a:tcPr>
                </a:tc>
                <a:tc>
                  <a:txBody>
                    <a:bodyPr wrap="square"/>
                    <a:lstStyle/>
                    <a:p>
                      <a:pPr algn="l">
                        <a:spcAft>
                          <a:spcPts val="0"/>
                        </a:spcAft>
                        <a:buNone/>
                      </a:pPr>
                      <a:r>
                        <a:rPr sz="1250" b="0">
                          <a:solidFill>
                            <a:srgbClr val="202B38"/>
                          </a:solidFill>
                          <a:latin typeface="Arial"/>
                        </a:rPr>
                        <a:t>Jun 2025 (Lutke; Karpathy)</a:t>
                      </a:r>
                    </a:p>
                  </a:txBody>
                  <a:tcPr>
                    <a:solidFill>
                      <a:srgbClr val="EEF3FD"/>
                    </a:solidFill>
                  </a:tcPr>
                </a:tc>
                <a:tc>
                  <a:txBody>
                    <a:bodyPr wrap="square"/>
                    <a:lstStyle/>
                    <a:p>
                      <a:pPr algn="l">
                        <a:spcAft>
                          <a:spcPts val="0"/>
                        </a:spcAft>
                        <a:buNone/>
                      </a:pPr>
                      <a:r>
                        <a:rPr sz="1250" b="0">
                          <a:solidFill>
                            <a:srgbClr val="202B38"/>
                          </a:solidFill>
                          <a:latin typeface="Arial"/>
                        </a:rPr>
                        <a:t>11 Feb 2026 (OpenAI)</a:t>
                      </a:r>
                    </a:p>
                  </a:txBody>
                  <a:tcPr>
                    <a:solidFill>
                      <a:srgbClr val="EEF3FD"/>
                    </a:solidFill>
                  </a:tcPr>
                </a:tc>
              </a:tr>
              <a:tr h="457200">
                <a:tc>
                  <a:txBody>
                    <a:bodyPr wrap="square"/>
                    <a:lstStyle/>
                    <a:p>
                      <a:pPr algn="l">
                        <a:spcAft>
                          <a:spcPts val="0"/>
                        </a:spcAft>
                        <a:buNone/>
                      </a:pPr>
                      <a:r>
                        <a:rPr sz="1250" b="0">
                          <a:solidFill>
                            <a:srgbClr val="202B38"/>
                          </a:solidFill>
                          <a:latin typeface="Arial"/>
                        </a:rPr>
                        <a:t>In plain words</a:t>
                      </a:r>
                    </a:p>
                  </a:txBody>
                  <a:tcPr>
                    <a:solidFill>
                      <a:srgbClr val="FFFFFF"/>
                    </a:solidFill>
                  </a:tcPr>
                </a:tc>
                <a:tc>
                  <a:txBody>
                    <a:bodyPr wrap="square"/>
                    <a:lstStyle/>
                    <a:p>
                      <a:pPr algn="l">
                        <a:spcAft>
                          <a:spcPts val="0"/>
                        </a:spcAft>
                        <a:buNone/>
                      </a:pPr>
                      <a:r>
                        <a:rPr sz="1250" b="0">
                          <a:solidFill>
                            <a:srgbClr val="202B38"/>
                          </a:solidFill>
                          <a:latin typeface="Arial"/>
                        </a:rPr>
                        <a:t>Choose the words well</a:t>
                      </a:r>
                    </a:p>
                  </a:txBody>
                  <a:tcPr>
                    <a:solidFill>
                      <a:srgbClr val="FFFFFF"/>
                    </a:solidFill>
                  </a:tcPr>
                </a:tc>
                <a:tc>
                  <a:txBody>
                    <a:bodyPr wrap="square"/>
                    <a:lstStyle/>
                    <a:p>
                      <a:pPr algn="l">
                        <a:spcAft>
                          <a:spcPts val="0"/>
                        </a:spcAft>
                        <a:buNone/>
                      </a:pPr>
                      <a:r>
                        <a:rPr sz="1250" b="0">
                          <a:solidFill>
                            <a:srgbClr val="202B38"/>
                          </a:solidFill>
                          <a:latin typeface="Arial"/>
                        </a:rPr>
                        <a:t>Decide what goes in, what stays out, when to summarize</a:t>
                      </a:r>
                    </a:p>
                  </a:txBody>
                  <a:tcPr>
                    <a:solidFill>
                      <a:srgbClr val="FFFFFF"/>
                    </a:solidFill>
                  </a:tcPr>
                </a:tc>
                <a:tc>
                  <a:txBody>
                    <a:bodyPr wrap="square"/>
                    <a:lstStyle/>
                    <a:p>
                      <a:pPr algn="l">
                        <a:spcAft>
                          <a:spcPts val="0"/>
                        </a:spcAft>
                        <a:buNone/>
                      </a:pPr>
                      <a:r>
                        <a:rPr sz="1250" b="0">
                          <a:solidFill>
                            <a:srgbClr val="202B38"/>
                          </a:solidFill>
                          <a:latin typeface="Arial"/>
                        </a:rPr>
                        <a:t>Build the car around the engine</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Sources: Wei et al., arXiv 2201.11903, Jan 2022; Karpathy, 25 Jun 2025; OpenAI, 11 Feb 2026; Anthropic, Effective context engineering for AI agents, 29 Sep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GLOSSARY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words of this session, in plain words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1631128"/>
                <a:gridCol w="5219610"/>
                <a:gridCol w="4240933"/>
              </a:tblGrid>
              <a:tr h="457200">
                <a:tc>
                  <a:txBody>
                    <a:bodyPr wrap="square"/>
                    <a:lstStyle/>
                    <a:p>
                      <a:pPr algn="l">
                        <a:spcAft>
                          <a:spcPts val="0"/>
                        </a:spcAft>
                        <a:buNone/>
                      </a:pPr>
                      <a:r>
                        <a:rPr sz="1300" b="1">
                          <a:solidFill>
                            <a:srgbClr val="FFFFFF"/>
                          </a:solidFill>
                          <a:latin typeface="Arial"/>
                        </a:rPr>
                        <a:t>Term</a:t>
                      </a:r>
                    </a:p>
                  </a:txBody>
                  <a:tcPr>
                    <a:solidFill>
                      <a:srgbClr val="0A2540"/>
                    </a:solidFill>
                  </a:tcPr>
                </a:tc>
                <a:tc>
                  <a:txBody>
                    <a:bodyPr wrap="square"/>
                    <a:lstStyle/>
                    <a:p>
                      <a:pPr algn="l">
                        <a:spcAft>
                          <a:spcPts val="0"/>
                        </a:spcAft>
                        <a:buNone/>
                      </a:pPr>
                      <a:r>
                        <a:rPr sz="1300" b="1">
                          <a:solidFill>
                            <a:srgbClr val="FFFFFF"/>
                          </a:solidFill>
                          <a:latin typeface="Arial"/>
                        </a:rPr>
                        <a:t>In plain words</a:t>
                      </a:r>
                    </a:p>
                  </a:txBody>
                  <a:tcPr>
                    <a:solidFill>
                      <a:srgbClr val="0A2540"/>
                    </a:solidFill>
                  </a:tcPr>
                </a:tc>
                <a:tc>
                  <a:txBody>
                    <a:bodyPr wrap="square"/>
                    <a:lstStyle/>
                    <a:p>
                      <a:pPr algn="l">
                        <a:spcAft>
                          <a:spcPts val="0"/>
                        </a:spcAft>
                        <a:buNone/>
                      </a:pPr>
                      <a:r>
                        <a:rPr sz="1300" b="1">
                          <a:solidFill>
                            <a:srgbClr val="FFFFFF"/>
                          </a:solidFill>
                          <a:latin typeface="Arial"/>
                        </a:rPr>
                        <a:t>Where you will meet it today</a:t>
                      </a:r>
                    </a:p>
                  </a:txBody>
                  <a:tcPr>
                    <a:solidFill>
                      <a:srgbClr val="0A2540"/>
                    </a:solidFill>
                  </a:tcPr>
                </a:tc>
              </a:tr>
              <a:tr h="457200">
                <a:tc>
                  <a:txBody>
                    <a:bodyPr wrap="square"/>
                    <a:lstStyle/>
                    <a:p>
                      <a:pPr algn="l">
                        <a:spcAft>
                          <a:spcPts val="0"/>
                        </a:spcAft>
                        <a:buNone/>
                      </a:pPr>
                      <a:r>
                        <a:rPr sz="1250" b="0">
                          <a:solidFill>
                            <a:srgbClr val="202B38"/>
                          </a:solidFill>
                          <a:latin typeface="Arial"/>
                        </a:rPr>
                        <a:t>Model</a:t>
                      </a:r>
                    </a:p>
                  </a:txBody>
                  <a:tcPr>
                    <a:solidFill>
                      <a:srgbClr val="FFFFFF"/>
                    </a:solidFill>
                  </a:tcPr>
                </a:tc>
                <a:tc>
                  <a:txBody>
                    <a:bodyPr wrap="square"/>
                    <a:lstStyle/>
                    <a:p>
                      <a:pPr algn="l">
                        <a:spcAft>
                          <a:spcPts val="0"/>
                        </a:spcAft>
                        <a:buNone/>
                      </a:pPr>
                      <a:r>
                        <a:rPr sz="1250" b="0">
                          <a:solidFill>
                            <a:srgbClr val="202B38"/>
                          </a:solidFill>
                          <a:latin typeface="Arial"/>
                        </a:rPr>
                        <a:t>The text-in, text-out engine; anything that maps a context to the next message</a:t>
                      </a:r>
                    </a:p>
                  </a:txBody>
                  <a:tcPr>
                    <a:solidFill>
                      <a:srgbClr val="FFFFFF"/>
                    </a:solidFill>
                  </a:tcPr>
                </a:tc>
                <a:tc>
                  <a:txBody>
                    <a:bodyPr wrap="square"/>
                    <a:lstStyle/>
                    <a:p>
                      <a:pPr algn="l">
                        <a:spcAft>
                          <a:spcPts val="0"/>
                        </a:spcAft>
                        <a:buNone/>
                      </a:pPr>
                      <a:r>
                        <a:rPr sz="1250" b="0">
                          <a:solidFill>
                            <a:srgbClr val="202B38"/>
                          </a:solidFill>
                          <a:latin typeface="Arial"/>
                        </a:rPr>
                        <a:t>ScriptedModel in notebook 01 - no API key needed</a:t>
                      </a:r>
                    </a:p>
                  </a:txBody>
                  <a:tcPr>
                    <a:solidFill>
                      <a:srgbClr val="FFFFFF"/>
                    </a:solidFill>
                  </a:tcPr>
                </a:tc>
              </a:tr>
              <a:tr h="457200">
                <a:tc>
                  <a:txBody>
                    <a:bodyPr wrap="square"/>
                    <a:lstStyle/>
                    <a:p>
                      <a:pPr algn="l">
                        <a:spcAft>
                          <a:spcPts val="0"/>
                        </a:spcAft>
                        <a:buNone/>
                      </a:pPr>
                      <a:r>
                        <a:rPr sz="1250" b="0">
                          <a:solidFill>
                            <a:srgbClr val="202B38"/>
                          </a:solidFill>
                          <a:latin typeface="Arial"/>
                        </a:rPr>
                        <a:t>Prompt</a:t>
                      </a:r>
                    </a:p>
                  </a:txBody>
                  <a:tcPr>
                    <a:solidFill>
                      <a:srgbClr val="EEF3FD"/>
                    </a:solidFill>
                  </a:tcPr>
                </a:tc>
                <a:tc>
                  <a:txBody>
                    <a:bodyPr wrap="square"/>
                    <a:lstStyle/>
                    <a:p>
                      <a:pPr algn="l">
                        <a:spcAft>
                          <a:spcPts val="0"/>
                        </a:spcAft>
                        <a:buNone/>
                      </a:pPr>
                      <a:r>
                        <a:rPr sz="1250" b="0">
                          <a:solidFill>
                            <a:srgbClr val="202B38"/>
                          </a:solidFill>
                          <a:latin typeface="Arial"/>
                        </a:rPr>
                        <a:t>The words you send</a:t>
                      </a:r>
                    </a:p>
                  </a:txBody>
                  <a:tcPr>
                    <a:solidFill>
                      <a:srgbClr val="EEF3FD"/>
                    </a:solidFill>
                  </a:tcPr>
                </a:tc>
                <a:tc>
                  <a:txBody>
                    <a:bodyPr wrap="square"/>
                    <a:lstStyle/>
                    <a:p>
                      <a:pPr algn="l">
                        <a:spcAft>
                          <a:spcPts val="0"/>
                        </a:spcAft>
                        <a:buNone/>
                      </a:pPr>
                      <a:r>
                        <a:rPr sz="1250" b="0">
                          <a:solidFill>
                            <a:srgbClr val="202B38"/>
                          </a:solidFill>
                          <a:latin typeface="Arial"/>
                        </a:rPr>
                        <a:t>The bare and the improved prompt</a:t>
                      </a:r>
                    </a:p>
                  </a:txBody>
                  <a:tcPr>
                    <a:solidFill>
                      <a:srgbClr val="EEF3FD"/>
                    </a:solidFill>
                  </a:tcPr>
                </a:tc>
              </a:tr>
              <a:tr h="457200">
                <a:tc>
                  <a:txBody>
                    <a:bodyPr wrap="square"/>
                    <a:lstStyle/>
                    <a:p>
                      <a:pPr algn="l">
                        <a:spcAft>
                          <a:spcPts val="0"/>
                        </a:spcAft>
                        <a:buNone/>
                      </a:pPr>
                      <a:r>
                        <a:rPr sz="1250" b="0">
                          <a:solidFill>
                            <a:srgbClr val="202B38"/>
                          </a:solidFill>
                          <a:latin typeface="Arial"/>
                        </a:rPr>
                        <a:t>Context</a:t>
                      </a:r>
                    </a:p>
                  </a:txBody>
                  <a:tcPr>
                    <a:solidFill>
                      <a:srgbClr val="FFFFFF"/>
                    </a:solidFill>
                  </a:tcPr>
                </a:tc>
                <a:tc>
                  <a:txBody>
                    <a:bodyPr wrap="square"/>
                    <a:lstStyle/>
                    <a:p>
                      <a:pPr algn="l">
                        <a:spcAft>
                          <a:spcPts val="0"/>
                        </a:spcAft>
                        <a:buNone/>
                      </a:pPr>
                      <a:r>
                        <a:rPr sz="1250" b="0">
                          <a:solidFill>
                            <a:srgbClr val="202B38"/>
                          </a:solidFill>
                          <a:latin typeface="Arial"/>
                        </a:rPr>
                        <a:t>Everything the model sees in one call</a:t>
                      </a:r>
                    </a:p>
                  </a:txBody>
                  <a:tcPr>
                    <a:solidFill>
                      <a:srgbClr val="FFFFFF"/>
                    </a:solidFill>
                  </a:tcPr>
                </a:tc>
                <a:tc>
                  <a:txBody>
                    <a:bodyPr wrap="square"/>
                    <a:lstStyle/>
                    <a:p>
                      <a:pPr algn="l">
                        <a:spcAft>
                          <a:spcPts val="0"/>
                        </a:spcAft>
                        <a:buNone/>
                      </a:pPr>
                      <a:r>
                        <a:rPr sz="1250" b="0">
                          <a:solidFill>
                            <a:srgbClr val="202B38"/>
                          </a:solidFill>
                          <a:latin typeface="Arial"/>
                        </a:rPr>
                        <a:t>The system prompt plus the tool results in the trace</a:t>
                      </a:r>
                    </a:p>
                  </a:txBody>
                  <a:tcPr>
                    <a:solidFill>
                      <a:srgbClr val="FFFFFF"/>
                    </a:solidFill>
                  </a:tcPr>
                </a:tc>
              </a:tr>
              <a:tr h="457200">
                <a:tc>
                  <a:txBody>
                    <a:bodyPr wrap="square"/>
                    <a:lstStyle/>
                    <a:p>
                      <a:pPr algn="l">
                        <a:spcAft>
                          <a:spcPts val="0"/>
                        </a:spcAft>
                        <a:buNone/>
                      </a:pPr>
                      <a:r>
                        <a:rPr sz="1250" b="0">
                          <a:solidFill>
                            <a:srgbClr val="202B38"/>
                          </a:solidFill>
                          <a:latin typeface="Arial"/>
                        </a:rPr>
                        <a:t>Tool</a:t>
                      </a:r>
                    </a:p>
                  </a:txBody>
                  <a:tcPr>
                    <a:solidFill>
                      <a:srgbClr val="EEF3FD"/>
                    </a:solidFill>
                  </a:tcPr>
                </a:tc>
                <a:tc>
                  <a:txBody>
                    <a:bodyPr wrap="square"/>
                    <a:lstStyle/>
                    <a:p>
                      <a:pPr algn="l">
                        <a:spcAft>
                          <a:spcPts val="0"/>
                        </a:spcAft>
                        <a:buNone/>
                      </a:pPr>
                      <a:r>
                        <a:rPr sz="1250" b="0">
                          <a:solidFill>
                            <a:srgbClr val="202B38"/>
                          </a:solidFill>
                          <a:latin typeface="Arial"/>
                        </a:rPr>
                        <a:t>A function the model asks for by name, with JSON arguments; the harness runs it</a:t>
                      </a:r>
                    </a:p>
                  </a:txBody>
                  <a:tcPr>
                    <a:solidFill>
                      <a:srgbClr val="EEF3FD"/>
                    </a:solidFill>
                  </a:tcPr>
                </a:tc>
                <a:tc>
                  <a:txBody>
                    <a:bodyPr wrap="square"/>
                    <a:lstStyle/>
                    <a:p>
                      <a:pPr algn="l">
                        <a:spcAft>
                          <a:spcPts val="0"/>
                        </a:spcAft>
                        <a:buNone/>
                      </a:pPr>
                      <a:r>
                        <a:rPr sz="1250" b="0">
                          <a:solidFill>
                            <a:srgbClr val="202B38"/>
                          </a:solidFill>
                          <a:latin typeface="Arial"/>
                        </a:rPr>
                        <a:t>search_docs, read_doc, check_citation</a:t>
                      </a:r>
                    </a:p>
                  </a:txBody>
                  <a:tcPr>
                    <a:solidFill>
                      <a:srgbClr val="EEF3FD"/>
                    </a:solidFill>
                  </a:tcPr>
                </a:tc>
              </a:tr>
              <a:tr h="457200">
                <a:tc>
                  <a:txBody>
                    <a:bodyPr wrap="square"/>
                    <a:lstStyle/>
                    <a:p>
                      <a:pPr algn="l">
                        <a:spcAft>
                          <a:spcPts val="0"/>
                        </a:spcAft>
                        <a:buNone/>
                      </a:pPr>
                      <a:r>
                        <a:rPr sz="1250" b="0">
                          <a:solidFill>
                            <a:srgbClr val="202B38"/>
                          </a:solidFill>
                          <a:latin typeface="Arial"/>
                        </a:rPr>
                        <a:t>Harness</a:t>
                      </a:r>
                    </a:p>
                  </a:txBody>
                  <a:tcPr>
                    <a:solidFill>
                      <a:srgbClr val="FFFFFF"/>
                    </a:solidFill>
                  </a:tcPr>
                </a:tc>
                <a:tc>
                  <a:txBody>
                    <a:bodyPr wrap="square"/>
                    <a:lstStyle/>
                    <a:p>
                      <a:pPr algn="l">
                        <a:spcAft>
                          <a:spcPts val="0"/>
                        </a:spcAft>
                        <a:buNone/>
                      </a:pPr>
                      <a:r>
                        <a:rPr sz="1250" b="0">
                          <a:solidFill>
                            <a:srgbClr val="202B38"/>
                          </a:solidFill>
                          <a:latin typeface="Arial"/>
                        </a:rPr>
                        <a:t>The runtime around the model: loop, tools, context, checks</a:t>
                      </a:r>
                    </a:p>
                  </a:txBody>
                  <a:tcPr>
                    <a:solidFill>
                      <a:srgbClr val="FFFFFF"/>
                    </a:solidFill>
                  </a:tcPr>
                </a:tc>
                <a:tc>
                  <a:txBody>
                    <a:bodyPr wrap="square"/>
                    <a:lstStyle/>
                    <a:p>
                      <a:pPr algn="l">
                        <a:spcAft>
                          <a:spcPts val="0"/>
                        </a:spcAft>
                        <a:buNone/>
                      </a:pPr>
                      <a:r>
                        <a:rPr sz="1250" b="0">
                          <a:solidFill>
                            <a:srgbClr val="202B38"/>
                          </a:solidFill>
                          <a:latin typeface="Arial"/>
                        </a:rPr>
                        <a:t>The 15-line loop</a:t>
                      </a:r>
                    </a:p>
                  </a:txBody>
                  <a:tcPr>
                    <a:solidFill>
                      <a:srgbClr val="FFFFFF"/>
                    </a:solidFill>
                  </a:tcPr>
                </a:tc>
              </a:tr>
              <a:tr h="457200">
                <a:tc>
                  <a:txBody>
                    <a:bodyPr wrap="square"/>
                    <a:lstStyle/>
                    <a:p>
                      <a:pPr algn="l">
                        <a:spcAft>
                          <a:spcPts val="0"/>
                        </a:spcAft>
                        <a:buNone/>
                      </a:pPr>
                      <a:r>
                        <a:rPr sz="1250" b="0">
                          <a:solidFill>
                            <a:srgbClr val="202B38"/>
                          </a:solidFill>
                          <a:latin typeface="Arial"/>
                        </a:rPr>
                        <a:t>Trace</a:t>
                      </a:r>
                    </a:p>
                  </a:txBody>
                  <a:tcPr>
                    <a:solidFill>
                      <a:srgbClr val="EEF3FD"/>
                    </a:solidFill>
                  </a:tcPr>
                </a:tc>
                <a:tc>
                  <a:txBody>
                    <a:bodyPr wrap="square"/>
                    <a:lstStyle/>
                    <a:p>
                      <a:pPr algn="l">
                        <a:spcAft>
                          <a:spcPts val="0"/>
                        </a:spcAft>
                        <a:buNone/>
                      </a:pPr>
                      <a:r>
                        <a:rPr sz="1250" b="0">
                          <a:solidFill>
                            <a:srgbClr val="202B38"/>
                          </a:solidFill>
                          <a:latin typeface="Arial"/>
                        </a:rPr>
                        <a:t>The record of every step: messages, tool calls, tokens, time</a:t>
                      </a:r>
                    </a:p>
                  </a:txBody>
                  <a:tcPr>
                    <a:solidFill>
                      <a:srgbClr val="EEF3FD"/>
                    </a:solidFill>
                  </a:tcPr>
                </a:tc>
                <a:tc>
                  <a:txBody>
                    <a:bodyPr wrap="square"/>
                    <a:lstStyle/>
                    <a:p>
                      <a:pPr algn="l">
                        <a:spcAft>
                          <a:spcPts val="0"/>
                        </a:spcAft>
                        <a:buNone/>
                      </a:pPr>
                      <a:r>
                        <a:rPr sz="1250" b="0">
                          <a:solidFill>
                            <a:srgbClr val="202B38"/>
                          </a:solidFill>
                          <a:latin typeface="Arial"/>
                        </a:rPr>
                        <a:t>result.trace.show()</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Definitions follow the Module 5 course brief; the same lines appear in the notebooks the first time each word is used.</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one question, three ways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Notebook 01: a bare prompt, a better prompt, and a 15-line harness answer the same question. Then we read the trace.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SECTIONS 1-3</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question, three answers: only the harness gets the facts and shows its source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1828800"/>
        </p:xfrm>
        <a:graphic>
          <a:graphicData uri="http://schemas.openxmlformats.org/drawingml/2006/table">
            <a:tbl>
              <a:tblPr firstRow="1" bandRow="1">
                <a:tableStyleId>{5C22544A-7EE6-4342-B048-85BDC9FD1C3A}</a:tableStyleId>
              </a:tblPr>
              <a:tblGrid>
                <a:gridCol w="1487907"/>
                <a:gridCol w="2570021"/>
                <a:gridCol w="4057928"/>
                <a:gridCol w="2975814"/>
              </a:tblGrid>
              <a:tr h="457200">
                <a:tc>
                  <a:txBody>
                    <a:bodyPr wrap="square"/>
                    <a:lstStyle/>
                    <a:p>
                      <a:pPr algn="l">
                        <a:spcAft>
                          <a:spcPts val="0"/>
                        </a:spcAft>
                        <a:buNone/>
                      </a:pPr>
                      <a:r>
                        <a:rPr sz="1300" b="1">
                          <a:solidFill>
                            <a:srgbClr val="FFFFFF"/>
                          </a:solidFill>
                          <a:latin typeface="Arial"/>
                        </a:rPr>
                        <a:t>Approach</a:t>
                      </a:r>
                    </a:p>
                  </a:txBody>
                  <a:tcPr>
                    <a:solidFill>
                      <a:srgbClr val="0A2540"/>
                    </a:solidFill>
                  </a:tcPr>
                </a:tc>
                <a:tc>
                  <a:txBody>
                    <a:bodyPr wrap="square"/>
                    <a:lstStyle/>
                    <a:p>
                      <a:pPr algn="l">
                        <a:spcAft>
                          <a:spcPts val="0"/>
                        </a:spcAft>
                        <a:buNone/>
                      </a:pPr>
                      <a:r>
                        <a:rPr sz="1300" b="1">
                          <a:solidFill>
                            <a:srgbClr val="FFFFFF"/>
                          </a:solidFill>
                          <a:latin typeface="Arial"/>
                        </a:rPr>
                        <a:t>What we send</a:t>
                      </a:r>
                    </a:p>
                  </a:txBody>
                  <a:tcPr>
                    <a:solidFill>
                      <a:srgbClr val="0A2540"/>
                    </a:solidFill>
                  </a:tcPr>
                </a:tc>
                <a:tc>
                  <a:txBody>
                    <a:bodyPr wrap="square"/>
                    <a:lstStyle/>
                    <a:p>
                      <a:pPr algn="l">
                        <a:spcAft>
                          <a:spcPts val="0"/>
                        </a:spcAft>
                        <a:buNone/>
                      </a:pPr>
                      <a:r>
                        <a:rPr sz="1300" b="1">
                          <a:solidFill>
                            <a:srgbClr val="FFFFFF"/>
                          </a:solidFill>
                          <a:latin typeface="Arial"/>
                        </a:rPr>
                        <a:t>What comes back</a:t>
                      </a:r>
                    </a:p>
                  </a:txBody>
                  <a:tcPr>
                    <a:solidFill>
                      <a:srgbClr val="0A2540"/>
                    </a:solidFill>
                  </a:tcPr>
                </a:tc>
                <a:tc>
                  <a:txBody>
                    <a:bodyPr wrap="square"/>
                    <a:lstStyle/>
                    <a:p>
                      <a:pPr algn="l">
                        <a:spcAft>
                          <a:spcPts val="0"/>
                        </a:spcAft>
                        <a:buNone/>
                      </a:pPr>
                      <a:r>
                        <a:rPr sz="1300" b="1">
                          <a:solidFill>
                            <a:srgbClr val="FFFFFF"/>
                          </a:solidFill>
                          <a:latin typeface="Arial"/>
                        </a:rPr>
                        <a:t>Verdict</a:t>
                      </a:r>
                    </a:p>
                  </a:txBody>
                  <a:tcPr>
                    <a:solidFill>
                      <a:srgbClr val="0A2540"/>
                    </a:solidFill>
                  </a:tcPr>
                </a:tc>
              </a:tr>
              <a:tr h="457200">
                <a:tc>
                  <a:txBody>
                    <a:bodyPr wrap="square"/>
                    <a:lstStyle/>
                    <a:p>
                      <a:pPr algn="l">
                        <a:spcAft>
                          <a:spcPts val="0"/>
                        </a:spcAft>
                        <a:buNone/>
                      </a:pPr>
                      <a:r>
                        <a:rPr sz="1250" b="0">
                          <a:solidFill>
                            <a:srgbClr val="202B38"/>
                          </a:solidFill>
                          <a:latin typeface="Arial"/>
                        </a:rPr>
                        <a:t>Bare model</a:t>
                      </a:r>
                    </a:p>
                  </a:txBody>
                  <a:tcPr>
                    <a:solidFill>
                      <a:srgbClr val="FFFFFF"/>
                    </a:solidFill>
                  </a:tcPr>
                </a:tc>
                <a:tc>
                  <a:txBody>
                    <a:bodyPr wrap="square"/>
                    <a:lstStyle/>
                    <a:p>
                      <a:pPr algn="l">
                        <a:spcAft>
                          <a:spcPts val="0"/>
                        </a:spcAft>
                        <a:buNone/>
                      </a:pPr>
                      <a:r>
                        <a:rPr sz="1250" b="0">
                          <a:solidFill>
                            <a:srgbClr val="202B38"/>
                          </a:solidFill>
                          <a:latin typeface="Arial"/>
                        </a:rPr>
                        <a:t>The question, nothing else</a:t>
                      </a:r>
                    </a:p>
                  </a:txBody>
                  <a:tcPr>
                    <a:solidFill>
                      <a:srgbClr val="FFFFFF"/>
                    </a:solidFill>
                  </a:tcPr>
                </a:tc>
                <a:tc>
                  <a:txBody>
                    <a:bodyPr wrap="square"/>
                    <a:lstStyle/>
                    <a:p>
                      <a:pPr algn="l">
                        <a:spcAft>
                          <a:spcPts val="0"/>
                        </a:spcAft>
                        <a:buNone/>
                      </a:pPr>
                      <a:r>
                        <a:rPr sz="1250" b="0">
                          <a:solidFill>
                            <a:srgbClr val="202B38"/>
                          </a:solidFill>
                          <a:latin typeface="Arial"/>
                        </a:rPr>
                        <a:t>'Anthropic released the Model Context Protocol in 2023 and Google adopted it in 2024.'</a:t>
                      </a:r>
                    </a:p>
                  </a:txBody>
                  <a:tcPr>
                    <a:solidFill>
                      <a:srgbClr val="FFFFFF"/>
                    </a:solidFill>
                  </a:tcPr>
                </a:tc>
                <a:tc>
                  <a:txBody>
                    <a:bodyPr wrap="square"/>
                    <a:lstStyle/>
                    <a:p>
                      <a:pPr algn="l">
                        <a:spcAft>
                          <a:spcPts val="0"/>
                        </a:spcAft>
                        <a:buNone/>
                      </a:pPr>
                      <a:r>
                        <a:rPr sz="1250" b="0">
                          <a:solidFill>
                            <a:srgbClr val="202B38"/>
                          </a:solidFill>
                          <a:latin typeface="Arial"/>
                        </a:rPr>
                        <a:t>Wrong year, wrong company, no source. 1 turn, ~26 tokens</a:t>
                      </a:r>
                    </a:p>
                  </a:txBody>
                  <a:tcPr>
                    <a:solidFill>
                      <a:srgbClr val="FFFFFF"/>
                    </a:solidFill>
                  </a:tcPr>
                </a:tc>
              </a:tr>
              <a:tr h="457200">
                <a:tc>
                  <a:txBody>
                    <a:bodyPr wrap="square"/>
                    <a:lstStyle/>
                    <a:p>
                      <a:pPr algn="l">
                        <a:spcAft>
                          <a:spcPts val="0"/>
                        </a:spcAft>
                        <a:buNone/>
                      </a:pPr>
                      <a:r>
                        <a:rPr sz="1250" b="0">
                          <a:solidFill>
                            <a:srgbClr val="202B38"/>
                          </a:solidFill>
                          <a:latin typeface="Arial"/>
                        </a:rPr>
                        <a:t>Prompt-engineered</a:t>
                      </a:r>
                    </a:p>
                  </a:txBody>
                  <a:tcPr>
                    <a:solidFill>
                      <a:srgbClr val="EEF3FD"/>
                    </a:solidFill>
                  </a:tcPr>
                </a:tc>
                <a:tc>
                  <a:txBody>
                    <a:bodyPr wrap="square"/>
                    <a:lstStyle/>
                    <a:p>
                      <a:pPr algn="l">
                        <a:spcAft>
                          <a:spcPts val="0"/>
                        </a:spcAft>
                        <a:buNone/>
                      </a:pPr>
                      <a:r>
                        <a:rPr sz="1250" b="0">
                          <a:solidFill>
                            <a:srgbClr val="202B38"/>
                          </a:solidFill>
                          <a:latin typeface="Arial"/>
                        </a:rPr>
                        <a:t>The question plus 'If you are not sure, say so'</a:t>
                      </a:r>
                    </a:p>
                  </a:txBody>
                  <a:tcPr>
                    <a:solidFill>
                      <a:srgbClr val="EEF3FD"/>
                    </a:solidFill>
                  </a:tcPr>
                </a:tc>
                <a:tc>
                  <a:txBody>
                    <a:bodyPr wrap="square"/>
                    <a:lstStyle/>
                    <a:p>
                      <a:pPr algn="l">
                        <a:spcAft>
                          <a:spcPts val="0"/>
                        </a:spcAft>
                        <a:buNone/>
                      </a:pPr>
                      <a:r>
                        <a:rPr sz="1250" b="0">
                          <a:solidFill>
                            <a:srgbClr val="202B38"/>
                          </a:solidFill>
                          <a:latin typeface="Arial"/>
                        </a:rPr>
                        <a:t>'I am not certain. From memory: ...' then the same wrong facts</a:t>
                      </a:r>
                    </a:p>
                  </a:txBody>
                  <a:tcPr>
                    <a:solidFill>
                      <a:srgbClr val="EEF3FD"/>
                    </a:solidFill>
                  </a:tcPr>
                </a:tc>
                <a:tc>
                  <a:txBody>
                    <a:bodyPr wrap="square"/>
                    <a:lstStyle/>
                    <a:p>
                      <a:pPr algn="l">
                        <a:spcAft>
                          <a:spcPts val="0"/>
                        </a:spcAft>
                        <a:buNone/>
                      </a:pPr>
                      <a:r>
                        <a:rPr sz="1250" b="0">
                          <a:solidFill>
                            <a:srgbClr val="202B38"/>
                          </a:solidFill>
                          <a:latin typeface="Arial"/>
                        </a:rPr>
                        <a:t>Hedges, still wrong, no source. 1 turn, ~39 tokens</a:t>
                      </a:r>
                    </a:p>
                  </a:txBody>
                  <a:tcPr>
                    <a:solidFill>
                      <a:srgbClr val="EEF3FD"/>
                    </a:solidFill>
                  </a:tcPr>
                </a:tc>
              </a:tr>
              <a:tr h="457200">
                <a:tc>
                  <a:txBody>
                    <a:bodyPr wrap="square"/>
                    <a:lstStyle/>
                    <a:p>
                      <a:pPr algn="l">
                        <a:spcAft>
                          <a:spcPts val="0"/>
                        </a:spcAft>
                        <a:buNone/>
                      </a:pPr>
                      <a:r>
                        <a:rPr sz="1250" b="0">
                          <a:solidFill>
                            <a:srgbClr val="202B38"/>
                          </a:solidFill>
                          <a:latin typeface="Arial"/>
                        </a:rPr>
                        <a:t>Harness</a:t>
                      </a:r>
                    </a:p>
                  </a:txBody>
                  <a:tcPr>
                    <a:solidFill>
                      <a:srgbClr val="FFFFFF"/>
                    </a:solidFill>
                  </a:tcPr>
                </a:tc>
                <a:tc>
                  <a:txBody>
                    <a:bodyPr wrap="square"/>
                    <a:lstStyle/>
                    <a:p>
                      <a:pPr algn="l">
                        <a:spcAft>
                          <a:spcPts val="0"/>
                        </a:spcAft>
                        <a:buNone/>
                      </a:pPr>
                      <a:r>
                        <a:rPr sz="1250" b="0">
                          <a:solidFill>
                            <a:srgbClr val="202B38"/>
                          </a:solidFill>
                          <a:latin typeface="Arial"/>
                        </a:rPr>
                        <a:t>The question, three tools, a loop with stop conditions</a:t>
                      </a:r>
                    </a:p>
                  </a:txBody>
                  <a:tcPr>
                    <a:solidFill>
                      <a:srgbClr val="FFFFFF"/>
                    </a:solidFill>
                  </a:tcPr>
                </a:tc>
                <a:tc>
                  <a:txBody>
                    <a:bodyPr wrap="square"/>
                    <a:lstStyle/>
                    <a:p>
                      <a:pPr algn="l">
                        <a:spcAft>
                          <a:spcPts val="0"/>
                        </a:spcAft>
                        <a:buNone/>
                      </a:pPr>
                      <a:r>
                        <a:rPr sz="1250" b="0">
                          <a:solidFill>
                            <a:srgbClr val="202B38"/>
                          </a:solidFill>
                          <a:latin typeface="Arial"/>
                        </a:rPr>
                        <a:t>'Anthropic open-sourced the Model Context Protocol on 25 November 2024 ... On 26 March 2025 OpenAI announced support for MCP in its Agents SDK ... [source: model-context-protocol]'</a:t>
                      </a:r>
                    </a:p>
                  </a:txBody>
                  <a:tcPr>
                    <a:solidFill>
                      <a:srgbClr val="FFFFFF"/>
                    </a:solidFill>
                  </a:tcPr>
                </a:tc>
                <a:tc>
                  <a:txBody>
                    <a:bodyPr wrap="square"/>
                    <a:lstStyle/>
                    <a:p>
                      <a:pPr algn="l">
                        <a:spcAft>
                          <a:spcPts val="0"/>
                        </a:spcAft>
                        <a:buNone/>
                      </a:pPr>
                      <a:r>
                        <a:rPr sz="1250" b="0">
                          <a:solidFill>
                            <a:srgbClr val="202B38"/>
                          </a:solidFill>
                          <a:latin typeface="Arial"/>
                        </a:rPr>
                        <a:t>Both parts correct, cited. 4 model calls, 3 tool calls, ~1,980 tokens</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The question: 'When did Anthropic open-source the Model Context Protocol, and which company adopted it in March 2025?' Same ScriptedModel in all three runs.</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3</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harness could call three tools - each one a plain Python function with a docstring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1828800"/>
        </p:xfrm>
        <a:graphic>
          <a:graphicData uri="http://schemas.openxmlformats.org/drawingml/2006/table">
            <a:tbl>
              <a:tblPr firstRow="1" bandRow="1">
                <a:tableStyleId>{5C22544A-7EE6-4342-B048-85BDC9FD1C3A}</a:tableStyleId>
              </a:tblPr>
              <a:tblGrid>
                <a:gridCol w="2508830"/>
                <a:gridCol w="3565180"/>
                <a:gridCol w="2904961"/>
                <a:gridCol w="2112699"/>
              </a:tblGrid>
              <a:tr h="457200">
                <a:tc>
                  <a:txBody>
                    <a:bodyPr wrap="square"/>
                    <a:lstStyle/>
                    <a:p>
                      <a:pPr algn="l">
                        <a:spcAft>
                          <a:spcPts val="0"/>
                        </a:spcAft>
                        <a:buNone/>
                      </a:pPr>
                      <a:r>
                        <a:rPr sz="1300" b="1">
                          <a:solidFill>
                            <a:srgbClr val="FFFFFF"/>
                          </a:solidFill>
                          <a:latin typeface="Arial"/>
                        </a:rPr>
                        <a:t>Tool</a:t>
                      </a:r>
                    </a:p>
                  </a:txBody>
                  <a:tcPr>
                    <a:solidFill>
                      <a:srgbClr val="0A2540"/>
                    </a:solidFill>
                  </a:tcPr>
                </a:tc>
                <a:tc>
                  <a:txBody>
                    <a:bodyPr wrap="square"/>
                    <a:lstStyle/>
                    <a:p>
                      <a:pPr algn="l">
                        <a:spcAft>
                          <a:spcPts val="0"/>
                        </a:spcAft>
                        <a:buNone/>
                      </a:pPr>
                      <a:r>
                        <a:rPr sz="1300" b="1">
                          <a:solidFill>
                            <a:srgbClr val="FFFFFF"/>
                          </a:solidFill>
                          <a:latin typeface="Arial"/>
                        </a:rPr>
                        <a:t>What its description tells the model</a:t>
                      </a:r>
                    </a:p>
                  </a:txBody>
                  <a:tcPr>
                    <a:solidFill>
                      <a:srgbClr val="0A2540"/>
                    </a:solidFill>
                  </a:tcPr>
                </a:tc>
                <a:tc>
                  <a:txBody>
                    <a:bodyPr wrap="square"/>
                    <a:lstStyle/>
                    <a:p>
                      <a:pPr algn="l">
                        <a:spcAft>
                          <a:spcPts val="0"/>
                        </a:spcAft>
                        <a:buNone/>
                      </a:pPr>
                      <a:r>
                        <a:rPr sz="1300" b="1">
                          <a:solidFill>
                            <a:srgbClr val="FFFFFF"/>
                          </a:solidFill>
                          <a:latin typeface="Arial"/>
                        </a:rPr>
                        <a:t>What it returns</a:t>
                      </a:r>
                    </a:p>
                  </a:txBody>
                  <a:tcPr>
                    <a:solidFill>
                      <a:srgbClr val="0A2540"/>
                    </a:solidFill>
                  </a:tcPr>
                </a:tc>
                <a:tc>
                  <a:txBody>
                    <a:bodyPr wrap="square"/>
                    <a:lstStyle/>
                    <a:p>
                      <a:pPr algn="l">
                        <a:spcAft>
                          <a:spcPts val="0"/>
                        </a:spcAft>
                        <a:buNone/>
                      </a:pPr>
                      <a:r>
                        <a:rPr sz="1300" b="1">
                          <a:solidFill>
                            <a:srgbClr val="FFFFFF"/>
                          </a:solidFill>
                          <a:latin typeface="Arial"/>
                        </a:rPr>
                        <a:t>Step in the trace</a:t>
                      </a:r>
                    </a:p>
                  </a:txBody>
                  <a:tcPr>
                    <a:solidFill>
                      <a:srgbClr val="0A2540"/>
                    </a:solidFill>
                  </a:tcPr>
                </a:tc>
              </a:tr>
              <a:tr h="457200">
                <a:tc>
                  <a:txBody>
                    <a:bodyPr wrap="square"/>
                    <a:lstStyle/>
                    <a:p>
                      <a:pPr algn="l">
                        <a:spcAft>
                          <a:spcPts val="0"/>
                        </a:spcAft>
                        <a:buNone/>
                      </a:pPr>
                      <a:r>
                        <a:rPr sz="1100" b="0">
                          <a:solidFill>
                            <a:srgbClr val="0A2540"/>
                          </a:solidFill>
                          <a:latin typeface="Courier New"/>
                        </a:rPr>
                        <a:t>search_docs(query, k=3)</a:t>
                      </a:r>
                    </a:p>
                  </a:txBody>
                  <a:tcPr>
                    <a:solidFill>
                      <a:srgbClr val="FFFFFF"/>
                    </a:solidFill>
                  </a:tcPr>
                </a:tc>
                <a:tc>
                  <a:txBody>
                    <a:bodyPr wrap="square"/>
                    <a:lstStyle/>
                    <a:p>
                      <a:pPr algn="l">
                        <a:spcAft>
                          <a:spcPts val="0"/>
                        </a:spcAft>
                        <a:buNone/>
                      </a:pPr>
                      <a:r>
                        <a:rPr sz="1250" b="0">
                          <a:solidFill>
                            <a:srgbClr val="202B38"/>
                          </a:solidFill>
                          <a:latin typeface="Arial"/>
                        </a:rPr>
                        <a:t>Search the course library for documents about a topic; a few key terms, no full sentences</a:t>
                      </a:r>
                    </a:p>
                  </a:txBody>
                  <a:tcPr>
                    <a:solidFill>
                      <a:srgbClr val="FFFFFF"/>
                    </a:solidFill>
                  </a:tcPr>
                </a:tc>
                <a:tc>
                  <a:txBody>
                    <a:bodyPr wrap="square"/>
                    <a:lstStyle/>
                    <a:p>
                      <a:pPr algn="l">
                        <a:spcAft>
                          <a:spcPts val="0"/>
                        </a:spcAft>
                        <a:buNone/>
                      </a:pPr>
                      <a:r>
                        <a:rPr sz="1250" b="0">
                          <a:solidFill>
                            <a:srgbClr val="202B38"/>
                          </a:solidFill>
                          <a:latin typeface="Arial"/>
                        </a:rPr>
                        <a:t>The best matches as JSON: id, title, score, snippet</a:t>
                      </a:r>
                    </a:p>
                  </a:txBody>
                  <a:tcPr>
                    <a:solidFill>
                      <a:srgbClr val="FFFFFF"/>
                    </a:solidFill>
                  </a:tcPr>
                </a:tc>
                <a:tc>
                  <a:txBody>
                    <a:bodyPr wrap="square"/>
                    <a:lstStyle/>
                    <a:p>
                      <a:pPr algn="l">
                        <a:spcAft>
                          <a:spcPts val="0"/>
                        </a:spcAft>
                        <a:buNone/>
                      </a:pPr>
                      <a:r>
                        <a:rPr sz="1250" b="0">
                          <a:solidFill>
                            <a:srgbClr val="202B38"/>
                          </a:solidFill>
                          <a:latin typeface="Arial"/>
                        </a:rPr>
                        <a:t>1 - finds model-context-protocol</a:t>
                      </a:r>
                    </a:p>
                  </a:txBody>
                  <a:tcPr>
                    <a:solidFill>
                      <a:srgbClr val="FFFFFF"/>
                    </a:solidFill>
                  </a:tcPr>
                </a:tc>
              </a:tr>
              <a:tr h="457200">
                <a:tc>
                  <a:txBody>
                    <a:bodyPr wrap="square"/>
                    <a:lstStyle/>
                    <a:p>
                      <a:pPr algn="l">
                        <a:spcAft>
                          <a:spcPts val="0"/>
                        </a:spcAft>
                        <a:buNone/>
                      </a:pPr>
                      <a:r>
                        <a:rPr sz="1100" b="0">
                          <a:solidFill>
                            <a:srgbClr val="0A2540"/>
                          </a:solidFill>
                          <a:latin typeface="Courier New"/>
                        </a:rPr>
                        <a:t>read_doc(doc_id)</a:t>
                      </a:r>
                    </a:p>
                  </a:txBody>
                  <a:tcPr>
                    <a:solidFill>
                      <a:srgbClr val="EEF3FD"/>
                    </a:solidFill>
                  </a:tcPr>
                </a:tc>
                <a:tc>
                  <a:txBody>
                    <a:bodyPr wrap="square"/>
                    <a:lstStyle/>
                    <a:p>
                      <a:pPr algn="l">
                        <a:spcAft>
                          <a:spcPts val="0"/>
                        </a:spcAft>
                        <a:buNone/>
                      </a:pPr>
                      <a:r>
                        <a:rPr sz="1250" b="0">
                          <a:solidFill>
                            <a:srgbClr val="202B38"/>
                          </a:solidFill>
                          <a:latin typeface="Arial"/>
                        </a:rPr>
                        <a:t>Read one document in full, by the id search_docs returned</a:t>
                      </a:r>
                    </a:p>
                  </a:txBody>
                  <a:tcPr>
                    <a:solidFill>
                      <a:srgbClr val="EEF3FD"/>
                    </a:solidFill>
                  </a:tcPr>
                </a:tc>
                <a:tc>
                  <a:txBody>
                    <a:bodyPr wrap="square"/>
                    <a:lstStyle/>
                    <a:p>
                      <a:pPr algn="l">
                        <a:spcAft>
                          <a:spcPts val="0"/>
                        </a:spcAft>
                        <a:buNone/>
                      </a:pPr>
                      <a:r>
                        <a:rPr sz="1250" b="0">
                          <a:solidFill>
                            <a:srgbClr val="202B38"/>
                          </a:solidFill>
                          <a:latin typeface="Arial"/>
                        </a:rPr>
                        <a:t>The document text</a:t>
                      </a:r>
                    </a:p>
                  </a:txBody>
                  <a:tcPr>
                    <a:solidFill>
                      <a:srgbClr val="EEF3FD"/>
                    </a:solidFill>
                  </a:tcPr>
                </a:tc>
                <a:tc>
                  <a:txBody>
                    <a:bodyPr wrap="square"/>
                    <a:lstStyle/>
                    <a:p>
                      <a:pPr algn="l">
                        <a:spcAft>
                          <a:spcPts val="0"/>
                        </a:spcAft>
                        <a:buNone/>
                      </a:pPr>
                      <a:r>
                        <a:rPr sz="1250" b="0">
                          <a:solidFill>
                            <a:srgbClr val="202B38"/>
                          </a:solidFill>
                          <a:latin typeface="Arial"/>
                        </a:rPr>
                        <a:t>2 - reads the full text</a:t>
                      </a:r>
                    </a:p>
                  </a:txBody>
                  <a:tcPr>
                    <a:solidFill>
                      <a:srgbClr val="EEF3FD"/>
                    </a:solidFill>
                  </a:tcPr>
                </a:tc>
              </a:tr>
              <a:tr h="457200">
                <a:tc>
                  <a:txBody>
                    <a:bodyPr wrap="square"/>
                    <a:lstStyle/>
                    <a:p>
                      <a:pPr algn="l">
                        <a:spcAft>
                          <a:spcPts val="0"/>
                        </a:spcAft>
                        <a:buNone/>
                      </a:pPr>
                      <a:r>
                        <a:rPr sz="1100" b="0">
                          <a:solidFill>
                            <a:srgbClr val="0A2540"/>
                          </a:solidFill>
                          <a:latin typeface="Courier New"/>
                        </a:rPr>
                        <a:t>check_citation(answer, question)</a:t>
                      </a:r>
                    </a:p>
                  </a:txBody>
                  <a:tcPr>
                    <a:solidFill>
                      <a:srgbClr val="FFFFFF"/>
                    </a:solidFill>
                  </a:tcPr>
                </a:tc>
                <a:tc>
                  <a:txBody>
                    <a:bodyPr wrap="square"/>
                    <a:lstStyle/>
                    <a:p>
                      <a:pPr algn="l">
                        <a:spcAft>
                          <a:spcPts val="0"/>
                        </a:spcAft>
                        <a:buNone/>
                      </a:pPr>
                      <a:r>
                        <a:rPr sz="1250" b="0">
                          <a:solidFill>
                            <a:srgbClr val="202B38"/>
                          </a:solidFill>
                          <a:latin typeface="Arial"/>
                        </a:rPr>
                        <a:t>Check that the draft answer's [source: id] tag names a document that supports it</a:t>
                      </a:r>
                    </a:p>
                  </a:txBody>
                  <a:tcPr>
                    <a:solidFill>
                      <a:srgbClr val="FFFFFF"/>
                    </a:solidFill>
                  </a:tcPr>
                </a:tc>
                <a:tc>
                  <a:txBody>
                    <a:bodyPr wrap="square"/>
                    <a:lstStyle/>
                    <a:p>
                      <a:pPr algn="l">
                        <a:spcAft>
                          <a:spcPts val="0"/>
                        </a:spcAft>
                        <a:buNone/>
                      </a:pPr>
                      <a:r>
                        <a:rPr sz="1250" b="0">
                          <a:solidFill>
                            <a:srgbClr val="202B38"/>
                          </a:solidFill>
                          <a:latin typeface="Arial"/>
                        </a:rPr>
                        <a:t>OK, or PROBLEM with a reason</a:t>
                      </a:r>
                    </a:p>
                  </a:txBody>
                  <a:tcPr>
                    <a:solidFill>
                      <a:srgbClr val="FFFFFF"/>
                    </a:solidFill>
                  </a:tcPr>
                </a:tc>
                <a:tc>
                  <a:txBody>
                    <a:bodyPr wrap="square"/>
                    <a:lstStyle/>
                    <a:p>
                      <a:pPr algn="l">
                        <a:spcAft>
                          <a:spcPts val="0"/>
                        </a:spcAft>
                        <a:buNone/>
                      </a:pPr>
                      <a:r>
                        <a:rPr sz="1250" b="0">
                          <a:solidFill>
                            <a:srgbClr val="202B38"/>
                          </a:solidFill>
                          <a:latin typeface="Arial"/>
                        </a:rPr>
                        <a:t>3 - returns OK</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In plain words: a tool is a function the model asks for by name with JSON arguments; the harness runs it and pastes the result back. Tool design is Session 2.</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4</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trace shows the loop working: search, read, check, then answer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top lane = model calls, bottom lane = tool calls, left to right in time</a:t>
            </a:r>
          </a:p>
          <a:p>
            <a:pPr algn="l" indent="-228600" marL="228600">
              <a:spcAft>
                <a:spcPts val="800"/>
              </a:spcAft>
              <a:buClr>
                <a:srgbClr val="1E5EF3"/>
              </a:buClr>
              <a:buChar char="—"/>
            </a:pPr>
            <a:r>
              <a:rPr sz="1450" b="0">
                <a:solidFill>
                  <a:srgbClr val="202B38"/>
                </a:solidFill>
                <a:latin typeface="Arial"/>
              </a:rPr>
              <a:t>Call 1 asks for search_docs; the result names the document model-context-protocol</a:t>
            </a:r>
          </a:p>
          <a:p>
            <a:pPr algn="l" indent="-228600" marL="228600">
              <a:spcAft>
                <a:spcPts val="800"/>
              </a:spcAft>
              <a:buClr>
                <a:srgbClr val="1E5EF3"/>
              </a:buClr>
              <a:buChar char="—"/>
            </a:pPr>
            <a:r>
              <a:rPr sz="1450" b="0">
                <a:solidFill>
                  <a:srgbClr val="202B38"/>
                </a:solidFill>
                <a:latin typeface="Arial"/>
              </a:rPr>
              <a:t>Call 2 asks for read_doc; call 3 asks check_citation, which returns OK</a:t>
            </a:r>
          </a:p>
          <a:p>
            <a:pPr algn="l" indent="-228600" marL="228600">
              <a:spcAft>
                <a:spcPts val="800"/>
              </a:spcAft>
              <a:buClr>
                <a:srgbClr val="1E5EF3"/>
              </a:buClr>
              <a:buChar char="—"/>
            </a:pPr>
            <a:r>
              <a:rPr sz="1450" b="0">
                <a:solidFill>
                  <a:srgbClr val="202B38"/>
                </a:solidFill>
                <a:latin typeface="Arial"/>
              </a:rPr>
              <a:t>Call 4 has no tool call, so the loop stops and the answer carries its source</a:t>
            </a:r>
          </a:p>
          <a:p>
            <a:pPr algn="l" indent="-228600" marL="228600">
              <a:spcAft>
                <a:spcPts val="800"/>
              </a:spcAft>
              <a:buClr>
                <a:srgbClr val="1E5EF3"/>
              </a:buClr>
              <a:buChar char="—"/>
            </a:pPr>
            <a:r>
              <a:rPr sz="1450" b="0">
                <a:solidFill>
                  <a:srgbClr val="202B38"/>
                </a:solidFill>
                <a:latin typeface="Arial"/>
              </a:rPr>
              <a:t>In plain words: a trace is the record of every step - messages, tool calls, tokens, time</a:t>
            </a:r>
          </a:p>
          <a:p>
            <a:pPr algn="l" indent="-228600" marL="228600">
              <a:spcAft>
                <a:spcPts val="800"/>
              </a:spcAft>
              <a:buClr>
                <a:srgbClr val="1E5EF3"/>
              </a:buClr>
              <a:buChar char="—"/>
            </a:pPr>
            <a:r>
              <a:rPr sz="1450" b="0">
                <a:solidFill>
                  <a:srgbClr val="202B38"/>
                </a:solidFill>
                <a:latin typeface="Arial"/>
              </a:rPr>
              <a:t>result.trace.show() prints exactly this list</a:t>
            </a:r>
          </a:p>
        </p:txBody>
      </p:sp>
      <p:pic>
        <p:nvPicPr>
          <p:cNvPr id="8" name="Picture 7" descr="s1_trace.png"/>
          <p:cNvPicPr>
            <a:picLocks noChangeAspect="1"/>
          </p:cNvPicPr>
          <p:nvPr/>
        </p:nvPicPr>
        <p:blipFill>
          <a:blip r:embed="rId2"/>
          <a:stretch>
            <a:fillRect/>
          </a:stretch>
        </p:blipFill>
        <p:spPr>
          <a:xfrm>
            <a:off x="5314490" y="1874519"/>
            <a:ext cx="6104539"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Steps and counts from notebook 01 (4 model calls, 3 tool calls, ~1,980 estimated tokens). The estimate counts characters; a real API reports exact tokens.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4</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right answer cost about 76 times the tokens of the wrong one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bar length = estimated tokens for the whole run</a:t>
            </a:r>
          </a:p>
          <a:p>
            <a:pPr algn="l" indent="-228600" marL="228600">
              <a:spcAft>
                <a:spcPts val="800"/>
              </a:spcAft>
              <a:buClr>
                <a:srgbClr val="1E5EF3"/>
              </a:buClr>
              <a:buChar char="—"/>
            </a:pPr>
            <a:r>
              <a:rPr sz="1450" b="0">
                <a:solidFill>
                  <a:srgbClr val="202B38"/>
                </a:solidFill>
                <a:latin typeface="Arial"/>
              </a:rPr>
              <a:t>Bare prompt ~26 tokens, prompt-engineered ~39: one call each, both wrong</a:t>
            </a:r>
          </a:p>
          <a:p>
            <a:pPr algn="l" indent="-228600" marL="228600">
              <a:spcAft>
                <a:spcPts val="800"/>
              </a:spcAft>
              <a:buClr>
                <a:srgbClr val="1E5EF3"/>
              </a:buClr>
              <a:buChar char="—"/>
            </a:pPr>
            <a:r>
              <a:rPr sz="1450" b="0">
                <a:solidFill>
                  <a:srgbClr val="202B38"/>
                </a:solidFill>
                <a:latin typeface="Arial"/>
              </a:rPr>
              <a:t>Harness: four calls plus three tool results, ~1,980 tokens, right on both parts and cited</a:t>
            </a:r>
          </a:p>
          <a:p>
            <a:pPr algn="l" indent="-228600" marL="228600">
              <a:spcAft>
                <a:spcPts val="800"/>
              </a:spcAft>
              <a:buClr>
                <a:srgbClr val="1E5EF3"/>
              </a:buClr>
              <a:buChar char="—"/>
            </a:pPr>
            <a:r>
              <a:rPr sz="1450" b="0">
                <a:solidFill>
                  <a:srgbClr val="202B38"/>
                </a:solidFill>
                <a:latin typeface="Arial"/>
              </a:rPr>
              <a:t>The tool results are most of the cost: the full document enters the context</a:t>
            </a:r>
          </a:p>
          <a:p>
            <a:pPr algn="l" indent="-228600" marL="228600">
              <a:spcAft>
                <a:spcPts val="800"/>
              </a:spcAft>
              <a:buClr>
                <a:srgbClr val="1E5EF3"/>
              </a:buClr>
              <a:buChar char="—"/>
            </a:pPr>
            <a:r>
              <a:rPr sz="1450" b="0">
                <a:solidFill>
                  <a:srgbClr val="202B38"/>
                </a:solidFill>
                <a:latin typeface="Arial"/>
              </a:rPr>
              <a:t>In plain words: a harness trades tokens for facts and checks - measure the trade</a:t>
            </a:r>
          </a:p>
          <a:p>
            <a:pPr algn="l" indent="-228600" marL="228600">
              <a:spcAft>
                <a:spcPts val="800"/>
              </a:spcAft>
              <a:buClr>
                <a:srgbClr val="1E5EF3"/>
              </a:buClr>
              <a:buChar char="—"/>
            </a:pPr>
            <a:r>
              <a:rPr sz="1450" b="0">
                <a:solidFill>
                  <a:srgbClr val="202B38"/>
                </a:solidFill>
                <a:latin typeface="Arial"/>
              </a:rPr>
              <a:t>Session 2 shows how to keep that bill down: token-efficient tools and compaction</a:t>
            </a:r>
          </a:p>
        </p:txBody>
      </p:sp>
      <p:pic>
        <p:nvPicPr>
          <p:cNvPr id="8" name="Picture 7" descr="s1_tokens.png"/>
          <p:cNvPicPr>
            <a:picLocks noChangeAspect="1"/>
          </p:cNvPicPr>
          <p:nvPr/>
        </p:nvPicPr>
        <p:blipFill>
          <a:blip r:embed="rId2"/>
          <a:stretch>
            <a:fillRect/>
          </a:stretch>
        </p:blipFill>
        <p:spPr>
          <a:xfrm>
            <a:off x="5120640" y="1874519"/>
            <a:ext cx="6492240" cy="3845243"/>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Estimated tokens from notebook 01 (character-based estimate, deterministic ScriptedModel). Anthropic's research system ran at ~15x a chat's tokens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01, SECTION 3</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smallest harness fits in 15 lines: a loop, a model call, a tool call, a stop</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4114800"/>
        </p:xfrm>
        <a:graphic>
          <a:graphicData uri="http://schemas.openxmlformats.org/drawingml/2006/table">
            <a:tbl>
              <a:tblPr firstRow="1" bandRow="1">
                <a:tableStyleId>{5C22544A-7EE6-4342-B048-85BDC9FD1C3A}</a:tableStyleId>
              </a:tblPr>
              <a:tblGrid>
                <a:gridCol w="5941967"/>
                <a:gridCol w="5149704"/>
              </a:tblGrid>
              <a:tr h="457200">
                <a:tc>
                  <a:txBody>
                    <a:bodyPr wrap="square"/>
                    <a:lstStyle/>
                    <a:p>
                      <a:pPr algn="l">
                        <a:spcAft>
                          <a:spcPts val="0"/>
                        </a:spcAft>
                        <a:buNone/>
                      </a:pPr>
                      <a:r>
                        <a:rPr sz="1300" b="1">
                          <a:solidFill>
                            <a:srgbClr val="FFFFFF"/>
                          </a:solidFill>
                          <a:latin typeface="Arial"/>
                        </a:rPr>
                        <a:t>Pseudo-code</a:t>
                      </a:r>
                    </a:p>
                  </a:txBody>
                  <a:tcPr>
                    <a:solidFill>
                      <a:srgbClr val="0A2540"/>
                    </a:solidFill>
                  </a:tcPr>
                </a:tc>
                <a:tc>
                  <a:txBody>
                    <a:bodyPr wrap="square"/>
                    <a:lstStyle/>
                    <a:p>
                      <a:pPr algn="l">
                        <a:spcAft>
                          <a:spcPts val="0"/>
                        </a:spcAft>
                        <a:buNone/>
                      </a:pPr>
                      <a:r>
                        <a:rPr sz="1300" b="1">
                          <a:solidFill>
                            <a:srgbClr val="FFFFFF"/>
                          </a:solidFill>
                          <a:latin typeface="Arial"/>
                        </a:rPr>
                        <a:t>In plain words</a:t>
                      </a:r>
                    </a:p>
                  </a:txBody>
                  <a:tcPr>
                    <a:solidFill>
                      <a:srgbClr val="0A2540"/>
                    </a:solidFill>
                  </a:tcPr>
                </a:tc>
              </a:tr>
              <a:tr h="457200">
                <a:tc>
                  <a:txBody>
                    <a:bodyPr wrap="square"/>
                    <a:lstStyle/>
                    <a:p>
                      <a:pPr algn="l">
                        <a:spcAft>
                          <a:spcPts val="0"/>
                        </a:spcAft>
                        <a:buNone/>
                      </a:pPr>
                      <a:r>
                        <a:rPr sz="1150" b="0">
                          <a:solidFill>
                            <a:srgbClr val="0A2540"/>
                          </a:solidFill>
                          <a:latin typeface="Courier New"/>
                        </a:rPr>
                        <a:t>messages = [user(question)]</a:t>
                      </a:r>
                    </a:p>
                  </a:txBody>
                  <a:tcPr>
                    <a:solidFill>
                      <a:srgbClr val="FFFFFF"/>
                    </a:solidFill>
                  </a:tcPr>
                </a:tc>
                <a:tc>
                  <a:txBody>
                    <a:bodyPr wrap="square"/>
                    <a:lstStyle/>
                    <a:p>
                      <a:pPr algn="l">
                        <a:spcAft>
                          <a:spcPts val="0"/>
                        </a:spcAft>
                        <a:buNone/>
                      </a:pPr>
                      <a:r>
                        <a:rPr sz="1250" b="0">
                          <a:solidFill>
                            <a:srgbClr val="202B38"/>
                          </a:solidFill>
                          <a:latin typeface="Arial"/>
                        </a:rPr>
                        <a:t>Start the context with the task</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for turn in range(max_turns):</a:t>
                      </a:r>
                    </a:p>
                  </a:txBody>
                  <a:tcPr>
                    <a:solidFill>
                      <a:srgbClr val="EEF3FD"/>
                    </a:solidFill>
                  </a:tcPr>
                </a:tc>
                <a:tc>
                  <a:txBody>
                    <a:bodyPr wrap="square"/>
                    <a:lstStyle/>
                    <a:p>
                      <a:pPr algn="l">
                        <a:spcAft>
                          <a:spcPts val="0"/>
                        </a:spcAft>
                        <a:buNone/>
                      </a:pPr>
                      <a:r>
                        <a:rPr sz="1250" b="0">
                          <a:solidFill>
                            <a:srgbClr val="202B38"/>
                          </a:solidFill>
                          <a:latin typeface="Arial"/>
                        </a:rPr>
                        <a:t>Stop condition 1: never loop forever</a:t>
                      </a:r>
                    </a:p>
                  </a:txBody>
                  <a:tcPr>
                    <a:solidFill>
                      <a:srgbClr val="EEF3FD"/>
                    </a:solidFill>
                  </a:tcPr>
                </a:tc>
              </a:tr>
              <a:tr h="457200">
                <a:tc>
                  <a:txBody>
                    <a:bodyPr wrap="square"/>
                    <a:lstStyle/>
                    <a:p>
                      <a:pPr algn="l">
                        <a:spcAft>
                          <a:spcPts val="0"/>
                        </a:spcAft>
                        <a:buNone/>
                      </a:pPr>
                      <a:r>
                        <a:rPr sz="1150" b="0">
                          <a:solidFill>
                            <a:srgbClr val="0A2540"/>
                          </a:solidFill>
                          <a:latin typeface="Courier New"/>
                        </a:rPr>
                        <a:t>    reply = model.complete(system, messages, tool_schemas)</a:t>
                      </a:r>
                    </a:p>
                  </a:txBody>
                  <a:tcPr>
                    <a:solidFill>
                      <a:srgbClr val="FFFFFF"/>
                    </a:solidFill>
                  </a:tcPr>
                </a:tc>
                <a:tc>
                  <a:txBody>
                    <a:bodyPr wrap="square"/>
                    <a:lstStyle/>
                    <a:p>
                      <a:pPr algn="l">
                        <a:spcAft>
                          <a:spcPts val="0"/>
                        </a:spcAft>
                        <a:buNone/>
                      </a:pPr>
                      <a:r>
                        <a:rPr sz="1250" b="0">
                          <a:solidFill>
                            <a:srgbClr val="202B38"/>
                          </a:solidFill>
                          <a:latin typeface="Arial"/>
                        </a:rPr>
                        <a:t>Context in, next message out - the whole model contract</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    if not reply.tool_calls: return reply.text</a:t>
                      </a:r>
                    </a:p>
                  </a:txBody>
                  <a:tcPr>
                    <a:solidFill>
                      <a:srgbClr val="EEF3FD"/>
                    </a:solidFill>
                  </a:tcPr>
                </a:tc>
                <a:tc>
                  <a:txBody>
                    <a:bodyPr wrap="square"/>
                    <a:lstStyle/>
                    <a:p>
                      <a:pPr algn="l">
                        <a:spcAft>
                          <a:spcPts val="0"/>
                        </a:spcAft>
                        <a:buNone/>
                      </a:pPr>
                      <a:r>
                        <a:rPr sz="1250" b="0">
                          <a:solidFill>
                            <a:srgbClr val="202B38"/>
                          </a:solidFill>
                          <a:latin typeface="Arial"/>
                        </a:rPr>
                        <a:t>Stop condition 2: no tool asked for means done</a:t>
                      </a:r>
                    </a:p>
                  </a:txBody>
                  <a:tcPr>
                    <a:solidFill>
                      <a:srgbClr val="EEF3FD"/>
                    </a:solidFill>
                  </a:tcPr>
                </a:tc>
              </a:tr>
              <a:tr h="457200">
                <a:tc>
                  <a:txBody>
                    <a:bodyPr wrap="square"/>
                    <a:lstStyle/>
                    <a:p>
                      <a:pPr algn="l">
                        <a:spcAft>
                          <a:spcPts val="0"/>
                        </a:spcAft>
                        <a:buNone/>
                      </a:pPr>
                      <a:r>
                        <a:rPr sz="1150" b="0">
                          <a:solidFill>
                            <a:srgbClr val="0A2540"/>
                          </a:solidFill>
                          <a:latin typeface="Courier New"/>
                        </a:rPr>
                        <a:t>    for call in reply.tool_calls:</a:t>
                      </a:r>
                    </a:p>
                  </a:txBody>
                  <a:tcPr>
                    <a:solidFill>
                      <a:srgbClr val="FFFFFF"/>
                    </a:solidFill>
                  </a:tcPr>
                </a:tc>
                <a:tc>
                  <a:txBody>
                    <a:bodyPr wrap="square"/>
                    <a:lstStyle/>
                    <a:p>
                      <a:pPr algn="l">
                        <a:spcAft>
                          <a:spcPts val="0"/>
                        </a:spcAft>
                        <a:buNone/>
                      </a:pPr>
                      <a:r>
                        <a:rPr sz="1250" b="0">
                          <a:solidFill>
                            <a:srgbClr val="202B38"/>
                          </a:solidFill>
                          <a:latin typeface="Arial"/>
                        </a:rPr>
                        <a:t>The model may ask for several tools in one turn</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        if not permitted(call): result = 'Denied: ...'</a:t>
                      </a:r>
                    </a:p>
                  </a:txBody>
                  <a:tcPr>
                    <a:solidFill>
                      <a:srgbClr val="EEF3FD"/>
                    </a:solidFill>
                  </a:tcPr>
                </a:tc>
                <a:tc>
                  <a:txBody>
                    <a:bodyPr wrap="square"/>
                    <a:lstStyle/>
                    <a:p>
                      <a:pPr algn="l">
                        <a:spcAft>
                          <a:spcPts val="0"/>
                        </a:spcAft>
                        <a:buNone/>
                      </a:pPr>
                      <a:r>
                        <a:rPr sz="1250" b="0">
                          <a:solidFill>
                            <a:srgbClr val="202B38"/>
                          </a:solidFill>
                          <a:latin typeface="Arial"/>
                        </a:rPr>
                        <a:t>A guardrail outside the model (Session 3)</a:t>
                      </a:r>
                    </a:p>
                  </a:txBody>
                  <a:tcPr>
                    <a:solidFill>
                      <a:srgbClr val="EEF3FD"/>
                    </a:solidFill>
                  </a:tcPr>
                </a:tc>
              </a:tr>
              <a:tr h="457200">
                <a:tc>
                  <a:txBody>
                    <a:bodyPr wrap="square"/>
                    <a:lstStyle/>
                    <a:p>
                      <a:pPr algn="l">
                        <a:spcAft>
                          <a:spcPts val="0"/>
                        </a:spcAft>
                        <a:buNone/>
                      </a:pPr>
                      <a:r>
                        <a:rPr sz="1150" b="0">
                          <a:solidFill>
                            <a:srgbClr val="0A2540"/>
                          </a:solidFill>
                          <a:latin typeface="Courier New"/>
                        </a:rPr>
                        <a:t>        else: result = tools.run(call.name, call.args)</a:t>
                      </a:r>
                    </a:p>
                  </a:txBody>
                  <a:tcPr>
                    <a:solidFill>
                      <a:srgbClr val="FFFFFF"/>
                    </a:solidFill>
                  </a:tcPr>
                </a:tc>
                <a:tc>
                  <a:txBody>
                    <a:bodyPr wrap="square"/>
                    <a:lstStyle/>
                    <a:p>
                      <a:pPr algn="l">
                        <a:spcAft>
                          <a:spcPts val="0"/>
                        </a:spcAft>
                        <a:buNone/>
                      </a:pPr>
                      <a:r>
                        <a:rPr sz="1250" b="0">
                          <a:solidFill>
                            <a:srgbClr val="202B38"/>
                          </a:solidFill>
                          <a:latin typeface="Arial"/>
                        </a:rPr>
                        <a:t>The harness runs the function and keeps the text</a:t>
                      </a:r>
                    </a:p>
                  </a:txBody>
                  <a:tcPr>
                    <a:solidFill>
                      <a:srgbClr val="FFFFFF"/>
                    </a:solidFill>
                  </a:tcPr>
                </a:tc>
              </a:tr>
              <a:tr h="457200">
                <a:tc>
                  <a:txBody>
                    <a:bodyPr wrap="square"/>
                    <a:lstStyle/>
                    <a:p>
                      <a:pPr algn="l">
                        <a:spcAft>
                          <a:spcPts val="0"/>
                        </a:spcAft>
                        <a:buNone/>
                      </a:pPr>
                      <a:r>
                        <a:rPr sz="1150" b="0">
                          <a:solidFill>
                            <a:srgbClr val="0A2540"/>
                          </a:solidFill>
                          <a:latin typeface="Courier New"/>
                        </a:rPr>
                        <a:t>        messages.append(tool_result(call, result))</a:t>
                      </a:r>
                    </a:p>
                  </a:txBody>
                  <a:tcPr>
                    <a:solidFill>
                      <a:srgbClr val="EEF3FD"/>
                    </a:solidFill>
                  </a:tcPr>
                </a:tc>
                <a:tc>
                  <a:txBody>
                    <a:bodyPr wrap="square"/>
                    <a:lstStyle/>
                    <a:p>
                      <a:pPr algn="l">
                        <a:spcAft>
                          <a:spcPts val="0"/>
                        </a:spcAft>
                        <a:buNone/>
                      </a:pPr>
                      <a:r>
                        <a:rPr sz="1250" b="0">
                          <a:solidFill>
                            <a:srgbClr val="202B38"/>
                          </a:solidFill>
                          <a:latin typeface="Arial"/>
                        </a:rPr>
                        <a:t>Paste the result back so the next call sees it</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left, the loop notebook 01 writes inline; right, what each line does. Anthropic, Claude Agent SDK, Sep 2025: gather context, act, verify, repeat.</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TAKEAWAY</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number to keep: the same model, two harnesses, 9.5 points apart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9.5</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points of harness-only variation on SWE-bench Pro for Claude Opus 4.5: 45.9% under SEAL, 55.4% under Claude Code</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arXiv 2605.23950, May 2026; arXiv 2609.11987, Sep 2026. Our notebook shows the same effect at toy scale: one ScriptedModel, a wrong answer without a harness and a cited one with it.</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1 - From Prompts to Harnesses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You now know what a harness is - next session you build its pieces</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Agent = Model + Harness: the model is the engine, the harness is the rest of the car</a:t>
            </a:r>
          </a:p>
          <a:p>
            <a:pPr algn="l" indent="-228600" marL="228600">
              <a:spcAft>
                <a:spcPts val="1000"/>
              </a:spcAft>
              <a:buClr>
                <a:srgbClr val="1E5EF3"/>
              </a:buClr>
              <a:buChar char="—"/>
            </a:pPr>
            <a:r>
              <a:rPr sz="1600" b="0">
                <a:solidFill>
                  <a:srgbClr val="B9D0FA"/>
                </a:solidFill>
                <a:latin typeface="Arial"/>
              </a:rPr>
              <a:t>Six years moved the lever from the words (prompt) to the window (context) to the runtime (harness)</a:t>
            </a:r>
          </a:p>
          <a:p>
            <a:pPr algn="l" indent="-228600" marL="228600">
              <a:spcAft>
                <a:spcPts val="1000"/>
              </a:spcAft>
              <a:buClr>
                <a:srgbClr val="1E5EF3"/>
              </a:buClr>
              <a:buChar char="—"/>
            </a:pPr>
            <a:r>
              <a:rPr sz="1600" b="0">
                <a:solidFill>
                  <a:srgbClr val="B9D0FA"/>
                </a:solidFill>
                <a:latin typeface="Arial"/>
              </a:rPr>
              <a:t>Same model, different harness: 9.5 points on SWE-bench Pro - harness-only variation</a:t>
            </a:r>
          </a:p>
          <a:p>
            <a:pPr algn="l" indent="-228600" marL="228600">
              <a:spcAft>
                <a:spcPts val="1000"/>
              </a:spcAft>
              <a:buClr>
                <a:srgbClr val="1E5EF3"/>
              </a:buClr>
              <a:buChar char="—"/>
            </a:pPr>
            <a:r>
              <a:rPr sz="1600" b="0">
                <a:solidFill>
                  <a:srgbClr val="B9D0FA"/>
                </a:solidFill>
                <a:latin typeface="Arial"/>
              </a:rPr>
              <a:t>Eight pieces: model, context, tools, skills, loop, guardrails, orchestration, evals and traces</a:t>
            </a:r>
          </a:p>
          <a:p>
            <a:pPr algn="l" indent="-228600" marL="228600">
              <a:spcAft>
                <a:spcPts val="1000"/>
              </a:spcAft>
              <a:buClr>
                <a:srgbClr val="1E5EF3"/>
              </a:buClr>
              <a:buChar char="—"/>
            </a:pPr>
            <a:r>
              <a:rPr sz="1600" b="0">
                <a:solidFill>
                  <a:srgbClr val="B9D0FA"/>
                </a:solidFill>
                <a:latin typeface="Arial"/>
              </a:rPr>
              <a:t>Workflows when the path is known; agents when the steps depend on the last result</a:t>
            </a:r>
          </a:p>
          <a:p>
            <a:pPr algn="l" indent="-228600" marL="228600">
              <a:spcAft>
                <a:spcPts val="1000"/>
              </a:spcAft>
              <a:buClr>
                <a:srgbClr val="1E5EF3"/>
              </a:buClr>
              <a:buChar char="—"/>
            </a:pPr>
            <a:r>
              <a:rPr sz="1600" b="0">
                <a:solidFill>
                  <a:srgbClr val="B9D0FA"/>
                </a:solidFill>
                <a:latin typeface="Arial"/>
              </a:rPr>
              <a:t>Notebook 01: the same question three ways; only the harness answers right, with a source, at ~76x the tokens</a:t>
            </a:r>
          </a:p>
          <a:p>
            <a:pPr algn="l" indent="-228600" marL="228600">
              <a:spcAft>
                <a:spcPts val="1000"/>
              </a:spcAft>
              <a:buClr>
                <a:srgbClr val="1E5EF3"/>
              </a:buClr>
              <a:buChar char="—"/>
            </a:pPr>
            <a:r>
              <a:rPr sz="1600" b="0">
                <a:solidFill>
                  <a:srgbClr val="B9D0FA"/>
                </a:solidFill>
                <a:latin typeface="Arial"/>
              </a:rPr>
              <a:t>Practice now, zero setup: notebook 01 in Colab, Runtime &gt; Run all, then the exercises before the solutions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1 - From Prompts to Harnesses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1 - From Prompts to Harnesses</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