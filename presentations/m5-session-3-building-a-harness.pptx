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session: last time we looked at the parts on the bench - models, context, tools, skills. Today we bolt them into a car that drives and, more importantly, brakes. Part 1 is the theory of the loop, guardrails, patterns and evals; Part 2 is notebook 03, where one model runs through three harnesses and the pass rate goes from 0% to 100%. Ask the class: if the same model gives three different results, what exactly are we testing?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in Part 1: the loop and its exits, guardrails at three checkpoints, five workflow patterns, and evals plus traces as the proof. Ask the class: which of the eight pieces from Session 1 have we not yet built?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picture clockwise: gather, act, verify, repeat. Point at the three exits and insist on them - most demos online have only 'done'. Max turns protects against a model that never finishes; budget protects your wallet. In the library this is Agent.run(): a for-loop over turns, a model call, tool execution, validators, and the RunResult with stopped_because. Ask the class: which exit would you hit first if the model kept calling the same tool with the same arguments?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places to put a check, and only three. Before input is cheap and catches the obvious. Before a tool is where the damage happens: reading is safe, writing needs a look, deleting or running code is denied unless someone opts in. After the answer is where you validate and retry. Then the paradox: when people are asked to approve 93% of the time, they stop reading - the prompt becomes theatre. Real controls are code, not questions. Ask the class: which of the three checkpoints would have stopped an agent that emailed a customer by mistake?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as a shopping list, not a theory. Two of the seven need a model (the classifiers); the other five are regular code - regexes, lookups, schemas. That is the point: most safety is deterministic. In the course library the tool safeguard is the risk level on each @tool, the rules-based protection is a before_tool hook, and output validation is validate_answer. Ask the class: which two of the seven would you add first to a homework-helper agent, and why those two?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increasing freedom. Chaining: fixed steps with a check between them. Routing: a cheap classifier sends each input to a specialist. Parallelization: split the work or ask several times and vote. Orchestrator-workers: a model decides the sub-tasks, code runs the workers, a model merges. Evaluator-optimizer: one produces, one critiques, until accepted. In plain words: the first four are routes drawn on the map; only an agent chooses the roads itself. Ask the class: which pattern is a spell-checker that rewrites a paragraph until a grammar tool is satisfied?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from Anthropic's post is blunt: find the simplest solution possible and add complexity only when it demonstrably improves results. Workflows are predictable and cheap to test; agents are flexible and expensive. The right column maps each pattern to a cell the students will run. Ask the class: a support bot that must answer billing, shipping and returns questions - workflow or agent, and which pattern?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know unit tests; an eval is the same idea for a system that is not deterministic, so you measure a rate over many cases instead of one pass/fail. Outcome grading asks whether the answer is right; trajectory grading asks whether the steps were reasonable - a right answer reached by guessing is a failure waiting to happen. Code graders are cheap and exact; LLM judges are flexible but drift, so you calibrate them on human-labelled examples. Ask the class: what would the grader be for 'the agent must never run code'?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run in the notebooks ends with result.trace.show(): one line per event with the turn number, the kind, who acted and what happened. That is observability at teaching scale; in production the same record goes to a tracing tool. The right column is why you bother: you cannot price, debug or compare what you did not record. Ask the class: a run cost ten times more than yesterday - which three lines of the trace would you read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post that named the discipline. The striking number is one million lines with zero by hand, but the lesson is the left-bottom bullet: the repository became the harness. Design docs, decision records and plans are written for the agent to read, and every constraint that matters is enforced by a linter or a structural test, because a markdown rule is optional to a model. Ask the class: what is one rule in your own projects that is only written down, and how would you turn it into a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line sit for a moment. It only holds when the guards are real: an agent can be allowed to act freely because the linters, tests and permissions catch the damage cheaply. Without those, waiting for approval is the only brake you have - and the approval paradox says that brake wears out. Ask the class: for which actions would you still insist on waiting, whatever the cost?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the two halves of the session together: OpenAI says enforce mechanically; the field survey says almost nobody does. 4.4% means that if you write twenty security rules in your CLAUDE.md, statistically one of them has a control behind it. And 60% of harnesses cannot even tell whether a change made them better or worse. This is the gap the course wants you to close. Ask the class: which is worse - a rule with no control, or no rule at 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notebook 03. Everything runs without an API key on the ScriptedModel, so the numbers on the next slides are the numbers students will see. Ask the class: before we run it, what pass rate do you expect from the bare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smallest possible guardrail: a Python function that returns a problem string when the answer has no [source: ...] tag. The loop does the rest - it writes the problem back as a user message and gives the model another turn; the lazy policy then does the research it skipped, three tool calls and about 2,163 tokens in all. Point at the 'note validator' row: that is the guardrail leaving a footprint in the trace. Then the bottom line: the same validator on a bare model rejects, retries, and still gets a wrong answer for 73 tokens - a guard can refuse, it cannot research. Ask the class: what validator would you write for an agent that must answer in Dutch? The figures on this slide are the notebook's reference run on the deterministic stand-in; the notebook then repeats the comparison live on Claude, which varies and prints real token usage.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very different questions, one entry point. The router is an agent whose only job is to emit a label; the specialists carry the tools. 0.799102 is a number the students met in M2: the share of passengers left after the 179-row test split. The research branch pulls the function-calling date from the library with a source tag. Ask the class: what happens to a question the router labels 'general' - and is that the right default? The figures on this slide are the notebook's reference run on the deterministic stand-in; the notebook then repeats the comparison live on Claude, which varies and prints real token usage.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of the whole session in one chart. The bare model fails everything because our ScriptedModel, like a real model with a cutoff, remembers wrong dates and cannot cite. Adding search and read tools jumps to eleven of twelve. Adding one verification tool gets the last one. Ask the class: is a 91.7% harness good enough? For what kind of question would you say yes, and for which would you say no? The figures on this slide are the notebook's reference run on the deterministic stand-in; the notebook then repeats the comparison live on Claude, which varies and prints real token usage.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other axis. Tokens rise by a factor of about seventy from A to B and double again from B to C. The engineering question is not 'is C better' - it is - but 'is one extra correct answer in twelve worth doubling the bill'. For a medical or legal assistant, obviously yes. For a chatbot suggesting playlists, probably not. Ask the class: how could you get most of C's accuracy at B's price? Hint: routing. The figures on this slide are the notebook's reference run on the deterministic stand-in; the notebook then repeats the comparison live on Claude, which varies and prints real token usage.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case in the suite is the one with no answer. B's failure is not a bug in search - search did what search does, it returned the nearest thing. The bug is that nothing checked whether the nearest thing supported the claim. C adds that check and the honest answer falls out. Notice the eval design: we graded for 'could not verify', so not-knowing was rewarded. Ask the class: how many of your own test cases have no right answer on purpose? The figures on this slide are the notebook's reference run on the deterministic stand-in; the notebook then repeats the comparison live on Claude, which varies and prints real token usage.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 arithmetic on the slide: 24,600 tokens at three dollars per million is about seven cents for the whole suite - trivial once, seventy-four dollars per thousand runs, and the twelve cases stand in for real traffic. The point is the habit: every configuration gets a pass rate and a price, and the decision is made with both numbers on the table. Ask the class: at what price per wrong answer does C become cheaper than B? The figures on this slide are the notebook's reference run on the deterministic stand-in; the notebook then repeats the comparison live on Claude, which varies and prints real token usage.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in one breath: a loop with exits, guards in code, patterns before agents, evals before opinions, traces before invoices. Homework is notebook 03's exercises - they add a case to the eval suite and a validator to the harness. Ask the class: which single piece from today would you add first to an agent you already use?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65960"/>
            <a:ext cx="10058400" cy="365760"/>
          </a:xfrm>
          <a:prstGeom prst="rect">
            <a:avLst/>
          </a:prstGeom>
          <a:noFill/>
        </p:spPr>
        <p:txBody>
          <a:bodyPr wrap="square">
            <a:spAutoFit/>
          </a:bodyPr>
          <a:lstStyle/>
          <a:p>
            <a:pPr algn="l">
              <a:spcAft>
                <a:spcPts val="600"/>
              </a:spcAft>
              <a:buNone/>
            </a:pPr>
            <a:r>
              <a:rPr sz="1400" b="1">
                <a:solidFill>
                  <a:srgbClr val="1E5EF3"/>
                </a:solidFill>
                <a:latin typeface="Arial"/>
              </a:rPr>
              <a:t>SESSION 3 OF 4</a:t>
            </a:r>
          </a:p>
        </p:txBody>
      </p:sp>
      <p:sp>
        <p:nvSpPr>
          <p:cNvPr id="5" name="TextBox 4"/>
          <p:cNvSpPr txBox="1"/>
          <p:nvPr/>
        </p:nvSpPr>
        <p:spPr>
          <a:xfrm>
            <a:off x="914400" y="2377440"/>
            <a:ext cx="10332720" cy="1737360"/>
          </a:xfrm>
          <a:prstGeom prst="rect">
            <a:avLst/>
          </a:prstGeom>
          <a:noFill/>
        </p:spPr>
        <p:txBody>
          <a:bodyPr wrap="square">
            <a:spAutoFit/>
          </a:bodyPr>
          <a:lstStyle/>
          <a:p>
            <a:pPr algn="l">
              <a:spcAft>
                <a:spcPts val="0"/>
              </a:spcAft>
              <a:buNone/>
            </a:pPr>
            <a:r>
              <a:rPr sz="4400" b="1">
                <a:solidFill>
                  <a:srgbClr val="0A2540"/>
                </a:solidFill>
                <a:latin typeface="Arial"/>
              </a:rPr>
              <a:t>Building a Harness</a:t>
            </a:r>
          </a:p>
        </p:txBody>
      </p:sp>
      <p:sp>
        <p:nvSpPr>
          <p:cNvPr id="6" name="TextBox 5"/>
          <p:cNvSpPr txBox="1"/>
          <p:nvPr/>
        </p:nvSpPr>
        <p:spPr>
          <a:xfrm>
            <a:off x="914400" y="4114800"/>
            <a:ext cx="9601200" cy="822960"/>
          </a:xfrm>
          <a:prstGeom prst="rect">
            <a:avLst/>
          </a:prstGeom>
          <a:noFill/>
        </p:spPr>
        <p:txBody>
          <a:bodyPr wrap="square">
            <a:spAutoFit/>
          </a:bodyPr>
          <a:lstStyle/>
          <a:p>
            <a:pPr algn="l">
              <a:spcAft>
                <a:spcPts val="600"/>
              </a:spcAft>
              <a:buNone/>
            </a:pPr>
            <a:r>
              <a:rPr sz="1800" b="0">
                <a:solidFill>
                  <a:srgbClr val="5B6774"/>
                </a:solidFill>
                <a:latin typeface="Arial"/>
              </a:rPr>
              <a:t>Sessions 1 and 2 named the pieces. Today we assemble them: a loop that knows when to stop, guards that run outside the model, five workflow patterns, and an eval suite that puts a number on every change. Then notebook 03 runs the same model through three harnesses.</a:t>
            </a:r>
          </a:p>
        </p:txBody>
      </p:sp>
      <p:sp>
        <p:nvSpPr>
          <p:cNvPr id="7" name="TextBox 6"/>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5B6774"/>
                </a:solidFill>
                <a:latin typeface="Arial"/>
              </a:rPr>
              <a:t>Harness Engineering - Module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01</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1 - The theory: the loop, the guards, the proof</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How an agent runs, where the checks go, which pattern to pick, and how you know any of it works.</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3 - Building a Harness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LOOP</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An agent is a loop: gather context, take action, verify work, repeat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In plain words: the loop is the steering wheel and pedals; the model is the engine</a:t>
            </a:r>
          </a:p>
          <a:p>
            <a:pPr algn="l" indent="-228600" marL="228600">
              <a:spcAft>
                <a:spcPts val="800"/>
              </a:spcAft>
              <a:buClr>
                <a:srgbClr val="1E5EF3"/>
              </a:buClr>
              <a:buChar char="—"/>
            </a:pPr>
            <a:r>
              <a:rPr sz="1450" b="0">
                <a:solidFill>
                  <a:srgbClr val="202B38"/>
                </a:solidFill>
                <a:latin typeface="Arial"/>
              </a:rPr>
              <a:t>Gather context: system prompt, history, tool results, skills - all the model sees</a:t>
            </a:r>
          </a:p>
          <a:p>
            <a:pPr algn="l" indent="-228600" marL="228600">
              <a:spcAft>
                <a:spcPts val="800"/>
              </a:spcAft>
              <a:buClr>
                <a:srgbClr val="1E5EF3"/>
              </a:buClr>
              <a:buChar char="—"/>
            </a:pPr>
            <a:r>
              <a:rPr sz="1450" b="0">
                <a:solidFill>
                  <a:srgbClr val="202B38"/>
                </a:solidFill>
                <a:latin typeface="Arial"/>
              </a:rPr>
              <a:t>Take action: the model answers or asks for tools; the harness runs them</a:t>
            </a:r>
          </a:p>
          <a:p>
            <a:pPr algn="l" indent="-228600" marL="228600">
              <a:spcAft>
                <a:spcPts val="800"/>
              </a:spcAft>
              <a:buClr>
                <a:srgbClr val="1E5EF3"/>
              </a:buClr>
              <a:buChar char="—"/>
            </a:pPr>
            <a:r>
              <a:rPr sz="1450" b="0">
                <a:solidFill>
                  <a:srgbClr val="202B38"/>
                </a:solidFill>
                <a:latin typeface="Arial"/>
              </a:rPr>
              <a:t>Verify work: validators and hooks check the result before it counts</a:t>
            </a:r>
          </a:p>
          <a:p>
            <a:pPr algn="l" indent="-228600" marL="228600">
              <a:spcAft>
                <a:spcPts val="800"/>
              </a:spcAft>
              <a:buClr>
                <a:srgbClr val="1E5EF3"/>
              </a:buClr>
              <a:buChar char="—"/>
            </a:pPr>
            <a:r>
              <a:rPr sz="1450" b="0">
                <a:solidFill>
                  <a:srgbClr val="202B38"/>
                </a:solidFill>
                <a:latin typeface="Arial"/>
              </a:rPr>
              <a:t>Three exits: done, max turns, budget - a loop without exits is a runaway car</a:t>
            </a:r>
          </a:p>
          <a:p>
            <a:pPr algn="l" indent="-228600" marL="228600">
              <a:spcAft>
                <a:spcPts val="800"/>
              </a:spcAft>
              <a:buClr>
                <a:srgbClr val="1E5EF3"/>
              </a:buClr>
              <a:buChar char="—"/>
            </a:pPr>
            <a:r>
              <a:rPr sz="1450" b="0">
                <a:solidFill>
                  <a:srgbClr val="202B38"/>
                </a:solidFill>
                <a:latin typeface="Arial"/>
              </a:rPr>
              <a:t>Our library: Agent.run() is about 30 lines that do exactly this</a:t>
            </a:r>
          </a:p>
        </p:txBody>
      </p:sp>
      <p:pic>
        <p:nvPicPr>
          <p:cNvPr id="8" name="Picture 7" descr="s3_loop.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Loop steps as named by Anthropic, Claude Agent SDK, Sep 2025. Exits as implemented in the course library (harness.agent).</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HOOKS AND PERMISSIONS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Guardrails run outside the model at three checkpoints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In plain words: a guardrail is a check that runs outside the model - brakes, seatbelts, airbags</a:t>
            </a:r>
          </a:p>
          <a:p>
            <a:pPr algn="l" indent="-228600" marL="228600">
              <a:spcAft>
                <a:spcPts val="800"/>
              </a:spcAft>
              <a:buClr>
                <a:srgbClr val="1E5EF3"/>
              </a:buClr>
              <a:buChar char="—"/>
            </a:pPr>
            <a:r>
              <a:rPr sz="1450" b="0">
                <a:solidFill>
                  <a:srgbClr val="202B38"/>
                </a:solidFill>
                <a:latin typeface="Arial"/>
              </a:rPr>
              <a:t>Checkpoint 1, before input: relevant, safe, free of personal data?</a:t>
            </a:r>
          </a:p>
          <a:p>
            <a:pPr algn="l" indent="-228600" marL="228600">
              <a:spcAft>
                <a:spcPts val="800"/>
              </a:spcAft>
              <a:buClr>
                <a:srgbClr val="1E5EF3"/>
              </a:buClr>
              <a:buChar char="—"/>
            </a:pPr>
            <a:r>
              <a:rPr sz="1450" b="0">
                <a:solidFill>
                  <a:srgbClr val="202B38"/>
                </a:solidFill>
                <a:latin typeface="Arial"/>
              </a:rPr>
              <a:t>Checkpoint 2, before a tool runs: risk level read, write or danger; run, ask or deny</a:t>
            </a:r>
          </a:p>
          <a:p>
            <a:pPr algn="l" indent="-228600" marL="228600">
              <a:spcAft>
                <a:spcPts val="800"/>
              </a:spcAft>
              <a:buClr>
                <a:srgbClr val="1E5EF3"/>
              </a:buClr>
              <a:buChar char="—"/>
            </a:pPr>
            <a:r>
              <a:rPr sz="1450" b="0">
                <a:solidFill>
                  <a:srgbClr val="202B38"/>
                </a:solidFill>
                <a:latin typeface="Arial"/>
              </a:rPr>
              <a:t>Checkpoint 3, after the answer: validate format and citations; retry on failure</a:t>
            </a:r>
          </a:p>
          <a:p>
            <a:pPr algn="l" indent="-228600" marL="228600">
              <a:spcAft>
                <a:spcPts val="800"/>
              </a:spcAft>
              <a:buClr>
                <a:srgbClr val="1E5EF3"/>
              </a:buClr>
              <a:buChar char="—"/>
            </a:pPr>
            <a:r>
              <a:rPr sz="1450" b="0">
                <a:solidFill>
                  <a:srgbClr val="202B38"/>
                </a:solidFill>
                <a:latin typeface="Arial"/>
              </a:rPr>
              <a:t>The approval paradox: 93% of permission prompts get approved - a prompt is not a control</a:t>
            </a:r>
          </a:p>
          <a:p>
            <a:pPr algn="l" indent="-228600" marL="228600">
              <a:spcAft>
                <a:spcPts val="800"/>
              </a:spcAft>
              <a:buClr>
                <a:srgbClr val="1E5EF3"/>
              </a:buClr>
              <a:buChar char="—"/>
            </a:pPr>
            <a:r>
              <a:rPr sz="1450" b="0">
                <a:solidFill>
                  <a:srgbClr val="202B38"/>
                </a:solidFill>
                <a:latin typeface="Arial"/>
              </a:rPr>
              <a:t>Our library: run_python is 'danger', denied by default; Hooks.validate_answer retries</a:t>
            </a:r>
          </a:p>
        </p:txBody>
      </p:sp>
      <p:pic>
        <p:nvPicPr>
          <p:cNvPr id="8" name="Picture 7" descr="s3_checkpoints.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Checkpoints and risk ratings: OpenAI, A practical guide to building agents, Apr 2025. Approval paradox: Marmelab, State of AI Harness Engineering, Sep 2026.</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SEVEN GUARDRAILS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OpenAI names seven kinds of guardrail - most are plain code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3657600"/>
        </p:xfrm>
        <a:graphic>
          <a:graphicData uri="http://schemas.openxmlformats.org/drawingml/2006/table">
            <a:tbl>
              <a:tblPr firstRow="1" bandRow="1">
                <a:tableStyleId>{5C22544A-7EE6-4342-B048-85BDC9FD1C3A}</a:tableStyleId>
              </a:tblPr>
              <a:tblGrid>
                <a:gridCol w="2392321"/>
                <a:gridCol w="5002126"/>
                <a:gridCol w="3697224"/>
              </a:tblGrid>
              <a:tr h="457200">
                <a:tc>
                  <a:txBody>
                    <a:bodyPr wrap="square"/>
                    <a:lstStyle/>
                    <a:p>
                      <a:pPr algn="l">
                        <a:spcAft>
                          <a:spcPts val="0"/>
                        </a:spcAft>
                        <a:buNone/>
                      </a:pPr>
                      <a:r>
                        <a:rPr sz="1300" b="1">
                          <a:solidFill>
                            <a:srgbClr val="FFFFFF"/>
                          </a:solidFill>
                          <a:latin typeface="Arial"/>
                        </a:rPr>
                        <a:t>Guardrail</a:t>
                      </a:r>
                    </a:p>
                  </a:txBody>
                  <a:tcPr>
                    <a:solidFill>
                      <a:srgbClr val="0A2540"/>
                    </a:solidFill>
                  </a:tcPr>
                </a:tc>
                <a:tc>
                  <a:txBody>
                    <a:bodyPr wrap="square"/>
                    <a:lstStyle/>
                    <a:p>
                      <a:pPr algn="l">
                        <a:spcAft>
                          <a:spcPts val="0"/>
                        </a:spcAft>
                        <a:buNone/>
                      </a:pPr>
                      <a:r>
                        <a:rPr sz="1300" b="1">
                          <a:solidFill>
                            <a:srgbClr val="FFFFFF"/>
                          </a:solidFill>
                          <a:latin typeface="Arial"/>
                        </a:rPr>
                        <a:t>What it checks</a:t>
                      </a:r>
                    </a:p>
                  </a:txBody>
                  <a:tcPr>
                    <a:solidFill>
                      <a:srgbClr val="0A2540"/>
                    </a:solidFill>
                  </a:tcPr>
                </a:tc>
                <a:tc>
                  <a:txBody>
                    <a:bodyPr wrap="square"/>
                    <a:lstStyle/>
                    <a:p>
                      <a:pPr algn="l">
                        <a:spcAft>
                          <a:spcPts val="0"/>
                        </a:spcAft>
                        <a:buNone/>
                      </a:pPr>
                      <a:r>
                        <a:rPr sz="1300" b="1">
                          <a:solidFill>
                            <a:srgbClr val="FFFFFF"/>
                          </a:solidFill>
                          <a:latin typeface="Arial"/>
                        </a:rPr>
                        <a:t>In plain words (the car)</a:t>
                      </a:r>
                    </a:p>
                  </a:txBody>
                  <a:tcPr>
                    <a:solidFill>
                      <a:srgbClr val="0A2540"/>
                    </a:solidFill>
                  </a:tcPr>
                </a:tc>
              </a:tr>
              <a:tr h="457200">
                <a:tc>
                  <a:txBody>
                    <a:bodyPr wrap="square"/>
                    <a:lstStyle/>
                    <a:p>
                      <a:pPr algn="l">
                        <a:spcAft>
                          <a:spcPts val="0"/>
                        </a:spcAft>
                        <a:buNone/>
                      </a:pPr>
                      <a:r>
                        <a:rPr sz="1250" b="0">
                          <a:solidFill>
                            <a:srgbClr val="202B38"/>
                          </a:solidFill>
                          <a:latin typeface="Arial"/>
                        </a:rPr>
                        <a:t>Relevance classifier</a:t>
                      </a:r>
                    </a:p>
                  </a:txBody>
                  <a:tcPr>
                    <a:solidFill>
                      <a:srgbClr val="FFFFFF"/>
                    </a:solidFill>
                  </a:tcPr>
                </a:tc>
                <a:tc>
                  <a:txBody>
                    <a:bodyPr wrap="square"/>
                    <a:lstStyle/>
                    <a:p>
                      <a:pPr algn="l">
                        <a:spcAft>
                          <a:spcPts val="0"/>
                        </a:spcAft>
                        <a:buNone/>
                      </a:pPr>
                      <a:r>
                        <a:rPr sz="1250" b="0">
                          <a:solidFill>
                            <a:srgbClr val="202B38"/>
                          </a:solidFill>
                          <a:latin typeface="Arial"/>
                        </a:rPr>
                        <a:t>Is the request inside the agent's job?</a:t>
                      </a:r>
                    </a:p>
                  </a:txBody>
                  <a:tcPr>
                    <a:solidFill>
                      <a:srgbClr val="FFFFFF"/>
                    </a:solidFill>
                  </a:tcPr>
                </a:tc>
                <a:tc>
                  <a:txBody>
                    <a:bodyPr wrap="square"/>
                    <a:lstStyle/>
                    <a:p>
                      <a:pPr algn="l">
                        <a:spcAft>
                          <a:spcPts val="0"/>
                        </a:spcAft>
                        <a:buNone/>
                      </a:pPr>
                      <a:r>
                        <a:rPr sz="1250" b="0">
                          <a:solidFill>
                            <a:srgbClr val="202B38"/>
                          </a:solidFill>
                          <a:latin typeface="Arial"/>
                        </a:rPr>
                        <a:t>Refuse a detour off the route</a:t>
                      </a:r>
                    </a:p>
                  </a:txBody>
                  <a:tcPr>
                    <a:solidFill>
                      <a:srgbClr val="FFFFFF"/>
                    </a:solidFill>
                  </a:tcPr>
                </a:tc>
              </a:tr>
              <a:tr h="457200">
                <a:tc>
                  <a:txBody>
                    <a:bodyPr wrap="square"/>
                    <a:lstStyle/>
                    <a:p>
                      <a:pPr algn="l">
                        <a:spcAft>
                          <a:spcPts val="0"/>
                        </a:spcAft>
                        <a:buNone/>
                      </a:pPr>
                      <a:r>
                        <a:rPr sz="1250" b="0">
                          <a:solidFill>
                            <a:srgbClr val="202B38"/>
                          </a:solidFill>
                          <a:latin typeface="Arial"/>
                        </a:rPr>
                        <a:t>Safety classifier</a:t>
                      </a:r>
                    </a:p>
                  </a:txBody>
                  <a:tcPr>
                    <a:solidFill>
                      <a:srgbClr val="EEF3FD"/>
                    </a:solidFill>
                  </a:tcPr>
                </a:tc>
                <a:tc>
                  <a:txBody>
                    <a:bodyPr wrap="square"/>
                    <a:lstStyle/>
                    <a:p>
                      <a:pPr algn="l">
                        <a:spcAft>
                          <a:spcPts val="0"/>
                        </a:spcAft>
                        <a:buNone/>
                      </a:pPr>
                      <a:r>
                        <a:rPr sz="1250" b="0">
                          <a:solidFill>
                            <a:srgbClr val="202B38"/>
                          </a:solidFill>
                          <a:latin typeface="Arial"/>
                        </a:rPr>
                        <a:t>Jailbreaks and prompt injections in the input</a:t>
                      </a:r>
                    </a:p>
                  </a:txBody>
                  <a:tcPr>
                    <a:solidFill>
                      <a:srgbClr val="EEF3FD"/>
                    </a:solidFill>
                  </a:tcPr>
                </a:tc>
                <a:tc>
                  <a:txBody>
                    <a:bodyPr wrap="square"/>
                    <a:lstStyle/>
                    <a:p>
                      <a:pPr algn="l">
                        <a:spcAft>
                          <a:spcPts val="0"/>
                        </a:spcAft>
                        <a:buNone/>
                      </a:pPr>
                      <a:r>
                        <a:rPr sz="1250" b="0">
                          <a:solidFill>
                            <a:srgbClr val="202B38"/>
                          </a:solidFill>
                          <a:latin typeface="Arial"/>
                        </a:rPr>
                        <a:t>Lock the doors against hijacking</a:t>
                      </a:r>
                    </a:p>
                  </a:txBody>
                  <a:tcPr>
                    <a:solidFill>
                      <a:srgbClr val="EEF3FD"/>
                    </a:solidFill>
                  </a:tcPr>
                </a:tc>
              </a:tr>
              <a:tr h="457200">
                <a:tc>
                  <a:txBody>
                    <a:bodyPr wrap="square"/>
                    <a:lstStyle/>
                    <a:p>
                      <a:pPr algn="l">
                        <a:spcAft>
                          <a:spcPts val="0"/>
                        </a:spcAft>
                        <a:buNone/>
                      </a:pPr>
                      <a:r>
                        <a:rPr sz="1250" b="0">
                          <a:solidFill>
                            <a:srgbClr val="202B38"/>
                          </a:solidFill>
                          <a:latin typeface="Arial"/>
                        </a:rPr>
                        <a:t>PII filter</a:t>
                      </a:r>
                    </a:p>
                  </a:txBody>
                  <a:tcPr>
                    <a:solidFill>
                      <a:srgbClr val="FFFFFF"/>
                    </a:solidFill>
                  </a:tcPr>
                </a:tc>
                <a:tc>
                  <a:txBody>
                    <a:bodyPr wrap="square"/>
                    <a:lstStyle/>
                    <a:p>
                      <a:pPr algn="l">
                        <a:spcAft>
                          <a:spcPts val="0"/>
                        </a:spcAft>
                        <a:buNone/>
                      </a:pPr>
                      <a:r>
                        <a:rPr sz="1250" b="0">
                          <a:solidFill>
                            <a:srgbClr val="202B38"/>
                          </a:solidFill>
                          <a:latin typeface="Arial"/>
                        </a:rPr>
                        <a:t>Personal data about to leave in the output</a:t>
                      </a:r>
                    </a:p>
                  </a:txBody>
                  <a:tcPr>
                    <a:solidFill>
                      <a:srgbClr val="FFFFFF"/>
                    </a:solidFill>
                  </a:tcPr>
                </a:tc>
                <a:tc>
                  <a:txBody>
                    <a:bodyPr wrap="square"/>
                    <a:lstStyle/>
                    <a:p>
                      <a:pPr algn="l">
                        <a:spcAft>
                          <a:spcPts val="0"/>
                        </a:spcAft>
                        <a:buNone/>
                      </a:pPr>
                      <a:r>
                        <a:rPr sz="1250" b="0">
                          <a:solidFill>
                            <a:srgbClr val="202B38"/>
                          </a:solidFill>
                          <a:latin typeface="Arial"/>
                        </a:rPr>
                        <a:t>Tinted windows for the passengers</a:t>
                      </a:r>
                    </a:p>
                  </a:txBody>
                  <a:tcPr>
                    <a:solidFill>
                      <a:srgbClr val="FFFFFF"/>
                    </a:solidFill>
                  </a:tcPr>
                </a:tc>
              </a:tr>
              <a:tr h="457200">
                <a:tc>
                  <a:txBody>
                    <a:bodyPr wrap="square"/>
                    <a:lstStyle/>
                    <a:p>
                      <a:pPr algn="l">
                        <a:spcAft>
                          <a:spcPts val="0"/>
                        </a:spcAft>
                        <a:buNone/>
                      </a:pPr>
                      <a:r>
                        <a:rPr sz="1250" b="0">
                          <a:solidFill>
                            <a:srgbClr val="202B38"/>
                          </a:solidFill>
                          <a:latin typeface="Arial"/>
                        </a:rPr>
                        <a:t>Moderation</a:t>
                      </a:r>
                    </a:p>
                  </a:txBody>
                  <a:tcPr>
                    <a:solidFill>
                      <a:srgbClr val="EEF3FD"/>
                    </a:solidFill>
                  </a:tcPr>
                </a:tc>
                <a:tc>
                  <a:txBody>
                    <a:bodyPr wrap="square"/>
                    <a:lstStyle/>
                    <a:p>
                      <a:pPr algn="l">
                        <a:spcAft>
                          <a:spcPts val="0"/>
                        </a:spcAft>
                        <a:buNone/>
                      </a:pPr>
                      <a:r>
                        <a:rPr sz="1250" b="0">
                          <a:solidFill>
                            <a:srgbClr val="202B38"/>
                          </a:solidFill>
                          <a:latin typeface="Arial"/>
                        </a:rPr>
                        <a:t>Harmful or inappropriate content, in or out</a:t>
                      </a:r>
                    </a:p>
                  </a:txBody>
                  <a:tcPr>
                    <a:solidFill>
                      <a:srgbClr val="EEF3FD"/>
                    </a:solidFill>
                  </a:tcPr>
                </a:tc>
                <a:tc>
                  <a:txBody>
                    <a:bodyPr wrap="square"/>
                    <a:lstStyle/>
                    <a:p>
                      <a:pPr algn="l">
                        <a:spcAft>
                          <a:spcPts val="0"/>
                        </a:spcAft>
                        <a:buNone/>
                      </a:pPr>
                      <a:r>
                        <a:rPr sz="1250" b="0">
                          <a:solidFill>
                            <a:srgbClr val="202B38"/>
                          </a:solidFill>
                          <a:latin typeface="Arial"/>
                        </a:rPr>
                        <a:t>The rules of the road</a:t>
                      </a:r>
                    </a:p>
                  </a:txBody>
                  <a:tcPr>
                    <a:solidFill>
                      <a:srgbClr val="EEF3FD"/>
                    </a:solidFill>
                  </a:tcPr>
                </a:tc>
              </a:tr>
              <a:tr h="457200">
                <a:tc>
                  <a:txBody>
                    <a:bodyPr wrap="square"/>
                    <a:lstStyle/>
                    <a:p>
                      <a:pPr algn="l">
                        <a:spcAft>
                          <a:spcPts val="0"/>
                        </a:spcAft>
                        <a:buNone/>
                      </a:pPr>
                      <a:r>
                        <a:rPr sz="1250" b="0">
                          <a:solidFill>
                            <a:srgbClr val="202B38"/>
                          </a:solidFill>
                          <a:latin typeface="Arial"/>
                        </a:rPr>
                        <a:t>Tool safeguards</a:t>
                      </a:r>
                    </a:p>
                  </a:txBody>
                  <a:tcPr>
                    <a:solidFill>
                      <a:srgbClr val="FFFFFF"/>
                    </a:solidFill>
                  </a:tcPr>
                </a:tc>
                <a:tc>
                  <a:txBody>
                    <a:bodyPr wrap="square"/>
                    <a:lstStyle/>
                    <a:p>
                      <a:pPr algn="l">
                        <a:spcAft>
                          <a:spcPts val="0"/>
                        </a:spcAft>
                        <a:buNone/>
                      </a:pPr>
                      <a:r>
                        <a:rPr sz="1250" b="0">
                          <a:solidFill>
                            <a:srgbClr val="202B38"/>
                          </a:solidFill>
                          <a:latin typeface="Arial"/>
                        </a:rPr>
                        <a:t>A risk rating per tool: read, write, irreversible; approval gates</a:t>
                      </a:r>
                    </a:p>
                  </a:txBody>
                  <a:tcPr>
                    <a:solidFill>
                      <a:srgbClr val="FFFFFF"/>
                    </a:solidFill>
                  </a:tcPr>
                </a:tc>
                <a:tc>
                  <a:txBody>
                    <a:bodyPr wrap="square"/>
                    <a:lstStyle/>
                    <a:p>
                      <a:pPr algn="l">
                        <a:spcAft>
                          <a:spcPts val="0"/>
                        </a:spcAft>
                        <a:buNone/>
                      </a:pPr>
                      <a:r>
                        <a:rPr sz="1250" b="0">
                          <a:solidFill>
                            <a:srgbClr val="202B38"/>
                          </a:solidFill>
                          <a:latin typeface="Arial"/>
                        </a:rPr>
                        <a:t>A speed limiter on the risky pedals</a:t>
                      </a:r>
                    </a:p>
                  </a:txBody>
                  <a:tcPr>
                    <a:solidFill>
                      <a:srgbClr val="FFFFFF"/>
                    </a:solidFill>
                  </a:tcPr>
                </a:tc>
              </a:tr>
              <a:tr h="457200">
                <a:tc>
                  <a:txBody>
                    <a:bodyPr wrap="square"/>
                    <a:lstStyle/>
                    <a:p>
                      <a:pPr algn="l">
                        <a:spcAft>
                          <a:spcPts val="0"/>
                        </a:spcAft>
                        <a:buNone/>
                      </a:pPr>
                      <a:r>
                        <a:rPr sz="1250" b="0">
                          <a:solidFill>
                            <a:srgbClr val="202B38"/>
                          </a:solidFill>
                          <a:latin typeface="Arial"/>
                        </a:rPr>
                        <a:t>Rules-based protections</a:t>
                      </a:r>
                    </a:p>
                  </a:txBody>
                  <a:tcPr>
                    <a:solidFill>
                      <a:srgbClr val="EEF3FD"/>
                    </a:solidFill>
                  </a:tcPr>
                </a:tc>
                <a:tc>
                  <a:txBody>
                    <a:bodyPr wrap="square"/>
                    <a:lstStyle/>
                    <a:p>
                      <a:pPr algn="l">
                        <a:spcAft>
                          <a:spcPts val="0"/>
                        </a:spcAft>
                        <a:buNone/>
                      </a:pPr>
                      <a:r>
                        <a:rPr sz="1250" b="0">
                          <a:solidFill>
                            <a:srgbClr val="202B38"/>
                          </a:solidFill>
                          <a:latin typeface="Arial"/>
                        </a:rPr>
                        <a:t>Blocklists, regex, input length limits</a:t>
                      </a:r>
                    </a:p>
                  </a:txBody>
                  <a:tcPr>
                    <a:solidFill>
                      <a:srgbClr val="EEF3FD"/>
                    </a:solidFill>
                  </a:tcPr>
                </a:tc>
                <a:tc>
                  <a:txBody>
                    <a:bodyPr wrap="square"/>
                    <a:lstStyle/>
                    <a:p>
                      <a:pPr algn="l">
                        <a:spcAft>
                          <a:spcPts val="0"/>
                        </a:spcAft>
                        <a:buNone/>
                      </a:pPr>
                      <a:r>
                        <a:rPr sz="1250" b="0">
                          <a:solidFill>
                            <a:srgbClr val="202B38"/>
                          </a:solidFill>
                          <a:latin typeface="Arial"/>
                        </a:rPr>
                        <a:t>Fixed bollards: no judgment needed</a:t>
                      </a:r>
                    </a:p>
                  </a:txBody>
                  <a:tcPr>
                    <a:solidFill>
                      <a:srgbClr val="EEF3FD"/>
                    </a:solidFill>
                  </a:tcPr>
                </a:tc>
              </a:tr>
              <a:tr h="457200">
                <a:tc>
                  <a:txBody>
                    <a:bodyPr wrap="square"/>
                    <a:lstStyle/>
                    <a:p>
                      <a:pPr algn="l">
                        <a:spcAft>
                          <a:spcPts val="0"/>
                        </a:spcAft>
                        <a:buNone/>
                      </a:pPr>
                      <a:r>
                        <a:rPr sz="1250" b="0">
                          <a:solidFill>
                            <a:srgbClr val="202B38"/>
                          </a:solidFill>
                          <a:latin typeface="Arial"/>
                        </a:rPr>
                        <a:t>Output validation</a:t>
                      </a:r>
                    </a:p>
                  </a:txBody>
                  <a:tcPr>
                    <a:solidFill>
                      <a:srgbClr val="FFFFFF"/>
                    </a:solidFill>
                  </a:tcPr>
                </a:tc>
                <a:tc>
                  <a:txBody>
                    <a:bodyPr wrap="square"/>
                    <a:lstStyle/>
                    <a:p>
                      <a:pPr algn="l">
                        <a:spcAft>
                          <a:spcPts val="0"/>
                        </a:spcAft>
                        <a:buNone/>
                      </a:pPr>
                      <a:r>
                        <a:rPr sz="1250" b="0">
                          <a:solidFill>
                            <a:srgbClr val="202B38"/>
                          </a:solidFill>
                          <a:latin typeface="Arial"/>
                        </a:rPr>
                        <a:t>Does the answer match format, facts, tone?</a:t>
                      </a:r>
                    </a:p>
                  </a:txBody>
                  <a:tcPr>
                    <a:solidFill>
                      <a:srgbClr val="FFFFFF"/>
                    </a:solidFill>
                  </a:tcPr>
                </a:tc>
                <a:tc>
                  <a:txBody>
                    <a:bodyPr wrap="square"/>
                    <a:lstStyle/>
                    <a:p>
                      <a:pPr algn="l">
                        <a:spcAft>
                          <a:spcPts val="0"/>
                        </a:spcAft>
                        <a:buNone/>
                      </a:pPr>
                      <a:r>
                        <a:rPr sz="1250" b="0">
                          <a:solidFill>
                            <a:srgbClr val="202B38"/>
                          </a:solidFill>
                          <a:latin typeface="Arial"/>
                        </a:rPr>
                        <a:t>Inspection before leaving the garage</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OpenAI, A practical guide to building agents, Apr 2025. The guide adds human escalation on failure thresholds and before high-risk actions.</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WORKFLOW PATTERNS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Five workflow patterns cover most of what people call 'agents'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3_patterns.png"/>
          <p:cNvPicPr>
            <a:picLocks noChangeAspect="1"/>
          </p:cNvPicPr>
          <p:nvPr/>
        </p:nvPicPr>
        <p:blipFill>
          <a:blip r:embed="rId2"/>
          <a:stretch>
            <a:fillRect/>
          </a:stretch>
        </p:blipFill>
        <p:spPr>
          <a:xfrm>
            <a:off x="1554480" y="1874519"/>
            <a:ext cx="9052560" cy="3849939"/>
          </a:xfrm>
          <a:prstGeom prst="rect">
            <a:avLst/>
          </a:prstGeom>
        </p:spPr>
      </p:pic>
      <p:sp>
        <p:nvSpPr>
          <p:cNvPr id="8" name="TextBox 7"/>
          <p:cNvSpPr txBox="1"/>
          <p:nvPr/>
        </p:nvSpPr>
        <p:spPr>
          <a:xfrm>
            <a:off x="1554480" y="6062471"/>
            <a:ext cx="905256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Five patterns from Anthropic, Building effective agents, Dec 2024. A workflow is a path you wrote in code, with model steps inside; an agent chooses its own path.</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WORKFLOWS VS AGENTS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Simplest pattern first - the model drives when the path is unknown</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3200400"/>
        </p:xfrm>
        <a:graphic>
          <a:graphicData uri="http://schemas.openxmlformats.org/drawingml/2006/table">
            <a:tbl>
              <a:tblPr firstRow="1" bandRow="1">
                <a:tableStyleId>{5C22544A-7EE6-4342-B048-85BDC9FD1C3A}</a:tableStyleId>
              </a:tblPr>
              <a:tblGrid>
                <a:gridCol w="2609805"/>
                <a:gridCol w="3914707"/>
                <a:gridCol w="4567159"/>
              </a:tblGrid>
              <a:tr h="457200">
                <a:tc>
                  <a:txBody>
                    <a:bodyPr wrap="square"/>
                    <a:lstStyle/>
                    <a:p>
                      <a:pPr algn="l">
                        <a:spcAft>
                          <a:spcPts val="0"/>
                        </a:spcAft>
                        <a:buNone/>
                      </a:pPr>
                      <a:r>
                        <a:rPr sz="1300" b="1">
                          <a:solidFill>
                            <a:srgbClr val="FFFFFF"/>
                          </a:solidFill>
                          <a:latin typeface="Arial"/>
                        </a:rPr>
                        <a:t>Pattern</a:t>
                      </a:r>
                    </a:p>
                  </a:txBody>
                  <a:tcPr>
                    <a:solidFill>
                      <a:srgbClr val="0A2540"/>
                    </a:solidFill>
                  </a:tcPr>
                </a:tc>
                <a:tc>
                  <a:txBody>
                    <a:bodyPr wrap="square"/>
                    <a:lstStyle/>
                    <a:p>
                      <a:pPr algn="l">
                        <a:spcAft>
                          <a:spcPts val="0"/>
                        </a:spcAft>
                        <a:buNone/>
                      </a:pPr>
                      <a:r>
                        <a:rPr sz="1300" b="1">
                          <a:solidFill>
                            <a:srgbClr val="FFFFFF"/>
                          </a:solidFill>
                          <a:latin typeface="Arial"/>
                        </a:rPr>
                        <a:t>Use when</a:t>
                      </a:r>
                    </a:p>
                  </a:txBody>
                  <a:tcPr>
                    <a:solidFill>
                      <a:srgbClr val="0A2540"/>
                    </a:solidFill>
                  </a:tcPr>
                </a:tc>
                <a:tc>
                  <a:txBody>
                    <a:bodyPr wrap="square"/>
                    <a:lstStyle/>
                    <a:p>
                      <a:pPr algn="l">
                        <a:spcAft>
                          <a:spcPts val="0"/>
                        </a:spcAft>
                        <a:buNone/>
                      </a:pPr>
                      <a:r>
                        <a:rPr sz="1300" b="1">
                          <a:solidFill>
                            <a:srgbClr val="FFFFFF"/>
                          </a:solidFill>
                          <a:latin typeface="Arial"/>
                        </a:rPr>
                        <a:t>Course example (notebook 03)</a:t>
                      </a:r>
                    </a:p>
                  </a:txBody>
                  <a:tcPr>
                    <a:solidFill>
                      <a:srgbClr val="0A2540"/>
                    </a:solidFill>
                  </a:tcPr>
                </a:tc>
              </a:tr>
              <a:tr h="457200">
                <a:tc>
                  <a:txBody>
                    <a:bodyPr wrap="square"/>
                    <a:lstStyle/>
                    <a:p>
                      <a:pPr algn="l">
                        <a:spcAft>
                          <a:spcPts val="0"/>
                        </a:spcAft>
                        <a:buNone/>
                      </a:pPr>
                      <a:r>
                        <a:rPr sz="1250" b="0">
                          <a:solidFill>
                            <a:srgbClr val="202B38"/>
                          </a:solidFill>
                          <a:latin typeface="Arial"/>
                        </a:rPr>
                        <a:t>Prompt chaining</a:t>
                      </a:r>
                    </a:p>
                  </a:txBody>
                  <a:tcPr>
                    <a:solidFill>
                      <a:srgbClr val="FFFFFF"/>
                    </a:solidFill>
                  </a:tcPr>
                </a:tc>
                <a:tc>
                  <a:txBody>
                    <a:bodyPr wrap="square"/>
                    <a:lstStyle/>
                    <a:p>
                      <a:pPr algn="l">
                        <a:spcAft>
                          <a:spcPts val="0"/>
                        </a:spcAft>
                        <a:buNone/>
                      </a:pPr>
                      <a:r>
                        <a:rPr sz="1250" b="0">
                          <a:solidFill>
                            <a:srgbClr val="202B38"/>
                          </a:solidFill>
                          <a:latin typeface="Arial"/>
                        </a:rPr>
                        <a:t>Fixed steps, each easy to check</a:t>
                      </a:r>
                    </a:p>
                  </a:txBody>
                  <a:tcPr>
                    <a:solidFill>
                      <a:srgbClr val="FFFFFF"/>
                    </a:solidFill>
                  </a:tcPr>
                </a:tc>
                <a:tc>
                  <a:txBody>
                    <a:bodyPr wrap="square"/>
                    <a:lstStyle/>
                    <a:p>
                      <a:pPr algn="l">
                        <a:spcAft>
                          <a:spcPts val="0"/>
                        </a:spcAft>
                        <a:buNone/>
                      </a:pPr>
                      <a:r>
                        <a:rPr sz="1250" b="0">
                          <a:solidFill>
                            <a:srgbClr val="202B38"/>
                          </a:solidFill>
                          <a:latin typeface="Arial"/>
                        </a:rPr>
                        <a:t>outline -&gt; draft -&gt; citation check</a:t>
                      </a:r>
                    </a:p>
                  </a:txBody>
                  <a:tcPr>
                    <a:solidFill>
                      <a:srgbClr val="FFFFFF"/>
                    </a:solidFill>
                  </a:tcPr>
                </a:tc>
              </a:tr>
              <a:tr h="457200">
                <a:tc>
                  <a:txBody>
                    <a:bodyPr wrap="square"/>
                    <a:lstStyle/>
                    <a:p>
                      <a:pPr algn="l">
                        <a:spcAft>
                          <a:spcPts val="0"/>
                        </a:spcAft>
                        <a:buNone/>
                      </a:pPr>
                      <a:r>
                        <a:rPr sz="1250" b="0">
                          <a:solidFill>
                            <a:srgbClr val="202B38"/>
                          </a:solidFill>
                          <a:latin typeface="Arial"/>
                        </a:rPr>
                        <a:t>Routing</a:t>
                      </a:r>
                    </a:p>
                  </a:txBody>
                  <a:tcPr>
                    <a:solidFill>
                      <a:srgbClr val="EEF3FD"/>
                    </a:solidFill>
                  </a:tcPr>
                </a:tc>
                <a:tc>
                  <a:txBody>
                    <a:bodyPr wrap="square"/>
                    <a:lstStyle/>
                    <a:p>
                      <a:pPr algn="l">
                        <a:spcAft>
                          <a:spcPts val="0"/>
                        </a:spcAft>
                        <a:buNone/>
                      </a:pPr>
                      <a:r>
                        <a:rPr sz="1250" b="0">
                          <a:solidFill>
                            <a:srgbClr val="202B38"/>
                          </a:solidFill>
                          <a:latin typeface="Arial"/>
                        </a:rPr>
                        <a:t>Inputs fall into a few known kinds</a:t>
                      </a:r>
                    </a:p>
                  </a:txBody>
                  <a:tcPr>
                    <a:solidFill>
                      <a:srgbClr val="EEF3FD"/>
                    </a:solidFill>
                  </a:tcPr>
                </a:tc>
                <a:tc>
                  <a:txBody>
                    <a:bodyPr wrap="square"/>
                    <a:lstStyle/>
                    <a:p>
                      <a:pPr algn="l">
                        <a:spcAft>
                          <a:spcPts val="0"/>
                        </a:spcAft>
                        <a:buNone/>
                      </a:pPr>
                      <a:r>
                        <a:rPr sz="1250" b="0">
                          <a:solidFill>
                            <a:srgbClr val="202B38"/>
                          </a:solidFill>
                          <a:latin typeface="Arial"/>
                        </a:rPr>
                        <a:t>calculation vs research vs general</a:t>
                      </a:r>
                    </a:p>
                  </a:txBody>
                  <a:tcPr>
                    <a:solidFill>
                      <a:srgbClr val="EEF3FD"/>
                    </a:solidFill>
                  </a:tcPr>
                </a:tc>
              </a:tr>
              <a:tr h="457200">
                <a:tc>
                  <a:txBody>
                    <a:bodyPr wrap="square"/>
                    <a:lstStyle/>
                    <a:p>
                      <a:pPr algn="l">
                        <a:spcAft>
                          <a:spcPts val="0"/>
                        </a:spcAft>
                        <a:buNone/>
                      </a:pPr>
                      <a:r>
                        <a:rPr sz="1250" b="0">
                          <a:solidFill>
                            <a:srgbClr val="202B38"/>
                          </a:solidFill>
                          <a:latin typeface="Arial"/>
                        </a:rPr>
                        <a:t>Parallelization</a:t>
                      </a:r>
                    </a:p>
                  </a:txBody>
                  <a:tcPr>
                    <a:solidFill>
                      <a:srgbClr val="FFFFFF"/>
                    </a:solidFill>
                  </a:tcPr>
                </a:tc>
                <a:tc>
                  <a:txBody>
                    <a:bodyPr wrap="square"/>
                    <a:lstStyle/>
                    <a:p>
                      <a:pPr algn="l">
                        <a:spcAft>
                          <a:spcPts val="0"/>
                        </a:spcAft>
                        <a:buNone/>
                      </a:pPr>
                      <a:r>
                        <a:rPr sz="1250" b="0">
                          <a:solidFill>
                            <a:srgbClr val="202B38"/>
                          </a:solidFill>
                          <a:latin typeface="Arial"/>
                        </a:rPr>
                        <a:t>Independent pieces, or a vote for robustness</a:t>
                      </a:r>
                    </a:p>
                  </a:txBody>
                  <a:tcPr>
                    <a:solidFill>
                      <a:srgbClr val="FFFFFF"/>
                    </a:solidFill>
                  </a:tcPr>
                </a:tc>
                <a:tc>
                  <a:txBody>
                    <a:bodyPr wrap="square"/>
                    <a:lstStyle/>
                    <a:p>
                      <a:pPr algn="l">
                        <a:spcAft>
                          <a:spcPts val="0"/>
                        </a:spcAft>
                        <a:buNone/>
                      </a:pPr>
                      <a:r>
                        <a:rPr sz="1250" b="0">
                          <a:solidFill>
                            <a:srgbClr val="202B38"/>
                          </a:solidFill>
                          <a:latin typeface="Arial"/>
                        </a:rPr>
                        <a:t>three sub-questions at once; three judges</a:t>
                      </a:r>
                    </a:p>
                  </a:txBody>
                  <a:tcPr>
                    <a:solidFill>
                      <a:srgbClr val="FFFFFF"/>
                    </a:solidFill>
                  </a:tcPr>
                </a:tc>
              </a:tr>
              <a:tr h="457200">
                <a:tc>
                  <a:txBody>
                    <a:bodyPr wrap="square"/>
                    <a:lstStyle/>
                    <a:p>
                      <a:pPr algn="l">
                        <a:spcAft>
                          <a:spcPts val="0"/>
                        </a:spcAft>
                        <a:buNone/>
                      </a:pPr>
                      <a:r>
                        <a:rPr sz="1250" b="0">
                          <a:solidFill>
                            <a:srgbClr val="202B38"/>
                          </a:solidFill>
                          <a:latin typeface="Arial"/>
                        </a:rPr>
                        <a:t>Orchestrator-workers</a:t>
                      </a:r>
                    </a:p>
                  </a:txBody>
                  <a:tcPr>
                    <a:solidFill>
                      <a:srgbClr val="EEF3FD"/>
                    </a:solidFill>
                  </a:tcPr>
                </a:tc>
                <a:tc>
                  <a:txBody>
                    <a:bodyPr wrap="square"/>
                    <a:lstStyle/>
                    <a:p>
                      <a:pPr algn="l">
                        <a:spcAft>
                          <a:spcPts val="0"/>
                        </a:spcAft>
                        <a:buNone/>
                      </a:pPr>
                      <a:r>
                        <a:rPr sz="1250" b="0">
                          <a:solidFill>
                            <a:srgbClr val="202B38"/>
                          </a:solidFill>
                          <a:latin typeface="Arial"/>
                        </a:rPr>
                        <a:t>You cannot predict the sub-tasks</a:t>
                      </a:r>
                    </a:p>
                  </a:txBody>
                  <a:tcPr>
                    <a:solidFill>
                      <a:srgbClr val="EEF3FD"/>
                    </a:solidFill>
                  </a:tcPr>
                </a:tc>
                <a:tc>
                  <a:txBody>
                    <a:bodyPr wrap="square"/>
                    <a:lstStyle/>
                    <a:p>
                      <a:pPr algn="l">
                        <a:spcAft>
                          <a:spcPts val="0"/>
                        </a:spcAft>
                        <a:buNone/>
                      </a:pPr>
                      <a:r>
                        <a:rPr sz="1250" b="0">
                          <a:solidFill>
                            <a:srgbClr val="202B38"/>
                          </a:solidFill>
                          <a:latin typeface="Arial"/>
                        </a:rPr>
                        <a:t>compound question split into 3, ~6,000 tokens</a:t>
                      </a:r>
                    </a:p>
                  </a:txBody>
                  <a:tcPr>
                    <a:solidFill>
                      <a:srgbClr val="EEF3FD"/>
                    </a:solidFill>
                  </a:tcPr>
                </a:tc>
              </a:tr>
              <a:tr h="457200">
                <a:tc>
                  <a:txBody>
                    <a:bodyPr wrap="square"/>
                    <a:lstStyle/>
                    <a:p>
                      <a:pPr algn="l">
                        <a:spcAft>
                          <a:spcPts val="0"/>
                        </a:spcAft>
                        <a:buNone/>
                      </a:pPr>
                      <a:r>
                        <a:rPr sz="1250" b="0">
                          <a:solidFill>
                            <a:srgbClr val="202B38"/>
                          </a:solidFill>
                          <a:latin typeface="Arial"/>
                        </a:rPr>
                        <a:t>Evaluator-optimizer</a:t>
                      </a:r>
                    </a:p>
                  </a:txBody>
                  <a:tcPr>
                    <a:solidFill>
                      <a:srgbClr val="FFFFFF"/>
                    </a:solidFill>
                  </a:tcPr>
                </a:tc>
                <a:tc>
                  <a:txBody>
                    <a:bodyPr wrap="square"/>
                    <a:lstStyle/>
                    <a:p>
                      <a:pPr algn="l">
                        <a:spcAft>
                          <a:spcPts val="0"/>
                        </a:spcAft>
                        <a:buNone/>
                      </a:pPr>
                      <a:r>
                        <a:rPr sz="1250" b="0">
                          <a:solidFill>
                            <a:srgbClr val="202B38"/>
                          </a:solidFill>
                          <a:latin typeface="Arial"/>
                        </a:rPr>
                        <a:t>Clear criteria and revision pays off</a:t>
                      </a:r>
                    </a:p>
                  </a:txBody>
                  <a:tcPr>
                    <a:solidFill>
                      <a:srgbClr val="FFFFFF"/>
                    </a:solidFill>
                  </a:tcPr>
                </a:tc>
                <a:tc>
                  <a:txBody>
                    <a:bodyPr wrap="square"/>
                    <a:lstStyle/>
                    <a:p>
                      <a:pPr algn="l">
                        <a:spcAft>
                          <a:spcPts val="0"/>
                        </a:spcAft>
                        <a:buNone/>
                      </a:pPr>
                      <a:r>
                        <a:rPr sz="1250" b="0">
                          <a:solidFill>
                            <a:srgbClr val="202B38"/>
                          </a:solidFill>
                          <a:latin typeface="Arial"/>
                        </a:rPr>
                        <a:t>generator + judge: bare fails twice, research passes round 1</a:t>
                      </a:r>
                    </a:p>
                  </a:txBody>
                  <a:tcPr>
                    <a:solidFill>
                      <a:srgbClr val="FFFFFF"/>
                    </a:solidFill>
                  </a:tcPr>
                </a:tc>
              </a:tr>
              <a:tr h="457200">
                <a:tc>
                  <a:txBody>
                    <a:bodyPr wrap="square"/>
                    <a:lstStyle/>
                    <a:p>
                      <a:pPr algn="l">
                        <a:spcAft>
                          <a:spcPts val="0"/>
                        </a:spcAft>
                        <a:buNone/>
                      </a:pPr>
                      <a:r>
                        <a:rPr sz="1250" b="0">
                          <a:solidFill>
                            <a:srgbClr val="202B38"/>
                          </a:solidFill>
                          <a:latin typeface="Arial"/>
                        </a:rPr>
                        <a:t>Agent (the model drives)</a:t>
                      </a:r>
                    </a:p>
                  </a:txBody>
                  <a:tcPr>
                    <a:solidFill>
                      <a:srgbClr val="EEF3FD"/>
                    </a:solidFill>
                  </a:tcPr>
                </a:tc>
                <a:tc>
                  <a:txBody>
                    <a:bodyPr wrap="square"/>
                    <a:lstStyle/>
                    <a:p>
                      <a:pPr algn="l">
                        <a:spcAft>
                          <a:spcPts val="0"/>
                        </a:spcAft>
                        <a:buNone/>
                      </a:pPr>
                      <a:r>
                        <a:rPr sz="1250" b="0">
                          <a:solidFill>
                            <a:srgbClr val="202B38"/>
                          </a:solidFill>
                          <a:latin typeface="Arial"/>
                        </a:rPr>
                        <a:t>Open-ended task, unknown number of steps</a:t>
                      </a:r>
                    </a:p>
                  </a:txBody>
                  <a:tcPr>
                    <a:solidFill>
                      <a:srgbClr val="EEF3FD"/>
                    </a:solidFill>
                  </a:tcPr>
                </a:tc>
                <a:tc>
                  <a:txBody>
                    <a:bodyPr wrap="square"/>
                    <a:lstStyle/>
                    <a:p>
                      <a:pPr algn="l">
                        <a:spcAft>
                          <a:spcPts val="0"/>
                        </a:spcAft>
                        <a:buNone/>
                      </a:pPr>
                      <a:r>
                        <a:rPr sz="1250" b="0">
                          <a:solidFill>
                            <a:srgbClr val="202B38"/>
                          </a:solidFill>
                          <a:latin typeface="Arial"/>
                        </a:rPr>
                        <a:t>the research loop: search, read, check, answer</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Cost rule of thumb: a chat is 1x, a single agent about 4x, a multi-agent system about 15x the tokens (Anthropic, How we built our multi-agent research system, Jun 2025). Start simple (Anthropic, Dec 2024).</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EVALS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An eval is a task, a grader and an outcome, measured repeatedly</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In plain words: an eval is a unit test for behaviour, not for code</a:t>
            </a:r>
          </a:p>
          <a:p>
            <a:pPr algn="l" indent="-228600" marL="228600">
              <a:spcAft>
                <a:spcPts val="800"/>
              </a:spcAft>
              <a:buClr>
                <a:srgbClr val="1E5EF3"/>
              </a:buClr>
              <a:buChar char="—"/>
            </a:pPr>
            <a:r>
              <a:rPr sz="1450" b="0">
                <a:solidFill>
                  <a:srgbClr val="202B38"/>
                </a:solidFill>
                <a:latin typeface="Arial"/>
              </a:rPr>
              <a:t>Outcome grading: did it get there? Trajectory grading: did it take a sane path?</a:t>
            </a:r>
          </a:p>
          <a:p>
            <a:pPr algn="l" indent="-228600" marL="228600">
              <a:spcAft>
                <a:spcPts val="800"/>
              </a:spcAft>
              <a:buClr>
                <a:srgbClr val="1E5EF3"/>
              </a:buClr>
              <a:buChar char="—"/>
            </a:pPr>
            <a:r>
              <a:rPr sz="1450" b="0">
                <a:solidFill>
                  <a:srgbClr val="202B38"/>
                </a:solidFill>
                <a:latin typeface="Arial"/>
              </a:rPr>
              <a:t>Code graders first: contains, cites, used_tool. LLM judges must be calibrated against humans</a:t>
            </a:r>
          </a:p>
          <a:p>
            <a:pPr algn="l" indent="-228600" marL="228600">
              <a:spcAft>
                <a:spcPts val="800"/>
              </a:spcAft>
              <a:buClr>
                <a:srgbClr val="1E5EF3"/>
              </a:buClr>
              <a:buChar char="—"/>
            </a:pPr>
            <a:r>
              <a:rPr sz="1450" b="0">
                <a:solidFill>
                  <a:srgbClr val="202B38"/>
                </a:solidFill>
                <a:latin typeface="Arial"/>
              </a:rPr>
              <a:t>One case proves nothing; a suite gives a pass rate you can compare</a:t>
            </a:r>
          </a:p>
          <a:p>
            <a:pPr algn="l" indent="-228600" marL="228600">
              <a:spcAft>
                <a:spcPts val="800"/>
              </a:spcAft>
              <a:buClr>
                <a:srgbClr val="1E5EF3"/>
              </a:buClr>
              <a:buChar char="—"/>
            </a:pPr>
            <a:r>
              <a:rPr sz="1450" b="0">
                <a:solidFill>
                  <a:srgbClr val="202B38"/>
                </a:solidFill>
                <a:latin typeface="Arial"/>
              </a:rPr>
              <a:t>Evals run like tests in CI: every harness change re-runs the suite</a:t>
            </a:r>
          </a:p>
        </p:txBody>
      </p:sp>
      <p:pic>
        <p:nvPicPr>
          <p:cNvPr id="8" name="Picture 7" descr="s3_evals.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Anthropic, Demystifying evals for AI agents, Jan 2026. Grader names as in the course library (harness.evals).</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OBSERVABILITY</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 trace records every step - without it you are guessing</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 trace records</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Every model call, with the estimated tokens it was sent</a:t>
            </a:r>
          </a:p>
          <a:p>
            <a:pPr algn="l" indent="-228600" marL="228600">
              <a:spcAft>
                <a:spcPts val="600"/>
              </a:spcAft>
              <a:buClr>
                <a:srgbClr val="1E5EF3"/>
              </a:buClr>
              <a:buChar char="—"/>
            </a:pPr>
            <a:r>
              <a:rPr sz="1300" b="0">
                <a:solidFill>
                  <a:srgbClr val="202B38"/>
                </a:solidFill>
                <a:latin typeface="Arial"/>
              </a:rPr>
              <a:t>Every tool call: name, arguments, result</a:t>
            </a:r>
          </a:p>
          <a:p>
            <a:pPr algn="l" indent="-228600" marL="228600">
              <a:spcAft>
                <a:spcPts val="600"/>
              </a:spcAft>
              <a:buClr>
                <a:srgbClr val="1E5EF3"/>
              </a:buClr>
              <a:buChar char="—"/>
            </a:pPr>
            <a:r>
              <a:rPr sz="1300" b="0">
                <a:solidFill>
                  <a:srgbClr val="202B38"/>
                </a:solidFill>
                <a:latin typeface="Arial"/>
              </a:rPr>
              <a:t>Denials, compactions, validator notes, the final answer</a:t>
            </a:r>
          </a:p>
          <a:p>
            <a:pPr algn="l" indent="-228600" marL="228600">
              <a:spcAft>
                <a:spcPts val="600"/>
              </a:spcAft>
              <a:buClr>
                <a:srgbClr val="1E5EF3"/>
              </a:buClr>
              <a:buChar char="—"/>
            </a:pPr>
            <a:r>
              <a:rPr sz="1300" b="0">
                <a:solidFill>
                  <a:srgbClr val="202B38"/>
                </a:solidFill>
                <a:latin typeface="Arial"/>
              </a:rPr>
              <a:t>Turn numbers and seconds: where the time went</a:t>
            </a:r>
          </a:p>
          <a:p>
            <a:pPr algn="l" indent="-228600" marL="228600">
              <a:spcAft>
                <a:spcPts val="600"/>
              </a:spcAft>
              <a:buClr>
                <a:srgbClr val="1E5EF3"/>
              </a:buClr>
              <a:buChar char="—"/>
            </a:pPr>
            <a:r>
              <a:rPr sz="1300" b="0">
                <a:solidFill>
                  <a:srgbClr val="202B38"/>
                </a:solidFill>
                <a:latin typeface="Arial"/>
              </a:rPr>
              <a:t>In plain words: the dashboard and mirrors of the car</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it buys you</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Cost accounting: tokens times price per million - trace.cost(3.0)</a:t>
            </a:r>
          </a:p>
          <a:p>
            <a:pPr algn="l" indent="-228600" marL="228600">
              <a:spcAft>
                <a:spcPts val="600"/>
              </a:spcAft>
              <a:buClr>
                <a:srgbClr val="1E5EF3"/>
              </a:buClr>
              <a:buChar char="—"/>
            </a:pPr>
            <a:r>
              <a:rPr sz="1300" b="0">
                <a:solidFill>
                  <a:srgbClr val="202B38"/>
                </a:solidFill>
                <a:latin typeface="Arial"/>
              </a:rPr>
              <a:t>Debugging: the exact step where a run went wrong</a:t>
            </a:r>
          </a:p>
          <a:p>
            <a:pPr algn="l" indent="-228600" marL="228600">
              <a:spcAft>
                <a:spcPts val="600"/>
              </a:spcAft>
              <a:buClr>
                <a:srgbClr val="1E5EF3"/>
              </a:buClr>
              <a:buChar char="—"/>
            </a:pPr>
            <a:r>
              <a:rPr sz="1300" b="0">
                <a:solidFill>
                  <a:srgbClr val="202B38"/>
                </a:solidFill>
                <a:latin typeface="Arial"/>
              </a:rPr>
              <a:t>Comparison: harness A vs B on the same tasks, side by side</a:t>
            </a:r>
          </a:p>
          <a:p>
            <a:pPr algn="l" indent="-228600" marL="228600">
              <a:spcAft>
                <a:spcPts val="600"/>
              </a:spcAft>
              <a:buClr>
                <a:srgbClr val="1E5EF3"/>
              </a:buClr>
              <a:buChar char="—"/>
            </a:pPr>
            <a:r>
              <a:rPr sz="1300" b="0">
                <a:solidFill>
                  <a:srgbClr val="202B38"/>
                </a:solidFill>
                <a:latin typeface="Arial"/>
              </a:rPr>
              <a:t>Budgets: alarms on tokens, turns and cost before they run away</a:t>
            </a:r>
          </a:p>
          <a:p>
            <a:pPr algn="l" indent="-228600" marL="228600">
              <a:spcAft>
                <a:spcPts val="600"/>
              </a:spcAft>
              <a:buClr>
                <a:srgbClr val="1E5EF3"/>
              </a:buClr>
              <a:buChar char="—"/>
            </a:pPr>
            <a:r>
              <a:rPr sz="1300" b="0">
                <a:solidFill>
                  <a:srgbClr val="202B38"/>
                </a:solidFill>
                <a:latin typeface="Arial"/>
              </a:rPr>
              <a:t>No trace, no engineering - only anecdotes</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Anthropic, Demystifying evals for AI agents, Jan 2026; Claude Agent SDK, Sep 2025. Trace, Event and cost as in the course library (harness.trace).</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LESSONS FROM THE FIELD</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OpenAI's five-month experiment: the repository is the harness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OpenAI did (Feb 2026)</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Five months, about one million lines of production code</a:t>
            </a:r>
          </a:p>
          <a:p>
            <a:pPr algn="l" indent="-228600" marL="228600">
              <a:spcAft>
                <a:spcPts val="600"/>
              </a:spcAft>
              <a:buClr>
                <a:srgbClr val="1E5EF3"/>
              </a:buClr>
              <a:buChar char="—"/>
            </a:pPr>
            <a:r>
              <a:rPr sz="1300" b="0">
                <a:solidFill>
                  <a:srgbClr val="202B38"/>
                </a:solidFill>
                <a:latin typeface="Arial"/>
              </a:rPr>
              <a:t>Zero lines written by hand: Codex agents wrote all of it</a:t>
            </a:r>
          </a:p>
          <a:p>
            <a:pPr algn="l" indent="-228600" marL="228600">
              <a:spcAft>
                <a:spcPts val="600"/>
              </a:spcAft>
              <a:buClr>
                <a:srgbClr val="1E5EF3"/>
              </a:buClr>
              <a:buChar char="—"/>
            </a:pPr>
            <a:r>
              <a:rPr sz="1300" b="0">
                <a:solidFill>
                  <a:srgbClr val="202B38"/>
                </a:solidFill>
                <a:latin typeface="Arial"/>
              </a:rPr>
              <a:t>Humans steered: design docs, plans, reviews, taste</a:t>
            </a:r>
          </a:p>
          <a:p>
            <a:pPr algn="l" indent="-228600" marL="228600">
              <a:spcAft>
                <a:spcPts val="600"/>
              </a:spcAft>
              <a:buClr>
                <a:srgbClr val="1E5EF3"/>
              </a:buClr>
              <a:buChar char="—"/>
            </a:pPr>
            <a:r>
              <a:rPr sz="1300" b="0">
                <a:solidFill>
                  <a:srgbClr val="202B38"/>
                </a:solidFill>
                <a:latin typeface="Arial"/>
              </a:rPr>
              <a:t>The repository as system of record: docs, ADRs, exec plans, quality scores</a:t>
            </a:r>
          </a:p>
          <a:p>
            <a:pPr algn="l" indent="-228600" marL="228600">
              <a:spcAft>
                <a:spcPts val="600"/>
              </a:spcAft>
              <a:buClr>
                <a:srgbClr val="1E5EF3"/>
              </a:buClr>
              <a:buChar char="—"/>
            </a:pPr>
            <a:r>
              <a:rPr sz="1300" b="0">
                <a:solidFill>
                  <a:srgbClr val="202B38"/>
                </a:solidFill>
                <a:latin typeface="Arial"/>
              </a:rPr>
              <a:t>In plain words: everything the agent must know lives in the repo, versioned</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they learned</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Constraints enforced mechanically: custom linters and structural tests in CI</a:t>
            </a:r>
          </a:p>
          <a:p>
            <a:pPr algn="l" indent="-228600" marL="228600">
              <a:spcAft>
                <a:spcPts val="600"/>
              </a:spcAft>
              <a:buClr>
                <a:srgbClr val="1E5EF3"/>
              </a:buClr>
              <a:buChar char="—"/>
            </a:pPr>
            <a:r>
              <a:rPr sz="1300" b="0">
                <a:solidFill>
                  <a:srgbClr val="202B38"/>
                </a:solidFill>
                <a:latin typeface="Arial"/>
              </a:rPr>
              <a:t>A rule the agent can skip is a suggestion; a linter is a rule</a:t>
            </a:r>
          </a:p>
          <a:p>
            <a:pPr algn="l" indent="-228600" marL="228600">
              <a:spcAft>
                <a:spcPts val="600"/>
              </a:spcAft>
              <a:buClr>
                <a:srgbClr val="1E5EF3"/>
              </a:buClr>
              <a:buChar char="—"/>
            </a:pPr>
            <a:r>
              <a:rPr sz="1300" b="0">
                <a:solidFill>
                  <a:srgbClr val="202B38"/>
                </a:solidFill>
                <a:latin typeface="Arial"/>
              </a:rPr>
              <a:t>Harness engineering: deterministic scaffolding around probabilistic model steps</a:t>
            </a:r>
          </a:p>
          <a:p>
            <a:pPr algn="l" indent="-228600" marL="228600">
              <a:spcAft>
                <a:spcPts val="600"/>
              </a:spcAft>
              <a:buClr>
                <a:srgbClr val="1E5EF3"/>
              </a:buClr>
              <a:buChar char="—"/>
            </a:pPr>
            <a:r>
              <a:rPr sz="1300" b="0">
                <a:solidFill>
                  <a:srgbClr val="202B38"/>
                </a:solidFill>
                <a:latin typeface="Arial"/>
              </a:rPr>
              <a:t>Optimise the codebase for agents: legibility, fast feedback, small repairable failures</a:t>
            </a:r>
          </a:p>
          <a:p>
            <a:pPr algn="l" indent="-228600" marL="228600">
              <a:spcAft>
                <a:spcPts val="600"/>
              </a:spcAft>
              <a:buClr>
                <a:srgbClr val="1E5EF3"/>
              </a:buClr>
              <a:buChar char="—"/>
            </a:pPr>
            <a:r>
              <a:rPr sz="1300" b="0">
                <a:solidFill>
                  <a:srgbClr val="202B38"/>
                </a:solidFill>
                <a:latin typeface="Arial"/>
              </a:rPr>
              <a:t>Let the agent act and correct it afterwards; blocking on approval is the slow path</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OpenAI (Ryan Lopopolo), Harness engineering: leveraging Codex in an agent-first world, 11 Feb 2026.</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554480"/>
            <a:ext cx="73152" cy="27432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9418320" cy="2560320"/>
          </a:xfrm>
          <a:prstGeom prst="rect">
            <a:avLst/>
          </a:prstGeom>
          <a:noFill/>
        </p:spPr>
        <p:txBody>
          <a:bodyPr wrap="square">
            <a:spAutoFit/>
          </a:bodyPr>
          <a:lstStyle/>
          <a:p>
            <a:pPr algn="l">
              <a:spcAft>
                <a:spcPts val="600"/>
              </a:spcAft>
              <a:buNone/>
            </a:pPr>
            <a:r>
              <a:rPr sz="2600" b="0">
                <a:solidFill>
                  <a:srgbClr val="0A2540"/>
                </a:solidFill>
                <a:latin typeface="Arial"/>
              </a:rPr>
              <a:t>Corrections are cheap, waiting is expensive.</a:t>
            </a:r>
          </a:p>
        </p:txBody>
      </p:sp>
      <p:sp>
        <p:nvSpPr>
          <p:cNvPr id="5" name="TextBox 4"/>
          <p:cNvSpPr txBox="1"/>
          <p:nvPr/>
        </p:nvSpPr>
        <p:spPr>
          <a:xfrm>
            <a:off x="1371600" y="4572000"/>
            <a:ext cx="9418320" cy="548640"/>
          </a:xfrm>
          <a:prstGeom prst="rect">
            <a:avLst/>
          </a:prstGeom>
          <a:noFill/>
        </p:spPr>
        <p:txBody>
          <a:bodyPr wrap="square">
            <a:spAutoFit/>
          </a:bodyPr>
          <a:lstStyle/>
          <a:p>
            <a:pPr algn="l">
              <a:spcAft>
                <a:spcPts val="600"/>
              </a:spcAft>
              <a:buNone/>
            </a:pPr>
            <a:r>
              <a:rPr sz="1400" b="0">
                <a:solidFill>
                  <a:srgbClr val="5B6774"/>
                </a:solidFill>
                <a:latin typeface="Arial"/>
              </a:rPr>
              <a:t>OpenAI, Harness engineering: leveraging Codex in an agent-first world, 11 Feb 2026 - on letting agents act inside mechanical guards instead of blocking on approval.</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ENFORCEMENT GAP</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Most harness rules are written down - almost none are enforced</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2286000"/>
            <a:ext cx="9418320" cy="2011680"/>
          </a:xfrm>
          <a:prstGeom prst="rect">
            <a:avLst/>
          </a:prstGeom>
          <a:noFill/>
        </p:spPr>
        <p:txBody>
          <a:bodyPr wrap="square">
            <a:spAutoFit/>
          </a:bodyPr>
          <a:lstStyle/>
          <a:p>
            <a:pPr algn="ctr">
              <a:spcAft>
                <a:spcPts val="600"/>
              </a:spcAft>
              <a:buNone/>
            </a:pPr>
            <a:r>
              <a:rPr sz="9600" b="1">
                <a:solidFill>
                  <a:srgbClr val="1E5EF3"/>
                </a:solidFill>
                <a:latin typeface="Arial"/>
              </a:rPr>
              <a:t>4.4%</a:t>
            </a:r>
          </a:p>
        </p:txBody>
      </p:sp>
      <p:sp>
        <p:nvSpPr>
          <p:cNvPr id="8" name="TextBox 7"/>
          <p:cNvSpPr txBox="1"/>
          <p:nvPr/>
        </p:nvSpPr>
        <p:spPr>
          <a:xfrm>
            <a:off x="1371600" y="4434840"/>
            <a:ext cx="9418320" cy="731520"/>
          </a:xfrm>
          <a:prstGeom prst="rect">
            <a:avLst/>
          </a:prstGeom>
          <a:noFill/>
        </p:spPr>
        <p:txBody>
          <a:bodyPr wrap="square">
            <a:spAutoFit/>
          </a:bodyPr>
          <a:lstStyle/>
          <a:p>
            <a:pPr algn="ctr">
              <a:spcAft>
                <a:spcPts val="600"/>
              </a:spcAft>
              <a:buNone/>
            </a:pPr>
            <a:r>
              <a:rPr sz="1800" b="0">
                <a:solidFill>
                  <a:srgbClr val="0A2540"/>
                </a:solidFill>
                <a:latin typeface="Arial"/>
              </a:rPr>
              <a:t>of security rules in harness repositories are backed by a real control; the rest are text the agent may ignore</a:t>
            </a:r>
          </a:p>
        </p:txBody>
      </p:sp>
      <p:sp>
        <p:nvSpPr>
          <p:cNvPr id="9" name="TextBox 8"/>
          <p:cNvSpPr txBox="1"/>
          <p:nvPr/>
        </p:nvSpPr>
        <p:spPr>
          <a:xfrm>
            <a:off x="1371600" y="5257800"/>
            <a:ext cx="9418320" cy="640080"/>
          </a:xfrm>
          <a:prstGeom prst="rect">
            <a:avLst/>
          </a:prstGeom>
          <a:noFill/>
        </p:spPr>
        <p:txBody>
          <a:bodyPr wrap="square">
            <a:spAutoFit/>
          </a:bodyPr>
          <a:lstStyle/>
          <a:p>
            <a:pPr algn="ctr">
              <a:spcAft>
                <a:spcPts val="600"/>
              </a:spcAft>
              <a:buNone/>
            </a:pPr>
            <a:r>
              <a:rPr sz="1250" b="0">
                <a:solidFill>
                  <a:srgbClr val="5B6774"/>
                </a:solidFill>
                <a:latin typeface="Arial"/>
              </a:rPr>
              <a:t>Also: 63% of large projects ship instruction files, only a handful enforce them; 60% of harnesses have no tests or evals. Marmelab, The State of AI Harness Engineering 2026, Sep 2026.</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02</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2 - The practice: notebook 03</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Patterns you can run, a validator that retries, and an eval suite that puts a number and a price on three configurations of one harness.</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3 - Building a Harness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03 - HOOKS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Checkpoint 3 in action: the validator rejects, the loop retries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one row per trace event - turn, kind, who, what</a:t>
            </a:r>
          </a:p>
          <a:p>
            <a:pPr algn="l" indent="-228600" marL="228600">
              <a:spcAft>
                <a:spcPts val="800"/>
              </a:spcAft>
              <a:buClr>
                <a:srgbClr val="1E5EF3"/>
              </a:buClr>
              <a:buChar char="—"/>
            </a:pPr>
            <a:r>
              <a:rPr sz="1450" b="0">
                <a:solidFill>
                  <a:srgbClr val="202B38"/>
                </a:solidFill>
                <a:latin typeface="Arial"/>
              </a:rPr>
              <a:t>Turn 1: a lazy policy answers from memory, no source; the validator rejects it</a:t>
            </a:r>
          </a:p>
          <a:p>
            <a:pPr algn="l" indent="-228600" marL="228600">
              <a:spcAft>
                <a:spcPts val="800"/>
              </a:spcAft>
              <a:buClr>
                <a:srgbClr val="1E5EF3"/>
              </a:buClr>
              <a:buChar char="—"/>
            </a:pPr>
            <a:r>
              <a:rPr sz="1450" b="0">
                <a:solidFill>
                  <a:srgbClr val="202B38"/>
                </a:solidFill>
                <a:latin typeface="Arial"/>
              </a:rPr>
              <a:t>The harness appends 'Your answer was rejected ... Fix it and answer again'</a:t>
            </a:r>
          </a:p>
          <a:p>
            <a:pPr algn="l" indent="-228600" marL="228600">
              <a:spcAft>
                <a:spcPts val="800"/>
              </a:spcAft>
              <a:buClr>
                <a:srgbClr val="1E5EF3"/>
              </a:buClr>
              <a:buChar char="—"/>
            </a:pPr>
            <a:r>
              <a:rPr sz="1450" b="0">
                <a:solidFill>
                  <a:srgbClr val="202B38"/>
                </a:solidFill>
                <a:latin typeface="Arial"/>
              </a:rPr>
              <a:t>Turns 2-5: the model searches, reads, checks and answers with a citation</a:t>
            </a:r>
          </a:p>
          <a:p>
            <a:pPr algn="l" indent="-228600" marL="228600">
              <a:spcAft>
                <a:spcPts val="800"/>
              </a:spcAft>
              <a:buClr>
                <a:srgbClr val="1E5EF3"/>
              </a:buClr>
              <a:buChar char="—"/>
            </a:pPr>
            <a:r>
              <a:rPr sz="1450" b="0">
                <a:solidFill>
                  <a:srgbClr val="202B38"/>
                </a:solidFill>
                <a:latin typeface="Arial"/>
              </a:rPr>
              <a:t>Whole run: 5 model calls, 3 tool calls, ~2,163 tokens; stopped_because = 'done'</a:t>
            </a:r>
          </a:p>
          <a:p>
            <a:pPr algn="l" indent="-228600" marL="228600">
              <a:spcAft>
                <a:spcPts val="800"/>
              </a:spcAft>
              <a:buClr>
                <a:srgbClr val="1E5EF3"/>
              </a:buClr>
              <a:buChar char="—"/>
            </a:pPr>
            <a:r>
              <a:rPr sz="1450" b="0">
                <a:solidFill>
                  <a:srgbClr val="202B38"/>
                </a:solidFill>
                <a:latin typeface="Arial"/>
              </a:rPr>
              <a:t>A bare model with the same validator: 2 calls, ~73 tokens, still wrong - a guard cannot add ability</a:t>
            </a:r>
          </a:p>
        </p:txBody>
      </p:sp>
      <p:pic>
        <p:nvPicPr>
          <p:cNvPr id="8" name="Picture 7" descr="s3_validator_trace.png"/>
          <p:cNvPicPr>
            <a:picLocks noChangeAspect="1"/>
          </p:cNvPicPr>
          <p:nvPr/>
        </p:nvPicPr>
        <p:blipFill>
          <a:blip r:embed="rId2"/>
          <a:stretch>
            <a:fillRect/>
          </a:stretch>
        </p:blipFill>
        <p:spPr>
          <a:xfrm>
            <a:off x="5120640" y="1874519"/>
            <a:ext cx="6492240" cy="4105077"/>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Notebook 03 reference run on the deterministic stand-in (the live Claude run varies and reports real tokens); trace condensed, turns 2-4 folded into one row.</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03 - PATTERNS.ROUTE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Routing sends each question to the agent built for it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a cheap classifier picks a label; each label owns a specialist agent</a:t>
            </a:r>
          </a:p>
          <a:p>
            <a:pPr algn="l" indent="-228600" marL="228600">
              <a:spcAft>
                <a:spcPts val="800"/>
              </a:spcAft>
              <a:buClr>
                <a:srgbClr val="1E5EF3"/>
              </a:buClr>
              <a:buChar char="—"/>
            </a:pPr>
            <a:r>
              <a:rPr sz="1450" b="0">
                <a:solidFill>
                  <a:srgbClr val="202B38"/>
                </a:solidFill>
                <a:latin typeface="Arial"/>
              </a:rPr>
              <a:t>'What is (891 - 179) / 891?' -&gt; calculation -&gt; calculator tool -&gt; 0.799102</a:t>
            </a:r>
          </a:p>
          <a:p>
            <a:pPr algn="l" indent="-228600" marL="228600">
              <a:spcAft>
                <a:spcPts val="800"/>
              </a:spcAft>
              <a:buClr>
                <a:srgbClr val="1E5EF3"/>
              </a:buClr>
              <a:buChar char="—"/>
            </a:pPr>
            <a:r>
              <a:rPr sz="1450" b="0">
                <a:solidFill>
                  <a:srgbClr val="202B38"/>
                </a:solidFill>
                <a:latin typeface="Arial"/>
              </a:rPr>
              <a:t>'When was function calling introduced by OpenAI?' -&gt; research -&gt; 13 June 2023, cited</a:t>
            </a:r>
          </a:p>
          <a:p>
            <a:pPr algn="l" indent="-228600" marL="228600">
              <a:spcAft>
                <a:spcPts val="800"/>
              </a:spcAft>
              <a:buClr>
                <a:srgbClr val="1E5EF3"/>
              </a:buClr>
              <a:buChar char="—"/>
            </a:pPr>
            <a:r>
              <a:rPr sz="1450" b="0">
                <a:solidFill>
                  <a:srgbClr val="202B38"/>
                </a:solidFill>
                <a:latin typeface="Arial"/>
              </a:rPr>
              <a:t>The router never answers; it only chooses. Small model, big saving</a:t>
            </a:r>
          </a:p>
          <a:p>
            <a:pPr algn="l" indent="-228600" marL="228600">
              <a:spcAft>
                <a:spcPts val="800"/>
              </a:spcAft>
              <a:buClr>
                <a:srgbClr val="1E5EF3"/>
              </a:buClr>
              <a:buChar char="—"/>
            </a:pPr>
            <a:r>
              <a:rPr sz="1450" b="0">
                <a:solidFill>
                  <a:srgbClr val="202B38"/>
                </a:solidFill>
                <a:latin typeface="Arial"/>
              </a:rPr>
              <a:t>In plain words: a signpost at the junction - each road has its own driver</a:t>
            </a:r>
          </a:p>
        </p:txBody>
      </p:sp>
      <p:pic>
        <p:nvPicPr>
          <p:cNvPr id="8" name="Picture 7" descr="s3_routing.png"/>
          <p:cNvPicPr>
            <a:picLocks noChangeAspect="1"/>
          </p:cNvPicPr>
          <p:nvPr/>
        </p:nvPicPr>
        <p:blipFill>
          <a:blip r:embed="rId2"/>
          <a:stretch>
            <a:fillRect/>
          </a:stretch>
        </p:blipFill>
        <p:spPr>
          <a:xfrm>
            <a:off x="5136721" y="1874519"/>
            <a:ext cx="6460077"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patterns.route() in notebook 03, reference run on the stand-in; live Claude varies. Labels: calculation, research, general. Anthropic, Building effective agents, Dec 2024.</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03 - THE A/B/C EVAL</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Same model, three harnesses: 0%, 91.7%, 100% on twelve cases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one bar per configuration; length = share of the 12 cases passed</a:t>
            </a:r>
          </a:p>
          <a:p>
            <a:pPr algn="l" indent="-228600" marL="228600">
              <a:spcAft>
                <a:spcPts val="800"/>
              </a:spcAft>
              <a:buClr>
                <a:srgbClr val="1E5EF3"/>
              </a:buClr>
              <a:buChar char="—"/>
            </a:pPr>
            <a:r>
              <a:rPr sz="1450" b="0">
                <a:solidFill>
                  <a:srgbClr val="202B38"/>
                </a:solidFill>
                <a:latin typeface="Arial"/>
              </a:rPr>
              <a:t>A, bare model: 0 of 12 - stale memory, no source to cite</a:t>
            </a:r>
          </a:p>
          <a:p>
            <a:pPr algn="l" indent="-228600" marL="228600">
              <a:spcAft>
                <a:spcPts val="800"/>
              </a:spcAft>
              <a:buClr>
                <a:srgbClr val="1E5EF3"/>
              </a:buClr>
              <a:buChar char="—"/>
            </a:pPr>
            <a:r>
              <a:rPr sz="1450" b="0">
                <a:solidFill>
                  <a:srgbClr val="202B38"/>
                </a:solidFill>
                <a:latin typeface="Arial"/>
              </a:rPr>
              <a:t>B, tools without verification: 11 of 12 - it searches and reads but never checks</a:t>
            </a:r>
          </a:p>
          <a:p>
            <a:pPr algn="l" indent="-228600" marL="228600">
              <a:spcAft>
                <a:spcPts val="800"/>
              </a:spcAft>
              <a:buClr>
                <a:srgbClr val="1E5EF3"/>
              </a:buClr>
              <a:buChar char="—"/>
            </a:pPr>
            <a:r>
              <a:rPr sz="1450" b="0">
                <a:solidFill>
                  <a:srgbClr val="202B38"/>
                </a:solidFill>
                <a:latin typeface="Arial"/>
              </a:rPr>
              <a:t>C, tools + verification: 12 of 12 - check_citation catches the trap</a:t>
            </a:r>
          </a:p>
          <a:p>
            <a:pPr algn="l" indent="-228600" marL="228600">
              <a:spcAft>
                <a:spcPts val="800"/>
              </a:spcAft>
              <a:buClr>
                <a:srgbClr val="1E5EF3"/>
              </a:buClr>
              <a:buChar char="—"/>
            </a:pPr>
            <a:r>
              <a:rPr sz="1450" b="0">
                <a:solidFill>
                  <a:srgbClr val="202B38"/>
                </a:solidFill>
                <a:latin typeface="Arial"/>
              </a:rPr>
              <a:t>Only the harness changed; the model and the questions are identical</a:t>
            </a:r>
          </a:p>
          <a:p>
            <a:pPr algn="l" indent="-228600" marL="228600">
              <a:spcAft>
                <a:spcPts val="800"/>
              </a:spcAft>
              <a:buClr>
                <a:srgbClr val="1E5EF3"/>
              </a:buClr>
              <a:buChar char="—"/>
            </a:pPr>
            <a:r>
              <a:rPr sz="1450" b="0">
                <a:solidFill>
                  <a:srgbClr val="202B38"/>
                </a:solidFill>
                <a:latin typeface="Arial"/>
              </a:rPr>
              <a:t>The notebook then reruns the same 12 cases on Claude: an eval is run, not assumed</a:t>
            </a:r>
          </a:p>
        </p:txBody>
      </p:sp>
      <p:pic>
        <p:nvPicPr>
          <p:cNvPr id="8" name="Picture 7" descr="s3_pass_rates.png"/>
          <p:cNvPicPr>
            <a:picLocks noChangeAspect="1"/>
          </p:cNvPicPr>
          <p:nvPr/>
        </p:nvPicPr>
        <p:blipFill>
          <a:blip r:embed="rId2"/>
          <a:stretch>
            <a:fillRect/>
          </a:stretch>
        </p:blipFill>
        <p:spPr>
          <a:xfrm>
            <a:off x="5120640" y="1874519"/>
            <a:ext cx="6492240" cy="3689317"/>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12-case eval suite, notebook 03 (harness.evals.compare); graders contains + cites. Reference run on the deterministic stand-in; the live Claude run varies, real tokens.</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03 - THE PRICE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Verification bought the last case at 2.1x the tokens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one bar per configuration; length = estimated tokens for all 12 cases</a:t>
            </a:r>
          </a:p>
          <a:p>
            <a:pPr algn="l" indent="-228600" marL="228600">
              <a:spcAft>
                <a:spcPts val="800"/>
              </a:spcAft>
              <a:buClr>
                <a:srgbClr val="1E5EF3"/>
              </a:buClr>
              <a:buChar char="—"/>
            </a:pPr>
            <a:r>
              <a:rPr sz="1450" b="0">
                <a:solidFill>
                  <a:srgbClr val="202B38"/>
                </a:solidFill>
                <a:latin typeface="Arial"/>
              </a:rPr>
              <a:t>A ~170 tokens: one call per case, no tools, no help</a:t>
            </a:r>
          </a:p>
          <a:p>
            <a:pPr algn="l" indent="-228600" marL="228600">
              <a:spcAft>
                <a:spcPts val="800"/>
              </a:spcAft>
              <a:buClr>
                <a:srgbClr val="1E5EF3"/>
              </a:buClr>
              <a:buChar char="—"/>
            </a:pPr>
            <a:r>
              <a:rPr sz="1450" b="0">
                <a:solidFill>
                  <a:srgbClr val="202B38"/>
                </a:solidFill>
                <a:latin typeface="Arial"/>
              </a:rPr>
              <a:t>B ~11,800: search and read results fill the context, 3.0 turns per case</a:t>
            </a:r>
          </a:p>
          <a:p>
            <a:pPr algn="l" indent="-228600" marL="228600">
              <a:spcAft>
                <a:spcPts val="800"/>
              </a:spcAft>
              <a:buClr>
                <a:srgbClr val="1E5EF3"/>
              </a:buClr>
              <a:buChar char="—"/>
            </a:pPr>
            <a:r>
              <a:rPr sz="1450" b="0">
                <a:solidFill>
                  <a:srgbClr val="202B38"/>
                </a:solidFill>
                <a:latin typeface="Arial"/>
              </a:rPr>
              <a:t>C ~24,600: an extra verification round, 4.1 turns per case</a:t>
            </a:r>
          </a:p>
          <a:p>
            <a:pPr algn="l" indent="-228600" marL="228600">
              <a:spcAft>
                <a:spcPts val="800"/>
              </a:spcAft>
              <a:buClr>
                <a:srgbClr val="1E5EF3"/>
              </a:buClr>
              <a:buChar char="—"/>
            </a:pPr>
            <a:r>
              <a:rPr sz="1450" b="0">
                <a:solidFill>
                  <a:srgbClr val="202B38"/>
                </a:solidFill>
                <a:latin typeface="Arial"/>
              </a:rPr>
              <a:t>From B to C: one more correct case for 12,814 more tokens, 2.1x</a:t>
            </a:r>
          </a:p>
          <a:p>
            <a:pPr algn="l" indent="-228600" marL="228600">
              <a:spcAft>
                <a:spcPts val="800"/>
              </a:spcAft>
              <a:buClr>
                <a:srgbClr val="1E5EF3"/>
              </a:buClr>
              <a:buChar char="—"/>
            </a:pPr>
            <a:r>
              <a:rPr sz="1450" b="0">
                <a:solidFill>
                  <a:srgbClr val="202B38"/>
                </a:solidFill>
                <a:latin typeface="Arial"/>
              </a:rPr>
              <a:t>Worth it? Depends on what one wrong answer costs you</a:t>
            </a:r>
          </a:p>
        </p:txBody>
      </p:sp>
      <p:pic>
        <p:nvPicPr>
          <p:cNvPr id="8" name="Picture 7" descr="s3_tokens.png"/>
          <p:cNvPicPr>
            <a:picLocks noChangeAspect="1"/>
          </p:cNvPicPr>
          <p:nvPr/>
        </p:nvPicPr>
        <p:blipFill>
          <a:blip r:embed="rId2"/>
          <a:stretch>
            <a:fillRect/>
          </a:stretch>
        </p:blipFill>
        <p:spPr>
          <a:xfrm>
            <a:off x="5120640" y="1874519"/>
            <a:ext cx="6492240" cy="3728297"/>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Notebook 03 reference run on the stand-in (prints 172 / 11,766 / 24,580; 24,600 / 11,800 = 2.1). The live Claude run varies and reports real tokens; the ratio is the lesson.</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03 - THE NO-ANSWER TRAP</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B's one failure: confident and cited, on a question with no answer</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B: tools, no verification</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Case: 'How many employees does Anthropic have?' - not in the library</a:t>
            </a:r>
          </a:p>
          <a:p>
            <a:pPr algn="l" indent="-228600" marL="228600">
              <a:spcAft>
                <a:spcPts val="600"/>
              </a:spcAft>
              <a:buClr>
                <a:srgbClr val="1E5EF3"/>
              </a:buClr>
              <a:buChar char="—"/>
            </a:pPr>
            <a:r>
              <a:rPr sz="1300" b="0">
                <a:solidFill>
                  <a:srgbClr val="202B38"/>
                </a:solidFill>
                <a:latin typeface="Arial"/>
              </a:rPr>
              <a:t>search_docs returns the closest document anyway</a:t>
            </a:r>
          </a:p>
          <a:p>
            <a:pPr algn="l" indent="-228600" marL="228600">
              <a:spcAft>
                <a:spcPts val="600"/>
              </a:spcAft>
              <a:buClr>
                <a:srgbClr val="1E5EF3"/>
              </a:buClr>
              <a:buChar char="—"/>
            </a:pPr>
            <a:r>
              <a:rPr sz="1300" b="0">
                <a:solidFill>
                  <a:srgbClr val="202B38"/>
                </a:solidFill>
                <a:latin typeface="Arial"/>
              </a:rPr>
              <a:t>B reads it and answers with confidence, citing an unrelated document</a:t>
            </a:r>
          </a:p>
          <a:p>
            <a:pPr algn="l" indent="-228600" marL="228600">
              <a:spcAft>
                <a:spcPts val="600"/>
              </a:spcAft>
              <a:buClr>
                <a:srgbClr val="1E5EF3"/>
              </a:buClr>
              <a:buChar char="—"/>
            </a:pPr>
            <a:r>
              <a:rPr sz="1300" b="0">
                <a:solidFill>
                  <a:srgbClr val="202B38"/>
                </a:solidFill>
                <a:latin typeface="Arial"/>
              </a:rPr>
              <a:t>The grader wanted 'could not verify'; B fails this one case</a:t>
            </a:r>
          </a:p>
          <a:p>
            <a:pPr algn="l" indent="-228600" marL="228600">
              <a:spcAft>
                <a:spcPts val="600"/>
              </a:spcAft>
              <a:buClr>
                <a:srgbClr val="1E5EF3"/>
              </a:buClr>
              <a:buChar char="—"/>
            </a:pPr>
            <a:r>
              <a:rPr sz="1300" b="0">
                <a:solidFill>
                  <a:srgbClr val="202B38"/>
                </a:solidFill>
                <a:latin typeface="Arial"/>
              </a:rPr>
              <a:t>In plain words: a wrong answer wearing a real-looking source</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C: tools + verification</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Same search, same unrelated document</a:t>
            </a:r>
          </a:p>
          <a:p>
            <a:pPr algn="l" indent="-228600" marL="228600">
              <a:spcAft>
                <a:spcPts val="600"/>
              </a:spcAft>
              <a:buClr>
                <a:srgbClr val="1E5EF3"/>
              </a:buClr>
              <a:buChar char="—"/>
            </a:pPr>
            <a:r>
              <a:rPr sz="1300" b="0">
                <a:solidFill>
                  <a:srgbClr val="202B38"/>
                </a:solidFill>
                <a:latin typeface="Arial"/>
              </a:rPr>
              <a:t>check_citation compares the claim with the cited text: no match</a:t>
            </a:r>
          </a:p>
          <a:p>
            <a:pPr algn="l" indent="-228600" marL="228600">
              <a:spcAft>
                <a:spcPts val="600"/>
              </a:spcAft>
              <a:buClr>
                <a:srgbClr val="1E5EF3"/>
              </a:buClr>
              <a:buChar char="—"/>
            </a:pPr>
            <a:r>
              <a:rPr sz="1300" b="0">
                <a:solidFill>
                  <a:srgbClr val="202B38"/>
                </a:solidFill>
                <a:latin typeface="Arial"/>
              </a:rPr>
              <a:t>The agent says 'could not verify' instead of guessing</a:t>
            </a:r>
          </a:p>
          <a:p>
            <a:pPr algn="l" indent="-228600" marL="228600">
              <a:spcAft>
                <a:spcPts val="600"/>
              </a:spcAft>
              <a:buClr>
                <a:srgbClr val="1E5EF3"/>
              </a:buClr>
              <a:buChar char="—"/>
            </a:pPr>
            <a:r>
              <a:rPr sz="1300" b="0">
                <a:solidFill>
                  <a:srgbClr val="202B38"/>
                </a:solidFill>
                <a:latin typeface="Arial"/>
              </a:rPr>
              <a:t>C passes: the honest 'I do not know' was a graded outcome</a:t>
            </a:r>
          </a:p>
          <a:p>
            <a:pPr algn="l" indent="-228600" marL="228600">
              <a:spcAft>
                <a:spcPts val="600"/>
              </a:spcAft>
              <a:buClr>
                <a:srgbClr val="1E5EF3"/>
              </a:buClr>
              <a:buChar char="—"/>
            </a:pPr>
            <a:r>
              <a:rPr sz="1300" b="0">
                <a:solidFill>
                  <a:srgbClr val="202B38"/>
                </a:solidFill>
                <a:latin typeface="Arial"/>
              </a:rPr>
              <a:t>In plain words: the harness made not-knowing the cheapest path</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Notebook 03, eval case 'no-answer'; grader contains('could not verify'); reference run on the stand-in, the live Claude run varies. Lesson: write the trap into the suite, or you will never see it.</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03 - COST ACCOUNTING</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trace.cost: a price per configuration and per thousand runs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69" cy="2743200"/>
        </p:xfrm>
        <a:graphic>
          <a:graphicData uri="http://schemas.openxmlformats.org/drawingml/2006/table">
            <a:tbl>
              <a:tblPr firstRow="1" bandRow="1">
                <a:tableStyleId>{5C22544A-7EE6-4342-B048-85BDC9FD1C3A}</a:tableStyleId>
              </a:tblPr>
              <a:tblGrid>
                <a:gridCol w="3630001"/>
                <a:gridCol w="1210000"/>
                <a:gridCol w="1411667"/>
                <a:gridCol w="2823334"/>
                <a:gridCol w="2016667"/>
              </a:tblGrid>
              <a:tr h="457200">
                <a:tc>
                  <a:txBody>
                    <a:bodyPr wrap="square"/>
                    <a:lstStyle/>
                    <a:p>
                      <a:pPr algn="l">
                        <a:spcAft>
                          <a:spcPts val="0"/>
                        </a:spcAft>
                        <a:buNone/>
                      </a:pPr>
                      <a:r>
                        <a:rPr sz="1300" b="1">
                          <a:solidFill>
                            <a:srgbClr val="FFFFFF"/>
                          </a:solidFill>
                          <a:latin typeface="Arial"/>
                        </a:rPr>
                        <a:t>Configuration</a:t>
                      </a:r>
                    </a:p>
                  </a:txBody>
                  <a:tcPr>
                    <a:solidFill>
                      <a:srgbClr val="0A2540"/>
                    </a:solidFill>
                  </a:tcPr>
                </a:tc>
                <a:tc>
                  <a:txBody>
                    <a:bodyPr wrap="square"/>
                    <a:lstStyle/>
                    <a:p>
                      <a:pPr algn="l">
                        <a:spcAft>
                          <a:spcPts val="0"/>
                        </a:spcAft>
                        <a:buNone/>
                      </a:pPr>
                      <a:r>
                        <a:rPr sz="1300" b="1">
                          <a:solidFill>
                            <a:srgbClr val="FFFFFF"/>
                          </a:solidFill>
                          <a:latin typeface="Arial"/>
                        </a:rPr>
                        <a:t>Pass rate</a:t>
                      </a:r>
                    </a:p>
                  </a:txBody>
                  <a:tcPr>
                    <a:solidFill>
                      <a:srgbClr val="0A2540"/>
                    </a:solidFill>
                  </a:tcPr>
                </a:tc>
                <a:tc>
                  <a:txBody>
                    <a:bodyPr wrap="square"/>
                    <a:lstStyle/>
                    <a:p>
                      <a:pPr algn="l">
                        <a:spcAft>
                          <a:spcPts val="0"/>
                        </a:spcAft>
                        <a:buNone/>
                      </a:pPr>
                      <a:r>
                        <a:rPr sz="1300" b="1">
                          <a:solidFill>
                            <a:srgbClr val="FFFFFF"/>
                          </a:solidFill>
                          <a:latin typeface="Arial"/>
                        </a:rPr>
                        <a:t>Tokens</a:t>
                      </a:r>
                    </a:p>
                  </a:txBody>
                  <a:tcPr>
                    <a:solidFill>
                      <a:srgbClr val="0A2540"/>
                    </a:solidFill>
                  </a:tcPr>
                </a:tc>
                <a:tc>
                  <a:txBody>
                    <a:bodyPr wrap="square"/>
                    <a:lstStyle/>
                    <a:p>
                      <a:pPr algn="l">
                        <a:spcAft>
                          <a:spcPts val="0"/>
                        </a:spcAft>
                        <a:buNone/>
                      </a:pPr>
                      <a:r>
                        <a:rPr sz="1300" b="1">
                          <a:solidFill>
                            <a:srgbClr val="FFFFFF"/>
                          </a:solidFill>
                          <a:latin typeface="Arial"/>
                        </a:rPr>
                        <a:t>Cost at $3 per million tokens</a:t>
                      </a:r>
                    </a:p>
                  </a:txBody>
                  <a:tcPr>
                    <a:solidFill>
                      <a:srgbClr val="0A2540"/>
                    </a:solidFill>
                  </a:tcPr>
                </a:tc>
                <a:tc>
                  <a:txBody>
                    <a:bodyPr wrap="square"/>
                    <a:lstStyle/>
                    <a:p>
                      <a:pPr algn="l">
                        <a:spcAft>
                          <a:spcPts val="0"/>
                        </a:spcAft>
                        <a:buNone/>
                      </a:pPr>
                      <a:r>
                        <a:rPr sz="1300" b="1">
                          <a:solidFill>
                            <a:srgbClr val="FFFFFF"/>
                          </a:solidFill>
                          <a:latin typeface="Arial"/>
                        </a:rPr>
                        <a:t>Per 1,000 runs</a:t>
                      </a:r>
                    </a:p>
                  </a:txBody>
                  <a:tcPr>
                    <a:solidFill>
                      <a:srgbClr val="0A2540"/>
                    </a:solidFill>
                  </a:tcPr>
                </a:tc>
              </a:tr>
              <a:tr h="457200">
                <a:tc>
                  <a:txBody>
                    <a:bodyPr wrap="square"/>
                    <a:lstStyle/>
                    <a:p>
                      <a:pPr algn="l">
                        <a:spcAft>
                          <a:spcPts val="0"/>
                        </a:spcAft>
                        <a:buNone/>
                      </a:pPr>
                      <a:r>
                        <a:rPr sz="1250" b="0">
                          <a:solidFill>
                            <a:srgbClr val="202B38"/>
                          </a:solidFill>
                          <a:latin typeface="Arial"/>
                        </a:rPr>
                        <a:t>One cited research run (a single question)</a:t>
                      </a:r>
                    </a:p>
                  </a:txBody>
                  <a:tcPr>
                    <a:solidFill>
                      <a:srgbClr val="FFFFFF"/>
                    </a:solidFill>
                  </a:tcPr>
                </a:tc>
                <a:tc>
                  <a:txBody>
                    <a:bodyPr wrap="square"/>
                    <a:lstStyle/>
                    <a:p>
                      <a:pPr algn="l">
                        <a:spcAft>
                          <a:spcPts val="0"/>
                        </a:spcAft>
                        <a:buNone/>
                      </a:pPr>
                      <a:r>
                        <a:rPr sz="1250" b="0">
                          <a:solidFill>
                            <a:srgbClr val="202B38"/>
                          </a:solidFill>
                          <a:latin typeface="Arial"/>
                        </a:rPr>
                        <a:t>-</a:t>
                      </a:r>
                    </a:p>
                  </a:txBody>
                  <a:tcPr>
                    <a:solidFill>
                      <a:srgbClr val="FFFFFF"/>
                    </a:solidFill>
                  </a:tcPr>
                </a:tc>
                <a:tc>
                  <a:txBody>
                    <a:bodyPr wrap="square"/>
                    <a:lstStyle/>
                    <a:p>
                      <a:pPr algn="l">
                        <a:spcAft>
                          <a:spcPts val="0"/>
                        </a:spcAft>
                        <a:buNone/>
                      </a:pPr>
                      <a:r>
                        <a:rPr sz="1250" b="0">
                          <a:solidFill>
                            <a:srgbClr val="202B38"/>
                          </a:solidFill>
                          <a:latin typeface="Arial"/>
                        </a:rPr>
                        <a:t>~1,904</a:t>
                      </a:r>
                    </a:p>
                  </a:txBody>
                  <a:tcPr>
                    <a:solidFill>
                      <a:srgbClr val="FFFFFF"/>
                    </a:solidFill>
                  </a:tcPr>
                </a:tc>
                <a:tc>
                  <a:txBody>
                    <a:bodyPr wrap="square"/>
                    <a:lstStyle/>
                    <a:p>
                      <a:pPr algn="l">
                        <a:spcAft>
                          <a:spcPts val="0"/>
                        </a:spcAft>
                        <a:buNone/>
                      </a:pPr>
                      <a:r>
                        <a:rPr sz="1250" b="0">
                          <a:solidFill>
                            <a:srgbClr val="202B38"/>
                          </a:solidFill>
                          <a:latin typeface="Arial"/>
                        </a:rPr>
                        <a:t>$0.0057</a:t>
                      </a:r>
                    </a:p>
                  </a:txBody>
                  <a:tcPr>
                    <a:solidFill>
                      <a:srgbClr val="FFFFFF"/>
                    </a:solidFill>
                  </a:tcPr>
                </a:tc>
                <a:tc>
                  <a:txBody>
                    <a:bodyPr wrap="square"/>
                    <a:lstStyle/>
                    <a:p>
                      <a:pPr algn="l">
                        <a:spcAft>
                          <a:spcPts val="0"/>
                        </a:spcAft>
                        <a:buNone/>
                      </a:pPr>
                      <a:r>
                        <a:rPr sz="1250" b="0">
                          <a:solidFill>
                            <a:srgbClr val="202B38"/>
                          </a:solidFill>
                          <a:latin typeface="Arial"/>
                        </a:rPr>
                        <a:t>$5.71</a:t>
                      </a:r>
                    </a:p>
                  </a:txBody>
                  <a:tcPr>
                    <a:solidFill>
                      <a:srgbClr val="FFFFFF"/>
                    </a:solidFill>
                  </a:tcPr>
                </a:tc>
              </a:tr>
              <a:tr h="457200">
                <a:tc>
                  <a:txBody>
                    <a:bodyPr wrap="square"/>
                    <a:lstStyle/>
                    <a:p>
                      <a:pPr algn="l">
                        <a:spcAft>
                          <a:spcPts val="0"/>
                        </a:spcAft>
                        <a:buNone/>
                      </a:pPr>
                      <a:r>
                        <a:rPr sz="1250" b="0">
                          <a:solidFill>
                            <a:srgbClr val="202B38"/>
                          </a:solidFill>
                          <a:latin typeface="Arial"/>
                        </a:rPr>
                        <a:t>A: bare model, 12 cases</a:t>
                      </a:r>
                    </a:p>
                  </a:txBody>
                  <a:tcPr>
                    <a:solidFill>
                      <a:srgbClr val="EEF3FD"/>
                    </a:solidFill>
                  </a:tcPr>
                </a:tc>
                <a:tc>
                  <a:txBody>
                    <a:bodyPr wrap="square"/>
                    <a:lstStyle/>
                    <a:p>
                      <a:pPr algn="l">
                        <a:spcAft>
                          <a:spcPts val="0"/>
                        </a:spcAft>
                        <a:buNone/>
                      </a:pPr>
                      <a:r>
                        <a:rPr sz="1250" b="0">
                          <a:solidFill>
                            <a:srgbClr val="202B38"/>
                          </a:solidFill>
                          <a:latin typeface="Arial"/>
                        </a:rPr>
                        <a:t>0%</a:t>
                      </a:r>
                    </a:p>
                  </a:txBody>
                  <a:tcPr>
                    <a:solidFill>
                      <a:srgbClr val="EEF3FD"/>
                    </a:solidFill>
                  </a:tcPr>
                </a:tc>
                <a:tc>
                  <a:txBody>
                    <a:bodyPr wrap="square"/>
                    <a:lstStyle/>
                    <a:p>
                      <a:pPr algn="l">
                        <a:spcAft>
                          <a:spcPts val="0"/>
                        </a:spcAft>
                        <a:buNone/>
                      </a:pPr>
                      <a:r>
                        <a:rPr sz="1250" b="0">
                          <a:solidFill>
                            <a:srgbClr val="202B38"/>
                          </a:solidFill>
                          <a:latin typeface="Arial"/>
                        </a:rPr>
                        <a:t>~170</a:t>
                      </a:r>
                    </a:p>
                  </a:txBody>
                  <a:tcPr>
                    <a:solidFill>
                      <a:srgbClr val="EEF3FD"/>
                    </a:solidFill>
                  </a:tcPr>
                </a:tc>
                <a:tc>
                  <a:txBody>
                    <a:bodyPr wrap="square"/>
                    <a:lstStyle/>
                    <a:p>
                      <a:pPr algn="l">
                        <a:spcAft>
                          <a:spcPts val="0"/>
                        </a:spcAft>
                        <a:buNone/>
                      </a:pPr>
                      <a:r>
                        <a:rPr sz="1250" b="0">
                          <a:solidFill>
                            <a:srgbClr val="202B38"/>
                          </a:solidFill>
                          <a:latin typeface="Arial"/>
                        </a:rPr>
                        <a:t>$0.0005</a:t>
                      </a:r>
                    </a:p>
                  </a:txBody>
                  <a:tcPr>
                    <a:solidFill>
                      <a:srgbClr val="EEF3FD"/>
                    </a:solidFill>
                  </a:tcPr>
                </a:tc>
                <a:tc>
                  <a:txBody>
                    <a:bodyPr wrap="square"/>
                    <a:lstStyle/>
                    <a:p>
                      <a:pPr algn="l">
                        <a:spcAft>
                          <a:spcPts val="0"/>
                        </a:spcAft>
                        <a:buNone/>
                      </a:pPr>
                      <a:r>
                        <a:rPr sz="1250" b="0">
                          <a:solidFill>
                            <a:srgbClr val="202B38"/>
                          </a:solidFill>
                          <a:latin typeface="Arial"/>
                        </a:rPr>
                        <a:t>$0.51</a:t>
                      </a:r>
                    </a:p>
                  </a:txBody>
                  <a:tcPr>
                    <a:solidFill>
                      <a:srgbClr val="EEF3FD"/>
                    </a:solidFill>
                  </a:tcPr>
                </a:tc>
              </a:tr>
              <a:tr h="457200">
                <a:tc>
                  <a:txBody>
                    <a:bodyPr wrap="square"/>
                    <a:lstStyle/>
                    <a:p>
                      <a:pPr algn="l">
                        <a:spcAft>
                          <a:spcPts val="0"/>
                        </a:spcAft>
                        <a:buNone/>
                      </a:pPr>
                      <a:r>
                        <a:rPr sz="1250" b="0">
                          <a:solidFill>
                            <a:srgbClr val="202B38"/>
                          </a:solidFill>
                          <a:latin typeface="Arial"/>
                        </a:rPr>
                        <a:t>B: tools, no verification, 12 cases</a:t>
                      </a:r>
                    </a:p>
                  </a:txBody>
                  <a:tcPr>
                    <a:solidFill>
                      <a:srgbClr val="FFFFFF"/>
                    </a:solidFill>
                  </a:tcPr>
                </a:tc>
                <a:tc>
                  <a:txBody>
                    <a:bodyPr wrap="square"/>
                    <a:lstStyle/>
                    <a:p>
                      <a:pPr algn="l">
                        <a:spcAft>
                          <a:spcPts val="0"/>
                        </a:spcAft>
                        <a:buNone/>
                      </a:pPr>
                      <a:r>
                        <a:rPr sz="1250" b="0">
                          <a:solidFill>
                            <a:srgbClr val="202B38"/>
                          </a:solidFill>
                          <a:latin typeface="Arial"/>
                        </a:rPr>
                        <a:t>91.7%</a:t>
                      </a:r>
                    </a:p>
                  </a:txBody>
                  <a:tcPr>
                    <a:solidFill>
                      <a:srgbClr val="FFFFFF"/>
                    </a:solidFill>
                  </a:tcPr>
                </a:tc>
                <a:tc>
                  <a:txBody>
                    <a:bodyPr wrap="square"/>
                    <a:lstStyle/>
                    <a:p>
                      <a:pPr algn="l">
                        <a:spcAft>
                          <a:spcPts val="0"/>
                        </a:spcAft>
                        <a:buNone/>
                      </a:pPr>
                      <a:r>
                        <a:rPr sz="1250" b="0">
                          <a:solidFill>
                            <a:srgbClr val="202B38"/>
                          </a:solidFill>
                          <a:latin typeface="Arial"/>
                        </a:rPr>
                        <a:t>~11,800</a:t>
                      </a:r>
                    </a:p>
                  </a:txBody>
                  <a:tcPr>
                    <a:solidFill>
                      <a:srgbClr val="FFFFFF"/>
                    </a:solidFill>
                  </a:tcPr>
                </a:tc>
                <a:tc>
                  <a:txBody>
                    <a:bodyPr wrap="square"/>
                    <a:lstStyle/>
                    <a:p>
                      <a:pPr algn="l">
                        <a:spcAft>
                          <a:spcPts val="0"/>
                        </a:spcAft>
                        <a:buNone/>
                      </a:pPr>
                      <a:r>
                        <a:rPr sz="1250" b="0">
                          <a:solidFill>
                            <a:srgbClr val="202B38"/>
                          </a:solidFill>
                          <a:latin typeface="Arial"/>
                        </a:rPr>
                        <a:t>$0.035</a:t>
                      </a:r>
                    </a:p>
                  </a:txBody>
                  <a:tcPr>
                    <a:solidFill>
                      <a:srgbClr val="FFFFFF"/>
                    </a:solidFill>
                  </a:tcPr>
                </a:tc>
                <a:tc>
                  <a:txBody>
                    <a:bodyPr wrap="square"/>
                    <a:lstStyle/>
                    <a:p>
                      <a:pPr algn="l">
                        <a:spcAft>
                          <a:spcPts val="0"/>
                        </a:spcAft>
                        <a:buNone/>
                      </a:pPr>
                      <a:r>
                        <a:rPr sz="1250" b="0">
                          <a:solidFill>
                            <a:srgbClr val="202B38"/>
                          </a:solidFill>
                          <a:latin typeface="Arial"/>
                        </a:rPr>
                        <a:t>$35.40</a:t>
                      </a:r>
                    </a:p>
                  </a:txBody>
                  <a:tcPr>
                    <a:solidFill>
                      <a:srgbClr val="FFFFFF"/>
                    </a:solidFill>
                  </a:tcPr>
                </a:tc>
              </a:tr>
              <a:tr h="457200">
                <a:tc>
                  <a:txBody>
                    <a:bodyPr wrap="square"/>
                    <a:lstStyle/>
                    <a:p>
                      <a:pPr algn="l">
                        <a:spcAft>
                          <a:spcPts val="0"/>
                        </a:spcAft>
                        <a:buNone/>
                      </a:pPr>
                      <a:r>
                        <a:rPr sz="1250" b="0">
                          <a:solidFill>
                            <a:srgbClr val="202B38"/>
                          </a:solidFill>
                          <a:latin typeface="Arial"/>
                        </a:rPr>
                        <a:t>C: tools + verification, 12 cases</a:t>
                      </a:r>
                    </a:p>
                  </a:txBody>
                  <a:tcPr>
                    <a:solidFill>
                      <a:srgbClr val="EEF3FD"/>
                    </a:solidFill>
                  </a:tcPr>
                </a:tc>
                <a:tc>
                  <a:txBody>
                    <a:bodyPr wrap="square"/>
                    <a:lstStyle/>
                    <a:p>
                      <a:pPr algn="l">
                        <a:spcAft>
                          <a:spcPts val="0"/>
                        </a:spcAft>
                        <a:buNone/>
                      </a:pPr>
                      <a:r>
                        <a:rPr sz="1250" b="0">
                          <a:solidFill>
                            <a:srgbClr val="202B38"/>
                          </a:solidFill>
                          <a:latin typeface="Arial"/>
                        </a:rPr>
                        <a:t>100%</a:t>
                      </a:r>
                    </a:p>
                  </a:txBody>
                  <a:tcPr>
                    <a:solidFill>
                      <a:srgbClr val="EEF3FD"/>
                    </a:solidFill>
                  </a:tcPr>
                </a:tc>
                <a:tc>
                  <a:txBody>
                    <a:bodyPr wrap="square"/>
                    <a:lstStyle/>
                    <a:p>
                      <a:pPr algn="l">
                        <a:spcAft>
                          <a:spcPts val="0"/>
                        </a:spcAft>
                        <a:buNone/>
                      </a:pPr>
                      <a:r>
                        <a:rPr sz="1250" b="0">
                          <a:solidFill>
                            <a:srgbClr val="202B38"/>
                          </a:solidFill>
                          <a:latin typeface="Arial"/>
                        </a:rPr>
                        <a:t>~24,600</a:t>
                      </a:r>
                    </a:p>
                  </a:txBody>
                  <a:tcPr>
                    <a:solidFill>
                      <a:srgbClr val="EEF3FD"/>
                    </a:solidFill>
                  </a:tcPr>
                </a:tc>
                <a:tc>
                  <a:txBody>
                    <a:bodyPr wrap="square"/>
                    <a:lstStyle/>
                    <a:p>
                      <a:pPr algn="l">
                        <a:spcAft>
                          <a:spcPts val="0"/>
                        </a:spcAft>
                        <a:buNone/>
                      </a:pPr>
                      <a:r>
                        <a:rPr sz="1250" b="0">
                          <a:solidFill>
                            <a:srgbClr val="202B38"/>
                          </a:solidFill>
                          <a:latin typeface="Arial"/>
                        </a:rPr>
                        <a:t>$0.074</a:t>
                      </a:r>
                    </a:p>
                  </a:txBody>
                  <a:tcPr>
                    <a:solidFill>
                      <a:srgbClr val="EEF3FD"/>
                    </a:solidFill>
                  </a:tcPr>
                </a:tc>
                <a:tc>
                  <a:txBody>
                    <a:bodyPr wrap="square"/>
                    <a:lstStyle/>
                    <a:p>
                      <a:pPr algn="l">
                        <a:spcAft>
                          <a:spcPts val="0"/>
                        </a:spcAft>
                        <a:buNone/>
                      </a:pPr>
                      <a:r>
                        <a:rPr sz="1250" b="0">
                          <a:solidFill>
                            <a:srgbClr val="202B38"/>
                          </a:solidFill>
                          <a:latin typeface="Arial"/>
                        </a:rPr>
                        <a:t>$73.80</a:t>
                      </a:r>
                    </a:p>
                  </a:txBody>
                  <a:tcPr>
                    <a:solidFill>
                      <a:srgbClr val="EEF3FD"/>
                    </a:solidFill>
                  </a:tcPr>
                </a:tc>
              </a:tr>
              <a:tr h="457200">
                <a:tc>
                  <a:txBody>
                    <a:bodyPr wrap="square"/>
                    <a:lstStyle/>
                    <a:p>
                      <a:pPr algn="l">
                        <a:spcAft>
                          <a:spcPts val="0"/>
                        </a:spcAft>
                        <a:buNone/>
                      </a:pPr>
                      <a:r>
                        <a:rPr sz="1250" b="0">
                          <a:solidFill>
                            <a:srgbClr val="202B38"/>
                          </a:solidFill>
                          <a:latin typeface="Arial"/>
                        </a:rPr>
                        <a:t>C compared with B</a:t>
                      </a:r>
                    </a:p>
                  </a:txBody>
                  <a:tcPr>
                    <a:solidFill>
                      <a:srgbClr val="FFFFFF"/>
                    </a:solidFill>
                  </a:tcPr>
                </a:tc>
                <a:tc>
                  <a:txBody>
                    <a:bodyPr wrap="square"/>
                    <a:lstStyle/>
                    <a:p>
                      <a:pPr algn="l">
                        <a:spcAft>
                          <a:spcPts val="0"/>
                        </a:spcAft>
                        <a:buNone/>
                      </a:pPr>
                      <a:r>
                        <a:rPr sz="1250" b="0">
                          <a:solidFill>
                            <a:srgbClr val="202B38"/>
                          </a:solidFill>
                          <a:latin typeface="Arial"/>
                        </a:rPr>
                        <a:t>+1 case (+8.3 points)</a:t>
                      </a:r>
                    </a:p>
                  </a:txBody>
                  <a:tcPr>
                    <a:solidFill>
                      <a:srgbClr val="FFFFFF"/>
                    </a:solidFill>
                  </a:tcPr>
                </a:tc>
                <a:tc>
                  <a:txBody>
                    <a:bodyPr wrap="square"/>
                    <a:lstStyle/>
                    <a:p>
                      <a:pPr algn="l">
                        <a:spcAft>
                          <a:spcPts val="0"/>
                        </a:spcAft>
                        <a:buNone/>
                      </a:pPr>
                      <a:r>
                        <a:rPr sz="1250" b="0">
                          <a:solidFill>
                            <a:srgbClr val="202B38"/>
                          </a:solidFill>
                          <a:latin typeface="Arial"/>
                        </a:rPr>
                        <a:t>2.1x</a:t>
                      </a:r>
                    </a:p>
                  </a:txBody>
                  <a:tcPr>
                    <a:solidFill>
                      <a:srgbClr val="FFFFFF"/>
                    </a:solidFill>
                  </a:tcPr>
                </a:tc>
                <a:tc>
                  <a:txBody>
                    <a:bodyPr wrap="square"/>
                    <a:lstStyle/>
                    <a:p>
                      <a:pPr algn="l">
                        <a:spcAft>
                          <a:spcPts val="0"/>
                        </a:spcAft>
                        <a:buNone/>
                      </a:pPr>
                      <a:r>
                        <a:rPr sz="1250" b="0">
                          <a:solidFill>
                            <a:srgbClr val="202B38"/>
                          </a:solidFill>
                          <a:latin typeface="Arial"/>
                        </a:rPr>
                        <a:t>2.1x</a:t>
                      </a:r>
                    </a:p>
                  </a:txBody>
                  <a:tcPr>
                    <a:solidFill>
                      <a:srgbClr val="FFFFFF"/>
                    </a:solidFill>
                  </a:tcPr>
                </a:tc>
                <a:tc>
                  <a:txBody>
                    <a:bodyPr wrap="square"/>
                    <a:lstStyle/>
                    <a:p>
                      <a:pPr algn="l">
                        <a:spcAft>
                          <a:spcPts val="0"/>
                        </a:spcAft>
                        <a:buNone/>
                      </a:pPr>
                      <a:r>
                        <a:rPr sz="1250" b="0">
                          <a:solidFill>
                            <a:srgbClr val="202B38"/>
                          </a:solidFill>
                          <a:latin typeface="Arial"/>
                        </a:rPr>
                        <a:t>+$38.40</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Cost = tokens / 1,000,000 x 3, as in trace.cost(3.0). Dollar figures use estimated tokens at a stand-in price; the notebook's live Claude runs show real usage, and real prices differ by model and by input vs output.</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80160"/>
            <a:ext cx="10332720" cy="1097280"/>
          </a:xfrm>
          <a:prstGeom prst="rect">
            <a:avLst/>
          </a:prstGeom>
          <a:noFill/>
        </p:spPr>
        <p:txBody>
          <a:bodyPr wrap="square">
            <a:spAutoFit/>
          </a:bodyPr>
          <a:lstStyle/>
          <a:p>
            <a:pPr algn="l">
              <a:spcAft>
                <a:spcPts val="600"/>
              </a:spcAft>
              <a:buNone/>
            </a:pPr>
            <a:r>
              <a:rPr sz="3400" b="1">
                <a:solidFill>
                  <a:srgbClr val="FFFFFF"/>
                </a:solidFill>
                <a:latin typeface="Arial"/>
              </a:rPr>
              <a:t>You can now build a harness and prove it works</a:t>
            </a:r>
          </a:p>
        </p:txBody>
      </p:sp>
      <p:sp>
        <p:nvSpPr>
          <p:cNvPr id="4" name="TextBox 3"/>
          <p:cNvSpPr txBox="1"/>
          <p:nvPr/>
        </p:nvSpPr>
        <p:spPr>
          <a:xfrm>
            <a:off x="914400" y="2651760"/>
            <a:ext cx="10058400" cy="2926080"/>
          </a:xfrm>
          <a:prstGeom prst="rect">
            <a:avLst/>
          </a:prstGeom>
          <a:noFill/>
        </p:spPr>
        <p:txBody>
          <a:bodyPr wrap="square">
            <a:spAutoFit/>
          </a:bodyPr>
          <a:lstStyle/>
          <a:p>
            <a:pPr algn="l" indent="-228600" marL="228600">
              <a:spcAft>
                <a:spcPts val="1000"/>
              </a:spcAft>
              <a:buClr>
                <a:srgbClr val="1E5EF3"/>
              </a:buClr>
              <a:buChar char="—"/>
            </a:pPr>
            <a:r>
              <a:rPr sz="1600" b="0">
                <a:solidFill>
                  <a:srgbClr val="B9D0FA"/>
                </a:solidFill>
                <a:latin typeface="Arial"/>
              </a:rPr>
              <a:t>The loop: gather context, take action, verify work, repeat - with three exits</a:t>
            </a:r>
          </a:p>
          <a:p>
            <a:pPr algn="l" indent="-228600" marL="228600">
              <a:spcAft>
                <a:spcPts val="1000"/>
              </a:spcAft>
              <a:buClr>
                <a:srgbClr val="1E5EF3"/>
              </a:buClr>
              <a:buChar char="—"/>
            </a:pPr>
            <a:r>
              <a:rPr sz="1600" b="0">
                <a:solidFill>
                  <a:srgbClr val="B9D0FA"/>
                </a:solidFill>
                <a:latin typeface="Arial"/>
              </a:rPr>
              <a:t>Guardrails run outside the model: before input, before a tool, after the answer</a:t>
            </a:r>
          </a:p>
          <a:p>
            <a:pPr algn="l" indent="-228600" marL="228600">
              <a:spcAft>
                <a:spcPts val="1000"/>
              </a:spcAft>
              <a:buClr>
                <a:srgbClr val="1E5EF3"/>
              </a:buClr>
              <a:buChar char="—"/>
            </a:pPr>
            <a:r>
              <a:rPr sz="1600" b="0">
                <a:solidFill>
                  <a:srgbClr val="B9D0FA"/>
                </a:solidFill>
                <a:latin typeface="Arial"/>
              </a:rPr>
              <a:t>Five workflow patterns when the path is known; an agent when it is not</a:t>
            </a:r>
          </a:p>
          <a:p>
            <a:pPr algn="l" indent="-228600" marL="228600">
              <a:spcAft>
                <a:spcPts val="1000"/>
              </a:spcAft>
              <a:buClr>
                <a:srgbClr val="1E5EF3"/>
              </a:buClr>
              <a:buChar char="—"/>
            </a:pPr>
            <a:r>
              <a:rPr sz="1600" b="0">
                <a:solidFill>
                  <a:srgbClr val="B9D0FA"/>
                </a:solidFill>
                <a:latin typeface="Arial"/>
              </a:rPr>
              <a:t>An eval = task + grader + outcome; a suite gives a pass rate you can compare</a:t>
            </a:r>
          </a:p>
          <a:p>
            <a:pPr algn="l" indent="-228600" marL="228600">
              <a:spcAft>
                <a:spcPts val="1000"/>
              </a:spcAft>
              <a:buClr>
                <a:srgbClr val="1E5EF3"/>
              </a:buClr>
              <a:buChar char="—"/>
            </a:pPr>
            <a:r>
              <a:rPr sz="1600" b="0">
                <a:solidFill>
                  <a:srgbClr val="B9D0FA"/>
                </a:solidFill>
                <a:latin typeface="Arial"/>
              </a:rPr>
              <a:t>A trace records every call and token; cost = tokens x price</a:t>
            </a:r>
          </a:p>
          <a:p>
            <a:pPr algn="l" indent="-228600" marL="228600">
              <a:spcAft>
                <a:spcPts val="1000"/>
              </a:spcAft>
              <a:buClr>
                <a:srgbClr val="1E5EF3"/>
              </a:buClr>
              <a:buChar char="—"/>
            </a:pPr>
            <a:r>
              <a:rPr sz="1600" b="0">
                <a:solidFill>
                  <a:srgbClr val="B9D0FA"/>
                </a:solidFill>
                <a:latin typeface="Arial"/>
              </a:rPr>
              <a:t>Notebook 03: 0% -&gt; 91.7% -&gt; 100%, verification at 2.1x the tokens</a:t>
            </a:r>
          </a:p>
          <a:p>
            <a:pPr algn="l" indent="-228600" marL="228600">
              <a:spcAft>
                <a:spcPts val="1000"/>
              </a:spcAft>
              <a:buClr>
                <a:srgbClr val="1E5EF3"/>
              </a:buClr>
              <a:buChar char="—"/>
            </a:pPr>
            <a:r>
              <a:rPr sz="1600" b="0">
                <a:solidFill>
                  <a:srgbClr val="B9D0FA"/>
                </a:solidFill>
                <a:latin typeface="Arial"/>
              </a:rPr>
              <a:t>Next session: sub-agents, teams, failure modes and the discipline</a:t>
            </a:r>
          </a:p>
        </p:txBody>
      </p:sp>
      <p:sp>
        <p:nvSpPr>
          <p:cNvPr id="5" name="TextBox 4"/>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B9D0FA"/>
                </a:solidFill>
                <a:latin typeface="Arial"/>
              </a:rPr>
              <a:t>Harness Engineering - Module 5</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3 - Building a Harness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M5 Session 3 - Building a Harness</dc:title>
  <dc:subject/>
  <dc:creator>M5 Harness Engineering course</dc:creator>
  <cp:keywords/>
  <dc:description/>
  <cp:lastModifiedBy>M5 Harness Engineering course</cp:lastModifiedBy>
  <cp:revision>1</cp:revision>
  <dcterms:created xsi:type="dcterms:W3CDTF">2013-01-27T09:14:16Z</dcterms:created>
  <dcterms:modified xsi:type="dcterms:W3CDTF">2013-01-27T09:15:58Z</dcterms:modified>
  <cp:category/>
</cp:coreProperties>
</file>