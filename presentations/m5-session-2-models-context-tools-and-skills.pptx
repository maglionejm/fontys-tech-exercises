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2 opens the first four pieces of the harness: the model, the context, the tools and the skills. These are the pieces the model sees; Session 3 builds the loop and the checks around them. Class question to open: what did the harness in notebook 01 put into the model's context that the bare prompt did not?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40 minutes of theory, one piece at a time, each with its plain-words line and the published rules behind it. Class question: which of the four do you think costs the most tokens in a long task?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contract, not the vendor. A model takes the system prompt, the messages so far and the tool schemas, and returns one message: text, or a request to call a tool. That is all a harness needs to know. Our ScriptedModel implements the same contract with a hand-written policy, so the notebooks run without a key and give the same answer every time. With an ANTHROPIC_API_KEY in the git-ignored .env, model_for swaps in claude-opus-5 for the lead and research roles and claude-sonnet-5 for workers and judges; the same cells then run live. Class question: which of the three inputs would you expect to grow the most during a long task?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tiers are qualitative on purpose: prices and speeds change every quarter, the shape of the decision does not. The research system is the canonical example: the expensive model plans and synthesizes, cheaper models do the parallel legwork. Routing is the workflow pattern that makes this automatic: a small model labels the input, the harness picks the path. Class question: which steps of notebook 01's harness would you hand to the cheapest tier?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the model sees competes for the same window, and attention gets worse as it fills. Anthropic's post names three techniques and we build all three in this module: compaction today, notes today, sub-agents in Session 4. Class question: in notebook 01's trace, which segment of this window was the largest?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findings and one rule. Findings: a short, human-written file helps a little; a long, generated one hurts, because it buries the three rules that matter under fifty that do not. Rule: when everything is important, nothing is. The 4.4% number connects to Session 3: a rule in a markdown file is not a guardrail until something outside the model checks it. Class question: what are the three lines you would put in your project's instruction file?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never sees your code; it sees the name, the description and the argument schema. Those are a prompt, and the same care applies: say when to use the tool, what it returns, and what the arguments look like. The '2025' story is the best illustration: a behavior bug fixed by rewriting a sentence. Class question: how would you rewrite the description 'search: searches things'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tool schema is pasted into the context on every call, and every extra tool is one more way to pick the wrong one. Vercel cut 80% of theirs and got faster, cheaper and more reliable at once. Class question: notebook 01's harness has three tools - which one would you remove, and what would break?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calling gave us structured tool calls in 2023, but every vendor and every tool needed its own adapter. MCP standardizes the socket: a server lists its tools, a client calls them, results come back as text. When the second big vendor adopted it four months later, it became the plug. Class question: what is the USB of your daily life, and what did the world look like before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Progressive disclosure is the context-budget idea applied to instructions. The agent always sees the catalog, a few tens of tokens per skill; it opens the body when the task matches, and the resources only while executing. Skills became an open standard in December 2025 and are supported by more than forty platforms. Class question: which of your own recurring procedures would you write as a SKILL.md first?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mix these three up for weeks, so draw the line hard. A prompt is the task. A tool is an ability the harness executes. A skill is a procedure: which tools, in which order, with which checks. Class question: 'always verify a citation before answering' - prompt, tool or skill?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notebook 02 in Colab; same bootstrap cell, no key. Five printed results follow, one per slide, all deterministic. Class question: which of the four pieces do you expect to be the easiest to get wrong in your own project?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this cell live: the notebook prints the message count after each question and the compaction note itself. Point at the note: it names which tools ran and what came back, so the model can still answer follow-ups. These counts are the reference run on the stand-in; on live Claude the budget check fires at a different point because real answers have different lengths. Class question: what would you lose if the compaction summary were just 'earlier conversation omitted'?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@tool decorator reads the signature for names and types and the docstring for the words. Nothing on the right is written by hand. This is why the docstring deserves the same care as a prompt: the model reads exactly this. Class question: what changes in the schema if you remove the default value of 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Notebook 02 runs both and prints the two traces side by side: the reference run on the stand-in gives the exact numbers, the live Claude run shows the same contrast with real tokens. The vague tool wastes the budget on whole documents and gives the model nothing to decide with. Class question: which of the four differences would you fix first if you could only fix 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message aloud: it names the tool, the risk level and the decision, and it goes back to the model so the loop can continue. Then flip permission to allow_all and show the same call running. The approval paradox is the reason defaults matter: when a human is asked, they say yes 93% of the time. The denial is the one output that does not change between the stand-in and live Claude: it never reaches the model. Class question: which tools in your own projects deserve the 'danger' label?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exactly what the agent sees at startup: three lines, 98 tokens. When a question asks for a fact, the cite-sources description matches and the body loads - the five numbered steps of search, read, draft, check, reply. The catalog and body sizes are fixed; only the run-level token cost changes on live Claude. Class question: which of the three descriptions would you rewrite, and why?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payoff of the interface slide: the harness does not change when the engine does. Every notebook calls model_for(role); with a key in .env it returns real Claude and the same cells run live, printing real token usage; without one it returns the stand-in, which is where every exact number in this deck comes from. Repeat the repository rule: the key lives in .env, never in a cell, never in git. Class question: what would you compare between the stand-in run and the live run to judge the harness, not the model?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the seven lines and point at notebook 02's exercises: write a tool description, tune the budget, add a skill. Next session: the loop, hooks and permissions, the five workflow patterns, and evals. Class question to close: if you could add one tool and one skill to notebook 02's harness, which would they be?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65960"/>
            <a:ext cx="10058400" cy="365760"/>
          </a:xfrm>
          <a:prstGeom prst="rect">
            <a:avLst/>
          </a:prstGeom>
          <a:noFill/>
        </p:spPr>
        <p:txBody>
          <a:bodyPr wrap="square">
            <a:spAutoFit/>
          </a:bodyPr>
          <a:lstStyle/>
          <a:p>
            <a:pPr algn="l">
              <a:spcAft>
                <a:spcPts val="600"/>
              </a:spcAft>
              <a:buNone/>
            </a:pPr>
            <a:r>
              <a:rPr sz="1400" b="1">
                <a:solidFill>
                  <a:srgbClr val="1E5EF3"/>
                </a:solidFill>
                <a:latin typeface="Arial"/>
              </a:rPr>
              <a:t>SESSION 2 OF 4</a:t>
            </a:r>
          </a:p>
        </p:txBody>
      </p:sp>
      <p:sp>
        <p:nvSpPr>
          <p:cNvPr id="5" name="TextBox 4"/>
          <p:cNvSpPr txBox="1"/>
          <p:nvPr/>
        </p:nvSpPr>
        <p:spPr>
          <a:xfrm>
            <a:off x="914400" y="2377440"/>
            <a:ext cx="10332720" cy="1737360"/>
          </a:xfrm>
          <a:prstGeom prst="rect">
            <a:avLst/>
          </a:prstGeom>
          <a:noFill/>
        </p:spPr>
        <p:txBody>
          <a:bodyPr wrap="square">
            <a:spAutoFit/>
          </a:bodyPr>
          <a:lstStyle/>
          <a:p>
            <a:pPr algn="l">
              <a:spcAft>
                <a:spcPts val="0"/>
              </a:spcAft>
              <a:buNone/>
            </a:pPr>
            <a:r>
              <a:rPr sz="4400" b="1">
                <a:solidFill>
                  <a:srgbClr val="0A2540"/>
                </a:solidFill>
                <a:latin typeface="Arial"/>
              </a:rPr>
              <a:t>Models, Context, Tools and Skills</a:t>
            </a:r>
          </a:p>
        </p:txBody>
      </p:sp>
      <p:sp>
        <p:nvSpPr>
          <p:cNvPr id="6" name="TextBox 5"/>
          <p:cNvSpPr txBox="1"/>
          <p:nvPr/>
        </p:nvSpPr>
        <p:spPr>
          <a:xfrm>
            <a:off x="914400" y="4114800"/>
            <a:ext cx="9601200" cy="822960"/>
          </a:xfrm>
          <a:prstGeom prst="rect">
            <a:avLst/>
          </a:prstGeom>
          <a:noFill/>
        </p:spPr>
        <p:txBody>
          <a:bodyPr wrap="square">
            <a:spAutoFit/>
          </a:bodyPr>
          <a:lstStyle/>
          <a:p>
            <a:pPr algn="l">
              <a:spcAft>
                <a:spcPts val="600"/>
              </a:spcAft>
              <a:buNone/>
            </a:pPr>
            <a:r>
              <a:rPr sz="1800" b="0">
                <a:solidFill>
                  <a:srgbClr val="5B6774"/>
                </a:solidFill>
                <a:latin typeface="Arial"/>
              </a:rPr>
              <a:t>The four pieces the model sees: an engine behind one interface, a window with a budget, functions it may call, and manuals it opens only when needed. First the rules, then notebook 02.</a:t>
            </a:r>
          </a:p>
        </p:txBody>
      </p:sp>
      <p:sp>
        <p:nvSpPr>
          <p:cNvPr id="7" name="TextBox 6"/>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5B6774"/>
                </a:solidFill>
                <a:latin typeface="Arial"/>
              </a:rPr>
              <a:t>Harness Engineering - Module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01</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1 - The theory: the four pieces the model sees</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Pieces 1 to 4 of the harness: model, context, tools, skills. Each with its plain-words line and its design rules.</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2 - Models, Context, Tools and Skills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PIECE 1 - THE MODEL</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model sits behind one interface: context in, next message out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the blue box is the whole contract; anything that fills it is a model</a:t>
            </a:r>
          </a:p>
          <a:p>
            <a:pPr algn="l" indent="-228600" marL="228600">
              <a:spcAft>
                <a:spcPts val="800"/>
              </a:spcAft>
              <a:buClr>
                <a:srgbClr val="1E5EF3"/>
              </a:buClr>
              <a:buChar char="—"/>
            </a:pPr>
            <a:r>
              <a:rPr sz="1450" b="0">
                <a:solidFill>
                  <a:srgbClr val="202B38"/>
                </a:solidFill>
                <a:latin typeface="Arial"/>
              </a:rPr>
              <a:t>In plain words: the model is the text-in, text-out engine</a:t>
            </a:r>
          </a:p>
          <a:p>
            <a:pPr algn="l" indent="-228600" marL="228600">
              <a:spcAft>
                <a:spcPts val="800"/>
              </a:spcAft>
              <a:buClr>
                <a:srgbClr val="1E5EF3"/>
              </a:buClr>
              <a:buChar char="—"/>
            </a:pPr>
            <a:r>
              <a:rPr sz="1450" b="0">
                <a:solidFill>
                  <a:srgbClr val="202B38"/>
                </a:solidFill>
                <a:latin typeface="Arial"/>
              </a:rPr>
              <a:t>It never runs a tool itself; it only asks for one, by name, with JSON arguments</a:t>
            </a:r>
          </a:p>
          <a:p>
            <a:pPr algn="l" indent="-228600" marL="228600">
              <a:spcAft>
                <a:spcPts val="800"/>
              </a:spcAft>
              <a:buClr>
                <a:srgbClr val="1E5EF3"/>
              </a:buClr>
              <a:buChar char="—"/>
            </a:pPr>
            <a:r>
              <a:rPr sz="1450" b="0">
                <a:solidFill>
                  <a:srgbClr val="202B38"/>
                </a:solidFill>
                <a:latin typeface="Arial"/>
              </a:rPr>
              <a:t>The stand-in ScriptedModel fills the slot deterministically: no key, same output every run</a:t>
            </a:r>
          </a:p>
          <a:p>
            <a:pPr algn="l" indent="-228600" marL="228600">
              <a:spcAft>
                <a:spcPts val="800"/>
              </a:spcAft>
              <a:buClr>
                <a:srgbClr val="1E5EF3"/>
              </a:buClr>
              <a:buChar char="—"/>
            </a:pPr>
            <a:r>
              <a:rPr sz="1450" b="0">
                <a:solidFill>
                  <a:srgbClr val="202B38"/>
                </a:solidFill>
                <a:latin typeface="Arial"/>
              </a:rPr>
              <a:t>harness.runtime.model_for(role) returns Claude when a key is present, the stand-in otherwise</a:t>
            </a:r>
          </a:p>
          <a:p>
            <a:pPr algn="l" indent="-228600" marL="228600">
              <a:spcAft>
                <a:spcPts val="800"/>
              </a:spcAft>
              <a:buClr>
                <a:srgbClr val="1E5EF3"/>
              </a:buClr>
              <a:buChar char="—"/>
            </a:pPr>
            <a:r>
              <a:rPr sz="1450" b="0">
                <a:solidFill>
                  <a:srgbClr val="202B38"/>
                </a:solidFill>
                <a:latin typeface="Arial"/>
              </a:rPr>
              <a:t>The harness does not change when the engine does - that is the point of the interface</a:t>
            </a:r>
          </a:p>
        </p:txBody>
      </p:sp>
      <p:pic>
        <p:nvPicPr>
          <p:cNvPr id="8" name="Picture 7" descr="s2_model_interface.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harness.models.Model; model_for in harness.runtime. The key lives in .env, never in a cell, never committed.</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PIECE 1 - TIERS AND ROUTING</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Choose a model by capability, cost and latency - and route cheap models to easy steps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69" cy="1828800"/>
        </p:xfrm>
        <a:graphic>
          <a:graphicData uri="http://schemas.openxmlformats.org/drawingml/2006/table">
            <a:tbl>
              <a:tblPr firstRow="1" bandRow="1">
                <a:tableStyleId>{5C22544A-7EE6-4342-B048-85BDC9FD1C3A}</a:tableStyleId>
              </a:tblPr>
              <a:tblGrid>
                <a:gridCol w="2112699"/>
                <a:gridCol w="2904961"/>
                <a:gridCol w="1452480"/>
                <a:gridCol w="1188393"/>
                <a:gridCol w="3433136"/>
              </a:tblGrid>
              <a:tr h="457200">
                <a:tc>
                  <a:txBody>
                    <a:bodyPr wrap="square"/>
                    <a:lstStyle/>
                    <a:p>
                      <a:pPr algn="l">
                        <a:spcAft>
                          <a:spcPts val="0"/>
                        </a:spcAft>
                        <a:buNone/>
                      </a:pPr>
                      <a:r>
                        <a:rPr sz="1300" b="1">
                          <a:solidFill>
                            <a:srgbClr val="FFFFFF"/>
                          </a:solidFill>
                          <a:latin typeface="Arial"/>
                        </a:rPr>
                        <a:t>Tier</a:t>
                      </a:r>
                    </a:p>
                  </a:txBody>
                  <a:tcPr>
                    <a:solidFill>
                      <a:srgbClr val="0A2540"/>
                    </a:solidFill>
                  </a:tcPr>
                </a:tc>
                <a:tc>
                  <a:txBody>
                    <a:bodyPr wrap="square"/>
                    <a:lstStyle/>
                    <a:p>
                      <a:pPr algn="l">
                        <a:spcAft>
                          <a:spcPts val="0"/>
                        </a:spcAft>
                        <a:buNone/>
                      </a:pPr>
                      <a:r>
                        <a:rPr sz="1300" b="1">
                          <a:solidFill>
                            <a:srgbClr val="FFFFFF"/>
                          </a:solidFill>
                          <a:latin typeface="Arial"/>
                        </a:rPr>
                        <a:t>Capability</a:t>
                      </a:r>
                    </a:p>
                  </a:txBody>
                  <a:tcPr>
                    <a:solidFill>
                      <a:srgbClr val="0A2540"/>
                    </a:solidFill>
                  </a:tcPr>
                </a:tc>
                <a:tc>
                  <a:txBody>
                    <a:bodyPr wrap="square"/>
                    <a:lstStyle/>
                    <a:p>
                      <a:pPr algn="l">
                        <a:spcAft>
                          <a:spcPts val="0"/>
                        </a:spcAft>
                        <a:buNone/>
                      </a:pPr>
                      <a:r>
                        <a:rPr sz="1300" b="1">
                          <a:solidFill>
                            <a:srgbClr val="FFFFFF"/>
                          </a:solidFill>
                          <a:latin typeface="Arial"/>
                        </a:rPr>
                        <a:t>Cost per token</a:t>
                      </a:r>
                    </a:p>
                  </a:txBody>
                  <a:tcPr>
                    <a:solidFill>
                      <a:srgbClr val="0A2540"/>
                    </a:solidFill>
                  </a:tcPr>
                </a:tc>
                <a:tc>
                  <a:txBody>
                    <a:bodyPr wrap="square"/>
                    <a:lstStyle/>
                    <a:p>
                      <a:pPr algn="l">
                        <a:spcAft>
                          <a:spcPts val="0"/>
                        </a:spcAft>
                        <a:buNone/>
                      </a:pPr>
                      <a:r>
                        <a:rPr sz="1300" b="1">
                          <a:solidFill>
                            <a:srgbClr val="FFFFFF"/>
                          </a:solidFill>
                          <a:latin typeface="Arial"/>
                        </a:rPr>
                        <a:t>Latency</a:t>
                      </a:r>
                    </a:p>
                  </a:txBody>
                  <a:tcPr>
                    <a:solidFill>
                      <a:srgbClr val="0A2540"/>
                    </a:solidFill>
                  </a:tcPr>
                </a:tc>
                <a:tc>
                  <a:txBody>
                    <a:bodyPr wrap="square"/>
                    <a:lstStyle/>
                    <a:p>
                      <a:pPr algn="l">
                        <a:spcAft>
                          <a:spcPts val="0"/>
                        </a:spcAft>
                        <a:buNone/>
                      </a:pPr>
                      <a:r>
                        <a:rPr sz="1300" b="1">
                          <a:solidFill>
                            <a:srgbClr val="FFFFFF"/>
                          </a:solidFill>
                          <a:latin typeface="Arial"/>
                        </a:rPr>
                        <a:t>Give it these steps</a:t>
                      </a:r>
                    </a:p>
                  </a:txBody>
                  <a:tcPr>
                    <a:solidFill>
                      <a:srgbClr val="0A2540"/>
                    </a:solidFill>
                  </a:tcPr>
                </a:tc>
              </a:tr>
              <a:tr h="457200">
                <a:tc>
                  <a:txBody>
                    <a:bodyPr wrap="square"/>
                    <a:lstStyle/>
                    <a:p>
                      <a:pPr algn="l">
                        <a:spcAft>
                          <a:spcPts val="0"/>
                        </a:spcAft>
                        <a:buNone/>
                      </a:pPr>
                      <a:r>
                        <a:rPr sz="1250" b="0">
                          <a:solidFill>
                            <a:srgbClr val="202B38"/>
                          </a:solidFill>
                          <a:latin typeface="Arial"/>
                        </a:rPr>
                        <a:t>Frontier (e.g. Opus-class)</a:t>
                      </a:r>
                    </a:p>
                  </a:txBody>
                  <a:tcPr>
                    <a:solidFill>
                      <a:srgbClr val="FFFFFF"/>
                    </a:solidFill>
                  </a:tcPr>
                </a:tc>
                <a:tc>
                  <a:txBody>
                    <a:bodyPr wrap="square"/>
                    <a:lstStyle/>
                    <a:p>
                      <a:pPr algn="l">
                        <a:spcAft>
                          <a:spcPts val="0"/>
                        </a:spcAft>
                        <a:buNone/>
                      </a:pPr>
                      <a:r>
                        <a:rPr sz="1250" b="0">
                          <a:solidFill>
                            <a:srgbClr val="202B38"/>
                          </a:solidFill>
                          <a:latin typeface="Arial"/>
                        </a:rPr>
                        <a:t>Highest: planning, synthesis, hard reasoning</a:t>
                      </a:r>
                    </a:p>
                  </a:txBody>
                  <a:tcPr>
                    <a:solidFill>
                      <a:srgbClr val="FFFFFF"/>
                    </a:solidFill>
                  </a:tcPr>
                </a:tc>
                <a:tc>
                  <a:txBody>
                    <a:bodyPr wrap="square"/>
                    <a:lstStyle/>
                    <a:p>
                      <a:pPr algn="l">
                        <a:spcAft>
                          <a:spcPts val="0"/>
                        </a:spcAft>
                        <a:buNone/>
                      </a:pPr>
                      <a:r>
                        <a:rPr sz="1250" b="0">
                          <a:solidFill>
                            <a:srgbClr val="202B38"/>
                          </a:solidFill>
                          <a:latin typeface="Arial"/>
                        </a:rPr>
                        <a:t>Highest</a:t>
                      </a:r>
                    </a:p>
                  </a:txBody>
                  <a:tcPr>
                    <a:solidFill>
                      <a:srgbClr val="FFFFFF"/>
                    </a:solidFill>
                  </a:tcPr>
                </a:tc>
                <a:tc>
                  <a:txBody>
                    <a:bodyPr wrap="square"/>
                    <a:lstStyle/>
                    <a:p>
                      <a:pPr algn="l">
                        <a:spcAft>
                          <a:spcPts val="0"/>
                        </a:spcAft>
                        <a:buNone/>
                      </a:pPr>
                      <a:r>
                        <a:rPr sz="1250" b="0">
                          <a:solidFill>
                            <a:srgbClr val="202B38"/>
                          </a:solidFill>
                          <a:latin typeface="Arial"/>
                        </a:rPr>
                        <a:t>Slowest</a:t>
                      </a:r>
                    </a:p>
                  </a:txBody>
                  <a:tcPr>
                    <a:solidFill>
                      <a:srgbClr val="FFFFFF"/>
                    </a:solidFill>
                  </a:tcPr>
                </a:tc>
                <a:tc>
                  <a:txBody>
                    <a:bodyPr wrap="square"/>
                    <a:lstStyle/>
                    <a:p>
                      <a:pPr algn="l">
                        <a:spcAft>
                          <a:spcPts val="0"/>
                        </a:spcAft>
                        <a:buNone/>
                      </a:pPr>
                      <a:r>
                        <a:rPr sz="1250" b="0">
                          <a:solidFill>
                            <a:srgbClr val="202B38"/>
                          </a:solidFill>
                          <a:latin typeface="Arial"/>
                        </a:rPr>
                        <a:t>Lead agent: plan, delegate, write the final answer</a:t>
                      </a:r>
                    </a:p>
                  </a:txBody>
                  <a:tcPr>
                    <a:solidFill>
                      <a:srgbClr val="FFFFFF"/>
                    </a:solidFill>
                  </a:tcPr>
                </a:tc>
              </a:tr>
              <a:tr h="457200">
                <a:tc>
                  <a:txBody>
                    <a:bodyPr wrap="square"/>
                    <a:lstStyle/>
                    <a:p>
                      <a:pPr algn="l">
                        <a:spcAft>
                          <a:spcPts val="0"/>
                        </a:spcAft>
                        <a:buNone/>
                      </a:pPr>
                      <a:r>
                        <a:rPr sz="1250" b="0">
                          <a:solidFill>
                            <a:srgbClr val="202B38"/>
                          </a:solidFill>
                          <a:latin typeface="Arial"/>
                        </a:rPr>
                        <a:t>Mid (e.g. Sonnet-class)</a:t>
                      </a:r>
                    </a:p>
                  </a:txBody>
                  <a:tcPr>
                    <a:solidFill>
                      <a:srgbClr val="EEF3FD"/>
                    </a:solidFill>
                  </a:tcPr>
                </a:tc>
                <a:tc>
                  <a:txBody>
                    <a:bodyPr wrap="square"/>
                    <a:lstStyle/>
                    <a:p>
                      <a:pPr algn="l">
                        <a:spcAft>
                          <a:spcPts val="0"/>
                        </a:spcAft>
                        <a:buNone/>
                      </a:pPr>
                      <a:r>
                        <a:rPr sz="1250" b="0">
                          <a:solidFill>
                            <a:srgbClr val="202B38"/>
                          </a:solidFill>
                          <a:latin typeface="Arial"/>
                        </a:rPr>
                        <a:t>High: focused tasks with tools</a:t>
                      </a:r>
                    </a:p>
                  </a:txBody>
                  <a:tcPr>
                    <a:solidFill>
                      <a:srgbClr val="EEF3FD"/>
                    </a:solidFill>
                  </a:tcPr>
                </a:tc>
                <a:tc>
                  <a:txBody>
                    <a:bodyPr wrap="square"/>
                    <a:lstStyle/>
                    <a:p>
                      <a:pPr algn="l">
                        <a:spcAft>
                          <a:spcPts val="0"/>
                        </a:spcAft>
                        <a:buNone/>
                      </a:pPr>
                      <a:r>
                        <a:rPr sz="1250" b="0">
                          <a:solidFill>
                            <a:srgbClr val="202B38"/>
                          </a:solidFill>
                          <a:latin typeface="Arial"/>
                        </a:rPr>
                        <a:t>Lower</a:t>
                      </a:r>
                    </a:p>
                  </a:txBody>
                  <a:tcPr>
                    <a:solidFill>
                      <a:srgbClr val="EEF3FD"/>
                    </a:solidFill>
                  </a:tcPr>
                </a:tc>
                <a:tc>
                  <a:txBody>
                    <a:bodyPr wrap="square"/>
                    <a:lstStyle/>
                    <a:p>
                      <a:pPr algn="l">
                        <a:spcAft>
                          <a:spcPts val="0"/>
                        </a:spcAft>
                        <a:buNone/>
                      </a:pPr>
                      <a:r>
                        <a:rPr sz="1250" b="0">
                          <a:solidFill>
                            <a:srgbClr val="202B38"/>
                          </a:solidFill>
                          <a:latin typeface="Arial"/>
                        </a:rPr>
                        <a:t>Faster</a:t>
                      </a:r>
                    </a:p>
                  </a:txBody>
                  <a:tcPr>
                    <a:solidFill>
                      <a:srgbClr val="EEF3FD"/>
                    </a:solidFill>
                  </a:tcPr>
                </a:tc>
                <a:tc>
                  <a:txBody>
                    <a:bodyPr wrap="square"/>
                    <a:lstStyle/>
                    <a:p>
                      <a:pPr algn="l">
                        <a:spcAft>
                          <a:spcPts val="0"/>
                        </a:spcAft>
                        <a:buNone/>
                      </a:pPr>
                      <a:r>
                        <a:rPr sz="1250" b="0">
                          <a:solidFill>
                            <a:srgbClr val="202B38"/>
                          </a:solidFill>
                          <a:latin typeface="Arial"/>
                        </a:rPr>
                        <a:t>Workers: search, read, summarize one sub-question</a:t>
                      </a:r>
                    </a:p>
                  </a:txBody>
                  <a:tcPr>
                    <a:solidFill>
                      <a:srgbClr val="EEF3FD"/>
                    </a:solidFill>
                  </a:tcPr>
                </a:tc>
              </a:tr>
              <a:tr h="457200">
                <a:tc>
                  <a:txBody>
                    <a:bodyPr wrap="square"/>
                    <a:lstStyle/>
                    <a:p>
                      <a:pPr algn="l">
                        <a:spcAft>
                          <a:spcPts val="0"/>
                        </a:spcAft>
                        <a:buNone/>
                      </a:pPr>
                      <a:r>
                        <a:rPr sz="1250" b="0">
                          <a:solidFill>
                            <a:srgbClr val="202B38"/>
                          </a:solidFill>
                          <a:latin typeface="Arial"/>
                        </a:rPr>
                        <a:t>Small (e.g. Haiku-class)</a:t>
                      </a:r>
                    </a:p>
                  </a:txBody>
                  <a:tcPr>
                    <a:solidFill>
                      <a:srgbClr val="FFFFFF"/>
                    </a:solidFill>
                  </a:tcPr>
                </a:tc>
                <a:tc>
                  <a:txBody>
                    <a:bodyPr wrap="square"/>
                    <a:lstStyle/>
                    <a:p>
                      <a:pPr algn="l">
                        <a:spcAft>
                          <a:spcPts val="0"/>
                        </a:spcAft>
                        <a:buNone/>
                      </a:pPr>
                      <a:r>
                        <a:rPr sz="1250" b="0">
                          <a:solidFill>
                            <a:srgbClr val="202B38"/>
                          </a:solidFill>
                          <a:latin typeface="Arial"/>
                        </a:rPr>
                        <a:t>Good at narrow, well-specified steps</a:t>
                      </a:r>
                    </a:p>
                  </a:txBody>
                  <a:tcPr>
                    <a:solidFill>
                      <a:srgbClr val="FFFFFF"/>
                    </a:solidFill>
                  </a:tcPr>
                </a:tc>
                <a:tc>
                  <a:txBody>
                    <a:bodyPr wrap="square"/>
                    <a:lstStyle/>
                    <a:p>
                      <a:pPr algn="l">
                        <a:spcAft>
                          <a:spcPts val="0"/>
                        </a:spcAft>
                        <a:buNone/>
                      </a:pPr>
                      <a:r>
                        <a:rPr sz="1250" b="0">
                          <a:solidFill>
                            <a:srgbClr val="202B38"/>
                          </a:solidFill>
                          <a:latin typeface="Arial"/>
                        </a:rPr>
                        <a:t>Lowest</a:t>
                      </a:r>
                    </a:p>
                  </a:txBody>
                  <a:tcPr>
                    <a:solidFill>
                      <a:srgbClr val="FFFFFF"/>
                    </a:solidFill>
                  </a:tcPr>
                </a:tc>
                <a:tc>
                  <a:txBody>
                    <a:bodyPr wrap="square"/>
                    <a:lstStyle/>
                    <a:p>
                      <a:pPr algn="l">
                        <a:spcAft>
                          <a:spcPts val="0"/>
                        </a:spcAft>
                        <a:buNone/>
                      </a:pPr>
                      <a:r>
                        <a:rPr sz="1250" b="0">
                          <a:solidFill>
                            <a:srgbClr val="202B38"/>
                          </a:solidFill>
                          <a:latin typeface="Arial"/>
                        </a:rPr>
                        <a:t>Fastest</a:t>
                      </a:r>
                    </a:p>
                  </a:txBody>
                  <a:tcPr>
                    <a:solidFill>
                      <a:srgbClr val="FFFFFF"/>
                    </a:solidFill>
                  </a:tcPr>
                </a:tc>
                <a:tc>
                  <a:txBody>
                    <a:bodyPr wrap="square"/>
                    <a:lstStyle/>
                    <a:p>
                      <a:pPr algn="l">
                        <a:spcAft>
                          <a:spcPts val="0"/>
                        </a:spcAft>
                        <a:buNone/>
                      </a:pPr>
                      <a:r>
                        <a:rPr sz="1250" b="0">
                          <a:solidFill>
                            <a:srgbClr val="202B38"/>
                          </a:solidFill>
                          <a:latin typeface="Arial"/>
                        </a:rPr>
                        <a:t>Classify, route, extract fields, check a format</a:t>
                      </a:r>
                    </a:p>
                  </a:txBody>
                  <a:tcPr>
                    <a:solidFill>
                      <a:srgbClr val="FFFFFF"/>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Anthropic, How we built our multi-agent research system, 13 Jun 2025: an Opus lead plans and spawns 3-5 Sonnet workers. Anthropic, Building effective agents, Dec 2024: routing sends each input to the specialized step.</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PIECE 2 - CONTEXT</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Context is a finite budget: what goes in, what stays out, when to summarize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the window fills from the bottom; the dashed line is the budget</a:t>
            </a:r>
          </a:p>
          <a:p>
            <a:pPr algn="l" indent="-228600" marL="228600">
              <a:spcAft>
                <a:spcPts val="800"/>
              </a:spcAft>
              <a:buClr>
                <a:srgbClr val="1E5EF3"/>
              </a:buClr>
              <a:buChar char="—"/>
            </a:pPr>
            <a:r>
              <a:rPr sz="1450" b="0">
                <a:solidFill>
                  <a:srgbClr val="202B38"/>
                </a:solidFill>
                <a:latin typeface="Arial"/>
              </a:rPr>
              <a:t>In plain words: context is everything the model sees in one call</a:t>
            </a:r>
          </a:p>
          <a:p>
            <a:pPr algn="l" indent="-228600" marL="228600">
              <a:spcAft>
                <a:spcPts val="800"/>
              </a:spcAft>
              <a:buClr>
                <a:srgbClr val="1E5EF3"/>
              </a:buClr>
              <a:buChar char="—"/>
            </a:pPr>
            <a:r>
              <a:rPr sz="1450" b="0">
                <a:solidFill>
                  <a:srgbClr val="202B38"/>
                </a:solidFill>
                <a:latin typeface="Arial"/>
              </a:rPr>
              <a:t>System prompt, instruction files, history, tool results, retrieved documents, notes - all compete</a:t>
            </a:r>
          </a:p>
          <a:p>
            <a:pPr algn="l" indent="-228600" marL="228600">
              <a:spcAft>
                <a:spcPts val="800"/>
              </a:spcAft>
              <a:buClr>
                <a:srgbClr val="1E5EF3"/>
              </a:buClr>
              <a:buChar char="—"/>
            </a:pPr>
            <a:r>
              <a:rPr sz="1450" b="0">
                <a:solidFill>
                  <a:srgbClr val="202B38"/>
                </a:solidFill>
                <a:latin typeface="Arial"/>
              </a:rPr>
              <a:t>Compaction folds old turns into one note; structured notes move memory to a file</a:t>
            </a:r>
          </a:p>
          <a:p>
            <a:pPr algn="l" indent="-228600" marL="228600">
              <a:spcAft>
                <a:spcPts val="800"/>
              </a:spcAft>
              <a:buClr>
                <a:srgbClr val="1E5EF3"/>
              </a:buClr>
              <a:buChar char="—"/>
            </a:pPr>
            <a:r>
              <a:rPr sz="1450" b="0">
                <a:solidFill>
                  <a:srgbClr val="202B38"/>
                </a:solidFill>
                <a:latin typeface="Arial"/>
              </a:rPr>
              <a:t>Sub-agents spend tens of thousands of tokens and return 1,000-2,000 token summaries</a:t>
            </a:r>
          </a:p>
          <a:p>
            <a:pPr algn="l" indent="-228600" marL="228600">
              <a:spcAft>
                <a:spcPts val="800"/>
              </a:spcAft>
              <a:buClr>
                <a:srgbClr val="1E5EF3"/>
              </a:buClr>
              <a:buChar char="—"/>
            </a:pPr>
            <a:r>
              <a:rPr sz="1450" b="0">
                <a:solidFill>
                  <a:srgbClr val="202B38"/>
                </a:solidFill>
                <a:latin typeface="Arial"/>
              </a:rPr>
              <a:t>Karpathy, Jun 2025: 'filling the context window with just the right information for the next step'</a:t>
            </a:r>
          </a:p>
        </p:txBody>
      </p:sp>
      <p:pic>
        <p:nvPicPr>
          <p:cNvPr id="8" name="Picture 7" descr="s2_context_budget.png"/>
          <p:cNvPicPr>
            <a:picLocks noChangeAspect="1"/>
          </p:cNvPicPr>
          <p:nvPr/>
        </p:nvPicPr>
        <p:blipFill>
          <a:blip r:embed="rId2"/>
          <a:stretch>
            <a:fillRect/>
          </a:stretch>
        </p:blipFill>
        <p:spPr>
          <a:xfrm>
            <a:off x="5154051" y="1874519"/>
            <a:ext cx="6425418"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segment sizes not to scale. Anthropic, Effective context engineering for AI agents, 29 Sep 2025; Karpathy, 25 Jun 2025.</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PIECE 2 - INSTRUCTION FILES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Instruction files: short, human-written, and enforced - or not at all</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What they are</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CLAUDE.md, AGENTS.md: a file the harness pastes into every call</a:t>
            </a:r>
          </a:p>
          <a:p>
            <a:pPr algn="l" indent="-228600" marL="228600">
              <a:spcAft>
                <a:spcPts val="600"/>
              </a:spcAft>
              <a:buClr>
                <a:srgbClr val="1E5EF3"/>
              </a:buClr>
              <a:buChar char="—"/>
            </a:pPr>
            <a:r>
              <a:rPr sz="1300" b="0">
                <a:solidFill>
                  <a:srgbClr val="202B38"/>
                </a:solidFill>
                <a:latin typeface="Arial"/>
              </a:rPr>
              <a:t>In plain words: the standing orders the model reads before every task</a:t>
            </a:r>
          </a:p>
          <a:p>
            <a:pPr algn="l" indent="-228600" marL="228600">
              <a:spcAft>
                <a:spcPts val="600"/>
              </a:spcAft>
              <a:buClr>
                <a:srgbClr val="1E5EF3"/>
              </a:buClr>
              <a:buChar char="—"/>
            </a:pPr>
            <a:r>
              <a:rPr sz="1300" b="0">
                <a:solidFill>
                  <a:srgbClr val="202B38"/>
                </a:solidFill>
                <a:latin typeface="Arial"/>
              </a:rPr>
              <a:t>63% of large projects ship one; only a handful enforce what it says</a:t>
            </a:r>
          </a:p>
          <a:p>
            <a:pPr algn="l" indent="-228600" marL="228600">
              <a:spcAft>
                <a:spcPts val="600"/>
              </a:spcAft>
              <a:buClr>
                <a:srgbClr val="1E5EF3"/>
              </a:buClr>
              <a:buChar char="—"/>
            </a:pPr>
            <a:r>
              <a:rPr sz="1300" b="0">
                <a:solidFill>
                  <a:srgbClr val="202B38"/>
                </a:solidFill>
                <a:latin typeface="Arial"/>
              </a:rPr>
              <a:t>Only 4.4% of security rules in them are backed by a real control</a:t>
            </a:r>
          </a:p>
          <a:p>
            <a:pPr algn="l" indent="-228600" marL="228600">
              <a:spcAft>
                <a:spcPts val="600"/>
              </a:spcAft>
              <a:buClr>
                <a:srgbClr val="1E5EF3"/>
              </a:buClr>
              <a:buChar char="—"/>
            </a:pPr>
            <a:r>
              <a:rPr sz="1300" b="0">
                <a:solidFill>
                  <a:srgbClr val="202B38"/>
                </a:solidFill>
                <a:latin typeface="Arial"/>
              </a:rPr>
              <a:t>A rule nobody checks is a wish, not a guardrail (Session 3)</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What the evidence says</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Human-written instruction files: about +4% task success</a:t>
            </a:r>
          </a:p>
          <a:p>
            <a:pPr algn="l" indent="-228600" marL="228600">
              <a:spcAft>
                <a:spcPts val="600"/>
              </a:spcAft>
              <a:buClr>
                <a:srgbClr val="1E5EF3"/>
              </a:buClr>
              <a:buChar char="—"/>
            </a:pPr>
            <a:r>
              <a:rPr sz="1300" b="0">
                <a:solidFill>
                  <a:srgbClr val="202B38"/>
                </a:solidFill>
                <a:latin typeface="Arial"/>
              </a:rPr>
              <a:t>Machine-generated ones: worse than having none</a:t>
            </a:r>
          </a:p>
          <a:p>
            <a:pPr algn="l" indent="-228600" marL="228600">
              <a:spcAft>
                <a:spcPts val="600"/>
              </a:spcAft>
              <a:buClr>
                <a:srgbClr val="1E5EF3"/>
              </a:buClr>
              <a:buChar char="—"/>
            </a:pPr>
            <a:r>
              <a:rPr sz="1300" b="0">
                <a:solidFill>
                  <a:srgbClr val="202B38"/>
                </a:solidFill>
                <a:latin typeface="Arial"/>
              </a:rPr>
              <a:t>When everything is important, nothing is - long files dilute the rules that matter</a:t>
            </a:r>
          </a:p>
          <a:p>
            <a:pPr algn="l" indent="-228600" marL="228600">
              <a:spcAft>
                <a:spcPts val="600"/>
              </a:spcAft>
              <a:buClr>
                <a:srgbClr val="1E5EF3"/>
              </a:buClr>
              <a:buChar char="—"/>
            </a:pPr>
            <a:r>
              <a:rPr sz="1300" b="0">
                <a:solidFill>
                  <a:srgbClr val="202B38"/>
                </a:solidFill>
                <a:latin typeface="Arial"/>
              </a:rPr>
              <a:t>Keep the file short, concrete, and about this repository only</a:t>
            </a:r>
          </a:p>
          <a:p>
            <a:pPr algn="l" indent="-228600" marL="228600">
              <a:spcAft>
                <a:spcPts val="600"/>
              </a:spcAft>
              <a:buClr>
                <a:srgbClr val="1E5EF3"/>
              </a:buClr>
              <a:buChar char="—"/>
            </a:pPr>
            <a:r>
              <a:rPr sz="1300" b="0">
                <a:solidFill>
                  <a:srgbClr val="202B38"/>
                </a:solidFill>
                <a:latin typeface="Arial"/>
              </a:rPr>
              <a:t>Move procedures into skills (piece 4) so they load only when needed</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Marmelab, The State of AI Harness Engineering 2026, 24 Sep 2026. Anthropic, Effective context engineering for AI agents, 29 Sep 2025: system prompts at 'the right altitude'.</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PIECE 3 - TOOLS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Tool design is prompt engineering for machines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Anthropic's rules, Sep 2025</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In plain words: a tool is a function the model asks for by name; the harness runs it</a:t>
            </a:r>
          </a:p>
          <a:p>
            <a:pPr algn="l" indent="-228600" marL="228600">
              <a:spcAft>
                <a:spcPts val="600"/>
              </a:spcAft>
              <a:buClr>
                <a:srgbClr val="1E5EF3"/>
              </a:buClr>
              <a:buChar char="—"/>
            </a:pPr>
            <a:r>
              <a:rPr sz="1300" b="0">
                <a:solidFill>
                  <a:srgbClr val="202B38"/>
                </a:solidFill>
                <a:latin typeface="Arial"/>
              </a:rPr>
              <a:t>The description says when to use the tool and what it returns</a:t>
            </a:r>
          </a:p>
          <a:p>
            <a:pPr algn="l" indent="-228600" marL="228600">
              <a:spcAft>
                <a:spcPts val="600"/>
              </a:spcAft>
              <a:buClr>
                <a:srgbClr val="1E5EF3"/>
              </a:buClr>
              <a:buChar char="—"/>
            </a:pPr>
            <a:r>
              <a:rPr sz="1300" b="0">
                <a:solidFill>
                  <a:srgbClr val="202B38"/>
                </a:solidFill>
                <a:latin typeface="Arial"/>
              </a:rPr>
              <a:t>Namespace tools by system: search_docs, read_doc, not 'search' and 'get'</a:t>
            </a:r>
          </a:p>
          <a:p>
            <a:pPr algn="l" indent="-228600" marL="228600">
              <a:spcAft>
                <a:spcPts val="600"/>
              </a:spcAft>
              <a:buClr>
                <a:srgbClr val="1E5EF3"/>
              </a:buClr>
              <a:buChar char="—"/>
            </a:pPr>
            <a:r>
              <a:rPr sz="1300" b="0">
                <a:solidFill>
                  <a:srgbClr val="202B38"/>
                </a:solidFill>
                <a:latin typeface="Arial"/>
              </a:rPr>
              <a:t>Token-efficient results: filter, truncate, paginate; return ids, not whole documents</a:t>
            </a:r>
          </a:p>
          <a:p>
            <a:pPr algn="l" indent="-228600" marL="228600">
              <a:spcAft>
                <a:spcPts val="600"/>
              </a:spcAft>
              <a:buClr>
                <a:srgbClr val="1E5EF3"/>
              </a:buClr>
              <a:buChar char="—"/>
            </a:pPr>
            <a:r>
              <a:rPr sz="1300" b="0">
                <a:solidFill>
                  <a:srgbClr val="202B38"/>
                </a:solidFill>
                <a:latin typeface="Arial"/>
              </a:rPr>
              <a:t>Errors that teach: say what went wrong and what to try next</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One anecdote</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A web-search tool kept appending '2025' to every query</a:t>
            </a:r>
          </a:p>
          <a:p>
            <a:pPr algn="l" indent="-228600" marL="228600">
              <a:spcAft>
                <a:spcPts val="600"/>
              </a:spcAft>
              <a:buClr>
                <a:srgbClr val="1E5EF3"/>
              </a:buClr>
              <a:buChar char="—"/>
            </a:pPr>
            <a:r>
              <a:rPr sz="1300" b="0">
                <a:solidFill>
                  <a:srgbClr val="202B38"/>
                </a:solidFill>
                <a:latin typeface="Arial"/>
              </a:rPr>
              <a:t>The model had learned the habit from the tool's vague description</a:t>
            </a:r>
          </a:p>
          <a:p>
            <a:pPr algn="l" indent="-228600" marL="228600">
              <a:spcAft>
                <a:spcPts val="600"/>
              </a:spcAft>
              <a:buClr>
                <a:srgbClr val="1E5EF3"/>
              </a:buClr>
              <a:buChar char="—"/>
            </a:pPr>
            <a:r>
              <a:rPr sz="1300" b="0">
                <a:solidFill>
                  <a:srgbClr val="202B38"/>
                </a:solidFill>
                <a:latin typeface="Arial"/>
              </a:rPr>
              <a:t>The fix was not code: a better description of the query argument</a:t>
            </a:r>
          </a:p>
          <a:p>
            <a:pPr algn="l" indent="-228600" marL="228600">
              <a:spcAft>
                <a:spcPts val="600"/>
              </a:spcAft>
              <a:buClr>
                <a:srgbClr val="1E5EF3"/>
              </a:buClr>
              <a:buChar char="—"/>
            </a:pPr>
            <a:r>
              <a:rPr sz="1300" b="0">
                <a:solidFill>
                  <a:srgbClr val="202B38"/>
                </a:solidFill>
                <a:latin typeface="Arial"/>
              </a:rPr>
              <a:t>Lesson: the model reads the description before every call - write it as a prompt</a:t>
            </a:r>
          </a:p>
          <a:p>
            <a:pPr algn="l" indent="-228600" marL="228600">
              <a:spcAft>
                <a:spcPts val="600"/>
              </a:spcAft>
              <a:buClr>
                <a:srgbClr val="1E5EF3"/>
              </a:buClr>
              <a:buChar char="—"/>
            </a:pPr>
            <a:r>
              <a:rPr sz="1300" b="0">
                <a:solidFill>
                  <a:srgbClr val="202B38"/>
                </a:solidFill>
                <a:latin typeface="Arial"/>
              </a:rPr>
              <a:t>Anthropic, Writing effective tools for agents, Sep 2025</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Anthropic, Building effective agents, Dec 2024: 'invest as much effort in the agent-computer interface as in the human one.'</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PIECE 3 - HOW MANY TOOLS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Fewer, better tools beat many tools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2286000"/>
            <a:ext cx="9418320" cy="2011680"/>
          </a:xfrm>
          <a:prstGeom prst="rect">
            <a:avLst/>
          </a:prstGeom>
          <a:noFill/>
        </p:spPr>
        <p:txBody>
          <a:bodyPr wrap="square">
            <a:spAutoFit/>
          </a:bodyPr>
          <a:lstStyle/>
          <a:p>
            <a:pPr algn="ctr">
              <a:spcAft>
                <a:spcPts val="600"/>
              </a:spcAft>
              <a:buNone/>
            </a:pPr>
            <a:r>
              <a:rPr sz="9600" b="1">
                <a:solidFill>
                  <a:srgbClr val="1E5EF3"/>
                </a:solidFill>
                <a:latin typeface="Arial"/>
              </a:rPr>
              <a:t>80%</a:t>
            </a:r>
          </a:p>
        </p:txBody>
      </p:sp>
      <p:sp>
        <p:nvSpPr>
          <p:cNvPr id="8" name="TextBox 7"/>
          <p:cNvSpPr txBox="1"/>
          <p:nvPr/>
        </p:nvSpPr>
        <p:spPr>
          <a:xfrm>
            <a:off x="1371600" y="4434840"/>
            <a:ext cx="9418320" cy="731520"/>
          </a:xfrm>
          <a:prstGeom prst="rect">
            <a:avLst/>
          </a:prstGeom>
          <a:noFill/>
        </p:spPr>
        <p:txBody>
          <a:bodyPr wrap="square">
            <a:spAutoFit/>
          </a:bodyPr>
          <a:lstStyle/>
          <a:p>
            <a:pPr algn="ctr">
              <a:spcAft>
                <a:spcPts val="600"/>
              </a:spcAft>
              <a:buNone/>
            </a:pPr>
            <a:r>
              <a:rPr sz="1800" b="0">
                <a:solidFill>
                  <a:srgbClr val="0A2540"/>
                </a:solidFill>
                <a:latin typeface="Arial"/>
              </a:rPr>
              <a:t>of its tools removed by Vercel: task success rose from 80% to 100%, tokens halved, latency fell from 724 s to 141 s</a:t>
            </a:r>
          </a:p>
        </p:txBody>
      </p:sp>
      <p:sp>
        <p:nvSpPr>
          <p:cNvPr id="9" name="TextBox 8"/>
          <p:cNvSpPr txBox="1"/>
          <p:nvPr/>
        </p:nvSpPr>
        <p:spPr>
          <a:xfrm>
            <a:off x="1371600" y="5257800"/>
            <a:ext cx="9418320" cy="640080"/>
          </a:xfrm>
          <a:prstGeom prst="rect">
            <a:avLst/>
          </a:prstGeom>
          <a:noFill/>
        </p:spPr>
        <p:txBody>
          <a:bodyPr wrap="square">
            <a:spAutoFit/>
          </a:bodyPr>
          <a:lstStyle/>
          <a:p>
            <a:pPr algn="ctr">
              <a:spcAft>
                <a:spcPts val="600"/>
              </a:spcAft>
              <a:buNone/>
            </a:pPr>
            <a:r>
              <a:rPr sz="1250" b="0">
                <a:solidFill>
                  <a:srgbClr val="5B6774"/>
                </a:solidFill>
                <a:latin typeface="Arial"/>
              </a:rPr>
              <a:t>Vercel's agent, as reported in Marmelab, The State of AI Harness Engineering 2026, 24 Sep 2026. In plain words: every extra tool is another schema in the context and another wrong choice to make.</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PIECE 3 - THE PLUG</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MCP is the standard plug: any tool server fits any model client</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top, the plug between clients and servers; bottom, the dates</a:t>
            </a:r>
          </a:p>
          <a:p>
            <a:pPr algn="l" indent="-228600" marL="228600">
              <a:spcAft>
                <a:spcPts val="800"/>
              </a:spcAft>
              <a:buClr>
                <a:srgbClr val="1E5EF3"/>
              </a:buClr>
              <a:buChar char="—"/>
            </a:pPr>
            <a:r>
              <a:rPr sz="1450" b="0">
                <a:solidFill>
                  <a:srgbClr val="202B38"/>
                </a:solidFill>
                <a:latin typeface="Arial"/>
              </a:rPr>
              <a:t>In plain words: MCP is a standard plug, so any tool server fits any model client</a:t>
            </a:r>
          </a:p>
          <a:p>
            <a:pPr algn="l" indent="-228600" marL="228600">
              <a:spcAft>
                <a:spcPts val="800"/>
              </a:spcAft>
              <a:buClr>
                <a:srgbClr val="1E5EF3"/>
              </a:buClr>
              <a:buChar char="—"/>
            </a:pPr>
            <a:r>
              <a:rPr sz="1450" b="0">
                <a:solidFill>
                  <a:srgbClr val="202B38"/>
                </a:solidFill>
                <a:latin typeface="Arial"/>
              </a:rPr>
              <a:t>Before: each product wrote its own adapter for each tool (function calling, Jun 2023)</a:t>
            </a:r>
          </a:p>
          <a:p>
            <a:pPr algn="l" indent="-228600" marL="228600">
              <a:spcAft>
                <a:spcPts val="800"/>
              </a:spcAft>
              <a:buClr>
                <a:srgbClr val="1E5EF3"/>
              </a:buClr>
              <a:buChar char="—"/>
            </a:pPr>
            <a:r>
              <a:rPr sz="1450" b="0">
                <a:solidFill>
                  <a:srgbClr val="202B38"/>
                </a:solidFill>
                <a:latin typeface="Arial"/>
              </a:rPr>
              <a:t>25 Nov 2024: Anthropic open-sources the Model Context Protocol</a:t>
            </a:r>
          </a:p>
          <a:p>
            <a:pPr algn="l" indent="-228600" marL="228600">
              <a:spcAft>
                <a:spcPts val="800"/>
              </a:spcAft>
              <a:buClr>
                <a:srgbClr val="1E5EF3"/>
              </a:buClr>
              <a:buChar char="—"/>
            </a:pPr>
            <a:r>
              <a:rPr sz="1450" b="0">
                <a:solidFill>
                  <a:srgbClr val="202B38"/>
                </a:solidFill>
                <a:latin typeface="Arial"/>
              </a:rPr>
              <a:t>26 Mar 2025: OpenAI adopts it - Agents SDK, then ChatGPT and the Responses API</a:t>
            </a:r>
          </a:p>
          <a:p>
            <a:pPr algn="l" indent="-228600" marL="228600">
              <a:spcAft>
                <a:spcPts val="800"/>
              </a:spcAft>
              <a:buClr>
                <a:srgbClr val="1E5EF3"/>
              </a:buClr>
              <a:buChar char="—"/>
            </a:pPr>
            <a:r>
              <a:rPr sz="1450" b="0">
                <a:solidFill>
                  <a:srgbClr val="202B38"/>
                </a:solidFill>
                <a:latin typeface="Arial"/>
              </a:rPr>
              <a:t>One protocol: list the tools, call a tool, get the result as text</a:t>
            </a:r>
          </a:p>
        </p:txBody>
      </p:sp>
      <p:pic>
        <p:nvPicPr>
          <p:cNvPr id="8" name="Picture 7" descr="s2_mcp.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Illustration. Dates: Anthropic, Introducing the Model Context Protocol, 25 Nov 2024; OpenAI Agents SDK release notes, 26 Mar 2025.</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PIECE 4 - SKILLS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Skills load in three levels - the catalog is always there, the manual opens on demand</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each step down is loaded later and costs more; numbers from our three skills</a:t>
            </a:r>
          </a:p>
          <a:p>
            <a:pPr algn="l" indent="-228600" marL="228600">
              <a:spcAft>
                <a:spcPts val="800"/>
              </a:spcAft>
              <a:buClr>
                <a:srgbClr val="1E5EF3"/>
              </a:buClr>
              <a:buChar char="—"/>
            </a:pPr>
            <a:r>
              <a:rPr sz="1450" b="0">
                <a:solidFill>
                  <a:srgbClr val="202B38"/>
                </a:solidFill>
                <a:latin typeface="Arial"/>
              </a:rPr>
              <a:t>In plain words: a skill is a folder with a SKILL.md and optional scripts; read the description first</a:t>
            </a:r>
          </a:p>
          <a:p>
            <a:pPr algn="l" indent="-228600" marL="228600">
              <a:spcAft>
                <a:spcPts val="800"/>
              </a:spcAft>
              <a:buClr>
                <a:srgbClr val="1E5EF3"/>
              </a:buClr>
              <a:buChar char="—"/>
            </a:pPr>
            <a:r>
              <a:rPr sz="1450" b="0">
                <a:solidFill>
                  <a:srgbClr val="202B38"/>
                </a:solidFill>
                <a:latin typeface="Arial"/>
              </a:rPr>
              <a:t>Level 1: name + description of every skill, 98 tokens for three</a:t>
            </a:r>
          </a:p>
          <a:p>
            <a:pPr algn="l" indent="-228600" marL="228600">
              <a:spcAft>
                <a:spcPts val="800"/>
              </a:spcAft>
              <a:buClr>
                <a:srgbClr val="1E5EF3"/>
              </a:buClr>
              <a:buChar char="—"/>
            </a:pPr>
            <a:r>
              <a:rPr sz="1450" b="0">
                <a:solidFill>
                  <a:srgbClr val="202B38"/>
                </a:solidFill>
                <a:latin typeface="Arial"/>
              </a:rPr>
              <a:t>Level 2: the body of the one that matches, 321 tokens if all three were loaded (3.3x)</a:t>
            </a:r>
          </a:p>
          <a:p>
            <a:pPr algn="l" indent="-228600" marL="228600">
              <a:spcAft>
                <a:spcPts val="800"/>
              </a:spcAft>
              <a:buClr>
                <a:srgbClr val="1E5EF3"/>
              </a:buClr>
              <a:buChar char="—"/>
            </a:pPr>
            <a:r>
              <a:rPr sz="1450" b="0">
                <a:solidFill>
                  <a:srgbClr val="202B38"/>
                </a:solidFill>
                <a:latin typeface="Arial"/>
              </a:rPr>
              <a:t>Level 3: checklist.md, template.md - opened only while executing</a:t>
            </a:r>
          </a:p>
          <a:p>
            <a:pPr algn="l" indent="-228600" marL="228600">
              <a:spcAft>
                <a:spcPts val="800"/>
              </a:spcAft>
              <a:buClr>
                <a:srgbClr val="1E5EF3"/>
              </a:buClr>
              <a:buChar char="—"/>
            </a:pPr>
            <a:r>
              <a:rPr sz="1450" b="0">
                <a:solidFill>
                  <a:srgbClr val="202B38"/>
                </a:solidFill>
                <a:latin typeface="Arial"/>
              </a:rPr>
              <a:t>Skills teach procedures; tools give abilities; prompts give the task</a:t>
            </a:r>
          </a:p>
        </p:txBody>
      </p:sp>
      <p:pic>
        <p:nvPicPr>
          <p:cNvPr id="8" name="Picture 7" descr="s2_skills_levels.png"/>
          <p:cNvPicPr>
            <a:picLocks noChangeAspect="1"/>
          </p:cNvPicPr>
          <p:nvPr/>
        </p:nvPicPr>
        <p:blipFill>
          <a:blip r:embed="rId2"/>
          <a:stretch>
            <a:fillRect/>
          </a:stretch>
        </p:blipFill>
        <p:spPr>
          <a:xfrm>
            <a:off x="5149927" y="1874519"/>
            <a:ext cx="6433666" cy="4114800"/>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Token counts from the course library (notebook 02). Anthropic, Equipping agents for the real world with Agent Skills, 16 Oct 2025; open standard 18 Dec 2025, 40+ platforms.</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PIECE 4 - THE THREE COMPARED</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Prompts give the task, tools give abilities, skills teach procedures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1" cy="2743200"/>
        </p:xfrm>
        <a:graphic>
          <a:graphicData uri="http://schemas.openxmlformats.org/drawingml/2006/table">
            <a:tbl>
              <a:tblPr firstRow="1" bandRow="1">
                <a:tableStyleId>{5C22544A-7EE6-4342-B048-85BDC9FD1C3A}</a:tableStyleId>
              </a:tblPr>
              <a:tblGrid>
                <a:gridCol w="1602130"/>
                <a:gridCol w="2711297"/>
                <a:gridCol w="3081020"/>
                <a:gridCol w="3697224"/>
              </a:tblGrid>
              <a:tr h="457200">
                <a:tc>
                  <a:txBody>
                    <a:bodyPr wrap="square"/>
                    <a:lstStyle/>
                    <a:p>
                      <a:pPr algn="l">
                        <a:spcAft>
                          <a:spcPts val="0"/>
                        </a:spcAft>
                        <a:buNone/>
                      </a:pPr>
                      <a:r>
                        <a:rPr sz="1300" b="1">
                          <a:solidFill>
                            <a:srgbClr val="FFFFFF"/>
                          </a:solidFill>
                          <a:latin typeface="Arial"/>
                        </a:rPr>
                        <a:t/>
                      </a:r>
                    </a:p>
                  </a:txBody>
                  <a:tcPr>
                    <a:solidFill>
                      <a:srgbClr val="0A2540"/>
                    </a:solidFill>
                  </a:tcPr>
                </a:tc>
                <a:tc>
                  <a:txBody>
                    <a:bodyPr wrap="square"/>
                    <a:lstStyle/>
                    <a:p>
                      <a:pPr algn="l">
                        <a:spcAft>
                          <a:spcPts val="0"/>
                        </a:spcAft>
                        <a:buNone/>
                      </a:pPr>
                      <a:r>
                        <a:rPr sz="1300" b="1">
                          <a:solidFill>
                            <a:srgbClr val="FFFFFF"/>
                          </a:solidFill>
                          <a:latin typeface="Arial"/>
                        </a:rPr>
                        <a:t>Prompt</a:t>
                      </a:r>
                    </a:p>
                  </a:txBody>
                  <a:tcPr>
                    <a:solidFill>
                      <a:srgbClr val="0A2540"/>
                    </a:solidFill>
                  </a:tcPr>
                </a:tc>
                <a:tc>
                  <a:txBody>
                    <a:bodyPr wrap="square"/>
                    <a:lstStyle/>
                    <a:p>
                      <a:pPr algn="l">
                        <a:spcAft>
                          <a:spcPts val="0"/>
                        </a:spcAft>
                        <a:buNone/>
                      </a:pPr>
                      <a:r>
                        <a:rPr sz="1300" b="1">
                          <a:solidFill>
                            <a:srgbClr val="FFFFFF"/>
                          </a:solidFill>
                          <a:latin typeface="Arial"/>
                        </a:rPr>
                        <a:t>Tool</a:t>
                      </a:r>
                    </a:p>
                  </a:txBody>
                  <a:tcPr>
                    <a:solidFill>
                      <a:srgbClr val="0A2540"/>
                    </a:solidFill>
                  </a:tcPr>
                </a:tc>
                <a:tc>
                  <a:txBody>
                    <a:bodyPr wrap="square"/>
                    <a:lstStyle/>
                    <a:p>
                      <a:pPr algn="l">
                        <a:spcAft>
                          <a:spcPts val="0"/>
                        </a:spcAft>
                        <a:buNone/>
                      </a:pPr>
                      <a:r>
                        <a:rPr sz="1300" b="1">
                          <a:solidFill>
                            <a:srgbClr val="FFFFFF"/>
                          </a:solidFill>
                          <a:latin typeface="Arial"/>
                        </a:rPr>
                        <a:t>Skill</a:t>
                      </a:r>
                    </a:p>
                  </a:txBody>
                  <a:tcPr>
                    <a:solidFill>
                      <a:srgbClr val="0A2540"/>
                    </a:solidFill>
                  </a:tcPr>
                </a:tc>
              </a:tr>
              <a:tr h="457200">
                <a:tc>
                  <a:txBody>
                    <a:bodyPr wrap="square"/>
                    <a:lstStyle/>
                    <a:p>
                      <a:pPr algn="l">
                        <a:spcAft>
                          <a:spcPts val="0"/>
                        </a:spcAft>
                        <a:buNone/>
                      </a:pPr>
                      <a:r>
                        <a:rPr sz="1250" b="0">
                          <a:solidFill>
                            <a:srgbClr val="202B38"/>
                          </a:solidFill>
                          <a:latin typeface="Arial"/>
                        </a:rPr>
                        <a:t>What it is</a:t>
                      </a:r>
                    </a:p>
                  </a:txBody>
                  <a:tcPr>
                    <a:solidFill>
                      <a:srgbClr val="FFFFFF"/>
                    </a:solidFill>
                  </a:tcPr>
                </a:tc>
                <a:tc>
                  <a:txBody>
                    <a:bodyPr wrap="square"/>
                    <a:lstStyle/>
                    <a:p>
                      <a:pPr algn="l">
                        <a:spcAft>
                          <a:spcPts val="0"/>
                        </a:spcAft>
                        <a:buNone/>
                      </a:pPr>
                      <a:r>
                        <a:rPr sz="1250" b="0">
                          <a:solidFill>
                            <a:srgbClr val="202B38"/>
                          </a:solidFill>
                          <a:latin typeface="Arial"/>
                        </a:rPr>
                        <a:t>The words you send for this task</a:t>
                      </a:r>
                    </a:p>
                  </a:txBody>
                  <a:tcPr>
                    <a:solidFill>
                      <a:srgbClr val="FFFFFF"/>
                    </a:solidFill>
                  </a:tcPr>
                </a:tc>
                <a:tc>
                  <a:txBody>
                    <a:bodyPr wrap="square"/>
                    <a:lstStyle/>
                    <a:p>
                      <a:pPr algn="l">
                        <a:spcAft>
                          <a:spcPts val="0"/>
                        </a:spcAft>
                        <a:buNone/>
                      </a:pPr>
                      <a:r>
                        <a:rPr sz="1250" b="0">
                          <a:solidFill>
                            <a:srgbClr val="202B38"/>
                          </a:solidFill>
                          <a:latin typeface="Arial"/>
                        </a:rPr>
                        <a:t>A function the model may call by name, with JSON arguments</a:t>
                      </a:r>
                    </a:p>
                  </a:txBody>
                  <a:tcPr>
                    <a:solidFill>
                      <a:srgbClr val="FFFFFF"/>
                    </a:solidFill>
                  </a:tcPr>
                </a:tc>
                <a:tc>
                  <a:txBody>
                    <a:bodyPr wrap="square"/>
                    <a:lstStyle/>
                    <a:p>
                      <a:pPr algn="l">
                        <a:spcAft>
                          <a:spcPts val="0"/>
                        </a:spcAft>
                        <a:buNone/>
                      </a:pPr>
                      <a:r>
                        <a:rPr sz="1250" b="0">
                          <a:solidFill>
                            <a:srgbClr val="202B38"/>
                          </a:solidFill>
                          <a:latin typeface="Arial"/>
                        </a:rPr>
                        <a:t>A folder: SKILL.md (name, description, steps) plus scripts and references</a:t>
                      </a:r>
                    </a:p>
                  </a:txBody>
                  <a:tcPr>
                    <a:solidFill>
                      <a:srgbClr val="FFFFFF"/>
                    </a:solidFill>
                  </a:tcPr>
                </a:tc>
              </a:tr>
              <a:tr h="457200">
                <a:tc>
                  <a:txBody>
                    <a:bodyPr wrap="square"/>
                    <a:lstStyle/>
                    <a:p>
                      <a:pPr algn="l">
                        <a:spcAft>
                          <a:spcPts val="0"/>
                        </a:spcAft>
                        <a:buNone/>
                      </a:pPr>
                      <a:r>
                        <a:rPr sz="1250" b="0">
                          <a:solidFill>
                            <a:srgbClr val="202B38"/>
                          </a:solidFill>
                          <a:latin typeface="Arial"/>
                        </a:rPr>
                        <a:t>What the model gets</a:t>
                      </a:r>
                    </a:p>
                  </a:txBody>
                  <a:tcPr>
                    <a:solidFill>
                      <a:srgbClr val="EEF3FD"/>
                    </a:solidFill>
                  </a:tcPr>
                </a:tc>
                <a:tc>
                  <a:txBody>
                    <a:bodyPr wrap="square"/>
                    <a:lstStyle/>
                    <a:p>
                      <a:pPr algn="l">
                        <a:spcAft>
                          <a:spcPts val="0"/>
                        </a:spcAft>
                        <a:buNone/>
                      </a:pPr>
                      <a:r>
                        <a:rPr sz="1250" b="0">
                          <a:solidFill>
                            <a:srgbClr val="202B38"/>
                          </a:solidFill>
                          <a:latin typeface="Arial"/>
                        </a:rPr>
                        <a:t>The goal and the constraints</a:t>
                      </a:r>
                    </a:p>
                  </a:txBody>
                  <a:tcPr>
                    <a:solidFill>
                      <a:srgbClr val="EEF3FD"/>
                    </a:solidFill>
                  </a:tcPr>
                </a:tc>
                <a:tc>
                  <a:txBody>
                    <a:bodyPr wrap="square"/>
                    <a:lstStyle/>
                    <a:p>
                      <a:pPr algn="l">
                        <a:spcAft>
                          <a:spcPts val="0"/>
                        </a:spcAft>
                        <a:buNone/>
                      </a:pPr>
                      <a:r>
                        <a:rPr sz="1250" b="0">
                          <a:solidFill>
                            <a:srgbClr val="202B38"/>
                          </a:solidFill>
                          <a:latin typeface="Arial"/>
                        </a:rPr>
                        <a:t>An ability: search, read, calculate, check</a:t>
                      </a:r>
                    </a:p>
                  </a:txBody>
                  <a:tcPr>
                    <a:solidFill>
                      <a:srgbClr val="EEF3FD"/>
                    </a:solidFill>
                  </a:tcPr>
                </a:tc>
                <a:tc>
                  <a:txBody>
                    <a:bodyPr wrap="square"/>
                    <a:lstStyle/>
                    <a:p>
                      <a:pPr algn="l">
                        <a:spcAft>
                          <a:spcPts val="0"/>
                        </a:spcAft>
                        <a:buNone/>
                      </a:pPr>
                      <a:r>
                        <a:rPr sz="1250" b="0">
                          <a:solidFill>
                            <a:srgbClr val="202B38"/>
                          </a:solidFill>
                          <a:latin typeface="Arial"/>
                        </a:rPr>
                        <a:t>A procedure: which tools, in which order, with which checks</a:t>
                      </a:r>
                    </a:p>
                  </a:txBody>
                  <a:tcPr>
                    <a:solidFill>
                      <a:srgbClr val="EEF3FD"/>
                    </a:solidFill>
                  </a:tcPr>
                </a:tc>
              </a:tr>
              <a:tr h="457200">
                <a:tc>
                  <a:txBody>
                    <a:bodyPr wrap="square"/>
                    <a:lstStyle/>
                    <a:p>
                      <a:pPr algn="l">
                        <a:spcAft>
                          <a:spcPts val="0"/>
                        </a:spcAft>
                        <a:buNone/>
                      </a:pPr>
                      <a:r>
                        <a:rPr sz="1250" b="0">
                          <a:solidFill>
                            <a:srgbClr val="202B38"/>
                          </a:solidFill>
                          <a:latin typeface="Arial"/>
                        </a:rPr>
                        <a:t>When it loads</a:t>
                      </a:r>
                    </a:p>
                  </a:txBody>
                  <a:tcPr>
                    <a:solidFill>
                      <a:srgbClr val="FFFFFF"/>
                    </a:solidFill>
                  </a:tcPr>
                </a:tc>
                <a:tc>
                  <a:txBody>
                    <a:bodyPr wrap="square"/>
                    <a:lstStyle/>
                    <a:p>
                      <a:pPr algn="l">
                        <a:spcAft>
                          <a:spcPts val="0"/>
                        </a:spcAft>
                        <a:buNone/>
                      </a:pPr>
                      <a:r>
                        <a:rPr sz="1250" b="0">
                          <a:solidFill>
                            <a:srgbClr val="202B38"/>
                          </a:solidFill>
                          <a:latin typeface="Arial"/>
                        </a:rPr>
                        <a:t>Every call</a:t>
                      </a:r>
                    </a:p>
                  </a:txBody>
                  <a:tcPr>
                    <a:solidFill>
                      <a:srgbClr val="FFFFFF"/>
                    </a:solidFill>
                  </a:tcPr>
                </a:tc>
                <a:tc>
                  <a:txBody>
                    <a:bodyPr wrap="square"/>
                    <a:lstStyle/>
                    <a:p>
                      <a:pPr algn="l">
                        <a:spcAft>
                          <a:spcPts val="0"/>
                        </a:spcAft>
                        <a:buNone/>
                      </a:pPr>
                      <a:r>
                        <a:rPr sz="1250" b="0">
                          <a:solidFill>
                            <a:srgbClr val="202B38"/>
                          </a:solidFill>
                          <a:latin typeface="Arial"/>
                        </a:rPr>
                        <a:t>Schema on every call; result when called</a:t>
                      </a:r>
                    </a:p>
                  </a:txBody>
                  <a:tcPr>
                    <a:solidFill>
                      <a:srgbClr val="FFFFFF"/>
                    </a:solidFill>
                  </a:tcPr>
                </a:tc>
                <a:tc>
                  <a:txBody>
                    <a:bodyPr wrap="square"/>
                    <a:lstStyle/>
                    <a:p>
                      <a:pPr algn="l">
                        <a:spcAft>
                          <a:spcPts val="0"/>
                        </a:spcAft>
                        <a:buNone/>
                      </a:pPr>
                      <a:r>
                        <a:rPr sz="1250" b="0">
                          <a:solidFill>
                            <a:srgbClr val="202B38"/>
                          </a:solidFill>
                          <a:latin typeface="Arial"/>
                        </a:rPr>
                        <a:t>Description always; body when the task matches; resources during execution</a:t>
                      </a:r>
                    </a:p>
                  </a:txBody>
                  <a:tcPr>
                    <a:solidFill>
                      <a:srgbClr val="FFFFFF"/>
                    </a:solidFill>
                  </a:tcPr>
                </a:tc>
              </a:tr>
              <a:tr h="457200">
                <a:tc>
                  <a:txBody>
                    <a:bodyPr wrap="square"/>
                    <a:lstStyle/>
                    <a:p>
                      <a:pPr algn="l">
                        <a:spcAft>
                          <a:spcPts val="0"/>
                        </a:spcAft>
                        <a:buNone/>
                      </a:pPr>
                      <a:r>
                        <a:rPr sz="1250" b="0">
                          <a:solidFill>
                            <a:srgbClr val="202B38"/>
                          </a:solidFill>
                          <a:latin typeface="Arial"/>
                        </a:rPr>
                        <a:t>In our library</a:t>
                      </a:r>
                    </a:p>
                  </a:txBody>
                  <a:tcPr>
                    <a:solidFill>
                      <a:srgbClr val="EEF3FD"/>
                    </a:solidFill>
                  </a:tcPr>
                </a:tc>
                <a:tc>
                  <a:txBody>
                    <a:bodyPr wrap="square"/>
                    <a:lstStyle/>
                    <a:p>
                      <a:pPr algn="l">
                        <a:spcAft>
                          <a:spcPts val="0"/>
                        </a:spcAft>
                        <a:buNone/>
                      </a:pPr>
                      <a:r>
                        <a:rPr sz="1250" b="0">
                          <a:solidFill>
                            <a:srgbClr val="202B38"/>
                          </a:solidFill>
                          <a:latin typeface="Arial"/>
                        </a:rPr>
                        <a:t>'When did Anthropic open-source MCP?'</a:t>
                      </a:r>
                    </a:p>
                  </a:txBody>
                  <a:tcPr>
                    <a:solidFill>
                      <a:srgbClr val="EEF3FD"/>
                    </a:solidFill>
                  </a:tcPr>
                </a:tc>
                <a:tc>
                  <a:txBody>
                    <a:bodyPr wrap="square"/>
                    <a:lstStyle/>
                    <a:p>
                      <a:pPr algn="l">
                        <a:spcAft>
                          <a:spcPts val="0"/>
                        </a:spcAft>
                        <a:buNone/>
                      </a:pPr>
                      <a:r>
                        <a:rPr sz="1250" b="0">
                          <a:solidFill>
                            <a:srgbClr val="202B38"/>
                          </a:solidFill>
                          <a:latin typeface="Arial"/>
                        </a:rPr>
                        <a:t>search_docs, read_doc, check_citation, calculator</a:t>
                      </a:r>
                    </a:p>
                  </a:txBody>
                  <a:tcPr>
                    <a:solidFill>
                      <a:srgbClr val="EEF3FD"/>
                    </a:solidFill>
                  </a:tcPr>
                </a:tc>
                <a:tc>
                  <a:txBody>
                    <a:bodyPr wrap="square"/>
                    <a:lstStyle/>
                    <a:p>
                      <a:pPr algn="l">
                        <a:spcAft>
                          <a:spcPts val="0"/>
                        </a:spcAft>
                        <a:buNone/>
                      </a:pPr>
                      <a:r>
                        <a:rPr sz="1250" b="0">
                          <a:solidFill>
                            <a:srgbClr val="202B38"/>
                          </a:solidFill>
                          <a:latin typeface="Arial"/>
                        </a:rPr>
                        <a:t>cite-sources, safe-calculations, summarize-brief</a:t>
                      </a:r>
                    </a:p>
                  </a:txBody>
                  <a:tcPr>
                    <a:solidFill>
                      <a:srgbClr val="EEF3FD"/>
                    </a:solidFill>
                  </a:tcPr>
                </a:tc>
              </a:tr>
              <a:tr h="457200">
                <a:tc>
                  <a:txBody>
                    <a:bodyPr wrap="square"/>
                    <a:lstStyle/>
                    <a:p>
                      <a:pPr algn="l">
                        <a:spcAft>
                          <a:spcPts val="0"/>
                        </a:spcAft>
                        <a:buNone/>
                      </a:pPr>
                      <a:r>
                        <a:rPr sz="1250" b="0">
                          <a:solidFill>
                            <a:srgbClr val="202B38"/>
                          </a:solidFill>
                          <a:latin typeface="Arial"/>
                        </a:rPr>
                        <a:t>Who writes it</a:t>
                      </a:r>
                    </a:p>
                  </a:txBody>
                  <a:tcPr>
                    <a:solidFill>
                      <a:srgbClr val="FFFFFF"/>
                    </a:solidFill>
                  </a:tcPr>
                </a:tc>
                <a:tc>
                  <a:txBody>
                    <a:bodyPr wrap="square"/>
                    <a:lstStyle/>
                    <a:p>
                      <a:pPr algn="l">
                        <a:spcAft>
                          <a:spcPts val="0"/>
                        </a:spcAft>
                        <a:buNone/>
                      </a:pPr>
                      <a:r>
                        <a:rPr sz="1250" b="0">
                          <a:solidFill>
                            <a:srgbClr val="202B38"/>
                          </a:solidFill>
                          <a:latin typeface="Arial"/>
                        </a:rPr>
                        <a:t>The user, each time</a:t>
                      </a:r>
                    </a:p>
                  </a:txBody>
                  <a:tcPr>
                    <a:solidFill>
                      <a:srgbClr val="FFFFFF"/>
                    </a:solidFill>
                  </a:tcPr>
                </a:tc>
                <a:tc>
                  <a:txBody>
                    <a:bodyPr wrap="square"/>
                    <a:lstStyle/>
                    <a:p>
                      <a:pPr algn="l">
                        <a:spcAft>
                          <a:spcPts val="0"/>
                        </a:spcAft>
                        <a:buNone/>
                      </a:pPr>
                      <a:r>
                        <a:rPr sz="1250" b="0">
                          <a:solidFill>
                            <a:srgbClr val="202B38"/>
                          </a:solidFill>
                          <a:latin typeface="Arial"/>
                        </a:rPr>
                        <a:t>A developer, once</a:t>
                      </a:r>
                    </a:p>
                  </a:txBody>
                  <a:tcPr>
                    <a:solidFill>
                      <a:srgbClr val="FFFFFF"/>
                    </a:solidFill>
                  </a:tcPr>
                </a:tc>
                <a:tc>
                  <a:txBody>
                    <a:bodyPr wrap="square"/>
                    <a:lstStyle/>
                    <a:p>
                      <a:pPr algn="l">
                        <a:spcAft>
                          <a:spcPts val="0"/>
                        </a:spcAft>
                        <a:buNone/>
                      </a:pPr>
                      <a:r>
                        <a:rPr sz="1250" b="0">
                          <a:solidFill>
                            <a:srgbClr val="202B38"/>
                          </a:solidFill>
                          <a:latin typeface="Arial"/>
                        </a:rPr>
                        <a:t>A domain expert, once - reused across tasks and platforms</a:t>
                      </a:r>
                    </a:p>
                  </a:txBody>
                  <a:tcPr>
                    <a:solidFill>
                      <a:srgbClr val="FFFFFF"/>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Anthropic, Agent Skills, 16 Oct 2025; Anthropic, Writing effective tools for agents, Sep 2025.</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3657600" cy="2011680"/>
          </a:xfrm>
          <a:prstGeom prst="rect">
            <a:avLst/>
          </a:prstGeom>
          <a:noFill/>
        </p:spPr>
        <p:txBody>
          <a:bodyPr wrap="square">
            <a:spAutoFit/>
          </a:bodyPr>
          <a:lstStyle/>
          <a:p>
            <a:pPr algn="l">
              <a:spcAft>
                <a:spcPts val="600"/>
              </a:spcAft>
              <a:buNone/>
            </a:pPr>
            <a:r>
              <a:rPr sz="11000" b="1">
                <a:solidFill>
                  <a:srgbClr val="1E5EF3"/>
                </a:solidFill>
                <a:latin typeface="Arial"/>
              </a:rPr>
              <a:t>02</a:t>
            </a:r>
          </a:p>
        </p:txBody>
      </p:sp>
      <p:sp>
        <p:nvSpPr>
          <p:cNvPr id="4" name="TextBox 3"/>
          <p:cNvSpPr txBox="1"/>
          <p:nvPr/>
        </p:nvSpPr>
        <p:spPr>
          <a:xfrm>
            <a:off x="868680" y="3566160"/>
            <a:ext cx="10424160" cy="1280160"/>
          </a:xfrm>
          <a:prstGeom prst="rect">
            <a:avLst/>
          </a:prstGeom>
          <a:noFill/>
        </p:spPr>
        <p:txBody>
          <a:bodyPr wrap="square">
            <a:spAutoFit/>
          </a:bodyPr>
          <a:lstStyle/>
          <a:p>
            <a:pPr algn="l">
              <a:spcAft>
                <a:spcPts val="600"/>
              </a:spcAft>
              <a:buNone/>
            </a:pPr>
            <a:r>
              <a:rPr sz="3400" b="1">
                <a:solidFill>
                  <a:srgbClr val="FFFFFF"/>
                </a:solidFill>
                <a:latin typeface="Arial"/>
              </a:rPr>
              <a:t>Part 2 - The practice: notebook 02</a:t>
            </a:r>
          </a:p>
        </p:txBody>
      </p:sp>
      <p:sp>
        <p:nvSpPr>
          <p:cNvPr id="5" name="TextBox 4"/>
          <p:cNvSpPr txBox="1"/>
          <p:nvPr/>
        </p:nvSpPr>
        <p:spPr>
          <a:xfrm>
            <a:off x="868680" y="4709160"/>
            <a:ext cx="10058400" cy="914400"/>
          </a:xfrm>
          <a:prstGeom prst="rect">
            <a:avLst/>
          </a:prstGeom>
          <a:noFill/>
        </p:spPr>
        <p:txBody>
          <a:bodyPr wrap="square">
            <a:spAutoFit/>
          </a:bodyPr>
          <a:lstStyle/>
          <a:p>
            <a:pPr algn="l">
              <a:spcAft>
                <a:spcPts val="600"/>
              </a:spcAft>
              <a:buNone/>
            </a:pPr>
            <a:r>
              <a:rPr sz="1600" b="0">
                <a:solidFill>
                  <a:srgbClr val="B9D0FA"/>
                </a:solidFill>
                <a:latin typeface="Arial"/>
              </a:rPr>
              <a:t>Compaction under a small budget, a tool schema built from a docstring, a vague tool against a good one, a denied permission, and the skills catalog.</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2 - Models, Context, Tools and Skills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02 - CONTEXT</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Under a 2,500-token budget the history grows, folds to 11 messages, and keeps working</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19"/>
            <a:ext cx="4297680" cy="4206240"/>
          </a:xfrm>
          <a:prstGeom prst="rect">
            <a:avLst/>
          </a:prstGeom>
          <a:noFill/>
        </p:spPr>
        <p:txBody>
          <a:bodyPr wrap="square">
            <a:spAutoFit/>
          </a:bodyPr>
          <a:lstStyle/>
          <a:p>
            <a:pPr algn="l" indent="-228600" marL="228600">
              <a:spcAft>
                <a:spcPts val="800"/>
              </a:spcAft>
              <a:buClr>
                <a:srgbClr val="1E5EF3"/>
              </a:buClr>
              <a:buChar char="—"/>
            </a:pPr>
            <a:r>
              <a:rPr sz="1450" b="0">
                <a:solidFill>
                  <a:srgbClr val="202B38"/>
                </a:solidFill>
                <a:latin typeface="Arial"/>
              </a:rPr>
              <a:t>How to read it: bar height = messages in the history after each question; navy = the compaction</a:t>
            </a:r>
          </a:p>
          <a:p>
            <a:pPr algn="l" indent="-228600" marL="228600">
              <a:spcAft>
                <a:spcPts val="800"/>
              </a:spcAft>
              <a:buClr>
                <a:srgbClr val="1E5EF3"/>
              </a:buClr>
              <a:buChar char="—"/>
            </a:pPr>
            <a:r>
              <a:rPr sz="1450" b="0">
                <a:solidFill>
                  <a:srgbClr val="202B38"/>
                </a:solidFill>
                <a:latin typeface="Arial"/>
              </a:rPr>
              <a:t>Five questions in one session: 8, 16, 24 messages - then the budget check fires</a:t>
            </a:r>
          </a:p>
          <a:p>
            <a:pPr algn="l" indent="-228600" marL="228600">
              <a:spcAft>
                <a:spcPts val="800"/>
              </a:spcAft>
              <a:buClr>
                <a:srgbClr val="1E5EF3"/>
              </a:buClr>
              <a:buChar char="—"/>
            </a:pPr>
            <a:r>
              <a:rPr sz="1450" b="0">
                <a:solidFill>
                  <a:srgbClr val="202B38"/>
                </a:solidFill>
                <a:latin typeface="Arial"/>
              </a:rPr>
              <a:t>Compaction fires during question 4: '22 earlier messages summarized' into one note; the history ends at 11</a:t>
            </a:r>
          </a:p>
          <a:p>
            <a:pPr algn="l" indent="-228600" marL="228600">
              <a:spcAft>
                <a:spcPts val="800"/>
              </a:spcAft>
              <a:buClr>
                <a:srgbClr val="1E5EF3"/>
              </a:buClr>
              <a:buChar char="—"/>
            </a:pPr>
            <a:r>
              <a:rPr sz="1450" b="0">
                <a:solidFill>
                  <a:srgbClr val="202B38"/>
                </a:solidFill>
                <a:latin typeface="Arial"/>
              </a:rPr>
              <a:t>The session continues: 19 messages after question five, every answer still cited</a:t>
            </a:r>
          </a:p>
          <a:p>
            <a:pPr algn="l" indent="-228600" marL="228600">
              <a:spcAft>
                <a:spcPts val="800"/>
              </a:spcAft>
              <a:buClr>
                <a:srgbClr val="1E5EF3"/>
              </a:buClr>
              <a:buChar char="—"/>
            </a:pPr>
            <a:r>
              <a:rPr sz="1450" b="0">
                <a:solidFill>
                  <a:srgbClr val="202B38"/>
                </a:solidFill>
                <a:latin typeface="Arial"/>
              </a:rPr>
              <a:t>In plain words: compaction is summarizing the old part of the conversation to make room</a:t>
            </a:r>
          </a:p>
          <a:p>
            <a:pPr algn="l" indent="-228600" marL="228600">
              <a:spcAft>
                <a:spcPts val="800"/>
              </a:spcAft>
              <a:buClr>
                <a:srgbClr val="1E5EF3"/>
              </a:buClr>
              <a:buChar char="—"/>
            </a:pPr>
            <a:r>
              <a:rPr sz="1450" b="0">
                <a:solidFill>
                  <a:srgbClr val="202B38"/>
                </a:solidFill>
                <a:latin typeface="Arial"/>
              </a:rPr>
              <a:t>ContextWindow(budget_tokens=2500) in the library; the default budget is 6,000</a:t>
            </a:r>
          </a:p>
        </p:txBody>
      </p:sp>
      <p:pic>
        <p:nvPicPr>
          <p:cNvPr id="8" name="Picture 7" descr="s2_compaction.png"/>
          <p:cNvPicPr>
            <a:picLocks noChangeAspect="1"/>
          </p:cNvPicPr>
          <p:nvPr/>
        </p:nvPicPr>
        <p:blipFill>
          <a:blip r:embed="rId2"/>
          <a:stretch>
            <a:fillRect/>
          </a:stretch>
        </p:blipFill>
        <p:spPr>
          <a:xfrm>
            <a:off x="5120640" y="1874519"/>
            <a:ext cx="6492240" cy="4032992"/>
          </a:xfrm>
          <a:prstGeom prst="rect">
            <a:avLst/>
          </a:prstGeom>
        </p:spPr>
      </p:pic>
      <p:sp>
        <p:nvSpPr>
          <p:cNvPr id="9" name="TextBox 8"/>
          <p:cNvSpPr txBox="1"/>
          <p:nvPr/>
        </p:nvSpPr>
        <p:spPr>
          <a:xfrm>
            <a:off x="5120640" y="6062471"/>
            <a:ext cx="6492240" cy="365760"/>
          </a:xfrm>
          <a:prstGeom prst="rect">
            <a:avLst/>
          </a:prstGeom>
          <a:noFill/>
        </p:spPr>
        <p:txBody>
          <a:bodyPr wrap="square">
            <a:spAutoFit/>
          </a:bodyPr>
          <a:lstStyle/>
          <a:p>
            <a:pPr algn="ctr">
              <a:spcAft>
                <a:spcPts val="600"/>
              </a:spcAft>
              <a:buNone/>
            </a:pPr>
            <a:r>
              <a:rPr sz="1100" b="0">
                <a:solidFill>
                  <a:srgbClr val="5B6774"/>
                </a:solidFill>
                <a:latin typeface="Arial"/>
              </a:rPr>
              <a:t>Reference run on the deterministic stand-in; the live run on Claude varies and reports real tokens. Anthropic, Effective context engineering for AI agents, 29 Sep 2025.</a:t>
            </a:r>
          </a:p>
        </p:txBody>
      </p:sp>
      <p:sp>
        <p:nvSpPr>
          <p:cNvPr id="10" name="TextBox 9"/>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1" name="TextBox 10"/>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02 - TOOLS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One decorator turns a docstring into the schema the model reads</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2" cy="2743200"/>
        </p:xfrm>
        <a:graphic>
          <a:graphicData uri="http://schemas.openxmlformats.org/drawingml/2006/table">
            <a:tbl>
              <a:tblPr firstRow="1" bandRow="1">
                <a:tableStyleId>{5C22544A-7EE6-4342-B048-85BDC9FD1C3A}</a:tableStyleId>
              </a:tblPr>
              <a:tblGrid>
                <a:gridCol w="5545836"/>
                <a:gridCol w="5545836"/>
              </a:tblGrid>
              <a:tr h="457200">
                <a:tc>
                  <a:txBody>
                    <a:bodyPr wrap="square"/>
                    <a:lstStyle/>
                    <a:p>
                      <a:pPr algn="l">
                        <a:spcAft>
                          <a:spcPts val="0"/>
                        </a:spcAft>
                        <a:buNone/>
                      </a:pPr>
                      <a:r>
                        <a:rPr sz="1300" b="1">
                          <a:solidFill>
                            <a:srgbClr val="FFFFFF"/>
                          </a:solidFill>
                          <a:latin typeface="Arial"/>
                        </a:rPr>
                        <a:t>What you write (Python)</a:t>
                      </a:r>
                    </a:p>
                  </a:txBody>
                  <a:tcPr>
                    <a:solidFill>
                      <a:srgbClr val="0A2540"/>
                    </a:solidFill>
                  </a:tcPr>
                </a:tc>
                <a:tc>
                  <a:txBody>
                    <a:bodyPr wrap="square"/>
                    <a:lstStyle/>
                    <a:p>
                      <a:pPr algn="l">
                        <a:spcAft>
                          <a:spcPts val="0"/>
                        </a:spcAft>
                        <a:buNone/>
                      </a:pPr>
                      <a:r>
                        <a:rPr sz="1300" b="1">
                          <a:solidFill>
                            <a:srgbClr val="FFFFFF"/>
                          </a:solidFill>
                          <a:latin typeface="Arial"/>
                        </a:rPr>
                        <a:t>What the model sees (JSON schema)</a:t>
                      </a:r>
                    </a:p>
                  </a:txBody>
                  <a:tcPr>
                    <a:solidFill>
                      <a:srgbClr val="0A2540"/>
                    </a:solidFill>
                  </a:tcPr>
                </a:tc>
              </a:tr>
              <a:tr h="457200">
                <a:tc>
                  <a:txBody>
                    <a:bodyPr wrap="square"/>
                    <a:lstStyle/>
                    <a:p>
                      <a:pPr algn="l">
                        <a:spcAft>
                          <a:spcPts val="0"/>
                        </a:spcAft>
                        <a:buNone/>
                      </a:pPr>
                      <a:r>
                        <a:rPr sz="1000" b="0">
                          <a:solidFill>
                            <a:srgbClr val="0A2540"/>
                          </a:solidFill>
                          <a:latin typeface="Courier New"/>
                        </a:rPr>
                        <a:t>@tool</a:t>
                      </a:r>
                    </a:p>
                  </a:txBody>
                  <a:tcPr>
                    <a:solidFill>
                      <a:srgbClr val="FFFFFF"/>
                    </a:solidFill>
                  </a:tcPr>
                </a:tc>
                <a:tc>
                  <a:txBody>
                    <a:bodyPr wrap="square"/>
                    <a:lstStyle/>
                    <a:p>
                      <a:pPr algn="l">
                        <a:spcAft>
                          <a:spcPts val="0"/>
                        </a:spcAft>
                        <a:buNone/>
                      </a:pPr>
                      <a:r>
                        <a:rPr sz="1000" b="0">
                          <a:solidFill>
                            <a:srgbClr val="0A2540"/>
                          </a:solidFill>
                          <a:latin typeface="Courier New"/>
                        </a:rPr>
                        <a:t>"name": "search_docs"</a:t>
                      </a:r>
                    </a:p>
                  </a:txBody>
                  <a:tcPr>
                    <a:solidFill>
                      <a:srgbClr val="FFFFFF"/>
                    </a:solidFill>
                  </a:tcPr>
                </a:tc>
              </a:tr>
              <a:tr h="457200">
                <a:tc>
                  <a:txBody>
                    <a:bodyPr wrap="square"/>
                    <a:lstStyle/>
                    <a:p>
                      <a:pPr algn="l">
                        <a:spcAft>
                          <a:spcPts val="0"/>
                        </a:spcAft>
                        <a:buNone/>
                      </a:pPr>
                      <a:r>
                        <a:rPr sz="1000" b="0">
                          <a:solidFill>
                            <a:srgbClr val="0A2540"/>
                          </a:solidFill>
                          <a:latin typeface="Courier New"/>
                        </a:rPr>
                        <a:t>def search_docs(query: str, k: int = 3) -&gt; str:</a:t>
                      </a:r>
                    </a:p>
                  </a:txBody>
                  <a:tcPr>
                    <a:solidFill>
                      <a:srgbClr val="EEF3FD"/>
                    </a:solidFill>
                  </a:tcPr>
                </a:tc>
                <a:tc>
                  <a:txBody>
                    <a:bodyPr wrap="square"/>
                    <a:lstStyle/>
                    <a:p>
                      <a:pPr algn="l">
                        <a:spcAft>
                          <a:spcPts val="0"/>
                        </a:spcAft>
                        <a:buNone/>
                      </a:pPr>
                      <a:r>
                        <a:rPr sz="1000" b="0">
                          <a:solidFill>
                            <a:srgbClr val="0A2540"/>
                          </a:solidFill>
                          <a:latin typeface="Courier New"/>
                        </a:rPr>
                        <a:t>"parameters": {"type": "object", "required": ["query"], ...</a:t>
                      </a:r>
                    </a:p>
                  </a:txBody>
                  <a:tcPr>
                    <a:solidFill>
                      <a:srgbClr val="EEF3FD"/>
                    </a:solidFill>
                  </a:tcPr>
                </a:tc>
              </a:tr>
              <a:tr h="457200">
                <a:tc>
                  <a:txBody>
                    <a:bodyPr wrap="square"/>
                    <a:lstStyle/>
                    <a:p>
                      <a:pPr algn="l">
                        <a:spcAft>
                          <a:spcPts val="0"/>
                        </a:spcAft>
                        <a:buNone/>
                      </a:pPr>
                      <a:r>
                        <a:rPr sz="1000" b="0">
                          <a:solidFill>
                            <a:srgbClr val="0A2540"/>
                          </a:solidFill>
                          <a:latin typeface="Courier New"/>
                        </a:rPr>
                        <a:t>    """Search the course library for documents about a topic. Returns the best matches as JSON ...</a:t>
                      </a:r>
                    </a:p>
                  </a:txBody>
                  <a:tcPr>
                    <a:solidFill>
                      <a:srgbClr val="FFFFFF"/>
                    </a:solidFill>
                  </a:tcPr>
                </a:tc>
                <a:tc>
                  <a:txBody>
                    <a:bodyPr wrap="square"/>
                    <a:lstStyle/>
                    <a:p>
                      <a:pPr algn="l">
                        <a:spcAft>
                          <a:spcPts val="0"/>
                        </a:spcAft>
                        <a:buNone/>
                      </a:pPr>
                      <a:r>
                        <a:rPr sz="1000" b="0">
                          <a:solidFill>
                            <a:srgbClr val="0A2540"/>
                          </a:solidFill>
                          <a:latin typeface="Courier New"/>
                        </a:rPr>
                        <a:t>"description": "Search the course library for documents about a topic. Returns the best matches as JSON ..."</a:t>
                      </a:r>
                    </a:p>
                  </a:txBody>
                  <a:tcPr>
                    <a:solidFill>
                      <a:srgbClr val="FFFFFF"/>
                    </a:solidFill>
                  </a:tcPr>
                </a:tc>
              </a:tr>
              <a:tr h="457200">
                <a:tc>
                  <a:txBody>
                    <a:bodyPr wrap="square"/>
                    <a:lstStyle/>
                    <a:p>
                      <a:pPr algn="l">
                        <a:spcAft>
                          <a:spcPts val="0"/>
                        </a:spcAft>
                        <a:buNone/>
                      </a:pPr>
                      <a:r>
                        <a:rPr sz="1000" b="0">
                          <a:solidFill>
                            <a:srgbClr val="0A2540"/>
                          </a:solidFill>
                          <a:latin typeface="Courier New"/>
                        </a:rPr>
                        <a:t>    query: the key terms to look for, a few words, no full sentences</a:t>
                      </a:r>
                    </a:p>
                  </a:txBody>
                  <a:tcPr>
                    <a:solidFill>
                      <a:srgbClr val="EEF3FD"/>
                    </a:solidFill>
                  </a:tcPr>
                </a:tc>
                <a:tc>
                  <a:txBody>
                    <a:bodyPr wrap="square"/>
                    <a:lstStyle/>
                    <a:p>
                      <a:pPr algn="l">
                        <a:spcAft>
                          <a:spcPts val="0"/>
                        </a:spcAft>
                        <a:buNone/>
                      </a:pPr>
                      <a:r>
                        <a:rPr sz="1000" b="0">
                          <a:solidFill>
                            <a:srgbClr val="0A2540"/>
                          </a:solidFill>
                          <a:latin typeface="Courier New"/>
                        </a:rPr>
                        <a:t>"query": {"type": "string", "description": "the key terms to look for, a few words, no full sentences"}</a:t>
                      </a:r>
                    </a:p>
                  </a:txBody>
                  <a:tcPr>
                    <a:solidFill>
                      <a:srgbClr val="EEF3FD"/>
                    </a:solidFill>
                  </a:tcPr>
                </a:tc>
              </a:tr>
              <a:tr h="457200">
                <a:tc>
                  <a:txBody>
                    <a:bodyPr wrap="square"/>
                    <a:lstStyle/>
                    <a:p>
                      <a:pPr algn="l">
                        <a:spcAft>
                          <a:spcPts val="0"/>
                        </a:spcAft>
                        <a:buNone/>
                      </a:pPr>
                      <a:r>
                        <a:rPr sz="1000" b="0">
                          <a:solidFill>
                            <a:srgbClr val="0A2540"/>
                          </a:solidFill>
                          <a:latin typeface="Courier New"/>
                        </a:rPr>
                        <a:t>    k: how many results to return, default 3</a:t>
                      </a:r>
                    </a:p>
                  </a:txBody>
                  <a:tcPr>
                    <a:solidFill>
                      <a:srgbClr val="FFFFFF"/>
                    </a:solidFill>
                  </a:tcPr>
                </a:tc>
                <a:tc>
                  <a:txBody>
                    <a:bodyPr wrap="square"/>
                    <a:lstStyle/>
                    <a:p>
                      <a:pPr algn="l">
                        <a:spcAft>
                          <a:spcPts val="0"/>
                        </a:spcAft>
                        <a:buNone/>
                      </a:pPr>
                      <a:r>
                        <a:rPr sz="1000" b="0">
                          <a:solidFill>
                            <a:srgbClr val="0A2540"/>
                          </a:solidFill>
                          <a:latin typeface="Courier New"/>
                        </a:rPr>
                        <a:t>"k": {"type": "integer", "default": 3, "description": "how many results to return, default 3"}</a:t>
                      </a:r>
                    </a:p>
                  </a:txBody>
                  <a:tcPr>
                    <a:solidFill>
                      <a:srgbClr val="FFFFFF"/>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How to read it: each line on the left becomes the field on the right. The first docstring paragraph is the description; 'argument: explanation' lines describe the arguments. From harness.tools.tool.</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02 - TOOLS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 vague tool and a good tool do the same work - the model only succeeds with one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The vague tool</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name: search - description: 'Searches.' (2 tokens)</a:t>
            </a:r>
          </a:p>
          <a:p>
            <a:pPr algn="l" indent="-228600" marL="228600">
              <a:spcAft>
                <a:spcPts val="600"/>
              </a:spcAft>
              <a:buClr>
                <a:srgbClr val="1E5EF3"/>
              </a:buClr>
              <a:buChar char="—"/>
            </a:pPr>
            <a:r>
              <a:rPr sz="1300" b="0">
                <a:solidFill>
                  <a:srgbClr val="202B38"/>
                </a:solidFill>
                <a:latin typeface="Arial"/>
              </a:rPr>
              <a:t>One argument, q, with no explanation</a:t>
            </a:r>
          </a:p>
          <a:p>
            <a:pPr algn="l" indent="-228600" marL="228600">
              <a:spcAft>
                <a:spcPts val="600"/>
              </a:spcAft>
              <a:buClr>
                <a:srgbClr val="1E5EF3"/>
              </a:buClr>
              <a:buChar char="—"/>
            </a:pPr>
            <a:r>
              <a:rPr sz="1300" b="0">
                <a:solidFill>
                  <a:srgbClr val="202B38"/>
                </a:solidFill>
                <a:latin typeface="Arial"/>
              </a:rPr>
              <a:t>Returns every matching document in full: thousands of tokens</a:t>
            </a:r>
          </a:p>
          <a:p>
            <a:pPr algn="l" indent="-228600" marL="228600">
              <a:spcAft>
                <a:spcPts val="600"/>
              </a:spcAft>
              <a:buClr>
                <a:srgbClr val="1E5EF3"/>
              </a:buClr>
              <a:buChar char="—"/>
            </a:pPr>
            <a:r>
              <a:rPr sz="1300" b="0">
                <a:solidFill>
                  <a:srgbClr val="202B38"/>
                </a:solidFill>
                <a:latin typeface="Arial"/>
              </a:rPr>
              <a:t>On failure: an empty string, or a stack trace</a:t>
            </a:r>
          </a:p>
          <a:p>
            <a:pPr algn="l" indent="-228600" marL="228600">
              <a:spcAft>
                <a:spcPts val="600"/>
              </a:spcAft>
              <a:buClr>
                <a:srgbClr val="1E5EF3"/>
              </a:buClr>
              <a:buChar char="—"/>
            </a:pPr>
            <a:r>
              <a:rPr sz="1300" b="0">
                <a:solidFill>
                  <a:srgbClr val="202B38"/>
                </a:solidFill>
                <a:latin typeface="Arial"/>
              </a:rPr>
              <a:t>The model guesses when to call it, what to pass, and what came back</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The good tool</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name: search_docs - a 42-token description says what it searches and what it returns</a:t>
            </a:r>
          </a:p>
          <a:p>
            <a:pPr algn="l" indent="-228600" marL="228600">
              <a:spcAft>
                <a:spcPts val="600"/>
              </a:spcAft>
              <a:buClr>
                <a:srgbClr val="1E5EF3"/>
              </a:buClr>
              <a:buChar char="—"/>
            </a:pPr>
            <a:r>
              <a:rPr sz="1300" b="0">
                <a:solidFill>
                  <a:srgbClr val="202B38"/>
                </a:solidFill>
                <a:latin typeface="Arial"/>
              </a:rPr>
              <a:t>query: 'a few words, no full sentences'; k: 'how many results, default 3'</a:t>
            </a:r>
          </a:p>
          <a:p>
            <a:pPr algn="l" indent="-228600" marL="228600">
              <a:spcAft>
                <a:spcPts val="600"/>
              </a:spcAft>
              <a:buClr>
                <a:srgbClr val="1E5EF3"/>
              </a:buClr>
              <a:buChar char="—"/>
            </a:pPr>
            <a:r>
              <a:rPr sz="1300" b="0">
                <a:solidFill>
                  <a:srgbClr val="202B38"/>
                </a:solidFill>
                <a:latin typeface="Arial"/>
              </a:rPr>
              <a:t>Returns the top 3 as JSON: id, title, score, snippet - and says to call read_doc next</a:t>
            </a:r>
          </a:p>
          <a:p>
            <a:pPr algn="l" indent="-228600" marL="228600">
              <a:spcAft>
                <a:spcPts val="600"/>
              </a:spcAft>
              <a:buClr>
                <a:srgbClr val="1E5EF3"/>
              </a:buClr>
              <a:buChar char="—"/>
            </a:pPr>
            <a:r>
              <a:rPr sz="1300" b="0">
                <a:solidFill>
                  <a:srgbClr val="202B38"/>
                </a:solidFill>
                <a:latin typeface="Arial"/>
              </a:rPr>
              <a:t>On failure: a message that names the problem and what to try</a:t>
            </a:r>
          </a:p>
          <a:p>
            <a:pPr algn="l" indent="-228600" marL="228600">
              <a:spcAft>
                <a:spcPts val="600"/>
              </a:spcAft>
              <a:buClr>
                <a:srgbClr val="1E5EF3"/>
              </a:buClr>
              <a:buChar char="—"/>
            </a:pPr>
            <a:r>
              <a:rPr sz="1300" b="0">
                <a:solidFill>
                  <a:srgbClr val="202B38"/>
                </a:solidFill>
                <a:latin typeface="Arial"/>
              </a:rPr>
              <a:t>The model calls it at the right time, with the right words, and knows the next step</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Rules: Anthropic, Writing effective tools for agents, Sep 2025. Traces: reference run on the deterministic stand-in; the live run on Claude varies and reports real tokens.</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02 - PERMISSIONS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A permission check runs outside the model - the default says no to 'danger'</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What the notebook prints</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Denied: 'run_python' has risk level 'danger' and is not permitted here.</a:t>
            </a:r>
          </a:p>
          <a:p>
            <a:pPr algn="l" indent="-228600" marL="228600">
              <a:spcAft>
                <a:spcPts val="600"/>
              </a:spcAft>
              <a:buClr>
                <a:srgbClr val="1E5EF3"/>
              </a:buClr>
              <a:buChar char="—"/>
            </a:pPr>
            <a:r>
              <a:rPr sz="1300" b="0">
                <a:solidFill>
                  <a:srgbClr val="202B38"/>
                </a:solidFill>
                <a:latin typeface="Arial"/>
              </a:rPr>
              <a:t>Every tool carries a risk level: read, write or danger; run_python is danger</a:t>
            </a:r>
          </a:p>
          <a:p>
            <a:pPr algn="l" indent="-228600" marL="228600">
              <a:spcAft>
                <a:spcPts val="600"/>
              </a:spcAft>
              <a:buClr>
                <a:srgbClr val="1E5EF3"/>
              </a:buClr>
              <a:buChar char="—"/>
            </a:pPr>
            <a:r>
              <a:rPr sz="1300" b="0">
                <a:solidFill>
                  <a:srgbClr val="202B38"/>
                </a:solidFill>
                <a:latin typeface="Arial"/>
              </a:rPr>
              <a:t>The default permission denies danger; the denial goes back to the model as a tool result</a:t>
            </a:r>
          </a:p>
          <a:p>
            <a:pPr algn="l" indent="-228600" marL="228600">
              <a:spcAft>
                <a:spcPts val="600"/>
              </a:spcAft>
              <a:buClr>
                <a:srgbClr val="1E5EF3"/>
              </a:buClr>
              <a:buChar char="—"/>
            </a:pPr>
            <a:r>
              <a:rPr sz="1300" b="0">
                <a:solidFill>
                  <a:srgbClr val="202B38"/>
                </a:solidFill>
                <a:latin typeface="Arial"/>
              </a:rPr>
              <a:t>The loop continues - the model can explain, or try another tool</a:t>
            </a:r>
          </a:p>
          <a:p>
            <a:pPr algn="l" indent="-228600" marL="228600">
              <a:spcAft>
                <a:spcPts val="600"/>
              </a:spcAft>
              <a:buClr>
                <a:srgbClr val="1E5EF3"/>
              </a:buClr>
              <a:buChar char="—"/>
            </a:pPr>
            <a:r>
              <a:rPr sz="1300" b="0">
                <a:solidFill>
                  <a:srgbClr val="202B38"/>
                </a:solidFill>
                <a:latin typeface="Arial"/>
              </a:rPr>
              <a:t>permission=allow_all runs the same call; that is a decision, not a default</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Why it matters</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In plain words: a guardrail is a check that runs outside the model</a:t>
            </a:r>
          </a:p>
          <a:p>
            <a:pPr algn="l" indent="-228600" marL="228600">
              <a:spcAft>
                <a:spcPts val="600"/>
              </a:spcAft>
              <a:buClr>
                <a:srgbClr val="1E5EF3"/>
              </a:buClr>
              <a:buChar char="—"/>
            </a:pPr>
            <a:r>
              <a:rPr sz="1300" b="0">
                <a:solidFill>
                  <a:srgbClr val="202B38"/>
                </a:solidFill>
                <a:latin typeface="Arial"/>
              </a:rPr>
              <a:t>OpenAI, A practical guide to building agents, Apr 2025: tool safeguards with risk ratings</a:t>
            </a:r>
          </a:p>
          <a:p>
            <a:pPr algn="l" indent="-228600" marL="228600">
              <a:spcAft>
                <a:spcPts val="600"/>
              </a:spcAft>
              <a:buClr>
                <a:srgbClr val="1E5EF3"/>
              </a:buClr>
              <a:buChar char="—"/>
            </a:pPr>
            <a:r>
              <a:rPr sz="1300" b="0">
                <a:solidFill>
                  <a:srgbClr val="202B38"/>
                </a:solidFill>
                <a:latin typeface="Arial"/>
              </a:rPr>
              <a:t>93% of permission prompts get approved - the approval paradox (Marmelab, Sep 2026)</a:t>
            </a:r>
          </a:p>
          <a:p>
            <a:pPr algn="l" indent="-228600" marL="228600">
              <a:spcAft>
                <a:spcPts val="600"/>
              </a:spcAft>
              <a:buClr>
                <a:srgbClr val="1E5EF3"/>
              </a:buClr>
              <a:buChar char="—"/>
            </a:pPr>
            <a:r>
              <a:rPr sz="1300" b="0">
                <a:solidFill>
                  <a:srgbClr val="202B38"/>
                </a:solidFill>
                <a:latin typeface="Arial"/>
              </a:rPr>
              <a:t>So the default must be safe without a human clicking</a:t>
            </a:r>
          </a:p>
          <a:p>
            <a:pPr algn="l" indent="-228600" marL="228600">
              <a:spcAft>
                <a:spcPts val="600"/>
              </a:spcAft>
              <a:buClr>
                <a:srgbClr val="1E5EF3"/>
              </a:buClr>
              <a:buChar char="—"/>
            </a:pPr>
            <a:r>
              <a:rPr sz="1300" b="0">
                <a:solidFill>
                  <a:srgbClr val="202B38"/>
                </a:solidFill>
                <a:latin typeface="Arial"/>
              </a:rPr>
              <a:t>Session 3 builds hooks, risk levels and approval gates in full</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Message text from harness.agent, printed by notebook 02 in the reference run on the stand-in; identical on live Claude, because the check runs outside the model. Risk levels: read, write, danger.</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02 - SKILLS</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The skills catalog: three descriptions the agent always sees, three bodies it opens on demand</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48640" y="1874519"/>
          <a:ext cx="11091670" cy="1828800"/>
        </p:xfrm>
        <a:graphic>
          <a:graphicData uri="http://schemas.openxmlformats.org/drawingml/2006/table">
            <a:tbl>
              <a:tblPr firstRow="1" bandRow="1">
                <a:tableStyleId>{5C22544A-7EE6-4342-B048-85BDC9FD1C3A}</a:tableStyleId>
              </a:tblPr>
              <a:tblGrid>
                <a:gridCol w="1948536"/>
                <a:gridCol w="6295273"/>
                <a:gridCol w="2847861"/>
              </a:tblGrid>
              <a:tr h="457200">
                <a:tc>
                  <a:txBody>
                    <a:bodyPr wrap="square"/>
                    <a:lstStyle/>
                    <a:p>
                      <a:pPr algn="l">
                        <a:spcAft>
                          <a:spcPts val="0"/>
                        </a:spcAft>
                        <a:buNone/>
                      </a:pPr>
                      <a:r>
                        <a:rPr sz="1300" b="1">
                          <a:solidFill>
                            <a:srgbClr val="FFFFFF"/>
                          </a:solidFill>
                          <a:latin typeface="Arial"/>
                        </a:rPr>
                        <a:t>Skill</a:t>
                      </a:r>
                    </a:p>
                  </a:txBody>
                  <a:tcPr>
                    <a:solidFill>
                      <a:srgbClr val="0A2540"/>
                    </a:solidFill>
                  </a:tcPr>
                </a:tc>
                <a:tc>
                  <a:txBody>
                    <a:bodyPr wrap="square"/>
                    <a:lstStyle/>
                    <a:p>
                      <a:pPr algn="l">
                        <a:spcAft>
                          <a:spcPts val="0"/>
                        </a:spcAft>
                        <a:buNone/>
                      </a:pPr>
                      <a:r>
                        <a:rPr sz="1300" b="1">
                          <a:solidFill>
                            <a:srgbClr val="FFFFFF"/>
                          </a:solidFill>
                          <a:latin typeface="Arial"/>
                        </a:rPr>
                        <a:t>Level 1 - description, always in context</a:t>
                      </a:r>
                    </a:p>
                  </a:txBody>
                  <a:tcPr>
                    <a:solidFill>
                      <a:srgbClr val="0A2540"/>
                    </a:solidFill>
                  </a:tcPr>
                </a:tc>
                <a:tc>
                  <a:txBody>
                    <a:bodyPr wrap="square"/>
                    <a:lstStyle/>
                    <a:p>
                      <a:pPr algn="l">
                        <a:spcAft>
                          <a:spcPts val="0"/>
                        </a:spcAft>
                        <a:buNone/>
                      </a:pPr>
                      <a:r>
                        <a:rPr sz="1300" b="1">
                          <a:solidFill>
                            <a:srgbClr val="FFFFFF"/>
                          </a:solidFill>
                          <a:latin typeface="Arial"/>
                        </a:rPr>
                        <a:t>Level 3 - resource opened during execution</a:t>
                      </a:r>
                    </a:p>
                  </a:txBody>
                  <a:tcPr>
                    <a:solidFill>
                      <a:srgbClr val="0A2540"/>
                    </a:solidFill>
                  </a:tcPr>
                </a:tc>
              </a:tr>
              <a:tr h="457200">
                <a:tc>
                  <a:txBody>
                    <a:bodyPr wrap="square"/>
                    <a:lstStyle/>
                    <a:p>
                      <a:pPr algn="l">
                        <a:spcAft>
                          <a:spcPts val="0"/>
                        </a:spcAft>
                        <a:buNone/>
                      </a:pPr>
                      <a:r>
                        <a:rPr sz="1100" b="0">
                          <a:solidFill>
                            <a:srgbClr val="0A2540"/>
                          </a:solidFill>
                          <a:latin typeface="Courier New"/>
                        </a:rPr>
                        <a:t>cite-sources</a:t>
                      </a:r>
                    </a:p>
                  </a:txBody>
                  <a:tcPr>
                    <a:solidFill>
                      <a:srgbClr val="FFFFFF"/>
                    </a:solidFill>
                  </a:tcPr>
                </a:tc>
                <a:tc>
                  <a:txBody>
                    <a:bodyPr wrap="square"/>
                    <a:lstStyle/>
                    <a:p>
                      <a:pPr algn="l">
                        <a:spcAft>
                          <a:spcPts val="0"/>
                        </a:spcAft>
                        <a:buNone/>
                      </a:pPr>
                      <a:r>
                        <a:rPr sz="1250" b="0">
                          <a:solidFill>
                            <a:srgbClr val="202B38"/>
                          </a:solidFill>
                          <a:latin typeface="Arial"/>
                        </a:rPr>
                        <a:t>Answer factual questions from the course library with a [source: id] citation, verified with check_citation before replying.</a:t>
                      </a:r>
                    </a:p>
                  </a:txBody>
                  <a:tcPr>
                    <a:solidFill>
                      <a:srgbClr val="FFFFFF"/>
                    </a:solidFill>
                  </a:tcPr>
                </a:tc>
                <a:tc>
                  <a:txBody>
                    <a:bodyPr wrap="square"/>
                    <a:lstStyle/>
                    <a:p>
                      <a:pPr algn="l">
                        <a:spcAft>
                          <a:spcPts val="0"/>
                        </a:spcAft>
                        <a:buNone/>
                      </a:pPr>
                      <a:r>
                        <a:rPr sz="1250" b="0">
                          <a:solidFill>
                            <a:srgbClr val="202B38"/>
                          </a:solidFill>
                          <a:latin typeface="Arial"/>
                        </a:rPr>
                        <a:t>checklist.md</a:t>
                      </a:r>
                    </a:p>
                  </a:txBody>
                  <a:tcPr>
                    <a:solidFill>
                      <a:srgbClr val="FFFFFF"/>
                    </a:solidFill>
                  </a:tcPr>
                </a:tc>
              </a:tr>
              <a:tr h="457200">
                <a:tc>
                  <a:txBody>
                    <a:bodyPr wrap="square"/>
                    <a:lstStyle/>
                    <a:p>
                      <a:pPr algn="l">
                        <a:spcAft>
                          <a:spcPts val="0"/>
                        </a:spcAft>
                        <a:buNone/>
                      </a:pPr>
                      <a:r>
                        <a:rPr sz="1100" b="0">
                          <a:solidFill>
                            <a:srgbClr val="0A2540"/>
                          </a:solidFill>
                          <a:latin typeface="Courier New"/>
                        </a:rPr>
                        <a:t>safe-calculations</a:t>
                      </a:r>
                    </a:p>
                  </a:txBody>
                  <a:tcPr>
                    <a:solidFill>
                      <a:srgbClr val="EEF3FD"/>
                    </a:solidFill>
                  </a:tcPr>
                </a:tc>
                <a:tc>
                  <a:txBody>
                    <a:bodyPr wrap="square"/>
                    <a:lstStyle/>
                    <a:p>
                      <a:pPr algn="l">
                        <a:spcAft>
                          <a:spcPts val="0"/>
                        </a:spcAft>
                        <a:buNone/>
                      </a:pPr>
                      <a:r>
                        <a:rPr sz="1250" b="0">
                          <a:solidFill>
                            <a:srgbClr val="202B38"/>
                          </a:solidFill>
                          <a:latin typeface="Arial"/>
                        </a:rPr>
                        <a:t>Do every calculation with the calculator tool, never in your head, and show the exact expression you evaluated.</a:t>
                      </a:r>
                    </a:p>
                  </a:txBody>
                  <a:tcPr>
                    <a:solidFill>
                      <a:srgbClr val="EEF3FD"/>
                    </a:solidFill>
                  </a:tcPr>
                </a:tc>
                <a:tc>
                  <a:txBody>
                    <a:bodyPr wrap="square"/>
                    <a:lstStyle/>
                    <a:p>
                      <a:pPr algn="l">
                        <a:spcAft>
                          <a:spcPts val="0"/>
                        </a:spcAft>
                        <a:buNone/>
                      </a:pPr>
                      <a:r>
                        <a:rPr sz="1250" b="0">
                          <a:solidFill>
                            <a:srgbClr val="202B38"/>
                          </a:solidFill>
                          <a:latin typeface="Arial"/>
                        </a:rPr>
                        <a:t>(none)</a:t>
                      </a:r>
                    </a:p>
                  </a:txBody>
                  <a:tcPr>
                    <a:solidFill>
                      <a:srgbClr val="EEF3FD"/>
                    </a:solidFill>
                  </a:tcPr>
                </a:tc>
              </a:tr>
              <a:tr h="457200">
                <a:tc>
                  <a:txBody>
                    <a:bodyPr wrap="square"/>
                    <a:lstStyle/>
                    <a:p>
                      <a:pPr algn="l">
                        <a:spcAft>
                          <a:spcPts val="0"/>
                        </a:spcAft>
                        <a:buNone/>
                      </a:pPr>
                      <a:r>
                        <a:rPr sz="1100" b="0">
                          <a:solidFill>
                            <a:srgbClr val="0A2540"/>
                          </a:solidFill>
                          <a:latin typeface="Courier New"/>
                        </a:rPr>
                        <a:t>summarize-brief</a:t>
                      </a:r>
                    </a:p>
                  </a:txBody>
                  <a:tcPr>
                    <a:solidFill>
                      <a:srgbClr val="FFFFFF"/>
                    </a:solidFill>
                  </a:tcPr>
                </a:tc>
                <a:tc>
                  <a:txBody>
                    <a:bodyPr wrap="square"/>
                    <a:lstStyle/>
                    <a:p>
                      <a:pPr algn="l">
                        <a:spcAft>
                          <a:spcPts val="0"/>
                        </a:spcAft>
                        <a:buNone/>
                      </a:pPr>
                      <a:r>
                        <a:rPr sz="1250" b="0">
                          <a:solidFill>
                            <a:srgbClr val="202B38"/>
                          </a:solidFill>
                          <a:latin typeface="Arial"/>
                        </a:rPr>
                        <a:t>Turn one library document into a five-line brief with exactly one concrete number or date per line.</a:t>
                      </a:r>
                    </a:p>
                  </a:txBody>
                  <a:tcPr>
                    <a:solidFill>
                      <a:srgbClr val="FFFFFF"/>
                    </a:solidFill>
                  </a:tcPr>
                </a:tc>
                <a:tc>
                  <a:txBody>
                    <a:bodyPr wrap="square"/>
                    <a:lstStyle/>
                    <a:p>
                      <a:pPr algn="l">
                        <a:spcAft>
                          <a:spcPts val="0"/>
                        </a:spcAft>
                        <a:buNone/>
                      </a:pPr>
                      <a:r>
                        <a:rPr sz="1250" b="0">
                          <a:solidFill>
                            <a:srgbClr val="202B38"/>
                          </a:solidFill>
                          <a:latin typeface="Arial"/>
                        </a:rPr>
                        <a:t>template.md</a:t>
                      </a:r>
                    </a:p>
                  </a:txBody>
                  <a:tcPr>
                    <a:solidFill>
                      <a:srgbClr val="FFFFFF"/>
                    </a:solidFill>
                  </a:tcPr>
                </a:tc>
              </a:tr>
            </a:tbl>
          </a:graphicData>
        </a:graphic>
      </p:graphicFrame>
      <p:sp>
        <p:nvSpPr>
          <p:cNvPr id="8" name="TextBox 7"/>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Catalog 98 tokens; three bodies 321 tokens (3.3x); a skill run costs ~1,800 tokens more. Reference run on the deterministic stand-in; the live run on Claude varies and reports real tokens. Anthropic, Agent Skills, 16 Oct 2025.</a:t>
            </a:r>
          </a:p>
        </p:txBody>
      </p:sp>
      <p:sp>
        <p:nvSpPr>
          <p:cNvPr id="9" name="TextBox 8"/>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0" name="TextBox 9"/>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75488"/>
            <a:ext cx="457200" cy="54864"/>
          </a:xfrm>
          <a:prstGeom prst="rect">
            <a:avLst/>
          </a:prstGeom>
          <a:solidFill>
            <a:srgbClr val="1E5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03504"/>
            <a:ext cx="11091672" cy="274320"/>
          </a:xfrm>
          <a:prstGeom prst="rect">
            <a:avLst/>
          </a:prstGeom>
          <a:noFill/>
        </p:spPr>
        <p:txBody>
          <a:bodyPr wrap="square">
            <a:spAutoFit/>
          </a:bodyPr>
          <a:lstStyle/>
          <a:p>
            <a:pPr algn="l">
              <a:spcAft>
                <a:spcPts val="600"/>
              </a:spcAft>
              <a:buNone/>
            </a:pPr>
            <a:r>
              <a:rPr sz="1100" b="1">
                <a:solidFill>
                  <a:srgbClr val="1E5EF3"/>
                </a:solidFill>
                <a:latin typeface="Arial"/>
              </a:rPr>
              <a:t>NOTEBOOK 02 - THE ENGINE SWITCH</a:t>
            </a:r>
          </a:p>
        </p:txBody>
      </p:sp>
      <p:sp>
        <p:nvSpPr>
          <p:cNvPr id="5" name="TextBox 4"/>
          <p:cNvSpPr txBox="1"/>
          <p:nvPr/>
        </p:nvSpPr>
        <p:spPr>
          <a:xfrm>
            <a:off x="548640" y="868680"/>
            <a:ext cx="11091672" cy="777240"/>
          </a:xfrm>
          <a:prstGeom prst="rect">
            <a:avLst/>
          </a:prstGeom>
          <a:noFill/>
        </p:spPr>
        <p:txBody>
          <a:bodyPr wrap="square">
            <a:spAutoFit/>
          </a:bodyPr>
          <a:lstStyle/>
          <a:p>
            <a:pPr algn="l">
              <a:spcAft>
                <a:spcPts val="0"/>
              </a:spcAft>
              <a:buNone/>
            </a:pPr>
            <a:r>
              <a:rPr sz="2600" b="1">
                <a:solidFill>
                  <a:srgbClr val="0A2540"/>
                </a:solidFill>
                <a:latin typeface="Arial"/>
              </a:rPr>
              <a:t>Two engines, one harness: Claude when a key is present, the stand-in otherwise</a:t>
            </a:r>
          </a:p>
        </p:txBody>
      </p:sp>
      <p:sp>
        <p:nvSpPr>
          <p:cNvPr id="6" name="Rectangle 5"/>
          <p:cNvSpPr/>
          <p:nvPr/>
        </p:nvSpPr>
        <p:spPr>
          <a:xfrm>
            <a:off x="548640" y="1664208"/>
            <a:ext cx="11091672" cy="12801"/>
          </a:xfrm>
          <a:prstGeom prst="rect">
            <a:avLst/>
          </a:prstGeom>
          <a:solidFill>
            <a:srgbClr val="B9D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The stand-in - ScriptedModel</a:t>
            </a:r>
          </a:p>
        </p:txBody>
      </p:sp>
      <p:sp>
        <p:nvSpPr>
          <p:cNvPr id="9" name="TextBox 8"/>
          <p:cNvSpPr txBox="1"/>
          <p:nvPr/>
        </p:nvSpPr>
        <p:spPr>
          <a:xfrm>
            <a:off x="777240"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Used automatically when no ANTHROPIC_API_KEY is found: CI, key-less Colab</a:t>
            </a:r>
          </a:p>
          <a:p>
            <a:pPr algn="l" indent="-228600" marL="228600">
              <a:spcAft>
                <a:spcPts val="600"/>
              </a:spcAft>
              <a:buClr>
                <a:srgbClr val="1E5EF3"/>
              </a:buClr>
              <a:buChar char="—"/>
            </a:pPr>
            <a:r>
              <a:rPr sz="1300" b="0">
                <a:solidFill>
                  <a:srgbClr val="202B38"/>
                </a:solidFill>
                <a:latin typeface="Arial"/>
              </a:rPr>
              <a:t>Deterministic: the reference runs whose numbers appear on these slides</a:t>
            </a:r>
          </a:p>
          <a:p>
            <a:pPr algn="l" indent="-228600" marL="228600">
              <a:spcAft>
                <a:spcPts val="600"/>
              </a:spcAft>
              <a:buClr>
                <a:srgbClr val="1E5EF3"/>
              </a:buClr>
              <a:buChar char="—"/>
            </a:pPr>
            <a:r>
              <a:rPr sz="1300" b="0">
                <a:solidFill>
                  <a:srgbClr val="202B38"/>
                </a:solidFill>
                <a:latin typeface="Arial"/>
              </a:rPr>
              <a:t>A hand-written policy decides the next message from what it sees</a:t>
            </a:r>
          </a:p>
          <a:p>
            <a:pPr algn="l" indent="-228600" marL="228600">
              <a:spcAft>
                <a:spcPts val="600"/>
              </a:spcAft>
              <a:buClr>
                <a:srgbClr val="1E5EF3"/>
              </a:buClr>
              <a:buChar char="—"/>
            </a:pPr>
            <a:r>
              <a:rPr sz="1300" b="0">
                <a:solidFill>
                  <a:srgbClr val="202B38"/>
                </a:solidFill>
                <a:latin typeface="Arial"/>
              </a:rPr>
              <a:t>Its limits are the point: it knows only what the policy encodes</a:t>
            </a:r>
          </a:p>
        </p:txBody>
      </p:sp>
      <p:sp>
        <p:nvSpPr>
          <p:cNvPr id="10" name="Rectangle 9"/>
          <p:cNvSpPr/>
          <p:nvPr/>
        </p:nvSpPr>
        <p:spPr>
          <a:xfrm>
            <a:off x="6245352" y="1874519"/>
            <a:ext cx="5394960" cy="3977639"/>
          </a:xfrm>
          <a:prstGeom prst="rect">
            <a:avLst/>
          </a:prstGeom>
          <a:solidFill>
            <a:srgbClr val="EEF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2039111"/>
            <a:ext cx="4937760" cy="365760"/>
          </a:xfrm>
          <a:prstGeom prst="rect">
            <a:avLst/>
          </a:prstGeom>
          <a:noFill/>
        </p:spPr>
        <p:txBody>
          <a:bodyPr wrap="square">
            <a:spAutoFit/>
          </a:bodyPr>
          <a:lstStyle/>
          <a:p>
            <a:pPr algn="l">
              <a:spcAft>
                <a:spcPts val="600"/>
              </a:spcAft>
              <a:buNone/>
            </a:pPr>
            <a:r>
              <a:rPr sz="1500" b="1">
                <a:solidFill>
                  <a:srgbClr val="0A2540"/>
                </a:solidFill>
                <a:latin typeface="Arial"/>
              </a:rPr>
              <a:t>Real Claude - the default with a key</a:t>
            </a:r>
          </a:p>
        </p:txBody>
      </p:sp>
      <p:sp>
        <p:nvSpPr>
          <p:cNvPr id="12" name="TextBox 11"/>
          <p:cNvSpPr txBox="1"/>
          <p:nvPr/>
        </p:nvSpPr>
        <p:spPr>
          <a:xfrm>
            <a:off x="6473952" y="2441447"/>
            <a:ext cx="4937760" cy="3246119"/>
          </a:xfrm>
          <a:prstGeom prst="rect">
            <a:avLst/>
          </a:prstGeom>
          <a:noFill/>
        </p:spPr>
        <p:txBody>
          <a:bodyPr wrap="square">
            <a:spAutoFit/>
          </a:bodyPr>
          <a:lstStyle/>
          <a:p>
            <a:pPr algn="l" indent="-228600" marL="228600">
              <a:spcAft>
                <a:spcPts val="600"/>
              </a:spcAft>
              <a:buClr>
                <a:srgbClr val="1E5EF3"/>
              </a:buClr>
              <a:buChar char="—"/>
            </a:pPr>
            <a:r>
              <a:rPr sz="1300" b="0">
                <a:solidFill>
                  <a:srgbClr val="202B38"/>
                </a:solidFill>
                <a:latin typeface="Arial"/>
              </a:rPr>
              <a:t>model_for('research') returns claude-opus-5; workers and judges get claude-sonnet-5</a:t>
            </a:r>
          </a:p>
          <a:p>
            <a:pPr algn="l" indent="-228600" marL="228600">
              <a:spcAft>
                <a:spcPts val="600"/>
              </a:spcAft>
              <a:buClr>
                <a:srgbClr val="1E5EF3"/>
              </a:buClr>
              <a:buChar char="—"/>
            </a:pPr>
            <a:r>
              <a:rPr sz="1300" b="0">
                <a:solidFill>
                  <a:srgbClr val="202B38"/>
                </a:solidFill>
                <a:latin typeface="Arial"/>
              </a:rPr>
              <a:t>The key lives in a git-ignored .env at the repository root (copy .env.example)</a:t>
            </a:r>
          </a:p>
          <a:p>
            <a:pPr algn="l" indent="-228600" marL="228600">
              <a:spcAft>
                <a:spcPts val="600"/>
              </a:spcAft>
              <a:buClr>
                <a:srgbClr val="1E5EF3"/>
              </a:buClr>
              <a:buChar char="—"/>
            </a:pPr>
            <a:r>
              <a:rPr sz="1300" b="0">
                <a:solidFill>
                  <a:srgbClr val="202B38"/>
                </a:solidFill>
                <a:latin typeface="Arial"/>
              </a:rPr>
              <a:t>Key in .env, never in a cell, never committed - CI scans every commit for secrets</a:t>
            </a:r>
          </a:p>
          <a:p>
            <a:pPr algn="l" indent="-228600" marL="228600">
              <a:spcAft>
                <a:spcPts val="600"/>
              </a:spcAft>
              <a:buClr>
                <a:srgbClr val="1E5EF3"/>
              </a:buClr>
              <a:buChar char="—"/>
            </a:pPr>
            <a:r>
              <a:rPr sz="1300" b="0">
                <a:solidFill>
                  <a:srgbClr val="202B38"/>
                </a:solidFill>
                <a:latin typeface="Arial"/>
              </a:rPr>
              <a:t>Live runs vary and print real token usage; tools, budget, permissions and skills stay the same</a:t>
            </a:r>
          </a:p>
        </p:txBody>
      </p:sp>
      <p:sp>
        <p:nvSpPr>
          <p:cNvPr id="13" name="TextBox 12"/>
          <p:cNvSpPr txBox="1"/>
          <p:nvPr/>
        </p:nvSpPr>
        <p:spPr>
          <a:xfrm>
            <a:off x="548640" y="6053328"/>
            <a:ext cx="11091672" cy="502920"/>
          </a:xfrm>
          <a:prstGeom prst="rect">
            <a:avLst/>
          </a:prstGeom>
          <a:noFill/>
        </p:spPr>
        <p:txBody>
          <a:bodyPr wrap="square">
            <a:spAutoFit/>
          </a:bodyPr>
          <a:lstStyle/>
          <a:p>
            <a:pPr algn="l">
              <a:spcAft>
                <a:spcPts val="600"/>
              </a:spcAft>
              <a:buNone/>
            </a:pPr>
            <a:r>
              <a:rPr sz="1200" b="0">
                <a:solidFill>
                  <a:srgbClr val="1E5EF3"/>
                </a:solidFill>
                <a:latin typeface="Arial"/>
              </a:rPr>
              <a:t>harness.runtime.model_for(role): claude-opus-5 for lead and research roles, claude-sonnet-5 for workers and judges; override with HARNESS_MODEL and HARNESS_WORKER_MODEL.</a:t>
            </a:r>
          </a:p>
        </p:txBody>
      </p:sp>
      <p:sp>
        <p:nvSpPr>
          <p:cNvPr id="14" name="TextBox 13"/>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5B6774"/>
                </a:solidFill>
                <a:latin typeface="Arial"/>
              </a:rPr>
              <a:t>M5 Session 2 - Models, Context, Tools and Skills</a:t>
            </a:r>
          </a:p>
        </p:txBody>
      </p:sp>
      <p:sp>
        <p:nvSpPr>
          <p:cNvPr id="15" name="TextBox 14"/>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5B677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2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280160"/>
            <a:ext cx="10332720" cy="1097280"/>
          </a:xfrm>
          <a:prstGeom prst="rect">
            <a:avLst/>
          </a:prstGeom>
          <a:noFill/>
        </p:spPr>
        <p:txBody>
          <a:bodyPr wrap="square">
            <a:spAutoFit/>
          </a:bodyPr>
          <a:lstStyle/>
          <a:p>
            <a:pPr algn="l">
              <a:spcAft>
                <a:spcPts val="600"/>
              </a:spcAft>
              <a:buNone/>
            </a:pPr>
            <a:r>
              <a:rPr sz="3400" b="1">
                <a:solidFill>
                  <a:srgbClr val="FFFFFF"/>
                </a:solidFill>
                <a:latin typeface="Arial"/>
              </a:rPr>
              <a:t>You now know the four pieces the model sees - next session you build the loop around them</a:t>
            </a:r>
          </a:p>
        </p:txBody>
      </p:sp>
      <p:sp>
        <p:nvSpPr>
          <p:cNvPr id="4" name="TextBox 3"/>
          <p:cNvSpPr txBox="1"/>
          <p:nvPr/>
        </p:nvSpPr>
        <p:spPr>
          <a:xfrm>
            <a:off x="914400" y="2651760"/>
            <a:ext cx="10058400" cy="2926080"/>
          </a:xfrm>
          <a:prstGeom prst="rect">
            <a:avLst/>
          </a:prstGeom>
          <a:noFill/>
        </p:spPr>
        <p:txBody>
          <a:bodyPr wrap="square">
            <a:spAutoFit/>
          </a:bodyPr>
          <a:lstStyle/>
          <a:p>
            <a:pPr algn="l" indent="-228600" marL="228600">
              <a:spcAft>
                <a:spcPts val="1000"/>
              </a:spcAft>
              <a:buClr>
                <a:srgbClr val="1E5EF3"/>
              </a:buClr>
              <a:buChar char="—"/>
            </a:pPr>
            <a:r>
              <a:rPr sz="1600" b="0">
                <a:solidFill>
                  <a:srgbClr val="B9D0FA"/>
                </a:solidFill>
                <a:latin typeface="Arial"/>
              </a:rPr>
              <a:t>Model: one interface, context in and next message out; route cheap models to easy steps</a:t>
            </a:r>
          </a:p>
          <a:p>
            <a:pPr algn="l" indent="-228600" marL="228600">
              <a:spcAft>
                <a:spcPts val="1000"/>
              </a:spcAft>
              <a:buClr>
                <a:srgbClr val="1E5EF3"/>
              </a:buClr>
              <a:buChar char="—"/>
            </a:pPr>
            <a:r>
              <a:rPr sz="1600" b="0">
                <a:solidFill>
                  <a:srgbClr val="B9D0FA"/>
                </a:solidFill>
                <a:latin typeface="Arial"/>
              </a:rPr>
              <a:t>Context is a budget: compaction, notes and sub-agents keep it under the line</a:t>
            </a:r>
          </a:p>
          <a:p>
            <a:pPr algn="l" indent="-228600" marL="228600">
              <a:spcAft>
                <a:spcPts val="1000"/>
              </a:spcAft>
              <a:buClr>
                <a:srgbClr val="1E5EF3"/>
              </a:buClr>
              <a:buChar char="—"/>
            </a:pPr>
            <a:r>
              <a:rPr sz="1600" b="0">
                <a:solidFill>
                  <a:srgbClr val="B9D0FA"/>
                </a:solidFill>
                <a:latin typeface="Arial"/>
              </a:rPr>
              <a:t>Instruction files: short and human-written help; when everything is important, nothing is</a:t>
            </a:r>
          </a:p>
          <a:p>
            <a:pPr algn="l" indent="-228600" marL="228600">
              <a:spcAft>
                <a:spcPts val="1000"/>
              </a:spcAft>
              <a:buClr>
                <a:srgbClr val="1E5EF3"/>
              </a:buClr>
              <a:buChar char="—"/>
            </a:pPr>
            <a:r>
              <a:rPr sz="1600" b="0">
                <a:solidFill>
                  <a:srgbClr val="B9D0FA"/>
                </a:solidFill>
                <a:latin typeface="Arial"/>
              </a:rPr>
              <a:t>Tools are prompt engineering for machines; fewer tools win; MCP is the plug</a:t>
            </a:r>
          </a:p>
          <a:p>
            <a:pPr algn="l" indent="-228600" marL="228600">
              <a:spcAft>
                <a:spcPts val="1000"/>
              </a:spcAft>
              <a:buClr>
                <a:srgbClr val="1E5EF3"/>
              </a:buClr>
              <a:buChar char="—"/>
            </a:pPr>
            <a:r>
              <a:rPr sz="1600" b="0">
                <a:solidFill>
                  <a:srgbClr val="B9D0FA"/>
                </a:solidFill>
                <a:latin typeface="Arial"/>
              </a:rPr>
              <a:t>Skills load in three levels: 98 tokens of catalog, bodies on demand, resources in execution</a:t>
            </a:r>
          </a:p>
          <a:p>
            <a:pPr algn="l" indent="-228600" marL="228600">
              <a:spcAft>
                <a:spcPts val="1000"/>
              </a:spcAft>
              <a:buClr>
                <a:srgbClr val="1E5EF3"/>
              </a:buClr>
              <a:buChar char="—"/>
            </a:pPr>
            <a:r>
              <a:rPr sz="1600" b="0">
                <a:solidFill>
                  <a:srgbClr val="B9D0FA"/>
                </a:solidFill>
                <a:latin typeface="Arial"/>
              </a:rPr>
              <a:t>Notebook 02: compaction 24 to 11, a schema from a docstring, a denied 'danger' tool, three skills</a:t>
            </a:r>
          </a:p>
          <a:p>
            <a:pPr algn="l" indent="-228600" marL="228600">
              <a:spcAft>
                <a:spcPts val="1000"/>
              </a:spcAft>
              <a:buClr>
                <a:srgbClr val="1E5EF3"/>
              </a:buClr>
              <a:buChar char="—"/>
            </a:pPr>
            <a:r>
              <a:rPr sz="1600" b="0">
                <a:solidFill>
                  <a:srgbClr val="B9D0FA"/>
                </a:solidFill>
                <a:latin typeface="Arial"/>
              </a:rPr>
              <a:t>Practice now: notebook 02 in Colab, Runtime &gt; Run all, the exercises before the solutions</a:t>
            </a:r>
          </a:p>
        </p:txBody>
      </p:sp>
      <p:sp>
        <p:nvSpPr>
          <p:cNvPr id="5" name="TextBox 4"/>
          <p:cNvSpPr txBox="1"/>
          <p:nvPr/>
        </p:nvSpPr>
        <p:spPr>
          <a:xfrm>
            <a:off x="914400" y="6035040"/>
            <a:ext cx="9144000" cy="365760"/>
          </a:xfrm>
          <a:prstGeom prst="rect">
            <a:avLst/>
          </a:prstGeom>
          <a:noFill/>
        </p:spPr>
        <p:txBody>
          <a:bodyPr wrap="square">
            <a:spAutoFit/>
          </a:bodyPr>
          <a:lstStyle/>
          <a:p>
            <a:pPr algn="l">
              <a:spcAft>
                <a:spcPts val="600"/>
              </a:spcAft>
              <a:buNone/>
            </a:pPr>
            <a:r>
              <a:rPr sz="1200" b="0">
                <a:solidFill>
                  <a:srgbClr val="B9D0FA"/>
                </a:solidFill>
                <a:latin typeface="Arial"/>
              </a:rPr>
              <a:t>Harness Engineering - Module 5</a:t>
            </a:r>
          </a:p>
        </p:txBody>
      </p:sp>
      <p:sp>
        <p:nvSpPr>
          <p:cNvPr id="6" name="TextBox 5"/>
          <p:cNvSpPr txBox="1"/>
          <p:nvPr/>
        </p:nvSpPr>
        <p:spPr>
          <a:xfrm>
            <a:off x="548640" y="6473952"/>
            <a:ext cx="7315200" cy="292608"/>
          </a:xfrm>
          <a:prstGeom prst="rect">
            <a:avLst/>
          </a:prstGeom>
          <a:noFill/>
        </p:spPr>
        <p:txBody>
          <a:bodyPr wrap="square">
            <a:spAutoFit/>
          </a:bodyPr>
          <a:lstStyle/>
          <a:p>
            <a:pPr algn="l">
              <a:spcAft>
                <a:spcPts val="600"/>
              </a:spcAft>
              <a:buNone/>
            </a:pPr>
            <a:r>
              <a:rPr sz="900" b="0">
                <a:solidFill>
                  <a:srgbClr val="B9D0FA"/>
                </a:solidFill>
                <a:latin typeface="Arial"/>
              </a:rPr>
              <a:t>M5 Session 2 - Models, Context, Tools and Skills</a:t>
            </a:r>
          </a:p>
        </p:txBody>
      </p:sp>
      <p:sp>
        <p:nvSpPr>
          <p:cNvPr id="7" name="TextBox 6"/>
          <p:cNvSpPr txBox="1"/>
          <p:nvPr/>
        </p:nvSpPr>
        <p:spPr>
          <a:xfrm>
            <a:off x="11292840" y="6473952"/>
            <a:ext cx="548640" cy="292608"/>
          </a:xfrm>
          <a:prstGeom prst="rect">
            <a:avLst/>
          </a:prstGeom>
          <a:noFill/>
        </p:spPr>
        <p:txBody>
          <a:bodyPr wrap="square">
            <a:spAutoFit/>
          </a:bodyPr>
          <a:lstStyle/>
          <a:p>
            <a:pPr algn="r">
              <a:spcAft>
                <a:spcPts val="600"/>
              </a:spcAft>
              <a:buNone/>
            </a:pPr>
            <a:r>
              <a:rPr sz="900" b="0">
                <a:solidFill>
                  <a:srgbClr val="B9D0FA"/>
                </a:solidFill>
                <a:latin typeface="Arial"/>
              </a:rPr>
              <a:t>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M5 Session 2 - Models, Context, Tools and Skills</dc:title>
  <dc:subject/>
  <dc:creator>M5 Harness Engineering course</dc:creator>
  <cp:keywords/>
  <dc:description/>
  <cp:lastModifiedBy>M5 Harness Engineering course</cp:lastModifiedBy>
  <cp:revision>1</cp:revision>
  <dcterms:created xsi:type="dcterms:W3CDTF">2013-01-27T09:14:16Z</dcterms:created>
  <dcterms:modified xsi:type="dcterms:W3CDTF">2013-01-27T09:15:58Z</dcterms:modified>
  <cp:category/>
</cp:coreProperties>
</file>