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e99eec59484e56" /><Relationship Type="http://schemas.openxmlformats.org/officeDocument/2006/relationships/extended-properties" Target="/docProps/app.xml" Id="R76ddc3e2f46340b5" /><Relationship Type="http://schemas.openxmlformats.org/officeDocument/2006/relationships/officeDocument" Target="/ppt/presentation.xml" Id="Ra12e17d6334f4572" /></Relationships>
</file>

<file path=ppt/presentation.xml><?xml version="1.0" encoding="utf-8"?>
<p:presentation xmlns:p="http://schemas.openxmlformats.org/presentationml/2006/main">
  <p:sldMasterIdLst>
    <p:sldMasterId xmlns:r="http://schemas.openxmlformats.org/officeDocument/2006/relationships" id="2147483648" r:id="R3b0a3c2bb04a4e73"/>
  </p:sldMasterIdLst>
  <p:notesMasterIdLst>
    <p:notesMasterId xmlns:r="http://schemas.openxmlformats.org/officeDocument/2006/relationships" r:id="R576b738a3e264717"/>
  </p:notesMasterIdLst>
  <p:sldIdLst>
    <p:sldId xmlns:r="http://schemas.openxmlformats.org/officeDocument/2006/relationships" id="256" r:id="R6d33bbe8630a4ac1"/>
    <p:sldId xmlns:r="http://schemas.openxmlformats.org/officeDocument/2006/relationships" id="257" r:id="Ra0c73d02ecb64b27"/>
    <p:sldId xmlns:r="http://schemas.openxmlformats.org/officeDocument/2006/relationships" id="258" r:id="R8692445e9c0b45a4"/>
    <p:sldId xmlns:r="http://schemas.openxmlformats.org/officeDocument/2006/relationships" id="259" r:id="R66011b7299e14546"/>
    <p:sldId xmlns:r="http://schemas.openxmlformats.org/officeDocument/2006/relationships" id="260" r:id="Rc61044a0a263490a"/>
    <p:sldId xmlns:r="http://schemas.openxmlformats.org/officeDocument/2006/relationships" id="261" r:id="Ref7c3da58fa84a09"/>
    <p:sldId xmlns:r="http://schemas.openxmlformats.org/officeDocument/2006/relationships" id="262" r:id="R3ced1f0e5d074c17"/>
    <p:sldId xmlns:r="http://schemas.openxmlformats.org/officeDocument/2006/relationships" id="263" r:id="Ra525d3a303524b9d"/>
    <p:sldId xmlns:r="http://schemas.openxmlformats.org/officeDocument/2006/relationships" id="264" r:id="R72353bcd237244f5"/>
    <p:sldId xmlns:r="http://schemas.openxmlformats.org/officeDocument/2006/relationships" id="265" r:id="R95736d1f12d94064"/>
    <p:sldId xmlns:r="http://schemas.openxmlformats.org/officeDocument/2006/relationships" id="266" r:id="Rfa7cfb9b9ced4167"/>
    <p:sldId xmlns:r="http://schemas.openxmlformats.org/officeDocument/2006/relationships" id="267" r:id="R345ca6e094ff4d69"/>
    <p:sldId xmlns:r="http://schemas.openxmlformats.org/officeDocument/2006/relationships" id="268" r:id="R478ae5984a16415d"/>
    <p:sldId xmlns:r="http://schemas.openxmlformats.org/officeDocument/2006/relationships" id="269" r:id="R4cca450311e24e35"/>
    <p:sldId xmlns:r="http://schemas.openxmlformats.org/officeDocument/2006/relationships" id="270" r:id="R7cd404b773f94b43"/>
    <p:sldId xmlns:r="http://schemas.openxmlformats.org/officeDocument/2006/relationships" id="271" r:id="Re5843778c9834b5f"/>
    <p:sldId xmlns:r="http://schemas.openxmlformats.org/officeDocument/2006/relationships" id="272" r:id="Rac19dc164b674f96"/>
    <p:sldId xmlns:r="http://schemas.openxmlformats.org/officeDocument/2006/relationships" id="273" r:id="R02cb7a15a0884117"/>
    <p:sldId xmlns:r="http://schemas.openxmlformats.org/officeDocument/2006/relationships" id="274" r:id="R0565728c6a6c433c"/>
    <p:sldId xmlns:r="http://schemas.openxmlformats.org/officeDocument/2006/relationships" id="275" r:id="R6a1d538746634951"/>
    <p:sldId xmlns:r="http://schemas.openxmlformats.org/officeDocument/2006/relationships" id="276" r:id="R71f34c96bf94470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7e7ba0a06ce482a" /><Relationship Type="http://schemas.openxmlformats.org/officeDocument/2006/relationships/slideMaster" Target="/ppt/slideMasters/slideMaster1.xml" Id="R3b0a3c2bb04a4e73" /><Relationship Type="http://schemas.openxmlformats.org/officeDocument/2006/relationships/notesMaster" Target="/ppt/notesMasters/notesMaster1.xml" Id="R576b738a3e264717" /><Relationship Type="http://schemas.openxmlformats.org/officeDocument/2006/relationships/presProps" Target="/ppt/presProps.xml" Id="Rdc8fc2eeb2b04dda" /><Relationship Type="http://schemas.openxmlformats.org/officeDocument/2006/relationships/viewProps" Target="/ppt/viewProps.xml" Id="Rddff09d701a94c54" /><Relationship Type="http://schemas.openxmlformats.org/officeDocument/2006/relationships/tableStyles" Target="/ppt/tableStyles.xml" Id="Rfa41fbe0a2b34188" /><Relationship Type="http://schemas.openxmlformats.org/officeDocument/2006/relationships/slide" Target="/ppt/slides/slide1.xml" Id="R6d33bbe8630a4ac1" /><Relationship Type="http://schemas.openxmlformats.org/officeDocument/2006/relationships/slide" Target="/ppt/slides/slide2.xml" Id="Ra0c73d02ecb64b27" /><Relationship Type="http://schemas.openxmlformats.org/officeDocument/2006/relationships/slide" Target="/ppt/slides/slide3.xml" Id="R8692445e9c0b45a4" /><Relationship Type="http://schemas.openxmlformats.org/officeDocument/2006/relationships/slide" Target="/ppt/slides/slide4.xml" Id="R66011b7299e14546" /><Relationship Type="http://schemas.openxmlformats.org/officeDocument/2006/relationships/slide" Target="/ppt/slides/slide5.xml" Id="Rc61044a0a263490a" /><Relationship Type="http://schemas.openxmlformats.org/officeDocument/2006/relationships/slide" Target="/ppt/slides/slide6.xml" Id="Ref7c3da58fa84a09" /><Relationship Type="http://schemas.openxmlformats.org/officeDocument/2006/relationships/slide" Target="/ppt/slides/slide7.xml" Id="R3ced1f0e5d074c17" /><Relationship Type="http://schemas.openxmlformats.org/officeDocument/2006/relationships/slide" Target="/ppt/slides/slide8.xml" Id="Ra525d3a303524b9d" /><Relationship Type="http://schemas.openxmlformats.org/officeDocument/2006/relationships/slide" Target="/ppt/slides/slide9.xml" Id="R72353bcd237244f5" /><Relationship Type="http://schemas.openxmlformats.org/officeDocument/2006/relationships/slide" Target="/ppt/slides/slide10.xml" Id="R95736d1f12d94064" /><Relationship Type="http://schemas.openxmlformats.org/officeDocument/2006/relationships/slide" Target="/ppt/slides/slide11.xml" Id="Rfa7cfb9b9ced4167" /><Relationship Type="http://schemas.openxmlformats.org/officeDocument/2006/relationships/slide" Target="/ppt/slides/slide12.xml" Id="R345ca6e094ff4d69" /><Relationship Type="http://schemas.openxmlformats.org/officeDocument/2006/relationships/slide" Target="/ppt/slides/slide13.xml" Id="R478ae5984a16415d" /><Relationship Type="http://schemas.openxmlformats.org/officeDocument/2006/relationships/slide" Target="/ppt/slides/slide14.xml" Id="R4cca450311e24e35" /><Relationship Type="http://schemas.openxmlformats.org/officeDocument/2006/relationships/slide" Target="/ppt/slides/slide15.xml" Id="R7cd404b773f94b43" /><Relationship Type="http://schemas.openxmlformats.org/officeDocument/2006/relationships/slide" Target="/ppt/slides/slide16.xml" Id="Re5843778c9834b5f" /><Relationship Type="http://schemas.openxmlformats.org/officeDocument/2006/relationships/slide" Target="/ppt/slides/slide17.xml" Id="Rac19dc164b674f96" /><Relationship Type="http://schemas.openxmlformats.org/officeDocument/2006/relationships/slide" Target="/ppt/slides/slide18.xml" Id="R02cb7a15a0884117" /><Relationship Type="http://schemas.openxmlformats.org/officeDocument/2006/relationships/slide" Target="/ppt/slides/slide19.xml" Id="R0565728c6a6c433c" /><Relationship Type="http://schemas.openxmlformats.org/officeDocument/2006/relationships/slide" Target="/ppt/slides/slide20.xml" Id="R6a1d538746634951" /><Relationship Type="http://schemas.openxmlformats.org/officeDocument/2006/relationships/slide" Target="/ppt/slides/slide21.xml" Id="R71f34c96bf9447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8c443ee3b24f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5c8b09073b43d3" /><Relationship Type="http://schemas.openxmlformats.org/officeDocument/2006/relationships/notesMaster" Target="/ppt/notesMasters/notesMaster1.xml" Id="R5b645fc74f654a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8124be4bc84441" /><Relationship Type="http://schemas.openxmlformats.org/officeDocument/2006/relationships/notesMaster" Target="/ppt/notesMasters/notesMaster1.xml" Id="R12afa16f96c542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5490c47c484ecb" /><Relationship Type="http://schemas.openxmlformats.org/officeDocument/2006/relationships/notesMaster" Target="/ppt/notesMasters/notesMaster1.xml" Id="R70a2fe6672da4a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cd893fa5d94c0f" /><Relationship Type="http://schemas.openxmlformats.org/officeDocument/2006/relationships/notesMaster" Target="/ppt/notesMasters/notesMaster1.xml" Id="R6bbe1da1060041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dc875e73fe481e" /><Relationship Type="http://schemas.openxmlformats.org/officeDocument/2006/relationships/notesMaster" Target="/ppt/notesMasters/notesMaster1.xml" Id="R9d8d8dbffd574b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872f2965cd4bfd" /><Relationship Type="http://schemas.openxmlformats.org/officeDocument/2006/relationships/notesMaster" Target="/ppt/notesMasters/notesMaster1.xml" Id="Rcd5bca6f0a964b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ae499c485c4b17" /><Relationship Type="http://schemas.openxmlformats.org/officeDocument/2006/relationships/notesMaster" Target="/ppt/notesMasters/notesMaster1.xml" Id="R45ae1b03512f42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dd9dede3294c1c" /><Relationship Type="http://schemas.openxmlformats.org/officeDocument/2006/relationships/notesMaster" Target="/ppt/notesMasters/notesMaster1.xml" Id="R2179713e5ce040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e8443339a8486f" /><Relationship Type="http://schemas.openxmlformats.org/officeDocument/2006/relationships/notesMaster" Target="/ppt/notesMasters/notesMaster1.xml" Id="Rfd27711b3e8a45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97135dd4df4b1d" /><Relationship Type="http://schemas.openxmlformats.org/officeDocument/2006/relationships/notesMaster" Target="/ppt/notesMasters/notesMaster1.xml" Id="R5d0a75ec696d4a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3917ad27ed4e5f" /><Relationship Type="http://schemas.openxmlformats.org/officeDocument/2006/relationships/notesMaster" Target="/ppt/notesMasters/notesMaster1.xml" Id="Rf9a0d181ecb048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c56440224247b6" /><Relationship Type="http://schemas.openxmlformats.org/officeDocument/2006/relationships/notesMaster" Target="/ppt/notesMasters/notesMaster1.xml" Id="R1bbcc5e6521944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12b13c45fe452c" /><Relationship Type="http://schemas.openxmlformats.org/officeDocument/2006/relationships/notesMaster" Target="/ppt/notesMasters/notesMaster1.xml" Id="Rc9e62c67471942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d2ccae0ccc4fe4" /><Relationship Type="http://schemas.openxmlformats.org/officeDocument/2006/relationships/notesMaster" Target="/ppt/notesMasters/notesMaster1.xml" Id="Rdc003bde742b4b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e3e2b702774c57" /><Relationship Type="http://schemas.openxmlformats.org/officeDocument/2006/relationships/notesMaster" Target="/ppt/notesMasters/notesMaster1.xml" Id="Rbd7ca69254ac4d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abd9e9f1e04bde" /><Relationship Type="http://schemas.openxmlformats.org/officeDocument/2006/relationships/notesMaster" Target="/ppt/notesMasters/notesMaster1.xml" Id="R24d8d79d7a954e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cdc8ba3f004de7" /><Relationship Type="http://schemas.openxmlformats.org/officeDocument/2006/relationships/notesMaster" Target="/ppt/notesMasters/notesMaster1.xml" Id="R10c66b94975742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11ec47d6c74484" /><Relationship Type="http://schemas.openxmlformats.org/officeDocument/2006/relationships/notesMaster" Target="/ppt/notesMasters/notesMaster1.xml" Id="R1565be52428f4e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f7364eefdd4df0" /><Relationship Type="http://schemas.openxmlformats.org/officeDocument/2006/relationships/notesMaster" Target="/ppt/notesMasters/notesMaster1.xml" Id="R8e7a5fd2af1043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3d30b7865f4ff4" /><Relationship Type="http://schemas.openxmlformats.org/officeDocument/2006/relationships/notesMaster" Target="/ppt/notesMasters/notesMaster1.xml" Id="R75aae2f4c7104e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1a1040d7ed46ba" /><Relationship Type="http://schemas.openxmlformats.org/officeDocument/2006/relationships/notesMaster" Target="/ppt/notesMasters/notesMaster1.xml" Id="R38c204ec269f4c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choosing a model to predict which Titanic passengers survived. One candidate looks excellent on the records it studied. Another makes fewer mistakes on passengers held back from training. Which evidence would you trust? Today we will make that comparison fair rather than choose by reputation. Six models enter, including a deliberately simple reference model. They face the same validation rounds and the same scoring rule. Our job is to understand what those scores support and what they do not. Ask students to predict whether the most complicated model must win. Keep their answers in mind for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passenger bar. The full table contains 891 passengers and 18 features, meaning input columns available to the model. Point to the 712 training rows. We use portions of these rows to compare candidates. That job is model selection. Now point to the 179 holdout rows, kept separate from fitting and selection. Evaluating the chosen model there is model assessment. In this session, the companion notebook makes the first course evaluation on that holdout to teach metrics. After that opening, it is no longer fresh. Reusing it later must be described as reuse, not another untouched final exam. Ask students which side should decide the tournament winner.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meet the contestants, we need to agree on the rules. Imagine allowing one model to see the answers before a round while another has to predict unseen passengers. Their scores would not be comparable. The next few pictures explain why that problem can happen even without anyone intending to cheat. We will begin with the score a model improves during training, then examine why that score may not carry over to new rows. You do not need to memorize the terminology immediately. First, try to explain what you notice in each picture using ordinary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first at the candidate table, not the technical label. Each row represents a possible prediction rule. Lower loss means less prediction error under the chosen scoring rule. In this illustration, Rule D reaches 0.00 because it can reproduce the training answers. That makes it the winner on those particular rows, but we have not yet asked it to predict a new passenger. Choosing a rule by minimizing average loss on observed training examples is called empirical risk minimization. Empirical simply means measured from examples we have. Ask students what evidence is still missing before we can trust Rule D. Emphasize that these are invented rules and values, not Titanic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example cards to enter the grid. A model with train 1% and validation 11% does well on familiar rows but much worse on held-back rows. That gap suggests sensitivity to the training sample, which we call variance. Now compare train 15% with validation 16%. Both errors are high in this teaching example, suggesting bias, or a systematic limitation in what the model learns. These are diagnostic clues, not complete diagnoses. Whether an error is high depends on the task and a reasonable reference level. Doing well on new rows is called generalization. Ask students to explain the difference between the cards without using either technical term.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dashed pattern first. Now look at the fitted lines around it. On the left, the lines agree with one another but consistently miss the curve. Their agreement does not make them correct. On the right, the fitted lines change substantially when the training sample changes. The shared miss illustrates bias. The changing answers illustrate variance. These panels use synthetic data with 60 refits per panel, not Titanic passengers. The displayed decomposition applies to expected squared prediction error under the usual assumptions, not directly to our classification accuracy. Later, variation across validation folds will show another kind of sample sensitivity, although those folds overlap rather than being independent fresh 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horizontal axis as increasing flexibility and the vertical axis as error, where lower is better. A very rigid family may not contain a rule that follows the pattern well. That limitation is structural error. Adding flexibility can reduce it. But with only a limited sample, we may choose a poor member of the larger family. That difference from the family's best possible member is estimation error. Our Titanic training table has 712 rows, so extra flexibility needs evidence rather than automatic approval. These curves illustrate a possible trade-off, not a law requiring every dataset to form this shape. Ask which limitation more representative data is most likely to reduce.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curves while keeping your eyes on the same 22 points. The left fit follows small changes closely. The middle fit follows the broader pattern. The right fit is heavily constrained. We have changed the strength of a complexity penalty, not supplied different observations. The symbol λ, pronounced lambda, controls that strength. Adding such a penalty is one form of regularization. Ridge regression, for example, penalizes large model weights. A tree depth limit also restricts complexity, although it is not the same mathematical penalty. The middle panel is the intended balance in this illustration, not a setting we can choose by appearance alone. Ask students which fit might react most to a slightly different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axes before comparing the dots. The horizontal direction represents flexibility, while the vertical direction represents how easily a person can inspect the fitted rule. A small weighted scorecard may be easier to discuss than a large collection of trees. These placements are schematic judgments, not measured Titanic results, and they do not prove that flexibility and readability can never coexist. Imagine a passenger asking which recorded information influenced a prediction. Being able to answer may matter alongside predictive performance. This property is called interpretability, meaning how understandable the model's behavior is. Ask students what explanation they would want if a model rejected their loan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highlighted block as it changes position. Each block is a fold, a group of rows. During a round, that group is excluded from fitting and used for validation. Across 5 rounds, every row receives a held-back prediction. This is 5-fold cross-validation. It compares a modeling procedure, including its settings and preprocessing, rather than repeatedly scoring one already fitted model. The 712 training rows supply these rounds, with each fold containing approximately the ~142 rows shown. Every contestant must use the same folds and scoring rule. Learned preprocessing must also be fitted without the validation group. The separate 179-row holdout is opened later in this session, not during this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have enough language to judge the contestants without relying on their names. Watch for the same question throughout the results. Did each model get a comparable opportunity to learn and a comparable challenge when scored? The tournament stays inside the training rows. We will first compare the candidates with cross-validation, then use the chosen model's holdout predictions to learn about different kinds of mistakes. That later step opens the holdout for the first course evaluation. It does not leave an untouched test set for the next session. Ask students to name one rule that would make the comparison unfair if we changed it for only one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table's plain-language descriptions. The Dummy model ignores passenger features. Logistic Regression acts like a weighted scorecard for class probabilities. Nearest neighbors looks for similar passengers, while tree methods use questions about their recorded features. We do not need implementation details to compare them fairly. A parameter is an adjustable value learned during training. Scaling means putting input columns on comparable numerical ranges. Here Fare runs 0-512 and Age 0-80, which can matter for distance-based or penalized methods. Use the same validation splits and evaluation metric, with appropriate preparation learned inside each fold. Do not claim that every algorithm minimizes the same training loss. Ask students which description sounds easiest to explain to a passenger.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bars before interpreting them. Accuracy means the fraction of predictions that are correct. The unlimited tree reaches 0.985 when evaluated on its training rows, but its cross-validation accuracy is 0.751. These are different evaluation conditions, so the contrast warns us that training performance does not transfer directly to unseen rows. This pattern is consistent with overfitting, where the fitted rule captures training-specific details that do not generalize well. The source reports a gap of 0.233. Check that annotation against unrounded notebook outputs, because the displayed scores are rounded. Ask students which result should guide the tournament ranking and what useful diagnostic information the training bar still provides.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the large number sit for a moment. This model reaches 0.617 without using Age, Fare, or any other passenger feature. It always predicts died. Because 61.7% of the training passengers died, the common answer is often correct. A baseline is a simple reference method that helps us interpret another model's score. The reported cross-validation spread is +/- 0.003. That stability does not make the model useful for finding survivors, since it never predicts survived. Ask students whether a model just above this accuracy has necessarily solved the task. The answer depends on the size and reliability of the improvement, and on which mistakes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at the dashed baseline, then compare the bar endpoints. Logistic Regression has the highest mean at 0.819, with Gradient Boosting at 0.816. All feature-using candidates beat the baseline here. The whiskers show one standard deviation, a measure of score spread across folds, not confidence intervals proving which model is best. Among those candidates, Random Forest has the largest reported spread, +/- 0.054, and Logistic Regression the smallest, +/- 0.020. The axis starts at 0.55, so differences look larger than on a full accuracy scale. Shared folds and fold-fitted preprocessing make this comparison fairer. Ask students to justify a provisional choice without claiming that the narrow lead settles every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row and column labels before reading any counts. The diagonal contains 99 correct died predictions and 51 correct survived predictions. The other cells contain 11 false alarms for survived and 18 missed survivors. This table is a confusion matrix, a count of predicted classes against actual classes. It reveals what accuracy can hide. In the separate teaching example, a disease affecting 1 in 100 allows an always-negative rule to achieve 99% accuracy while missing every case. Here the companion notebook makes the first course evaluation on the same 179-row holdout. The candidate was chosen using training-row cross-validation. Once we inspect these results, later reuse of this holdout is not fresh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shared count of 51 correctly predicted survivors. Precision compares those passengers with everyone predicted to survive, including the 11 false alarms. That gives 0.823. Recall compares them with everyone who actually survived, including the 18 missed survivors. That gives 0.739. The abbreviation TP means a correct survived prediction, FP means a false survived prediction, and FN means a missed survivor. F1 is the harmonic mean of precision and recall, an average that is pulled down when either is low. Here it is 0.779. The Dummy's F1 is 0.000 under the notebook's reporting convention. Ask which denominator changes if we become especially concerned about missed survivors. These metrics describe the same opened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depth as the maximum number of successive questions a tree can ask along a path. Increasing it allows a more detailed rule. The grey training curve rises toward 0.985, while the blue validation curve reaches its observed peak of 0.815 at depth 3. At depth 20, the source reports a gap of 0.236. This illustrates overfitting as flexibility increases. It resembles the earlier trade-off picture, but accuracy is better when higher, so we look for a peak rather than a trough. Do not interpret 0.815 as an established limit caused only by unavoidable noise. Model limitations and missing information may also matter. Ask students which depth they would investigate further using training-row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blue curve from 56 training rows to 569. Its reported score rises from 0.758 to 0.819, then appears relatively flat near the end. This is a learning curve, a plot of performance against training-set size. The shaded band shows variation across folds. The small sketches illustrate possible patterns, while the main panel contains our Titanic evidence. A flattening curve suggests that simply adding similar rows may yield smaller gains, but it cannot settle what happens far beyond the observed range or with more representative data. Better settings are another hypothesis to test, not a guaranteed improvement. Ask students what evidence they would request before deciding whether collecting more passenger records is worthwhile.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provisional choice is Logistic Regression, based on training-row cross-validation and its understandable weighted rule. The first course holdout evaluation gives accuracy 0.838. Precision is 0.823, recall 0.739, and F1 0.779 for survived. AUC is 0.878, a ranking measure that describes how often a randomly chosen survivor receives a higher score than a randomly chosen non-survivor, with ties given partial credit. These describe the same holdout evaluation, not new independent checks. Random Forest scored 0.797 in cross-validation. Next session uses it to learn tuning, but improvement and deployment are not guaranteed. Keep tuning decisions inside training-row validation. The pneumonia example reminds us that a readable association can reveal effects of care rather than biological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opening the notebook, ask a partner to explain why the tallest training bar does not decide the winner. A good explanation should mention predictions on rows excluded from fitting. Then connect the results. The baseline was 0.617, Logistic Regression's mean validation accuracy was 0.819, and the first course holdout accuracy was 0.838. Those scores answer different questions and should not be treated as interchangeable. In notebook 02-model-selection, follow the comparison procedure and inspect the same holdout predictions to understand metrics. Re-running that evaluation does not create a fresh estimate. For later experiments, keep model choices within training-row validation and clearly label any reuse of the opened holdout. Finish by explaining the fairness rule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9ed4ee3cb341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4a669d092946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839edf300c4c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d731d00a8149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db36eb797d45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84564ff8a84e3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63a02bd618495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c7b25934134f6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93c66672152478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17b73f0ef174d4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e3307c7b046418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E3FD2D-EDD0-4E80-9EDB-99496BF616B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E1907AB-7CA4-4191-B406-998D058816B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680797A-2F50-4A98-9B3A-FF64C0C58D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7FD2A5B-2C40-471C-A6CB-0EF91EA540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7F4DE6F-6933-4687-A6F3-C930FDC09F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29E866-6F48-4630-BD8E-A03D09385D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938C332-1BC7-4B09-929A-14E8020B355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3D276BB-1C69-453E-9B12-C487FDA030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B53D025-E219-4C93-AD59-3AB5A068FB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9DF3F54-254A-4611-9E0B-CD4BD83A3F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4FFA07-4342-4BC7-A8DD-097FEC3EE94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6AD72E5-CC9B-4311-8ED7-3F8943EAC91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1590F10-F315-4AB0-8451-624CF02710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04A68E0-1A3A-4C1C-A93C-BBC8778895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155627-BCCD-46FE-BF70-18822F2AA8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3F6E92-3124-408A-9000-E7ABCC31B79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CA884DA-9734-4585-94BF-81EFA24ADE7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0FC56C15-E9B7-4D45-9C4F-A5B5F50F515E}"/>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A07AD73C-AF4E-472D-921A-021434A27A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2FC48BE-9FD1-4D81-B58A-DFFFAA3534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52E1814-BECB-4894-83B5-7C5BB59D77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48A76B-5BF1-490A-8432-17D34174BE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348AE73-BBEE-4DE7-AEE7-F57AD2EFA8C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9F2C8DF-CD63-4387-91A6-DA297135B5A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4653DF9-A284-4228-974D-7DDA079376B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2BEE412-A94C-4C97-A8B0-77EF6359164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3F1E46B-84AB-4AA8-987E-E6E16C9BEC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3724CB46-C1A1-4163-AEAD-0ACDB97CE2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3AA9F41-86E4-4418-8464-F4C4A5CC9E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0D9664-A601-426A-AB69-2CB9A452B1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FC2980D-B5AA-4471-8D7A-31AF2F4362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8674FE1B-0686-4E4A-AB1B-1C86F7A634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7FFCCB5-EBAE-4F5B-AA93-B29C9C069A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5C7B2B8-B2A4-49D0-90F2-4DC0D3F42A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978080A-E44C-4C52-846F-C1706D0119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D301582-BE0D-4527-9543-0440E20FD8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30F8EC-1269-479A-90B4-55FCE4AD3B9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6FCE1A2-007C-4C53-B1F6-9274491D7F7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6BF55FD-324B-49AC-B3A2-8537DA4B27C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A1D2E6C-4225-4ED3-8E42-EED1422D27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39228A1-3BC2-4696-81F7-CADCD05ED6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1DD9042-C423-4A36-A13C-495D956B1D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98453A-F34E-42F3-B604-9418FA48DB5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0957C8E-75F5-4C8B-B6D3-9BCF5CE9FE99}"/>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6CB5715-9ACB-4D5F-AB34-83BE1A4ABEB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4457950-6F9C-42E4-A552-A884B9043BC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CC3E17E-131A-4981-A5D2-B2239D6B55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2CBD82A-8AB5-48F1-90FD-CAC56EF788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664B43-E67B-469F-923E-B987C8BEC9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0530B0B-1DB8-44D8-900B-083F347B9D3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6812C0E-A051-4C7B-93D0-1F2AEE649C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F8B4D08-DD32-4B12-A76C-7D34A4C185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8520F3F-2A51-4C4D-BD14-82322509FD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CBFA315-0134-45A3-AAC9-3D84276BA43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6B0E74C-8556-4DF9-940B-5E3CD881DDC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970FC1E-DE71-4594-9DB5-85627EC2AD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1799412-41FB-46AD-9AF3-3AD898CEFC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4C4B8B8-06AB-4F40-A33E-39933B625E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873c58e0e547bd" /><Relationship Type="http://schemas.openxmlformats.org/officeDocument/2006/relationships/slideLayout" Target="/ppt/slideLayouts/slideLayout1.xml" Id="R4c55f2620e074e4b" /><Relationship Type="http://schemas.openxmlformats.org/officeDocument/2006/relationships/slideLayout" Target="/ppt/slideLayouts/slideLayout2.xml" Id="R0a8512e93c3a4210" /><Relationship Type="http://schemas.openxmlformats.org/officeDocument/2006/relationships/slideLayout" Target="/ppt/slideLayouts/slideLayout3.xml" Id="R1d3616566aa940e3" /><Relationship Type="http://schemas.openxmlformats.org/officeDocument/2006/relationships/slideLayout" Target="/ppt/slideLayouts/slideLayout4.xml" Id="R067ccb59900f414b" /><Relationship Type="http://schemas.openxmlformats.org/officeDocument/2006/relationships/slideLayout" Target="/ppt/slideLayouts/slideLayout5.xml" Id="R3cb2415a226543a7" /><Relationship Type="http://schemas.openxmlformats.org/officeDocument/2006/relationships/slideLayout" Target="/ppt/slideLayouts/slideLayout6.xml" Id="Ra7867a0e9a954d94" /><Relationship Type="http://schemas.openxmlformats.org/officeDocument/2006/relationships/slideLayout" Target="/ppt/slideLayouts/slideLayout7.xml" Id="Rf8a1599ab83345b7" /><Relationship Type="http://schemas.openxmlformats.org/officeDocument/2006/relationships/slideLayout" Target="/ppt/slideLayouts/slideLayout8.xml" Id="Re665a16955314b1f" /><Relationship Type="http://schemas.openxmlformats.org/officeDocument/2006/relationships/slideLayout" Target="/ppt/slideLayouts/slideLayout9.xml" Id="R895d8672c8b34ae9" /><Relationship Type="http://schemas.openxmlformats.org/officeDocument/2006/relationships/slideLayout" Target="/ppt/slideLayouts/slideLayout10.xml" Id="Rbd95d86fcf0e4e7a" /><Relationship Type="http://schemas.openxmlformats.org/officeDocument/2006/relationships/slideLayout" Target="/ppt/slideLayouts/slideLayout11.xml" Id="Ra2c54d30d105458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BDB6F64-C9EC-405C-B23B-FFB0CBF0FEE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8FF808E-1DC6-450D-9754-BD5FC7CFBC7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769CDBD-4ACE-4B7C-8A98-0C1D1C5943C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AA621E3-B9F6-4A1A-93B9-AE408C073AF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1ED2C8-3EED-453E-B77B-EEB38DCEA12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55f2620e074e4b"/>
    <p:sldLayoutId xmlns:r="http://schemas.openxmlformats.org/officeDocument/2006/relationships" id="2147483650" r:id="R0a8512e93c3a4210"/>
    <p:sldLayoutId xmlns:r="http://schemas.openxmlformats.org/officeDocument/2006/relationships" id="2147483651" r:id="R1d3616566aa940e3"/>
    <p:sldLayoutId xmlns:r="http://schemas.openxmlformats.org/officeDocument/2006/relationships" id="2147483652" r:id="R067ccb59900f414b"/>
    <p:sldLayoutId xmlns:r="http://schemas.openxmlformats.org/officeDocument/2006/relationships" id="2147483653" r:id="R3cb2415a226543a7"/>
    <p:sldLayoutId xmlns:r="http://schemas.openxmlformats.org/officeDocument/2006/relationships" id="2147483654" r:id="Ra7867a0e9a954d94"/>
    <p:sldLayoutId xmlns:r="http://schemas.openxmlformats.org/officeDocument/2006/relationships" id="2147483655" r:id="Rf8a1599ab83345b7"/>
    <p:sldLayoutId xmlns:r="http://schemas.openxmlformats.org/officeDocument/2006/relationships" id="2147483656" r:id="Re665a16955314b1f"/>
    <p:sldLayoutId xmlns:r="http://schemas.openxmlformats.org/officeDocument/2006/relationships" id="2147483657" r:id="R895d8672c8b34ae9"/>
    <p:sldLayoutId xmlns:r="http://schemas.openxmlformats.org/officeDocument/2006/relationships" id="2147483658" r:id="Rbd95d86fcf0e4e7a"/>
    <p:sldLayoutId xmlns:r="http://schemas.openxmlformats.org/officeDocument/2006/relationships" id="2147483659" r:id="Ra2c54d30d1054584"/>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5a0dfa884af4eca" /><Relationship Type="http://schemas.openxmlformats.org/officeDocument/2006/relationships/notesSlide" Target="/ppt/notesSlides/notesSlide1.xml" Id="R48aff0ab93d742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bd16cc7edb24730" /><Relationship Type="http://schemas.openxmlformats.org/officeDocument/2006/relationships/notesSlide" Target="/ppt/notesSlides/notesSlide2.xml" Id="R82f8133844e849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c7c13e9553046bd" /><Relationship Type="http://schemas.openxmlformats.org/officeDocument/2006/relationships/notesSlide" Target="/ppt/notesSlides/notesSlide3.xml" Id="Rc2197448b34642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0f6ab319cba450a" /><Relationship Type="http://schemas.openxmlformats.org/officeDocument/2006/relationships/image" Target="/ppt/media/image.png" Id="R112430250ac741b9" /><Relationship Type="http://schemas.openxmlformats.org/officeDocument/2006/relationships/notesSlide" Target="/ppt/notesSlides/notesSlide4.xml" Id="R2016c6115aae4a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728fd3256234e97" /><Relationship Type="http://schemas.openxmlformats.org/officeDocument/2006/relationships/image" Target="/ppt/media/image2.png" Id="R048c4d0e535c4434" /><Relationship Type="http://schemas.openxmlformats.org/officeDocument/2006/relationships/notesSlide" Target="/ppt/notesSlides/notesSlide5.xml" Id="R81775a9152f245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9d1ed19b84d427b" /><Relationship Type="http://schemas.openxmlformats.org/officeDocument/2006/relationships/image" Target="/ppt/media/image3.png" Id="R9b9c7796ed2f4b6d" /><Relationship Type="http://schemas.openxmlformats.org/officeDocument/2006/relationships/notesSlide" Target="/ppt/notesSlides/notesSlide6.xml" Id="R86390fb1a32b43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bc27876625746ec" /><Relationship Type="http://schemas.openxmlformats.org/officeDocument/2006/relationships/image" Target="/ppt/media/image4.png" Id="Rf1e57e9c310a4096" /><Relationship Type="http://schemas.openxmlformats.org/officeDocument/2006/relationships/notesSlide" Target="/ppt/notesSlides/notesSlide7.xml" Id="Rfc36634b23ea45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5d7800c39fd43a5" /><Relationship Type="http://schemas.openxmlformats.org/officeDocument/2006/relationships/image" Target="/ppt/media/image5.png" Id="R219af03674634e29" /><Relationship Type="http://schemas.openxmlformats.org/officeDocument/2006/relationships/notesSlide" Target="/ppt/notesSlides/notesSlide8.xml" Id="R3f8f549429a94c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20a17ca624e4650" /><Relationship Type="http://schemas.openxmlformats.org/officeDocument/2006/relationships/image" Target="/ppt/media/image6.png" Id="Rc88460209f514bf8" /><Relationship Type="http://schemas.openxmlformats.org/officeDocument/2006/relationships/notesSlide" Target="/ppt/notesSlides/notesSlide9.xml" Id="Ra5a977b5209a46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0c7b317040d4743" /><Relationship Type="http://schemas.openxmlformats.org/officeDocument/2006/relationships/notesSlide" Target="/ppt/notesSlides/notesSlide10.xml" Id="Rdc3b266e3c9c46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c3cc8806bfc49ff" /><Relationship Type="http://schemas.openxmlformats.org/officeDocument/2006/relationships/notesSlide" Target="/ppt/notesSlides/notesSlide11.xml" Id="R5a8ff730611143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cced794a5b7419b" /><Relationship Type="http://schemas.openxmlformats.org/officeDocument/2006/relationships/notesSlide" Target="/ppt/notesSlides/notesSlide12.xml" Id="R69027405aa9b4c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407e87bb3404328" /><Relationship Type="http://schemas.openxmlformats.org/officeDocument/2006/relationships/notesSlide" Target="/ppt/notesSlides/notesSlide13.xml" Id="Rb592bc605e314b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4922284baf4a4f09" /><Relationship Type="http://schemas.openxmlformats.org/officeDocument/2006/relationships/notesSlide" Target="/ppt/notesSlides/notesSlide14.xml" Id="Re669083aaa6d46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00ac7ef2e2c4ef0" /><Relationship Type="http://schemas.openxmlformats.org/officeDocument/2006/relationships/image" Target="/ppt/media/image7.png" Id="R8d2b042dc6cb4cf5" /><Relationship Type="http://schemas.openxmlformats.org/officeDocument/2006/relationships/notesSlide" Target="/ppt/notesSlides/notesSlide15.xml" Id="R2a0621eac33d48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0dc908f820341ed" /><Relationship Type="http://schemas.openxmlformats.org/officeDocument/2006/relationships/image" Target="/ppt/media/image8.png" Id="Rf977f6dd912f493b" /><Relationship Type="http://schemas.openxmlformats.org/officeDocument/2006/relationships/notesSlide" Target="/ppt/notesSlides/notesSlide16.xml" Id="Rd80ede70ddc243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a952813257424573" /><Relationship Type="http://schemas.openxmlformats.org/officeDocument/2006/relationships/notesSlide" Target="/ppt/notesSlides/notesSlide17.xml" Id="R98709eb60cb649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0442bb7bf7646cc" /><Relationship Type="http://schemas.openxmlformats.org/officeDocument/2006/relationships/image" Target="/ppt/media/image9.png" Id="R469a07421477468a" /><Relationship Type="http://schemas.openxmlformats.org/officeDocument/2006/relationships/notesSlide" Target="/ppt/notesSlides/notesSlide18.xml" Id="R6d8b3c9fde7d4d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3b1384f667004638" /><Relationship Type="http://schemas.openxmlformats.org/officeDocument/2006/relationships/image" Target="/ppt/media/image10.png" Id="Rf389a9f2d1704eb9" /><Relationship Type="http://schemas.openxmlformats.org/officeDocument/2006/relationships/notesSlide" Target="/ppt/notesSlides/notesSlide19.xml" Id="R8e648f3620d24e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22a31b2b7a0d42af" /><Relationship Type="http://schemas.openxmlformats.org/officeDocument/2006/relationships/notesSlide" Target="/ppt/notesSlides/notesSlide20.xml" Id="R18a1df02edcb4a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03bf02c0aa6e425a" /><Relationship Type="http://schemas.openxmlformats.org/officeDocument/2006/relationships/notesSlide" Target="/ppt/notesSlides/notesSlide21.xml" Id="Rbe3b8fa868384fb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42AF574-07A5-4511-B2BA-5C457338352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3346F3AE-A946-4EA6-A36E-A4FFB836DDEA}"/>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ADFE340-A3A7-4417-97FC-94FDF006A9C6}"/>
              </a:ext>
            </a:extLst>
          </p:cNvPr>
          <p:cNvSpPr>
            <a:spLocks xmlns:a="http://schemas.openxmlformats.org/drawingml/2006/main" noGrp="1"/>
          </p:cNvSpPr>
          <p:nvPr/>
        </p:nvSpPr>
        <p:spPr>
          <a:xfrm xmlns:a="http://schemas.openxmlformats.org/drawingml/2006/main">
            <a:off x="914400" y="1965960"/>
            <a:ext cx="10058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400" b="1">
                <a:solidFill>
                  <a:srgbClr val="1E5EF3"/>
                </a:solidFill>
                <a:latin typeface="Arial"/>
                <a:ea typeface="Arial"/>
                <a:cs typeface="Arial"/>
              </a:rPr>
              <a:t>SESSION 3 OF 4</a:t>
            </a:r>
          </a:p>
        </p:txBody>
      </p:sp>
      <p:sp>
        <p:nvSpPr>
          <p:cNvPr id="5" name="TextBox 4">
            <a:extLst xmlns:a="http://schemas.openxmlformats.org/drawingml/2006/main">
              <a:ext uri="{FF2B5EF4-FFF2-40B4-BE49-F238E27FC236}">
                <a16:creationId xmlns:a16="http://schemas.microsoft.com/office/drawing/2014/main" id="{432B4E81-8815-4C88-8FA4-617E697DABB2}"/>
              </a:ext>
            </a:extLst>
          </p:cNvPr>
          <p:cNvSpPr>
            <a:spLocks xmlns:a="http://schemas.openxmlformats.org/drawingml/2006/main" noGrp="1"/>
          </p:cNvSpPr>
          <p:nvPr/>
        </p:nvSpPr>
        <p:spPr>
          <a:xfrm xmlns:a="http://schemas.openxmlformats.org/drawingml/2006/main">
            <a:off x="914400" y="2377440"/>
            <a:ext cx="10332720" cy="173736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3300" b="1">
                <a:solidFill>
                  <a:srgbClr val="0A2540"/>
                </a:solidFill>
                <a:latin typeface="Arial"/>
                <a:ea typeface="Arial"/>
                <a:cs typeface="Arial"/>
              </a:rPr>
              <a:t>Which Titanic model deserves our trust?</a:t>
            </a:r>
          </a:p>
        </p:txBody>
      </p:sp>
      <p:sp>
        <p:nvSpPr>
          <p:cNvPr id="6" name="TextBox 5">
            <a:extLst xmlns:a="http://schemas.openxmlformats.org/drawingml/2006/main">
              <a:ext uri="{FF2B5EF4-FFF2-40B4-BE49-F238E27FC236}">
                <a16:creationId xmlns:a16="http://schemas.microsoft.com/office/drawing/2014/main" id="{33A5BA6E-8F3F-4274-A218-7EBAFB9E6F38}"/>
              </a:ext>
            </a:extLst>
          </p:cNvPr>
          <p:cNvSpPr>
            <a:spLocks xmlns:a="http://schemas.openxmlformats.org/drawingml/2006/main" noGrp="1"/>
          </p:cNvSpPr>
          <p:nvPr/>
        </p:nvSpPr>
        <p:spPr>
          <a:xfrm xmlns:a="http://schemas.openxmlformats.org/drawingml/2006/main">
            <a:off x="914400" y="4114800"/>
            <a:ext cx="9601200" cy="91440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1650" b="0">
                <a:solidFill>
                  <a:srgbClr val="5B6774"/>
                </a:solidFill>
                <a:latin typeface="Arial"/>
                <a:ea typeface="Arial"/>
                <a:cs typeface="Arial"/>
              </a:rPr>
              <a:t>Several models can learn from the same passenger records. A fair comparison gives every candidate the same challenge. We will compare their predictions with a simple baseline. The strongest training score may not be the strongest evidence.</a:t>
            </a:r>
          </a:p>
        </p:txBody>
      </p:sp>
      <p:sp>
        <p:nvSpPr>
          <p:cNvPr id="7" name="TextBox 6">
            <a:extLst xmlns:a="http://schemas.openxmlformats.org/drawingml/2006/main">
              <a:ext uri="{FF2B5EF4-FFF2-40B4-BE49-F238E27FC236}">
                <a16:creationId xmlns:a16="http://schemas.microsoft.com/office/drawing/2014/main" id="{35F06E82-BFB9-4656-98AD-F02A881C1D8E}"/>
              </a:ext>
            </a:extLst>
          </p:cNvPr>
          <p:cNvSpPr>
            <a:spLocks xmlns:a="http://schemas.openxmlformats.org/drawingml/2006/main" noGrp="1"/>
          </p:cNvSpPr>
          <p:nvPr/>
        </p:nvSpPr>
        <p:spPr>
          <a:xfrm xmlns:a="http://schemas.openxmlformats.org/drawingml/2006/main">
            <a:off x="914400" y="6035040"/>
            <a:ext cx="91440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200" b="0">
                <a:solidFill>
                  <a:srgbClr val="5B6774"/>
                </a:solidFill>
                <a:latin typeface="Arial"/>
                <a:ea typeface="Arial"/>
                <a:cs typeface="Arial"/>
              </a:rPr>
              <a:t>Machine Learning - Module 2</a:t>
            </a:r>
          </a:p>
        </p:txBody>
      </p:sp>
    </p:spTree>
    <p:extLst>
      <p:ext uri="{BB962C8B-B14F-4D97-AF65-F5344CB8AC3E}">
        <p14:creationId xmlns:p14="http://schemas.microsoft.com/office/powerpoint/2010/main" val="83198606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3587957-5179-4A90-9E2C-89229B608BB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20E98157-4DBB-455F-BB59-CEC3E98E8308}"/>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74A292B-7C58-4533-8BA1-471C52DEB893}"/>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THE MAP FOR TODAY</a:t>
            </a:r>
          </a:p>
        </p:txBody>
      </p:sp>
      <p:sp>
        <p:nvSpPr>
          <p:cNvPr id="5" name="TextBox 4">
            <a:extLst xmlns:a="http://schemas.openxmlformats.org/drawingml/2006/main">
              <a:ext uri="{FF2B5EF4-FFF2-40B4-BE49-F238E27FC236}">
                <a16:creationId xmlns:a16="http://schemas.microsoft.com/office/drawing/2014/main" id="{999489C8-2059-470A-BF1C-8F44DEC80CFD}"/>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Choosing a model and evaluating it are different jobs</a:t>
            </a:r>
          </a:p>
        </p:txBody>
      </p:sp>
      <p:sp>
        <p:nvSpPr>
          <p:cNvPr id="6" name="Rectangle 5">
            <a:extLst xmlns:a="http://schemas.openxmlformats.org/drawingml/2006/main">
              <a:ext uri="{FF2B5EF4-FFF2-40B4-BE49-F238E27FC236}">
                <a16:creationId xmlns:a16="http://schemas.microsoft.com/office/drawing/2014/main" id="{7F7DE517-D4DE-4208-A5CE-52FA5D289E98}"/>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7A93E16-AA5C-4E37-82E1-CB426E2E469F}"/>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Compare candidates inside the 712 training rows.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notebook makes the first course evaluation on the 179-row holdout.</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Opening it teaches metrics, but ends its fresh status.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Later reuse cannot provide a fresh estimate.</a:t>
            </a:r>
          </a:p>
        </p:txBody>
      </p:sp>
      <p:sp>
        <p:nvSpPr>
          <p:cNvPr id="9" name="TextBox 8">
            <a:extLst xmlns:a="http://schemas.openxmlformats.org/drawingml/2006/main">
              <a:ext uri="{FF2B5EF4-FFF2-40B4-BE49-F238E27FC236}">
                <a16:creationId xmlns:a16="http://schemas.microsoft.com/office/drawing/2014/main" id="{9DADF850-1019-40DD-857A-762EBF59D65B}"/>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The one bar that rules Module 2 (it returns in every session). Harvard CS109A / ISLR ch. 5 (model selection vs model assessment).</a:t>
            </a:r>
          </a:p>
        </p:txBody>
      </p:sp>
      <p:sp>
        <p:nvSpPr>
          <p:cNvPr id="10" name="TextBox 9">
            <a:extLst xmlns:a="http://schemas.openxmlformats.org/drawingml/2006/main">
              <a:ext uri="{FF2B5EF4-FFF2-40B4-BE49-F238E27FC236}">
                <a16:creationId xmlns:a16="http://schemas.microsoft.com/office/drawing/2014/main" id="{505840D7-B9CC-4D14-99D9-197650BF776F}"/>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49DCFA79-04ED-4C86-B431-910844788EF6}"/>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21FF229-7335-4499-8252-8EBE76301A9D}"/>
              </a:ext>
            </a:extLst>
          </p:cNvPr>
          <p:cNvSpPr>
            <a:spLocks xmlns:a="http://schemas.openxmlformats.org/drawingml/2006/main" noGrp="1"/>
          </p:cNvSpPr>
          <p:nvPr/>
        </p:nvSpPr>
        <p:spPr>
          <a:xfrm xmlns:a="http://schemas.openxmlformats.org/drawingml/2006/main">
            <a:off x="5334000" y="21431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E5EF3"/>
                </a:solidFill>
                <a:latin typeface="Arial"/>
                <a:ea typeface="Arial"/>
                <a:cs typeface="Arial"/>
              </a:defRPr>
            </a:pPr>
            <a:r>
              <a:rPr sz="2250" b="1">
                <a:solidFill>
                  <a:srgbClr val="1E5EF3"/>
                </a:solidFill>
                <a:latin typeface="Arial"/>
                <a:ea typeface="Arial"/>
                <a:cs typeface="Arial"/>
              </a:rPr>
              <a:t>01</a:t>
            </a:r>
          </a:p>
        </p:txBody>
      </p:sp>
      <p:sp>
        <p:nvSpPr>
          <p:cNvPr id="13" name="">
            <a:extLst xmlns:a="http://schemas.openxmlformats.org/drawingml/2006/main">
              <a:ext uri="{FF2B5EF4-FFF2-40B4-BE49-F238E27FC236}">
                <a16:creationId xmlns:a16="http://schemas.microsoft.com/office/drawing/2014/main" id="{D5FD676A-0060-44FE-B871-7A82BCEB99BB}"/>
              </a:ext>
            </a:extLst>
          </p:cNvPr>
          <p:cNvSpPr>
            <a:spLocks xmlns:a="http://schemas.openxmlformats.org/drawingml/2006/main" noGrp="1"/>
          </p:cNvSpPr>
          <p:nvPr/>
        </p:nvSpPr>
        <p:spPr>
          <a:xfrm xmlns:a="http://schemas.openxmlformats.org/drawingml/2006/main">
            <a:off x="5962650" y="2143125"/>
            <a:ext cx="527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0A2540"/>
                </a:solidFill>
                <a:latin typeface="Arial"/>
                <a:ea typeface="Arial"/>
                <a:cs typeface="Arial"/>
              </a:defRPr>
            </a:pPr>
            <a:r>
              <a:rPr sz="1575" b="1">
                <a:solidFill>
                  <a:srgbClr val="0A2540"/>
                </a:solidFill>
                <a:latin typeface="Arial"/>
                <a:ea typeface="Arial"/>
                <a:cs typeface="Arial"/>
              </a:rPr>
              <a:t>CHOOSE</a:t>
            </a:r>
          </a:p>
        </p:txBody>
      </p:sp>
      <p:sp>
        <p:nvSpPr>
          <p:cNvPr id="14" name="">
            <a:extLst xmlns:a="http://schemas.openxmlformats.org/drawingml/2006/main">
              <a:ext uri="{FF2B5EF4-FFF2-40B4-BE49-F238E27FC236}">
                <a16:creationId xmlns:a16="http://schemas.microsoft.com/office/drawing/2014/main" id="{F540ED7C-B9A8-4F46-9F51-185428B6926B}"/>
              </a:ext>
            </a:extLst>
          </p:cNvPr>
          <p:cNvSpPr>
            <a:spLocks xmlns:a="http://schemas.openxmlformats.org/drawingml/2006/main" noGrp="1"/>
          </p:cNvSpPr>
          <p:nvPr/>
        </p:nvSpPr>
        <p:spPr>
          <a:xfrm xmlns:a="http://schemas.openxmlformats.org/drawingml/2006/main">
            <a:off x="5962650" y="2447925"/>
            <a:ext cx="527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5B6774"/>
                </a:solidFill>
                <a:latin typeface="Arial"/>
                <a:ea typeface="Arial"/>
                <a:cs typeface="Arial"/>
              </a:defRPr>
            </a:pPr>
            <a:r>
              <a:rPr sz="1275" b="0">
                <a:solidFill>
                  <a:srgbClr val="5B6774"/>
                </a:solidFill>
                <a:latin typeface="Arial"/>
                <a:ea typeface="Arial"/>
                <a:cs typeface="Arial"/>
              </a:rPr>
              <a:t>Compare candidates with cross-validation inside 712 training rows.</a:t>
            </a:r>
          </a:p>
        </p:txBody>
      </p:sp>
      <p:sp>
        <p:nvSpPr>
          <p:cNvPr id="15" name="">
            <a:extLst xmlns:a="http://schemas.openxmlformats.org/drawingml/2006/main">
              <a:ext uri="{FF2B5EF4-FFF2-40B4-BE49-F238E27FC236}">
                <a16:creationId xmlns:a16="http://schemas.microsoft.com/office/drawing/2014/main" id="{84C78E99-06B3-41C2-AC9D-D0B37529F9C5}"/>
              </a:ext>
            </a:extLst>
          </p:cNvPr>
          <p:cNvSpPr>
            <a:spLocks xmlns:a="http://schemas.openxmlformats.org/drawingml/2006/main" noGrp="1"/>
          </p:cNvSpPr>
          <p:nvPr/>
        </p:nvSpPr>
        <p:spPr>
          <a:xfrm xmlns:a="http://schemas.openxmlformats.org/drawingml/2006/main">
            <a:off x="5334000" y="334327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E5EF3"/>
                </a:solidFill>
                <a:latin typeface="Arial"/>
                <a:ea typeface="Arial"/>
                <a:cs typeface="Arial"/>
              </a:defRPr>
            </a:pPr>
            <a:r>
              <a:rPr sz="2250" b="1">
                <a:solidFill>
                  <a:srgbClr val="1E5EF3"/>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0DBE3878-03F4-46B5-98CF-337D1338D3AE}"/>
              </a:ext>
            </a:extLst>
          </p:cNvPr>
          <p:cNvSpPr>
            <a:spLocks xmlns:a="http://schemas.openxmlformats.org/drawingml/2006/main" noGrp="1"/>
          </p:cNvSpPr>
          <p:nvPr/>
        </p:nvSpPr>
        <p:spPr>
          <a:xfrm xmlns:a="http://schemas.openxmlformats.org/drawingml/2006/main">
            <a:off x="5962650" y="3343275"/>
            <a:ext cx="527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0A2540"/>
                </a:solidFill>
                <a:latin typeface="Arial"/>
                <a:ea typeface="Arial"/>
                <a:cs typeface="Arial"/>
              </a:defRPr>
            </a:pPr>
            <a:r>
              <a:rPr sz="1575" b="1">
                <a:solidFill>
                  <a:srgbClr val="0A2540"/>
                </a:solidFill>
                <a:latin typeface="Arial"/>
                <a:ea typeface="Arial"/>
                <a:cs typeface="Arial"/>
              </a:rPr>
              <a:t>REPORT</a:t>
            </a:r>
          </a:p>
        </p:txBody>
      </p:sp>
      <p:sp>
        <p:nvSpPr>
          <p:cNvPr id="17" name="">
            <a:extLst xmlns:a="http://schemas.openxmlformats.org/drawingml/2006/main">
              <a:ext uri="{FF2B5EF4-FFF2-40B4-BE49-F238E27FC236}">
                <a16:creationId xmlns:a16="http://schemas.microsoft.com/office/drawing/2014/main" id="{019F4A4F-9C71-4636-84EE-90FD4189C9EE}"/>
              </a:ext>
            </a:extLst>
          </p:cNvPr>
          <p:cNvSpPr>
            <a:spLocks xmlns:a="http://schemas.openxmlformats.org/drawingml/2006/main" noGrp="1"/>
          </p:cNvSpPr>
          <p:nvPr/>
        </p:nvSpPr>
        <p:spPr>
          <a:xfrm xmlns:a="http://schemas.openxmlformats.org/drawingml/2006/main">
            <a:off x="5962650" y="3648075"/>
            <a:ext cx="527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5B6774"/>
                </a:solidFill>
                <a:latin typeface="Arial"/>
                <a:ea typeface="Arial"/>
                <a:cs typeface="Arial"/>
              </a:defRPr>
            </a:pPr>
            <a:r>
              <a:rPr sz="1275" b="0">
                <a:solidFill>
                  <a:srgbClr val="5B6774"/>
                </a:solidFill>
                <a:latin typeface="Arial"/>
                <a:ea typeface="Arial"/>
                <a:cs typeface="Arial"/>
              </a:rPr>
              <a:t>The notebook opens the 179-row holdout to teach evaluation metrics.</a:t>
            </a:r>
          </a:p>
        </p:txBody>
      </p:sp>
      <p:sp>
        <p:nvSpPr>
          <p:cNvPr id="18" name="">
            <a:extLst xmlns:a="http://schemas.openxmlformats.org/drawingml/2006/main">
              <a:ext uri="{FF2B5EF4-FFF2-40B4-BE49-F238E27FC236}">
                <a16:creationId xmlns:a16="http://schemas.microsoft.com/office/drawing/2014/main" id="{F63F5C79-8FE8-4F8F-BA3F-27BF7D354D8A}"/>
              </a:ext>
            </a:extLst>
          </p:cNvPr>
          <p:cNvSpPr>
            <a:spLocks xmlns:a="http://schemas.openxmlformats.org/drawingml/2006/main" noGrp="1"/>
          </p:cNvSpPr>
          <p:nvPr/>
        </p:nvSpPr>
        <p:spPr>
          <a:xfrm xmlns:a="http://schemas.openxmlformats.org/drawingml/2006/main">
            <a:off x="5334000" y="45434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E5EF3"/>
                </a:solidFill>
                <a:latin typeface="Arial"/>
                <a:ea typeface="Arial"/>
                <a:cs typeface="Arial"/>
              </a:defRPr>
            </a:pPr>
            <a:r>
              <a:rPr sz="2250" b="1">
                <a:solidFill>
                  <a:srgbClr val="1E5EF3"/>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AAD4C9D2-ADD0-45E6-99AD-8871A97291C3}"/>
              </a:ext>
            </a:extLst>
          </p:cNvPr>
          <p:cNvSpPr>
            <a:spLocks xmlns:a="http://schemas.openxmlformats.org/drawingml/2006/main" noGrp="1"/>
          </p:cNvSpPr>
          <p:nvPr/>
        </p:nvSpPr>
        <p:spPr>
          <a:xfrm xmlns:a="http://schemas.openxmlformats.org/drawingml/2006/main">
            <a:off x="5962650" y="4543425"/>
            <a:ext cx="527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0A2540"/>
                </a:solidFill>
                <a:latin typeface="Arial"/>
                <a:ea typeface="Arial"/>
                <a:cs typeface="Arial"/>
              </a:defRPr>
            </a:pPr>
            <a:r>
              <a:rPr sz="1575" b="1">
                <a:solidFill>
                  <a:srgbClr val="0A2540"/>
                </a:solidFill>
                <a:latin typeface="Arial"/>
                <a:ea typeface="Arial"/>
                <a:cs typeface="Arial"/>
              </a:rPr>
              <a:t>STATUS</a:t>
            </a:r>
          </a:p>
        </p:txBody>
      </p:sp>
      <p:sp>
        <p:nvSpPr>
          <p:cNvPr id="20" name="">
            <a:extLst xmlns:a="http://schemas.openxmlformats.org/drawingml/2006/main">
              <a:ext uri="{FF2B5EF4-FFF2-40B4-BE49-F238E27FC236}">
                <a16:creationId xmlns:a16="http://schemas.microsoft.com/office/drawing/2014/main" id="{2E17CE95-20FE-468E-AB30-2E1DAB034533}"/>
              </a:ext>
            </a:extLst>
          </p:cNvPr>
          <p:cNvSpPr>
            <a:spLocks xmlns:a="http://schemas.openxmlformats.org/drawingml/2006/main" noGrp="1"/>
          </p:cNvSpPr>
          <p:nvPr/>
        </p:nvSpPr>
        <p:spPr>
          <a:xfrm xmlns:a="http://schemas.openxmlformats.org/drawingml/2006/main">
            <a:off x="5962650" y="4848225"/>
            <a:ext cx="527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5B6774"/>
                </a:solidFill>
                <a:latin typeface="Arial"/>
                <a:ea typeface="Arial"/>
                <a:cs typeface="Arial"/>
              </a:defRPr>
            </a:pPr>
            <a:r>
              <a:rPr sz="1275" b="0">
                <a:solidFill>
                  <a:srgbClr val="5B6774"/>
                </a:solidFill>
                <a:latin typeface="Arial"/>
                <a:ea typeface="Arial"/>
                <a:cs typeface="Arial"/>
              </a:rPr>
              <a:t>After opening, later reuse is instructional evidence, not a fresh estimate.</a:t>
            </a:r>
          </a:p>
        </p:txBody>
      </p:sp>
    </p:spTree>
    <p:extLst>
      <p:ext uri="{BB962C8B-B14F-4D97-AF65-F5344CB8AC3E}">
        <p14:creationId xmlns:p14="http://schemas.microsoft.com/office/powerpoint/2010/main" val="2813593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91840FF-7C54-48F1-A3E1-DB411F402A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254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100D887-28F4-47BF-9095-D651E35D5A5A}"/>
              </a:ext>
            </a:extLst>
          </p:cNvPr>
          <p:cNvSpPr>
            <a:spLocks xmlns:a="http://schemas.openxmlformats.org/drawingml/2006/main" noGrp="1"/>
          </p:cNvSpPr>
          <p:nvPr/>
        </p:nvSpPr>
        <p:spPr>
          <a:xfrm xmlns:a="http://schemas.openxmlformats.org/drawingml/2006/main">
            <a:off x="822960" y="1463040"/>
            <a:ext cx="365760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0" b="1">
                <a:solidFill>
                  <a:srgbClr val="1E5EF3"/>
                </a:solidFill>
                <a:latin typeface="Arial"/>
                <a:ea typeface="Arial"/>
                <a:cs typeface="Arial"/>
              </a:rPr>
              <a:t>01</a:t>
            </a:r>
          </a:p>
        </p:txBody>
      </p:sp>
      <p:sp>
        <p:nvSpPr>
          <p:cNvPr id="4" name="TextBox 3">
            <a:extLst xmlns:a="http://schemas.openxmlformats.org/drawingml/2006/main">
              <a:ext uri="{FF2B5EF4-FFF2-40B4-BE49-F238E27FC236}">
                <a16:creationId xmlns:a16="http://schemas.microsoft.com/office/drawing/2014/main" id="{198939DA-7196-4939-AB97-996236BC80F1}"/>
              </a:ext>
            </a:extLst>
          </p:cNvPr>
          <p:cNvSpPr>
            <a:spLocks xmlns:a="http://schemas.openxmlformats.org/drawingml/2006/main" noGrp="1"/>
          </p:cNvSpPr>
          <p:nvPr/>
        </p:nvSpPr>
        <p:spPr>
          <a:xfrm xmlns:a="http://schemas.openxmlformats.org/drawingml/2006/main">
            <a:off x="868680" y="3566160"/>
            <a:ext cx="10424160" cy="128016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2925" b="1">
                <a:solidFill>
                  <a:srgbClr val="FFFFFF"/>
                </a:solidFill>
                <a:latin typeface="Arial"/>
                <a:ea typeface="Arial"/>
                <a:cs typeface="Arial"/>
              </a:rPr>
              <a:t>Part 1: What makes a comparison fair?</a:t>
            </a:r>
          </a:p>
        </p:txBody>
      </p:sp>
      <p:sp>
        <p:nvSpPr>
          <p:cNvPr id="5" name="TextBox 4">
            <a:extLst xmlns:a="http://schemas.openxmlformats.org/drawingml/2006/main">
              <a:ext uri="{FF2B5EF4-FFF2-40B4-BE49-F238E27FC236}">
                <a16:creationId xmlns:a16="http://schemas.microsoft.com/office/drawing/2014/main" id="{361DE317-D115-492B-930D-63951130D6F6}"/>
              </a:ext>
            </a:extLst>
          </p:cNvPr>
          <p:cNvSpPr>
            <a:spLocks xmlns:a="http://schemas.openxmlformats.org/drawingml/2006/main" noGrp="1"/>
          </p:cNvSpPr>
          <p:nvPr/>
        </p:nvSpPr>
        <p:spPr>
          <a:xfrm xmlns:a="http://schemas.openxmlformats.org/drawingml/2006/main">
            <a:off x="868680" y="4709160"/>
            <a:ext cx="10058400" cy="91440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1650" b="0">
                <a:solidFill>
                  <a:srgbClr val="B9D0FA"/>
                </a:solidFill>
                <a:latin typeface="Arial"/>
                <a:ea typeface="Arial"/>
                <a:cs typeface="Arial"/>
              </a:rPr>
              <a:t>Begin with what training scores can and cannot tell us.</a:t>
            </a:r>
          </a:p>
        </p:txBody>
      </p:sp>
      <p:sp>
        <p:nvSpPr>
          <p:cNvPr id="6" name="TextBox 5">
            <a:extLst xmlns:a="http://schemas.openxmlformats.org/drawingml/2006/main">
              <a:ext uri="{FF2B5EF4-FFF2-40B4-BE49-F238E27FC236}">
                <a16:creationId xmlns:a16="http://schemas.microsoft.com/office/drawing/2014/main" id="{49F2DC3D-7CFE-40E5-90C9-6FE76A1FD062}"/>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B9D0FA"/>
                </a:solidFill>
                <a:latin typeface="Arial"/>
                <a:ea typeface="Arial"/>
                <a:cs typeface="Arial"/>
              </a:rPr>
              <a:t>M2 Session 3 - Model Selection and Evaluation</a:t>
            </a:r>
          </a:p>
        </p:txBody>
      </p:sp>
      <p:sp>
        <p:nvSpPr>
          <p:cNvPr id="7" name="TextBox 6">
            <a:extLst xmlns:a="http://schemas.openxmlformats.org/drawingml/2006/main">
              <a:ext uri="{FF2B5EF4-FFF2-40B4-BE49-F238E27FC236}">
                <a16:creationId xmlns:a16="http://schemas.microsoft.com/office/drawing/2014/main" id="{3AFDCE06-E3AC-4C34-8140-A262AB28D4C3}"/>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B9D0FA"/>
                </a:solidFill>
                <a:latin typeface="Arial"/>
                <a:ea typeface="Arial"/>
                <a:cs typeface="Arial"/>
              </a:rPr>
              <a:t>3</a:t>
            </a:r>
          </a:p>
        </p:txBody>
      </p:sp>
    </p:spTree>
    <p:extLst>
      <p:ext uri="{BB962C8B-B14F-4D97-AF65-F5344CB8AC3E}">
        <p14:creationId xmlns:p14="http://schemas.microsoft.com/office/powerpoint/2010/main" val="265088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CA4E167-93FD-4836-98B4-A309371C6D2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7AF03577-9C4C-41C5-91B9-4B580E6BFFAE}"/>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CF165FF-0687-4165-88FF-10F2B7A14910}"/>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EMPIRICAL RISK MINIMIZATION</a:t>
            </a:r>
          </a:p>
        </p:txBody>
      </p:sp>
      <p:sp>
        <p:nvSpPr>
          <p:cNvPr id="5" name="TextBox 4">
            <a:extLst xmlns:a="http://schemas.openxmlformats.org/drawingml/2006/main">
              <a:ext uri="{FF2B5EF4-FFF2-40B4-BE49-F238E27FC236}">
                <a16:creationId xmlns:a16="http://schemas.microsoft.com/office/drawing/2014/main" id="{BC3A017F-EA60-4C32-8F2F-6C6A16E48E27}"/>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A perfect training score is not enough</a:t>
            </a:r>
          </a:p>
        </p:txBody>
      </p:sp>
      <p:sp>
        <p:nvSpPr>
          <p:cNvPr id="6" name="Rectangle 5">
            <a:extLst xmlns:a="http://schemas.openxmlformats.org/drawingml/2006/main">
              <a:ext uri="{FF2B5EF4-FFF2-40B4-BE49-F238E27FC236}">
                <a16:creationId xmlns:a16="http://schemas.microsoft.com/office/drawing/2014/main" id="{9C82E25E-9741-43C3-A214-8DB9671FFCF9}"/>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CD50347C-CDFD-48F4-A854-1A80C6707E95}"/>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Notice which rule makes the fewest training mistakes.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Rule D reaches 0.00 on the rows it studied.</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Loss means how wrong a prediction is.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Minimizing average training loss is called empirical risk minimization.</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112430250ac741b9"/>
          <a:stretch xmlns:a="http://schemas.openxmlformats.org/drawingml/2006/main">
            <a:fillRect l="0" t="0" r="0" b="0"/>
          </a:stretch>
        </p:blipFill>
        <p:spPr>
          <a:xfrm xmlns:a="http://schemas.openxmlformats.org/drawingml/2006/main">
            <a:off x="4990795" y="1806941"/>
            <a:ext cx="6622085" cy="3446494"/>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A66E9771-D00F-4757-9EAA-38A779FEA22A}"/>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Illustration - invented rules and loss values. MIT 6.390, ch. 1 and appendix C (empirical risk minimization).</a:t>
            </a:r>
          </a:p>
        </p:txBody>
      </p:sp>
      <p:sp>
        <p:nvSpPr>
          <p:cNvPr id="10" name="TextBox 9">
            <a:extLst xmlns:a="http://schemas.openxmlformats.org/drawingml/2006/main">
              <a:ext uri="{FF2B5EF4-FFF2-40B4-BE49-F238E27FC236}">
                <a16:creationId xmlns:a16="http://schemas.microsoft.com/office/drawing/2014/main" id="{E027B943-688F-4E17-A2AC-C4128BD7753E}"/>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BDB11BD8-5D7F-4B15-A053-A0B4FCCC9C6B}"/>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4</a:t>
            </a:r>
          </a:p>
        </p:txBody>
      </p:sp>
    </p:spTree>
    <p:extLst>
      <p:ext uri="{BB962C8B-B14F-4D97-AF65-F5344CB8AC3E}">
        <p14:creationId xmlns:p14="http://schemas.microsoft.com/office/powerpoint/2010/main" val="16911815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D959B4D-5F8D-4AEC-BD5C-6C7693EAA88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5E1958EA-ADCF-4C3D-8982-E0798AB8CFBD}"/>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8B54BCF-1082-4BF7-81E0-F657D9499EC7}"/>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GENERALIZATION</a:t>
            </a:r>
          </a:p>
        </p:txBody>
      </p:sp>
      <p:sp>
        <p:nvSpPr>
          <p:cNvPr id="5" name="TextBox 4">
            <a:extLst xmlns:a="http://schemas.openxmlformats.org/drawingml/2006/main">
              <a:ext uri="{FF2B5EF4-FFF2-40B4-BE49-F238E27FC236}">
                <a16:creationId xmlns:a16="http://schemas.microsoft.com/office/drawing/2014/main" id="{DAC20AE0-E423-4C97-8D65-3C5203AF2645}"/>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Compare training error with error on unseen rows</a:t>
            </a:r>
          </a:p>
        </p:txBody>
      </p:sp>
      <p:sp>
        <p:nvSpPr>
          <p:cNvPr id="6" name="Rectangle 5">
            <a:extLst xmlns:a="http://schemas.openxmlformats.org/drawingml/2006/main">
              <a:ext uri="{FF2B5EF4-FFF2-40B4-BE49-F238E27FC236}">
                <a16:creationId xmlns:a16="http://schemas.microsoft.com/office/drawing/2014/main" id="{9EE70E09-C91B-466D-B264-D84B8E0C883A}"/>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C98478C-43B9-454C-B1E1-F97E6709B6B0}"/>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Start with how often the model misses during training.</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Then notice how much worse it does on held-back rows.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High training error can suggest bias, a systematic limitation.</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A large gap can suggest variance, sensitivity to training data.</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048c4d0e535c4434"/>
          <a:stretch xmlns:a="http://schemas.openxmlformats.org/drawingml/2006/main">
            <a:fillRect l="0" t="0" r="0" b="0"/>
          </a:stretch>
        </p:blipFill>
        <p:spPr>
          <a:xfrm xmlns:a="http://schemas.openxmlformats.org/drawingml/2006/main">
            <a:off x="5191387" y="1874519"/>
            <a:ext cx="6350746" cy="4114800"/>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9EAA6B40-98B0-426E-BBF9-07B3F3AA8CA2}"/>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Grid cards: Ng's teaching examples, not course numbers. Ng, Machine Learning Yearning chs. 20-21.</a:t>
            </a:r>
          </a:p>
        </p:txBody>
      </p:sp>
      <p:sp>
        <p:nvSpPr>
          <p:cNvPr id="10" name="TextBox 9">
            <a:extLst xmlns:a="http://schemas.openxmlformats.org/drawingml/2006/main">
              <a:ext uri="{FF2B5EF4-FFF2-40B4-BE49-F238E27FC236}">
                <a16:creationId xmlns:a16="http://schemas.microsoft.com/office/drawing/2014/main" id="{8084359E-0577-4EDA-B370-BBCAC6984BA8}"/>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1958378C-C89E-4944-8B12-CEBC3D83A759}"/>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5</a:t>
            </a:r>
          </a:p>
        </p:txBody>
      </p:sp>
    </p:spTree>
    <p:extLst>
      <p:ext uri="{BB962C8B-B14F-4D97-AF65-F5344CB8AC3E}">
        <p14:creationId xmlns:p14="http://schemas.microsoft.com/office/powerpoint/2010/main" val="7286473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5A5AE68-B069-4F2A-B783-23220BDF83A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49AAF38-378E-4EE5-B35E-6D17C4A101CE}"/>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AB801D2-2F1E-4E8A-8AC7-3191B379A186}"/>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BIAS-VARIANCE DECOMPOSITION</a:t>
            </a:r>
          </a:p>
        </p:txBody>
      </p:sp>
      <p:sp>
        <p:nvSpPr>
          <p:cNvPr id="5" name="TextBox 4">
            <a:extLst xmlns:a="http://schemas.openxmlformats.org/drawingml/2006/main">
              <a:ext uri="{FF2B5EF4-FFF2-40B4-BE49-F238E27FC236}">
                <a16:creationId xmlns:a16="http://schemas.microsoft.com/office/drawing/2014/main" id="{436067DA-AFD4-4D13-B334-8A1C6893189C}"/>
              </a:ext>
            </a:extLst>
          </p:cNvPr>
          <p:cNvSpPr>
            <a:spLocks xmlns:a="http://schemas.openxmlformats.org/drawingml/2006/main" noGrp="1"/>
          </p:cNvSpPr>
          <p:nvPr/>
        </p:nvSpPr>
        <p:spPr>
          <a:xfrm xmlns:a="http://schemas.openxmlformats.org/drawingml/2006/main">
            <a:off x="548640" y="868680"/>
            <a:ext cx="11091672" cy="9829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Consistent mistakes or unstable fits?</a:t>
            </a:r>
          </a:p>
        </p:txBody>
      </p:sp>
      <p:sp>
        <p:nvSpPr>
          <p:cNvPr id="6" name="Rectangle 5">
            <a:extLst xmlns:a="http://schemas.openxmlformats.org/drawingml/2006/main">
              <a:ext uri="{FF2B5EF4-FFF2-40B4-BE49-F238E27FC236}">
                <a16:creationId xmlns:a16="http://schemas.microsoft.com/office/drawing/2014/main" id="{2F2F51D4-7E34-4151-82E0-119DB4430763}"/>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1BDCBA6-6D58-4912-B954-540642BCAEB0}"/>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Each faint line comes from a different training sample.</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A tight bundle can still miss the underlying pattern.</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A scattered bundle changes strongly with the sample.</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These pictures illustrate systematic error, called bias, and instability, called variance.</a:t>
            </a:r>
          </a:p>
        </p:txBody>
      </p:sp>
      <p:pic>
        <p:nvPicPr>
          <p:cNvPr id="21" name="Picture 7"/>
          <p:cNvPicPr>
            <a:picLocks xmlns:a="http://schemas.openxmlformats.org/drawingml/2006/main" noChangeAspect="1"/>
          </p:cNvPicPr>
          <p:nvPr/>
        </p:nvPicPr>
        <p:blipFill>
          <a:blip xmlns:r="http://schemas.openxmlformats.org/officeDocument/2006/relationships" xmlns:a="http://schemas.openxmlformats.org/drawingml/2006/main" r:embed="R9b9c7796ed2f4b6d"/>
          <a:stretch xmlns:a="http://schemas.openxmlformats.org/drawingml/2006/main">
            <a:fillRect l="0" t="0" r="0" b="0"/>
          </a:stretch>
        </p:blipFill>
        <p:spPr>
          <a:xfrm xmlns:a="http://schemas.openxmlformats.org/drawingml/2006/main">
            <a:off x="5350988" y="1874519"/>
            <a:ext cx="6031543" cy="4114800"/>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C964B19C-8076-472F-8D87-6D2BFE216DFC}"/>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Illustration - synthetic data, 60 refits per panel. Device from Harvard CS109A L6 / ISLR §2.2.</a:t>
            </a:r>
          </a:p>
        </p:txBody>
      </p:sp>
      <p:sp>
        <p:nvSpPr>
          <p:cNvPr id="10" name="TextBox 9">
            <a:extLst xmlns:a="http://schemas.openxmlformats.org/drawingml/2006/main">
              <a:ext uri="{FF2B5EF4-FFF2-40B4-BE49-F238E27FC236}">
                <a16:creationId xmlns:a16="http://schemas.microsoft.com/office/drawing/2014/main" id="{493709FE-4A50-437B-8C6B-9548B7363829}"/>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2BE69EB0-5AFE-4EDA-A0B4-CDB841CF4BC5}"/>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6</a:t>
            </a:r>
          </a:p>
        </p:txBody>
      </p:sp>
      <p:sp>
        <p:nvSpPr>
          <p:cNvPr id="13" name="">
            <a:extLst xmlns:a="http://schemas.openxmlformats.org/drawingml/2006/main">
              <a:ext uri="{FF2B5EF4-FFF2-40B4-BE49-F238E27FC236}">
                <a16:creationId xmlns:a16="http://schemas.microsoft.com/office/drawing/2014/main" id="{8413A7E7-8541-46E3-B568-D7FC07CE7CD7}"/>
              </a:ext>
            </a:extLst>
          </p:cNvPr>
          <p:cNvSpPr>
            <a:spLocks xmlns:a="http://schemas.openxmlformats.org/drawingml/2006/main" noGrp="1"/>
          </p:cNvSpPr>
          <p:nvPr/>
        </p:nvSpPr>
        <p:spPr>
          <a:xfrm xmlns:a="http://schemas.openxmlformats.org/drawingml/2006/main">
            <a:off x="5381625" y="5524500"/>
            <a:ext cx="6286500" cy="400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txBody>
          <a:bodyPr xmlns:a="http://schemas.openxmlformats.org/drawingml/2006/main"/>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2FA31DAB-9559-44BE-B032-3596806FBCDC}"/>
              </a:ext>
            </a:extLst>
          </p:cNvPr>
          <p:cNvSpPr>
            <a:spLocks xmlns:a="http://schemas.openxmlformats.org/drawingml/2006/main" noGrp="1"/>
          </p:cNvSpPr>
          <p:nvPr/>
        </p:nvSpPr>
        <p:spPr>
          <a:xfrm xmlns:a="http://schemas.openxmlformats.org/drawingml/2006/main">
            <a:off x="5381625" y="5524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0A2540"/>
                </a:solidFill>
                <a:latin typeface="Arial"/>
                <a:ea typeface="Arial"/>
                <a:cs typeface="Arial"/>
              </a:defRPr>
            </a:pPr>
            <a:r>
              <a:rPr sz="1050" b="1">
                <a:solidFill>
                  <a:srgbClr val="0A2540"/>
                </a:solidFill>
                <a:latin typeface="Arial"/>
                <a:ea typeface="Arial"/>
                <a:cs typeface="Arial"/>
              </a:rPr>
              <a:t>Regression illustration: expected squared prediction error = bias² + variance + noise</a:t>
            </a:r>
          </a:p>
        </p:txBody>
      </p:sp>
    </p:spTree>
    <p:extLst>
      <p:ext uri="{BB962C8B-B14F-4D97-AF65-F5344CB8AC3E}">
        <p14:creationId xmlns:p14="http://schemas.microsoft.com/office/powerpoint/2010/main" val="13178746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90A8198-C4BE-4F97-AB13-EAFE7C51560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247E7C5-4ABA-44E5-9B8D-60276784E8D9}"/>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C038BAE-188B-42F4-9C8D-F233C87245F9}"/>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STRUCTURAL VS ESTIMATION ERROR</a:t>
            </a:r>
          </a:p>
        </p:txBody>
      </p:sp>
      <p:sp>
        <p:nvSpPr>
          <p:cNvPr id="5" name="TextBox 4">
            <a:extLst xmlns:a="http://schemas.openxmlformats.org/drawingml/2006/main">
              <a:ext uri="{FF2B5EF4-FFF2-40B4-BE49-F238E27FC236}">
                <a16:creationId xmlns:a16="http://schemas.microsoft.com/office/drawing/2014/main" id="{D7A339E7-9C56-4F02-9304-5D3F369AC158}"/>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More flexibility can solve one problem and worsen another</a:t>
            </a:r>
          </a:p>
        </p:txBody>
      </p:sp>
      <p:sp>
        <p:nvSpPr>
          <p:cNvPr id="6" name="Rectangle 5">
            <a:extLst xmlns:a="http://schemas.openxmlformats.org/drawingml/2006/main">
              <a:ext uri="{FF2B5EF4-FFF2-40B4-BE49-F238E27FC236}">
                <a16:creationId xmlns:a16="http://schemas.microsoft.com/office/drawing/2014/main" id="{7E01C488-E3F4-44D6-A78B-418F6F4D4E6E}"/>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12118E0D-43E5-4A88-A3EB-9C0BFCA2BC39}"/>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A rigid model family may miss the pattern entirely.</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A flexible family offers more possible rules to choose from.</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Limited data can make that choice unreliable.</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Notice where the combined error is lowest in this schematic.</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f1e57e9c310a4096"/>
          <a:stretch xmlns:a="http://schemas.openxmlformats.org/drawingml/2006/main">
            <a:fillRect l="0" t="0" r="0" b="0"/>
          </a:stretch>
        </p:blipFill>
        <p:spPr>
          <a:xfrm xmlns:a="http://schemas.openxmlformats.org/drawingml/2006/main">
            <a:off x="5120640" y="1874519"/>
            <a:ext cx="6492240" cy="3591861"/>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BCCF665B-6D98-4CFE-A15A-9E574962BE5C}"/>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Illustration - schematic curves, no real data. MIT 6.390, ch. 2 and ch. 5 (structural vs estimation error).</a:t>
            </a:r>
          </a:p>
        </p:txBody>
      </p:sp>
      <p:sp>
        <p:nvSpPr>
          <p:cNvPr id="10" name="TextBox 9">
            <a:extLst xmlns:a="http://schemas.openxmlformats.org/drawingml/2006/main">
              <a:ext uri="{FF2B5EF4-FFF2-40B4-BE49-F238E27FC236}">
                <a16:creationId xmlns:a16="http://schemas.microsoft.com/office/drawing/2014/main" id="{0BBF7AFC-A5B6-4B75-AC3D-BBC5B09C4FD6}"/>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F35787D8-8B19-433D-8877-1176D72620D3}"/>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7</a:t>
            </a:r>
          </a:p>
        </p:txBody>
      </p:sp>
    </p:spTree>
    <p:extLst>
      <p:ext uri="{BB962C8B-B14F-4D97-AF65-F5344CB8AC3E}">
        <p14:creationId xmlns:p14="http://schemas.microsoft.com/office/powerpoint/2010/main" val="18352687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B3578B1-FF65-42DB-AAC8-CC0B7617D00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404E2A1-BE8E-409E-BAF9-1506BF9A38C7}"/>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5C1E1F4-8983-40D9-828D-36782AA60C06}"/>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COMPLEXITY ON A LEASH</a:t>
            </a:r>
          </a:p>
        </p:txBody>
      </p:sp>
      <p:sp>
        <p:nvSpPr>
          <p:cNvPr id="5" name="TextBox 4">
            <a:extLst xmlns:a="http://schemas.openxmlformats.org/drawingml/2006/main">
              <a:ext uri="{FF2B5EF4-FFF2-40B4-BE49-F238E27FC236}">
                <a16:creationId xmlns:a16="http://schemas.microsoft.com/office/drawing/2014/main" id="{438D5E4A-0DAD-4DA9-89B6-E805558A1791}"/>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Can we discourage unnecessary complexity?</a:t>
            </a:r>
          </a:p>
        </p:txBody>
      </p:sp>
      <p:sp>
        <p:nvSpPr>
          <p:cNvPr id="6" name="Rectangle 5">
            <a:extLst xmlns:a="http://schemas.openxmlformats.org/drawingml/2006/main">
              <a:ext uri="{FF2B5EF4-FFF2-40B4-BE49-F238E27FC236}">
                <a16:creationId xmlns:a16="http://schemas.microsoft.com/office/drawing/2014/main" id="{C4EFA53E-2777-4722-9F8D-6C275AD5CE72}"/>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E91BDE4-57E6-499E-A074-620A70421411}"/>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points stay the same while the fitted curve changes.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Notice which curve follows the trend without chasing every point.</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A complexity penalty discourages unnecessary bends.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This is regularization, a way to limit what training can fit.</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219af03674634e29"/>
          <a:stretch xmlns:a="http://schemas.openxmlformats.org/drawingml/2006/main">
            <a:fillRect l="0" t="0" r="0" b="0"/>
          </a:stretch>
        </p:blipFill>
        <p:spPr>
          <a:xfrm xmlns:a="http://schemas.openxmlformats.org/drawingml/2006/main">
            <a:off x="5120640" y="1874519"/>
            <a:ext cx="6492240" cy="3724000"/>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8DFA7043-A2E2-436D-A7B7-8FB75AF0A765}"/>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Illustration - synthetic points, same data in all panels. MIT 6.390 ch. 2 (penalty framing); Harvard CS109A / ISLR ch. 6 (ridge).</a:t>
            </a:r>
          </a:p>
        </p:txBody>
      </p:sp>
      <p:sp>
        <p:nvSpPr>
          <p:cNvPr id="10" name="TextBox 9">
            <a:extLst xmlns:a="http://schemas.openxmlformats.org/drawingml/2006/main">
              <a:ext uri="{FF2B5EF4-FFF2-40B4-BE49-F238E27FC236}">
                <a16:creationId xmlns:a16="http://schemas.microsoft.com/office/drawing/2014/main" id="{DAEF347D-AFF2-4A93-A66C-38BC71D9A5CE}"/>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15FB99BB-D801-4A49-8443-FB08C545C0D1}"/>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8</a:t>
            </a:r>
          </a:p>
        </p:txBody>
      </p:sp>
    </p:spTree>
    <p:extLst>
      <p:ext uri="{BB962C8B-B14F-4D97-AF65-F5344CB8AC3E}">
        <p14:creationId xmlns:p14="http://schemas.microsoft.com/office/powerpoint/2010/main" val="16438267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084A6D8-834E-434A-9363-22CF5DB3CFA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93FB0DF-455E-45E5-8596-18657D6A7E58}"/>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837C5AB-968D-4116-9F29-36E7830A4215}"/>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THE TRADE-OFF CHART</a:t>
            </a:r>
          </a:p>
        </p:txBody>
      </p:sp>
      <p:sp>
        <p:nvSpPr>
          <p:cNvPr id="5" name="TextBox 4">
            <a:extLst xmlns:a="http://schemas.openxmlformats.org/drawingml/2006/main">
              <a:ext uri="{FF2B5EF4-FFF2-40B4-BE49-F238E27FC236}">
                <a16:creationId xmlns:a16="http://schemas.microsoft.com/office/drawing/2014/main" id="{DF334BBC-341C-42A1-978D-9562F456C519}"/>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A useful model may also need to be explainable</a:t>
            </a:r>
          </a:p>
        </p:txBody>
      </p:sp>
      <p:sp>
        <p:nvSpPr>
          <p:cNvPr id="6" name="Rectangle 5">
            <a:extLst xmlns:a="http://schemas.openxmlformats.org/drawingml/2006/main">
              <a:ext uri="{FF2B5EF4-FFF2-40B4-BE49-F238E27FC236}">
                <a16:creationId xmlns:a16="http://schemas.microsoft.com/office/drawing/2014/main" id="{9897B8F0-11AC-4F70-AB2E-C6AF2BD2A279}"/>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60FC010-EC8F-4677-AC7F-764A13DC2508}"/>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Moving right means the model family can fit more shapes.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Moving up means its fitted rule is easier to inspect.</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These positions are teaching judgments, not measured scores.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Consider whether someone must understand the reason for a prediction.</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c88460209f514bf8"/>
          <a:stretch xmlns:a="http://schemas.openxmlformats.org/drawingml/2006/main">
            <a:fillRect l="0" t="0" r="0" b="0"/>
          </a:stretch>
        </p:blipFill>
        <p:spPr>
          <a:xfrm xmlns:a="http://schemas.openxmlformats.org/drawingml/2006/main">
            <a:off x="5248871" y="1874519"/>
            <a:ext cx="6235778" cy="4114800"/>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F13C590D-7F4F-4AE1-B0C6-9EA25262F797}"/>
              </a:ext>
            </a:extLst>
          </p:cNvPr>
          <p:cNvSpPr>
            <a:spLocks xmlns:a="http://schemas.openxmlformats.org/drawingml/2006/main" noGrp="1"/>
          </p:cNvSpPr>
          <p:nvPr/>
        </p:nvSpPr>
        <p:spPr>
          <a:xfrm xmlns:a="http://schemas.openxmlformats.org/drawingml/2006/main">
            <a:off x="5120640" y="6062471"/>
            <a:ext cx="6492240" cy="42672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Choose within training data. Use the holdout for instructional evaluation. Harvard CS109A / ISLR ch. 5.</a:t>
            </a:r>
          </a:p>
        </p:txBody>
      </p:sp>
      <p:sp>
        <p:nvSpPr>
          <p:cNvPr id="10" name="TextBox 9">
            <a:extLst xmlns:a="http://schemas.openxmlformats.org/drawingml/2006/main">
              <a:ext uri="{FF2B5EF4-FFF2-40B4-BE49-F238E27FC236}">
                <a16:creationId xmlns:a16="http://schemas.microsoft.com/office/drawing/2014/main" id="{8777810D-2638-44CC-8285-17B56F8004E5}"/>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0D538149-94A6-4E6D-BE10-5426F4C278C7}"/>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9</a:t>
            </a:r>
          </a:p>
        </p:txBody>
      </p:sp>
    </p:spTree>
    <p:extLst>
      <p:ext uri="{BB962C8B-B14F-4D97-AF65-F5344CB8AC3E}">
        <p14:creationId xmlns:p14="http://schemas.microsoft.com/office/powerpoint/2010/main" val="2027268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4863F4-D06B-4758-B155-169A4E34AE7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14854545-3F2A-49EB-B340-F4A0D6B54666}"/>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10C992D-0777-46FF-928E-7BD0958B1199}"/>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ESTIMATING THE TRUE ERROR</a:t>
            </a:r>
          </a:p>
        </p:txBody>
      </p:sp>
      <p:sp>
        <p:nvSpPr>
          <p:cNvPr id="5" name="TextBox 4">
            <a:extLst xmlns:a="http://schemas.openxmlformats.org/drawingml/2006/main">
              <a:ext uri="{FF2B5EF4-FFF2-40B4-BE49-F238E27FC236}">
                <a16:creationId xmlns:a16="http://schemas.microsoft.com/office/drawing/2014/main" id="{89E44571-91F5-41A9-A49A-008BDAFD454B}"/>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Give every training row a turn at validation</a:t>
            </a:r>
          </a:p>
        </p:txBody>
      </p:sp>
      <p:sp>
        <p:nvSpPr>
          <p:cNvPr id="6" name="Rectangle 5">
            <a:extLst xmlns:a="http://schemas.openxmlformats.org/drawingml/2006/main">
              <a:ext uri="{FF2B5EF4-FFF2-40B4-BE49-F238E27FC236}">
                <a16:creationId xmlns:a16="http://schemas.microsoft.com/office/drawing/2014/main" id="{489B1BA7-EF70-4E9B-B0BE-3ED2C85153A4}"/>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D8C4E217-5679-45A7-AD46-C922FBCA4AB1}"/>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Each round holds back a different group of training rows.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Fit the model without that group, then score its predictions.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Repeat across 5 folds, meaning groups.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This cross-validation procedure compares candidates without using the 179-row holdout.</a:t>
            </a:r>
          </a:p>
        </p:txBody>
      </p:sp>
      <p:sp>
        <p:nvSpPr>
          <p:cNvPr id="9" name="TextBox 8">
            <a:extLst xmlns:a="http://schemas.openxmlformats.org/drawingml/2006/main">
              <a:ext uri="{FF2B5EF4-FFF2-40B4-BE49-F238E27FC236}">
                <a16:creationId xmlns:a16="http://schemas.microsoft.com/office/drawing/2014/main" id="{26F29429-FB77-4D11-A1CE-3884E3BCAA06}"/>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5-fold cross-validation, the referee used throughout Part 2. MIT 6.390, Appendix C; Harvard CS109A / ISLR §5.1.</a:t>
            </a:r>
          </a:p>
        </p:txBody>
      </p:sp>
      <p:sp>
        <p:nvSpPr>
          <p:cNvPr id="10" name="TextBox 9">
            <a:extLst xmlns:a="http://schemas.openxmlformats.org/drawingml/2006/main">
              <a:ext uri="{FF2B5EF4-FFF2-40B4-BE49-F238E27FC236}">
                <a16:creationId xmlns:a16="http://schemas.microsoft.com/office/drawing/2014/main" id="{ED82824C-8148-4DED-BBFE-EABE33915BAA}"/>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F61835EC-1324-489C-84B4-2F7215AE326B}"/>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10</a:t>
            </a:r>
          </a:p>
        </p:txBody>
      </p:sp>
      <p:sp>
        <p:nvSpPr>
          <p:cNvPr id="12" name="">
            <a:extLst xmlns:a="http://schemas.openxmlformats.org/drawingml/2006/main">
              <a:ext uri="{FF2B5EF4-FFF2-40B4-BE49-F238E27FC236}">
                <a16:creationId xmlns:a16="http://schemas.microsoft.com/office/drawing/2014/main" id="{66FEBCEB-6C3D-4B72-BE9F-A3D7F412A1AF}"/>
              </a:ext>
            </a:extLst>
          </p:cNvPr>
          <p:cNvSpPr>
            <a:spLocks xmlns:a="http://schemas.openxmlformats.org/drawingml/2006/main" noGrp="1"/>
          </p:cNvSpPr>
          <p:nvPr/>
        </p:nvSpPr>
        <p:spPr>
          <a:xfrm xmlns:a="http://schemas.openxmlformats.org/drawingml/2006/main">
            <a:off x="5381625" y="195262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0A2540"/>
                </a:solidFill>
                <a:latin typeface="Arial"/>
                <a:ea typeface="Arial"/>
                <a:cs typeface="Arial"/>
              </a:defRPr>
            </a:pPr>
            <a:r>
              <a:rPr sz="1500" b="1">
                <a:solidFill>
                  <a:srgbClr val="0A2540"/>
                </a:solidFill>
                <a:latin typeface="Arial"/>
                <a:ea typeface="Arial"/>
                <a:cs typeface="Arial"/>
              </a:rPr>
              <a:t>5-fold cross-validation: every training row validates once</a:t>
            </a:r>
          </a:p>
        </p:txBody>
      </p:sp>
      <p:sp>
        <p:nvSpPr>
          <p:cNvPr id="13" name="">
            <a:extLst xmlns:a="http://schemas.openxmlformats.org/drawingml/2006/main">
              <a:ext uri="{FF2B5EF4-FFF2-40B4-BE49-F238E27FC236}">
                <a16:creationId xmlns:a16="http://schemas.microsoft.com/office/drawing/2014/main" id="{4AEFCF04-89C3-4960-BED0-692FFF110B3B}"/>
              </a:ext>
            </a:extLst>
          </p:cNvPr>
          <p:cNvSpPr>
            <a:spLocks xmlns:a="http://schemas.openxmlformats.org/drawingml/2006/main" noGrp="1"/>
          </p:cNvSpPr>
          <p:nvPr/>
        </p:nvSpPr>
        <p:spPr>
          <a:xfrm xmlns:a="http://schemas.openxmlformats.org/drawingml/2006/main">
            <a:off x="6572250" y="2381250"/>
            <a:ext cx="781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0">
                <a:solidFill>
                  <a:srgbClr val="5B6774"/>
                </a:solidFill>
                <a:latin typeface="Arial"/>
                <a:ea typeface="Arial"/>
                <a:cs typeface="Arial"/>
              </a:defRPr>
            </a:pPr>
            <a:r>
              <a:rPr sz="1125" b="0">
                <a:solidFill>
                  <a:srgbClr val="5B6774"/>
                </a:solidFill>
                <a:latin typeface="Arial"/>
                <a:ea typeface="Arial"/>
                <a:cs typeface="Arial"/>
              </a:rPr>
              <a:t>Fold 1</a:t>
            </a:r>
          </a:p>
        </p:txBody>
      </p:sp>
      <p:sp>
        <p:nvSpPr>
          <p:cNvPr id="14" name="">
            <a:extLst xmlns:a="http://schemas.openxmlformats.org/drawingml/2006/main">
              <a:ext uri="{FF2B5EF4-FFF2-40B4-BE49-F238E27FC236}">
                <a16:creationId xmlns:a16="http://schemas.microsoft.com/office/drawing/2014/main" id="{09A9FF4D-DDC8-487B-8395-5765BDC8E72A}"/>
              </a:ext>
            </a:extLst>
          </p:cNvPr>
          <p:cNvSpPr>
            <a:spLocks xmlns:a="http://schemas.openxmlformats.org/drawingml/2006/main" noGrp="1"/>
          </p:cNvSpPr>
          <p:nvPr/>
        </p:nvSpPr>
        <p:spPr>
          <a:xfrm xmlns:a="http://schemas.openxmlformats.org/drawingml/2006/main">
            <a:off x="7429500" y="2381250"/>
            <a:ext cx="781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0">
                <a:solidFill>
                  <a:srgbClr val="5B6774"/>
                </a:solidFill>
                <a:latin typeface="Arial"/>
                <a:ea typeface="Arial"/>
                <a:cs typeface="Arial"/>
              </a:defRPr>
            </a:pPr>
            <a:r>
              <a:rPr sz="1125" b="0">
                <a:solidFill>
                  <a:srgbClr val="5B6774"/>
                </a:solidFill>
                <a:latin typeface="Arial"/>
                <a:ea typeface="Arial"/>
                <a:cs typeface="Arial"/>
              </a:rPr>
              <a:t>Fold 2</a:t>
            </a:r>
          </a:p>
        </p:txBody>
      </p:sp>
      <p:sp>
        <p:nvSpPr>
          <p:cNvPr id="15" name="">
            <a:extLst xmlns:a="http://schemas.openxmlformats.org/drawingml/2006/main">
              <a:ext uri="{FF2B5EF4-FFF2-40B4-BE49-F238E27FC236}">
                <a16:creationId xmlns:a16="http://schemas.microsoft.com/office/drawing/2014/main" id="{F44CD9C8-DAC9-480D-AE45-93D52932878C}"/>
              </a:ext>
            </a:extLst>
          </p:cNvPr>
          <p:cNvSpPr>
            <a:spLocks xmlns:a="http://schemas.openxmlformats.org/drawingml/2006/main" noGrp="1"/>
          </p:cNvSpPr>
          <p:nvPr/>
        </p:nvSpPr>
        <p:spPr>
          <a:xfrm xmlns:a="http://schemas.openxmlformats.org/drawingml/2006/main">
            <a:off x="8286750" y="2381250"/>
            <a:ext cx="781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0">
                <a:solidFill>
                  <a:srgbClr val="5B6774"/>
                </a:solidFill>
                <a:latin typeface="Arial"/>
                <a:ea typeface="Arial"/>
                <a:cs typeface="Arial"/>
              </a:defRPr>
            </a:pPr>
            <a:r>
              <a:rPr sz="1125" b="0">
                <a:solidFill>
                  <a:srgbClr val="5B6774"/>
                </a:solidFill>
                <a:latin typeface="Arial"/>
                <a:ea typeface="Arial"/>
                <a:cs typeface="Arial"/>
              </a:rPr>
              <a:t>Fold 3</a:t>
            </a:r>
          </a:p>
        </p:txBody>
      </p:sp>
      <p:sp>
        <p:nvSpPr>
          <p:cNvPr id="16" name="">
            <a:extLst xmlns:a="http://schemas.openxmlformats.org/drawingml/2006/main">
              <a:ext uri="{FF2B5EF4-FFF2-40B4-BE49-F238E27FC236}">
                <a16:creationId xmlns:a16="http://schemas.microsoft.com/office/drawing/2014/main" id="{3F6314D6-506C-462E-8526-563FCCC8D426}"/>
              </a:ext>
            </a:extLst>
          </p:cNvPr>
          <p:cNvSpPr>
            <a:spLocks xmlns:a="http://schemas.openxmlformats.org/drawingml/2006/main" noGrp="1"/>
          </p:cNvSpPr>
          <p:nvPr/>
        </p:nvSpPr>
        <p:spPr>
          <a:xfrm xmlns:a="http://schemas.openxmlformats.org/drawingml/2006/main">
            <a:off x="9144000" y="2381250"/>
            <a:ext cx="781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0">
                <a:solidFill>
                  <a:srgbClr val="5B6774"/>
                </a:solidFill>
                <a:latin typeface="Arial"/>
                <a:ea typeface="Arial"/>
                <a:cs typeface="Arial"/>
              </a:defRPr>
            </a:pPr>
            <a:r>
              <a:rPr sz="1125" b="0">
                <a:solidFill>
                  <a:srgbClr val="5B6774"/>
                </a:solidFill>
                <a:latin typeface="Arial"/>
                <a:ea typeface="Arial"/>
                <a:cs typeface="Arial"/>
              </a:rPr>
              <a:t>Fold 4</a:t>
            </a:r>
          </a:p>
        </p:txBody>
      </p:sp>
      <p:sp>
        <p:nvSpPr>
          <p:cNvPr id="17" name="">
            <a:extLst xmlns:a="http://schemas.openxmlformats.org/drawingml/2006/main">
              <a:ext uri="{FF2B5EF4-FFF2-40B4-BE49-F238E27FC236}">
                <a16:creationId xmlns:a16="http://schemas.microsoft.com/office/drawing/2014/main" id="{B5C6B68F-F9A9-4CBD-B425-9E827F68AC56}"/>
              </a:ext>
            </a:extLst>
          </p:cNvPr>
          <p:cNvSpPr>
            <a:spLocks xmlns:a="http://schemas.openxmlformats.org/drawingml/2006/main" noGrp="1"/>
          </p:cNvSpPr>
          <p:nvPr/>
        </p:nvSpPr>
        <p:spPr>
          <a:xfrm xmlns:a="http://schemas.openxmlformats.org/drawingml/2006/main">
            <a:off x="10001250" y="2381250"/>
            <a:ext cx="781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0">
                <a:solidFill>
                  <a:srgbClr val="5B6774"/>
                </a:solidFill>
                <a:latin typeface="Arial"/>
                <a:ea typeface="Arial"/>
                <a:cs typeface="Arial"/>
              </a:defRPr>
            </a:pPr>
            <a:r>
              <a:rPr sz="1125" b="0">
                <a:solidFill>
                  <a:srgbClr val="5B6774"/>
                </a:solidFill>
                <a:latin typeface="Arial"/>
                <a:ea typeface="Arial"/>
                <a:cs typeface="Arial"/>
              </a:rPr>
              <a:t>Fold 5</a:t>
            </a:r>
          </a:p>
        </p:txBody>
      </p:sp>
      <p:sp>
        <p:nvSpPr>
          <p:cNvPr id="18" name="">
            <a:extLst xmlns:a="http://schemas.openxmlformats.org/drawingml/2006/main">
              <a:ext uri="{FF2B5EF4-FFF2-40B4-BE49-F238E27FC236}">
                <a16:creationId xmlns:a16="http://schemas.microsoft.com/office/drawing/2014/main" id="{C30548A6-576B-4659-8736-19E266604387}"/>
              </a:ext>
            </a:extLst>
          </p:cNvPr>
          <p:cNvSpPr>
            <a:spLocks xmlns:a="http://schemas.openxmlformats.org/drawingml/2006/main" noGrp="1"/>
          </p:cNvSpPr>
          <p:nvPr/>
        </p:nvSpPr>
        <p:spPr>
          <a:xfrm xmlns:a="http://schemas.openxmlformats.org/drawingml/2006/main">
            <a:off x="5429250" y="2714625"/>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0">
                <a:solidFill>
                  <a:srgbClr val="0A2540"/>
                </a:solidFill>
                <a:latin typeface="Arial"/>
                <a:ea typeface="Arial"/>
                <a:cs typeface="Arial"/>
              </a:defRPr>
            </a:pPr>
            <a:r>
              <a:rPr sz="1125" b="0">
                <a:solidFill>
                  <a:srgbClr val="0A2540"/>
                </a:solidFill>
                <a:latin typeface="Arial"/>
                <a:ea typeface="Arial"/>
                <a:cs typeface="Arial"/>
              </a:rPr>
              <a:t>Round 1</a:t>
            </a:r>
          </a:p>
        </p:txBody>
      </p:sp>
      <p:sp>
        <p:nvSpPr>
          <p:cNvPr id="19" name="">
            <a:extLst xmlns:a="http://schemas.openxmlformats.org/drawingml/2006/main">
              <a:ext uri="{FF2B5EF4-FFF2-40B4-BE49-F238E27FC236}">
                <a16:creationId xmlns:a16="http://schemas.microsoft.com/office/drawing/2014/main" id="{C6BA452E-4861-4748-AC80-47A4E6CF0586}"/>
              </a:ext>
            </a:extLst>
          </p:cNvPr>
          <p:cNvSpPr>
            <a:spLocks xmlns:a="http://schemas.openxmlformats.org/drawingml/2006/main" noGrp="1"/>
          </p:cNvSpPr>
          <p:nvPr/>
        </p:nvSpPr>
        <p:spPr>
          <a:xfrm xmlns:a="http://schemas.openxmlformats.org/drawingml/2006/main">
            <a:off x="6572250" y="2714625"/>
            <a:ext cx="781050" cy="457200"/>
          </a:xfrm>
          <a:prstGeom xmlns:a="http://schemas.openxmlformats.org/drawingml/2006/main" prst="rect">
            <a:avLst/>
          </a:prstGeom>
          <a:solidFill xmlns:a="http://schemas.openxmlformats.org/drawingml/2006/main">
            <a:srgbClr val="1E5EF3"/>
          </a:solidFill>
          <a:ln xmlns:a="http://schemas.openxmlformats.org/drawingml/2006/main" w="15240">
            <a:solidFill>
              <a:srgbClr val="1E5EF3"/>
            </a:solidFill>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3E386C98-6252-4308-BD20-BE1A9487F533}"/>
              </a:ext>
            </a:extLst>
          </p:cNvPr>
          <p:cNvSpPr>
            <a:spLocks xmlns:a="http://schemas.openxmlformats.org/drawingml/2006/main" noGrp="1"/>
          </p:cNvSpPr>
          <p:nvPr/>
        </p:nvSpPr>
        <p:spPr>
          <a:xfrm xmlns:a="http://schemas.openxmlformats.org/drawingml/2006/main">
            <a:off x="6705600" y="28098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VALIDATE</a:t>
            </a:r>
          </a:p>
        </p:txBody>
      </p:sp>
      <p:sp>
        <p:nvSpPr>
          <p:cNvPr id="21" name="">
            <a:extLst xmlns:a="http://schemas.openxmlformats.org/drawingml/2006/main">
              <a:ext uri="{FF2B5EF4-FFF2-40B4-BE49-F238E27FC236}">
                <a16:creationId xmlns:a16="http://schemas.microsoft.com/office/drawing/2014/main" id="{5D267333-E73F-45D7-ACC2-79E91EB2F9C0}"/>
              </a:ext>
            </a:extLst>
          </p:cNvPr>
          <p:cNvSpPr>
            <a:spLocks xmlns:a="http://schemas.openxmlformats.org/drawingml/2006/main" noGrp="1"/>
          </p:cNvSpPr>
          <p:nvPr/>
        </p:nvSpPr>
        <p:spPr>
          <a:xfrm xmlns:a="http://schemas.openxmlformats.org/drawingml/2006/main">
            <a:off x="6705600" y="30384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9FBA6529-6ED3-4343-8851-F6E628989E61}"/>
              </a:ext>
            </a:extLst>
          </p:cNvPr>
          <p:cNvSpPr>
            <a:spLocks xmlns:a="http://schemas.openxmlformats.org/drawingml/2006/main" noGrp="1"/>
          </p:cNvSpPr>
          <p:nvPr/>
        </p:nvSpPr>
        <p:spPr>
          <a:xfrm xmlns:a="http://schemas.openxmlformats.org/drawingml/2006/main">
            <a:off x="7429500" y="27146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B4DFAE64-2DB5-4E8C-B00E-D91B3D0B4872}"/>
              </a:ext>
            </a:extLst>
          </p:cNvPr>
          <p:cNvSpPr>
            <a:spLocks xmlns:a="http://schemas.openxmlformats.org/drawingml/2006/main" noGrp="1"/>
          </p:cNvSpPr>
          <p:nvPr/>
        </p:nvSpPr>
        <p:spPr>
          <a:xfrm xmlns:a="http://schemas.openxmlformats.org/drawingml/2006/main">
            <a:off x="7562850" y="28098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24" name="">
            <a:extLst xmlns:a="http://schemas.openxmlformats.org/drawingml/2006/main">
              <a:ext uri="{FF2B5EF4-FFF2-40B4-BE49-F238E27FC236}">
                <a16:creationId xmlns:a16="http://schemas.microsoft.com/office/drawing/2014/main" id="{EB24CC80-1459-47D9-8E76-8AFEF87AA614}"/>
              </a:ext>
            </a:extLst>
          </p:cNvPr>
          <p:cNvSpPr>
            <a:spLocks xmlns:a="http://schemas.openxmlformats.org/drawingml/2006/main" noGrp="1"/>
          </p:cNvSpPr>
          <p:nvPr/>
        </p:nvSpPr>
        <p:spPr>
          <a:xfrm xmlns:a="http://schemas.openxmlformats.org/drawingml/2006/main">
            <a:off x="7562850" y="30384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25" name="">
            <a:extLst xmlns:a="http://schemas.openxmlformats.org/drawingml/2006/main">
              <a:ext uri="{FF2B5EF4-FFF2-40B4-BE49-F238E27FC236}">
                <a16:creationId xmlns:a16="http://schemas.microsoft.com/office/drawing/2014/main" id="{14A6BD71-BAD6-40E4-A7E4-F4A877CE7C2C}"/>
              </a:ext>
            </a:extLst>
          </p:cNvPr>
          <p:cNvSpPr>
            <a:spLocks xmlns:a="http://schemas.openxmlformats.org/drawingml/2006/main" noGrp="1"/>
          </p:cNvSpPr>
          <p:nvPr/>
        </p:nvSpPr>
        <p:spPr>
          <a:xfrm xmlns:a="http://schemas.openxmlformats.org/drawingml/2006/main">
            <a:off x="8286750" y="27146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454EB4C4-DA7C-4C7F-B712-627CDD336B4F}"/>
              </a:ext>
            </a:extLst>
          </p:cNvPr>
          <p:cNvSpPr>
            <a:spLocks xmlns:a="http://schemas.openxmlformats.org/drawingml/2006/main" noGrp="1"/>
          </p:cNvSpPr>
          <p:nvPr/>
        </p:nvSpPr>
        <p:spPr>
          <a:xfrm xmlns:a="http://schemas.openxmlformats.org/drawingml/2006/main">
            <a:off x="8420100" y="28098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27" name="">
            <a:extLst xmlns:a="http://schemas.openxmlformats.org/drawingml/2006/main">
              <a:ext uri="{FF2B5EF4-FFF2-40B4-BE49-F238E27FC236}">
                <a16:creationId xmlns:a16="http://schemas.microsoft.com/office/drawing/2014/main" id="{45C68890-ADE6-490E-880A-E99951C01A09}"/>
              </a:ext>
            </a:extLst>
          </p:cNvPr>
          <p:cNvSpPr>
            <a:spLocks xmlns:a="http://schemas.openxmlformats.org/drawingml/2006/main" noGrp="1"/>
          </p:cNvSpPr>
          <p:nvPr/>
        </p:nvSpPr>
        <p:spPr>
          <a:xfrm xmlns:a="http://schemas.openxmlformats.org/drawingml/2006/main">
            <a:off x="8420100" y="30384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2F95C751-C000-4E9B-A9A9-4935E6E2FE27}"/>
              </a:ext>
            </a:extLst>
          </p:cNvPr>
          <p:cNvSpPr>
            <a:spLocks xmlns:a="http://schemas.openxmlformats.org/drawingml/2006/main" noGrp="1"/>
          </p:cNvSpPr>
          <p:nvPr/>
        </p:nvSpPr>
        <p:spPr>
          <a:xfrm xmlns:a="http://schemas.openxmlformats.org/drawingml/2006/main">
            <a:off x="9144000" y="27146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52CF809-0B18-40E6-986E-67353338AD3C}"/>
              </a:ext>
            </a:extLst>
          </p:cNvPr>
          <p:cNvSpPr>
            <a:spLocks xmlns:a="http://schemas.openxmlformats.org/drawingml/2006/main" noGrp="1"/>
          </p:cNvSpPr>
          <p:nvPr/>
        </p:nvSpPr>
        <p:spPr>
          <a:xfrm xmlns:a="http://schemas.openxmlformats.org/drawingml/2006/main">
            <a:off x="9277350" y="28098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30" name="">
            <a:extLst xmlns:a="http://schemas.openxmlformats.org/drawingml/2006/main">
              <a:ext uri="{FF2B5EF4-FFF2-40B4-BE49-F238E27FC236}">
                <a16:creationId xmlns:a16="http://schemas.microsoft.com/office/drawing/2014/main" id="{073054D1-65E0-4D19-98B8-313F7E24D3A1}"/>
              </a:ext>
            </a:extLst>
          </p:cNvPr>
          <p:cNvSpPr>
            <a:spLocks xmlns:a="http://schemas.openxmlformats.org/drawingml/2006/main" noGrp="1"/>
          </p:cNvSpPr>
          <p:nvPr/>
        </p:nvSpPr>
        <p:spPr>
          <a:xfrm xmlns:a="http://schemas.openxmlformats.org/drawingml/2006/main">
            <a:off x="9277350" y="30384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B6AA1A07-3692-4797-BB03-CDE3950EB7A4}"/>
              </a:ext>
            </a:extLst>
          </p:cNvPr>
          <p:cNvSpPr>
            <a:spLocks xmlns:a="http://schemas.openxmlformats.org/drawingml/2006/main" noGrp="1"/>
          </p:cNvSpPr>
          <p:nvPr/>
        </p:nvSpPr>
        <p:spPr>
          <a:xfrm xmlns:a="http://schemas.openxmlformats.org/drawingml/2006/main">
            <a:off x="10001250" y="27146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32" name="">
            <a:extLst xmlns:a="http://schemas.openxmlformats.org/drawingml/2006/main">
              <a:ext uri="{FF2B5EF4-FFF2-40B4-BE49-F238E27FC236}">
                <a16:creationId xmlns:a16="http://schemas.microsoft.com/office/drawing/2014/main" id="{43F42C8E-9D5B-4B3C-B4D2-833070940894}"/>
              </a:ext>
            </a:extLst>
          </p:cNvPr>
          <p:cNvSpPr>
            <a:spLocks xmlns:a="http://schemas.openxmlformats.org/drawingml/2006/main" noGrp="1"/>
          </p:cNvSpPr>
          <p:nvPr/>
        </p:nvSpPr>
        <p:spPr>
          <a:xfrm xmlns:a="http://schemas.openxmlformats.org/drawingml/2006/main">
            <a:off x="10134600" y="28098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33" name="">
            <a:extLst xmlns:a="http://schemas.openxmlformats.org/drawingml/2006/main">
              <a:ext uri="{FF2B5EF4-FFF2-40B4-BE49-F238E27FC236}">
                <a16:creationId xmlns:a16="http://schemas.microsoft.com/office/drawing/2014/main" id="{1F34A581-9F01-40F4-B0C7-5654F2C9F8E4}"/>
              </a:ext>
            </a:extLst>
          </p:cNvPr>
          <p:cNvSpPr>
            <a:spLocks xmlns:a="http://schemas.openxmlformats.org/drawingml/2006/main" noGrp="1"/>
          </p:cNvSpPr>
          <p:nvPr/>
        </p:nvSpPr>
        <p:spPr>
          <a:xfrm xmlns:a="http://schemas.openxmlformats.org/drawingml/2006/main">
            <a:off x="10134600" y="30384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69CFD942-E42E-4082-B42F-983DC63A36A7}"/>
              </a:ext>
            </a:extLst>
          </p:cNvPr>
          <p:cNvSpPr>
            <a:spLocks xmlns:a="http://schemas.openxmlformats.org/drawingml/2006/main" noGrp="1"/>
          </p:cNvSpPr>
          <p:nvPr/>
        </p:nvSpPr>
        <p:spPr>
          <a:xfrm xmlns:a="http://schemas.openxmlformats.org/drawingml/2006/main">
            <a:off x="5429250" y="3248025"/>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0">
                <a:solidFill>
                  <a:srgbClr val="0A2540"/>
                </a:solidFill>
                <a:latin typeface="Arial"/>
                <a:ea typeface="Arial"/>
                <a:cs typeface="Arial"/>
              </a:defRPr>
            </a:pPr>
            <a:r>
              <a:rPr sz="1125" b="0">
                <a:solidFill>
                  <a:srgbClr val="0A2540"/>
                </a:solidFill>
                <a:latin typeface="Arial"/>
                <a:ea typeface="Arial"/>
                <a:cs typeface="Arial"/>
              </a:rPr>
              <a:t>Round 2</a:t>
            </a:r>
          </a:p>
        </p:txBody>
      </p:sp>
      <p:sp>
        <p:nvSpPr>
          <p:cNvPr id="35" name="">
            <a:extLst xmlns:a="http://schemas.openxmlformats.org/drawingml/2006/main">
              <a:ext uri="{FF2B5EF4-FFF2-40B4-BE49-F238E27FC236}">
                <a16:creationId xmlns:a16="http://schemas.microsoft.com/office/drawing/2014/main" id="{93CD5068-A90F-4201-83D6-F8407F6CEEFC}"/>
              </a:ext>
            </a:extLst>
          </p:cNvPr>
          <p:cNvSpPr>
            <a:spLocks xmlns:a="http://schemas.openxmlformats.org/drawingml/2006/main" noGrp="1"/>
          </p:cNvSpPr>
          <p:nvPr/>
        </p:nvSpPr>
        <p:spPr>
          <a:xfrm xmlns:a="http://schemas.openxmlformats.org/drawingml/2006/main">
            <a:off x="6572250" y="32480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D1CD8A22-DAD6-4821-A625-B3CEB482E3F9}"/>
              </a:ext>
            </a:extLst>
          </p:cNvPr>
          <p:cNvSpPr>
            <a:spLocks xmlns:a="http://schemas.openxmlformats.org/drawingml/2006/main" noGrp="1"/>
          </p:cNvSpPr>
          <p:nvPr/>
        </p:nvSpPr>
        <p:spPr>
          <a:xfrm xmlns:a="http://schemas.openxmlformats.org/drawingml/2006/main">
            <a:off x="6705600" y="33432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37" name="">
            <a:extLst xmlns:a="http://schemas.openxmlformats.org/drawingml/2006/main">
              <a:ext uri="{FF2B5EF4-FFF2-40B4-BE49-F238E27FC236}">
                <a16:creationId xmlns:a16="http://schemas.microsoft.com/office/drawing/2014/main" id="{FEE4CAD9-046F-4E0B-9BA2-E7F225849373}"/>
              </a:ext>
            </a:extLst>
          </p:cNvPr>
          <p:cNvSpPr>
            <a:spLocks xmlns:a="http://schemas.openxmlformats.org/drawingml/2006/main" noGrp="1"/>
          </p:cNvSpPr>
          <p:nvPr/>
        </p:nvSpPr>
        <p:spPr>
          <a:xfrm xmlns:a="http://schemas.openxmlformats.org/drawingml/2006/main">
            <a:off x="6705600" y="35718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77E8BC6D-B943-4BD8-BDF1-71D276D3DF14}"/>
              </a:ext>
            </a:extLst>
          </p:cNvPr>
          <p:cNvSpPr>
            <a:spLocks xmlns:a="http://schemas.openxmlformats.org/drawingml/2006/main" noGrp="1"/>
          </p:cNvSpPr>
          <p:nvPr/>
        </p:nvSpPr>
        <p:spPr>
          <a:xfrm xmlns:a="http://schemas.openxmlformats.org/drawingml/2006/main">
            <a:off x="7429500" y="3248025"/>
            <a:ext cx="781050" cy="457200"/>
          </a:xfrm>
          <a:prstGeom xmlns:a="http://schemas.openxmlformats.org/drawingml/2006/main" prst="rect">
            <a:avLst/>
          </a:prstGeom>
          <a:solidFill xmlns:a="http://schemas.openxmlformats.org/drawingml/2006/main">
            <a:srgbClr val="1E5EF3"/>
          </a:solidFill>
          <a:ln xmlns:a="http://schemas.openxmlformats.org/drawingml/2006/main" w="15240">
            <a:solidFill>
              <a:srgbClr val="1E5EF3"/>
            </a:solidFill>
          </a:ln>
        </p:spPr>
        <p:txBody>
          <a:bodyPr xmlns:a="http://schemas.openxmlformats.org/drawingml/2006/main"/>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54E57954-EB20-431F-B125-E7587CC6CF57}"/>
              </a:ext>
            </a:extLst>
          </p:cNvPr>
          <p:cNvSpPr>
            <a:spLocks xmlns:a="http://schemas.openxmlformats.org/drawingml/2006/main" noGrp="1"/>
          </p:cNvSpPr>
          <p:nvPr/>
        </p:nvSpPr>
        <p:spPr>
          <a:xfrm xmlns:a="http://schemas.openxmlformats.org/drawingml/2006/main">
            <a:off x="7562850" y="33432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VALIDATE</a:t>
            </a:r>
          </a:p>
        </p:txBody>
      </p:sp>
      <p:sp>
        <p:nvSpPr>
          <p:cNvPr id="40" name="">
            <a:extLst xmlns:a="http://schemas.openxmlformats.org/drawingml/2006/main">
              <a:ext uri="{FF2B5EF4-FFF2-40B4-BE49-F238E27FC236}">
                <a16:creationId xmlns:a16="http://schemas.microsoft.com/office/drawing/2014/main" id="{A8801542-2883-4BEE-B1E5-D1459B74B28C}"/>
              </a:ext>
            </a:extLst>
          </p:cNvPr>
          <p:cNvSpPr>
            <a:spLocks xmlns:a="http://schemas.openxmlformats.org/drawingml/2006/main" noGrp="1"/>
          </p:cNvSpPr>
          <p:nvPr/>
        </p:nvSpPr>
        <p:spPr>
          <a:xfrm xmlns:a="http://schemas.openxmlformats.org/drawingml/2006/main">
            <a:off x="7562850" y="35718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4B7978EA-CE72-496B-9D3E-10453A441AED}"/>
              </a:ext>
            </a:extLst>
          </p:cNvPr>
          <p:cNvSpPr>
            <a:spLocks xmlns:a="http://schemas.openxmlformats.org/drawingml/2006/main" noGrp="1"/>
          </p:cNvSpPr>
          <p:nvPr/>
        </p:nvSpPr>
        <p:spPr>
          <a:xfrm xmlns:a="http://schemas.openxmlformats.org/drawingml/2006/main">
            <a:off x="8286750" y="32480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42" name="">
            <a:extLst xmlns:a="http://schemas.openxmlformats.org/drawingml/2006/main">
              <a:ext uri="{FF2B5EF4-FFF2-40B4-BE49-F238E27FC236}">
                <a16:creationId xmlns:a16="http://schemas.microsoft.com/office/drawing/2014/main" id="{F24A08DE-12A1-40AE-AE59-CB3FADCF49A2}"/>
              </a:ext>
            </a:extLst>
          </p:cNvPr>
          <p:cNvSpPr>
            <a:spLocks xmlns:a="http://schemas.openxmlformats.org/drawingml/2006/main" noGrp="1"/>
          </p:cNvSpPr>
          <p:nvPr/>
        </p:nvSpPr>
        <p:spPr>
          <a:xfrm xmlns:a="http://schemas.openxmlformats.org/drawingml/2006/main">
            <a:off x="8420100" y="33432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43" name="">
            <a:extLst xmlns:a="http://schemas.openxmlformats.org/drawingml/2006/main">
              <a:ext uri="{FF2B5EF4-FFF2-40B4-BE49-F238E27FC236}">
                <a16:creationId xmlns:a16="http://schemas.microsoft.com/office/drawing/2014/main" id="{5678EA55-1F2B-4A69-A38B-A75F0E30BBC8}"/>
              </a:ext>
            </a:extLst>
          </p:cNvPr>
          <p:cNvSpPr>
            <a:spLocks xmlns:a="http://schemas.openxmlformats.org/drawingml/2006/main" noGrp="1"/>
          </p:cNvSpPr>
          <p:nvPr/>
        </p:nvSpPr>
        <p:spPr>
          <a:xfrm xmlns:a="http://schemas.openxmlformats.org/drawingml/2006/main">
            <a:off x="8420100" y="35718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44" name="">
            <a:extLst xmlns:a="http://schemas.openxmlformats.org/drawingml/2006/main">
              <a:ext uri="{FF2B5EF4-FFF2-40B4-BE49-F238E27FC236}">
                <a16:creationId xmlns:a16="http://schemas.microsoft.com/office/drawing/2014/main" id="{89D41E6D-0B3B-4406-A60B-A97A5751D591}"/>
              </a:ext>
            </a:extLst>
          </p:cNvPr>
          <p:cNvSpPr>
            <a:spLocks xmlns:a="http://schemas.openxmlformats.org/drawingml/2006/main" noGrp="1"/>
          </p:cNvSpPr>
          <p:nvPr/>
        </p:nvSpPr>
        <p:spPr>
          <a:xfrm xmlns:a="http://schemas.openxmlformats.org/drawingml/2006/main">
            <a:off x="9144000" y="32480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45" name="">
            <a:extLst xmlns:a="http://schemas.openxmlformats.org/drawingml/2006/main">
              <a:ext uri="{FF2B5EF4-FFF2-40B4-BE49-F238E27FC236}">
                <a16:creationId xmlns:a16="http://schemas.microsoft.com/office/drawing/2014/main" id="{FEA9A37A-7B5E-46A8-BB98-6EEEA9AB3E3A}"/>
              </a:ext>
            </a:extLst>
          </p:cNvPr>
          <p:cNvSpPr>
            <a:spLocks xmlns:a="http://schemas.openxmlformats.org/drawingml/2006/main" noGrp="1"/>
          </p:cNvSpPr>
          <p:nvPr/>
        </p:nvSpPr>
        <p:spPr>
          <a:xfrm xmlns:a="http://schemas.openxmlformats.org/drawingml/2006/main">
            <a:off x="9277350" y="33432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46" name="">
            <a:extLst xmlns:a="http://schemas.openxmlformats.org/drawingml/2006/main">
              <a:ext uri="{FF2B5EF4-FFF2-40B4-BE49-F238E27FC236}">
                <a16:creationId xmlns:a16="http://schemas.microsoft.com/office/drawing/2014/main" id="{76D9338D-8310-4271-9FBA-E38DF0D998A2}"/>
              </a:ext>
            </a:extLst>
          </p:cNvPr>
          <p:cNvSpPr>
            <a:spLocks xmlns:a="http://schemas.openxmlformats.org/drawingml/2006/main" noGrp="1"/>
          </p:cNvSpPr>
          <p:nvPr/>
        </p:nvSpPr>
        <p:spPr>
          <a:xfrm xmlns:a="http://schemas.openxmlformats.org/drawingml/2006/main">
            <a:off x="9277350" y="35718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47" name="">
            <a:extLst xmlns:a="http://schemas.openxmlformats.org/drawingml/2006/main">
              <a:ext uri="{FF2B5EF4-FFF2-40B4-BE49-F238E27FC236}">
                <a16:creationId xmlns:a16="http://schemas.microsoft.com/office/drawing/2014/main" id="{E6F4B730-BBE8-4372-9B30-5AA42197DACB}"/>
              </a:ext>
            </a:extLst>
          </p:cNvPr>
          <p:cNvSpPr>
            <a:spLocks xmlns:a="http://schemas.openxmlformats.org/drawingml/2006/main" noGrp="1"/>
          </p:cNvSpPr>
          <p:nvPr/>
        </p:nvSpPr>
        <p:spPr>
          <a:xfrm xmlns:a="http://schemas.openxmlformats.org/drawingml/2006/main">
            <a:off x="10001250" y="32480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48" name="">
            <a:extLst xmlns:a="http://schemas.openxmlformats.org/drawingml/2006/main">
              <a:ext uri="{FF2B5EF4-FFF2-40B4-BE49-F238E27FC236}">
                <a16:creationId xmlns:a16="http://schemas.microsoft.com/office/drawing/2014/main" id="{AA63DAF2-478B-4EF7-98C9-0ACE150DF27A}"/>
              </a:ext>
            </a:extLst>
          </p:cNvPr>
          <p:cNvSpPr>
            <a:spLocks xmlns:a="http://schemas.openxmlformats.org/drawingml/2006/main" noGrp="1"/>
          </p:cNvSpPr>
          <p:nvPr/>
        </p:nvSpPr>
        <p:spPr>
          <a:xfrm xmlns:a="http://schemas.openxmlformats.org/drawingml/2006/main">
            <a:off x="10134600" y="33432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49" name="">
            <a:extLst xmlns:a="http://schemas.openxmlformats.org/drawingml/2006/main">
              <a:ext uri="{FF2B5EF4-FFF2-40B4-BE49-F238E27FC236}">
                <a16:creationId xmlns:a16="http://schemas.microsoft.com/office/drawing/2014/main" id="{CD379FEE-945C-4A46-87D0-7C78F9B2FBE6}"/>
              </a:ext>
            </a:extLst>
          </p:cNvPr>
          <p:cNvSpPr>
            <a:spLocks xmlns:a="http://schemas.openxmlformats.org/drawingml/2006/main" noGrp="1"/>
          </p:cNvSpPr>
          <p:nvPr/>
        </p:nvSpPr>
        <p:spPr>
          <a:xfrm xmlns:a="http://schemas.openxmlformats.org/drawingml/2006/main">
            <a:off x="10134600" y="35718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50" name="">
            <a:extLst xmlns:a="http://schemas.openxmlformats.org/drawingml/2006/main">
              <a:ext uri="{FF2B5EF4-FFF2-40B4-BE49-F238E27FC236}">
                <a16:creationId xmlns:a16="http://schemas.microsoft.com/office/drawing/2014/main" id="{B92FA477-1E94-4B00-84AD-ED1D5D59EAC1}"/>
              </a:ext>
            </a:extLst>
          </p:cNvPr>
          <p:cNvSpPr>
            <a:spLocks xmlns:a="http://schemas.openxmlformats.org/drawingml/2006/main" noGrp="1"/>
          </p:cNvSpPr>
          <p:nvPr/>
        </p:nvSpPr>
        <p:spPr>
          <a:xfrm xmlns:a="http://schemas.openxmlformats.org/drawingml/2006/main">
            <a:off x="5429250" y="3781425"/>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0">
                <a:solidFill>
                  <a:srgbClr val="0A2540"/>
                </a:solidFill>
                <a:latin typeface="Arial"/>
                <a:ea typeface="Arial"/>
                <a:cs typeface="Arial"/>
              </a:defRPr>
            </a:pPr>
            <a:r>
              <a:rPr sz="1125" b="0">
                <a:solidFill>
                  <a:srgbClr val="0A2540"/>
                </a:solidFill>
                <a:latin typeface="Arial"/>
                <a:ea typeface="Arial"/>
                <a:cs typeface="Arial"/>
              </a:rPr>
              <a:t>Round 3</a:t>
            </a:r>
          </a:p>
        </p:txBody>
      </p:sp>
      <p:sp>
        <p:nvSpPr>
          <p:cNvPr id="51" name="">
            <a:extLst xmlns:a="http://schemas.openxmlformats.org/drawingml/2006/main">
              <a:ext uri="{FF2B5EF4-FFF2-40B4-BE49-F238E27FC236}">
                <a16:creationId xmlns:a16="http://schemas.microsoft.com/office/drawing/2014/main" id="{70BD4012-5AF0-45D6-B091-95F040456B0C}"/>
              </a:ext>
            </a:extLst>
          </p:cNvPr>
          <p:cNvSpPr>
            <a:spLocks xmlns:a="http://schemas.openxmlformats.org/drawingml/2006/main" noGrp="1"/>
          </p:cNvSpPr>
          <p:nvPr/>
        </p:nvSpPr>
        <p:spPr>
          <a:xfrm xmlns:a="http://schemas.openxmlformats.org/drawingml/2006/main">
            <a:off x="6572250" y="37814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52" name="">
            <a:extLst xmlns:a="http://schemas.openxmlformats.org/drawingml/2006/main">
              <a:ext uri="{FF2B5EF4-FFF2-40B4-BE49-F238E27FC236}">
                <a16:creationId xmlns:a16="http://schemas.microsoft.com/office/drawing/2014/main" id="{C5E0997B-5193-486F-8B2B-1382DB454BE6}"/>
              </a:ext>
            </a:extLst>
          </p:cNvPr>
          <p:cNvSpPr>
            <a:spLocks xmlns:a="http://schemas.openxmlformats.org/drawingml/2006/main" noGrp="1"/>
          </p:cNvSpPr>
          <p:nvPr/>
        </p:nvSpPr>
        <p:spPr>
          <a:xfrm xmlns:a="http://schemas.openxmlformats.org/drawingml/2006/main">
            <a:off x="6705600" y="38766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53" name="">
            <a:extLst xmlns:a="http://schemas.openxmlformats.org/drawingml/2006/main">
              <a:ext uri="{FF2B5EF4-FFF2-40B4-BE49-F238E27FC236}">
                <a16:creationId xmlns:a16="http://schemas.microsoft.com/office/drawing/2014/main" id="{71A567AE-FA27-43C5-BE82-40FD24022AC1}"/>
              </a:ext>
            </a:extLst>
          </p:cNvPr>
          <p:cNvSpPr>
            <a:spLocks xmlns:a="http://schemas.openxmlformats.org/drawingml/2006/main" noGrp="1"/>
          </p:cNvSpPr>
          <p:nvPr/>
        </p:nvSpPr>
        <p:spPr>
          <a:xfrm xmlns:a="http://schemas.openxmlformats.org/drawingml/2006/main">
            <a:off x="6705600" y="41052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54" name="">
            <a:extLst xmlns:a="http://schemas.openxmlformats.org/drawingml/2006/main">
              <a:ext uri="{FF2B5EF4-FFF2-40B4-BE49-F238E27FC236}">
                <a16:creationId xmlns:a16="http://schemas.microsoft.com/office/drawing/2014/main" id="{CA109B3A-8F0A-4D0F-A8ED-382AFFC0F70E}"/>
              </a:ext>
            </a:extLst>
          </p:cNvPr>
          <p:cNvSpPr>
            <a:spLocks xmlns:a="http://schemas.openxmlformats.org/drawingml/2006/main" noGrp="1"/>
          </p:cNvSpPr>
          <p:nvPr/>
        </p:nvSpPr>
        <p:spPr>
          <a:xfrm xmlns:a="http://schemas.openxmlformats.org/drawingml/2006/main">
            <a:off x="7429500" y="37814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55" name="">
            <a:extLst xmlns:a="http://schemas.openxmlformats.org/drawingml/2006/main">
              <a:ext uri="{FF2B5EF4-FFF2-40B4-BE49-F238E27FC236}">
                <a16:creationId xmlns:a16="http://schemas.microsoft.com/office/drawing/2014/main" id="{1B477D4D-EE31-4446-BB26-985E3BF1DFB2}"/>
              </a:ext>
            </a:extLst>
          </p:cNvPr>
          <p:cNvSpPr>
            <a:spLocks xmlns:a="http://schemas.openxmlformats.org/drawingml/2006/main" noGrp="1"/>
          </p:cNvSpPr>
          <p:nvPr/>
        </p:nvSpPr>
        <p:spPr>
          <a:xfrm xmlns:a="http://schemas.openxmlformats.org/drawingml/2006/main">
            <a:off x="7562850" y="38766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56" name="">
            <a:extLst xmlns:a="http://schemas.openxmlformats.org/drawingml/2006/main">
              <a:ext uri="{FF2B5EF4-FFF2-40B4-BE49-F238E27FC236}">
                <a16:creationId xmlns:a16="http://schemas.microsoft.com/office/drawing/2014/main" id="{B05DE6ED-5212-4466-95BB-42568C891928}"/>
              </a:ext>
            </a:extLst>
          </p:cNvPr>
          <p:cNvSpPr>
            <a:spLocks xmlns:a="http://schemas.openxmlformats.org/drawingml/2006/main" noGrp="1"/>
          </p:cNvSpPr>
          <p:nvPr/>
        </p:nvSpPr>
        <p:spPr>
          <a:xfrm xmlns:a="http://schemas.openxmlformats.org/drawingml/2006/main">
            <a:off x="7562850" y="41052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57" name="">
            <a:extLst xmlns:a="http://schemas.openxmlformats.org/drawingml/2006/main">
              <a:ext uri="{FF2B5EF4-FFF2-40B4-BE49-F238E27FC236}">
                <a16:creationId xmlns:a16="http://schemas.microsoft.com/office/drawing/2014/main" id="{986ADD90-6D9C-4568-8972-5A671E39DF1C}"/>
              </a:ext>
            </a:extLst>
          </p:cNvPr>
          <p:cNvSpPr>
            <a:spLocks xmlns:a="http://schemas.openxmlformats.org/drawingml/2006/main" noGrp="1"/>
          </p:cNvSpPr>
          <p:nvPr/>
        </p:nvSpPr>
        <p:spPr>
          <a:xfrm xmlns:a="http://schemas.openxmlformats.org/drawingml/2006/main">
            <a:off x="8286750" y="3781425"/>
            <a:ext cx="781050" cy="457200"/>
          </a:xfrm>
          <a:prstGeom xmlns:a="http://schemas.openxmlformats.org/drawingml/2006/main" prst="rect">
            <a:avLst/>
          </a:prstGeom>
          <a:solidFill xmlns:a="http://schemas.openxmlformats.org/drawingml/2006/main">
            <a:srgbClr val="1E5EF3"/>
          </a:solidFill>
          <a:ln xmlns:a="http://schemas.openxmlformats.org/drawingml/2006/main" w="15240">
            <a:solidFill>
              <a:srgbClr val="1E5EF3"/>
            </a:solidFill>
          </a:ln>
        </p:spPr>
        <p:txBody>
          <a:bodyPr xmlns:a="http://schemas.openxmlformats.org/drawingml/2006/main"/>
          <a:lstStyle xmlns:a="http://schemas.openxmlformats.org/drawingml/2006/main"/>
          <a:p xmlns:a="http://schemas.openxmlformats.org/drawingml/2006/main">
            <a:r>
              <a:t/>
            </a:r>
          </a:p>
        </p:txBody>
      </p:sp>
      <p:sp>
        <p:nvSpPr>
          <p:cNvPr id="58" name="">
            <a:extLst xmlns:a="http://schemas.openxmlformats.org/drawingml/2006/main">
              <a:ext uri="{FF2B5EF4-FFF2-40B4-BE49-F238E27FC236}">
                <a16:creationId xmlns:a16="http://schemas.microsoft.com/office/drawing/2014/main" id="{863D275F-6051-457D-8350-E037A767C8EC}"/>
              </a:ext>
            </a:extLst>
          </p:cNvPr>
          <p:cNvSpPr>
            <a:spLocks xmlns:a="http://schemas.openxmlformats.org/drawingml/2006/main" noGrp="1"/>
          </p:cNvSpPr>
          <p:nvPr/>
        </p:nvSpPr>
        <p:spPr>
          <a:xfrm xmlns:a="http://schemas.openxmlformats.org/drawingml/2006/main">
            <a:off x="8420100" y="38766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VALIDATE</a:t>
            </a:r>
          </a:p>
        </p:txBody>
      </p:sp>
      <p:sp>
        <p:nvSpPr>
          <p:cNvPr id="59" name="">
            <a:extLst xmlns:a="http://schemas.openxmlformats.org/drawingml/2006/main">
              <a:ext uri="{FF2B5EF4-FFF2-40B4-BE49-F238E27FC236}">
                <a16:creationId xmlns:a16="http://schemas.microsoft.com/office/drawing/2014/main" id="{EE031BD8-DE5B-466F-A911-9583FA709631}"/>
              </a:ext>
            </a:extLst>
          </p:cNvPr>
          <p:cNvSpPr>
            <a:spLocks xmlns:a="http://schemas.openxmlformats.org/drawingml/2006/main" noGrp="1"/>
          </p:cNvSpPr>
          <p:nvPr/>
        </p:nvSpPr>
        <p:spPr>
          <a:xfrm xmlns:a="http://schemas.openxmlformats.org/drawingml/2006/main">
            <a:off x="8420100" y="41052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60" name="">
            <a:extLst xmlns:a="http://schemas.openxmlformats.org/drawingml/2006/main">
              <a:ext uri="{FF2B5EF4-FFF2-40B4-BE49-F238E27FC236}">
                <a16:creationId xmlns:a16="http://schemas.microsoft.com/office/drawing/2014/main" id="{080B3507-5A31-43C4-B43D-5E0DE8F61F7F}"/>
              </a:ext>
            </a:extLst>
          </p:cNvPr>
          <p:cNvSpPr>
            <a:spLocks xmlns:a="http://schemas.openxmlformats.org/drawingml/2006/main" noGrp="1"/>
          </p:cNvSpPr>
          <p:nvPr/>
        </p:nvSpPr>
        <p:spPr>
          <a:xfrm xmlns:a="http://schemas.openxmlformats.org/drawingml/2006/main">
            <a:off x="9144000" y="37814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61" name="">
            <a:extLst xmlns:a="http://schemas.openxmlformats.org/drawingml/2006/main">
              <a:ext uri="{FF2B5EF4-FFF2-40B4-BE49-F238E27FC236}">
                <a16:creationId xmlns:a16="http://schemas.microsoft.com/office/drawing/2014/main" id="{7B4D7B4D-09E1-42D7-B9F3-5FE7F5A7195B}"/>
              </a:ext>
            </a:extLst>
          </p:cNvPr>
          <p:cNvSpPr>
            <a:spLocks xmlns:a="http://schemas.openxmlformats.org/drawingml/2006/main" noGrp="1"/>
          </p:cNvSpPr>
          <p:nvPr/>
        </p:nvSpPr>
        <p:spPr>
          <a:xfrm xmlns:a="http://schemas.openxmlformats.org/drawingml/2006/main">
            <a:off x="9277350" y="38766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62" name="">
            <a:extLst xmlns:a="http://schemas.openxmlformats.org/drawingml/2006/main">
              <a:ext uri="{FF2B5EF4-FFF2-40B4-BE49-F238E27FC236}">
                <a16:creationId xmlns:a16="http://schemas.microsoft.com/office/drawing/2014/main" id="{5821B0C1-424C-4CF3-96BA-BCEF3F091EC8}"/>
              </a:ext>
            </a:extLst>
          </p:cNvPr>
          <p:cNvSpPr>
            <a:spLocks xmlns:a="http://schemas.openxmlformats.org/drawingml/2006/main" noGrp="1"/>
          </p:cNvSpPr>
          <p:nvPr/>
        </p:nvSpPr>
        <p:spPr>
          <a:xfrm xmlns:a="http://schemas.openxmlformats.org/drawingml/2006/main">
            <a:off x="9277350" y="41052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63" name="">
            <a:extLst xmlns:a="http://schemas.openxmlformats.org/drawingml/2006/main">
              <a:ext uri="{FF2B5EF4-FFF2-40B4-BE49-F238E27FC236}">
                <a16:creationId xmlns:a16="http://schemas.microsoft.com/office/drawing/2014/main" id="{40AE7C6B-4C9A-4EFA-8C50-0CA680A312A2}"/>
              </a:ext>
            </a:extLst>
          </p:cNvPr>
          <p:cNvSpPr>
            <a:spLocks xmlns:a="http://schemas.openxmlformats.org/drawingml/2006/main" noGrp="1"/>
          </p:cNvSpPr>
          <p:nvPr/>
        </p:nvSpPr>
        <p:spPr>
          <a:xfrm xmlns:a="http://schemas.openxmlformats.org/drawingml/2006/main">
            <a:off x="10001250" y="37814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64" name="">
            <a:extLst xmlns:a="http://schemas.openxmlformats.org/drawingml/2006/main">
              <a:ext uri="{FF2B5EF4-FFF2-40B4-BE49-F238E27FC236}">
                <a16:creationId xmlns:a16="http://schemas.microsoft.com/office/drawing/2014/main" id="{42230143-94A4-421B-A218-7D7D63C0E5FD}"/>
              </a:ext>
            </a:extLst>
          </p:cNvPr>
          <p:cNvSpPr>
            <a:spLocks xmlns:a="http://schemas.openxmlformats.org/drawingml/2006/main" noGrp="1"/>
          </p:cNvSpPr>
          <p:nvPr/>
        </p:nvSpPr>
        <p:spPr>
          <a:xfrm xmlns:a="http://schemas.openxmlformats.org/drawingml/2006/main">
            <a:off x="10134600" y="38766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65" name="">
            <a:extLst xmlns:a="http://schemas.openxmlformats.org/drawingml/2006/main">
              <a:ext uri="{FF2B5EF4-FFF2-40B4-BE49-F238E27FC236}">
                <a16:creationId xmlns:a16="http://schemas.microsoft.com/office/drawing/2014/main" id="{66EA9EF7-2A02-4200-BDE3-79DFACE21C6E}"/>
              </a:ext>
            </a:extLst>
          </p:cNvPr>
          <p:cNvSpPr>
            <a:spLocks xmlns:a="http://schemas.openxmlformats.org/drawingml/2006/main" noGrp="1"/>
          </p:cNvSpPr>
          <p:nvPr/>
        </p:nvSpPr>
        <p:spPr>
          <a:xfrm xmlns:a="http://schemas.openxmlformats.org/drawingml/2006/main">
            <a:off x="10134600" y="41052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66" name="">
            <a:extLst xmlns:a="http://schemas.openxmlformats.org/drawingml/2006/main">
              <a:ext uri="{FF2B5EF4-FFF2-40B4-BE49-F238E27FC236}">
                <a16:creationId xmlns:a16="http://schemas.microsoft.com/office/drawing/2014/main" id="{B4F96455-0DC6-4C70-BA6B-105664C083EE}"/>
              </a:ext>
            </a:extLst>
          </p:cNvPr>
          <p:cNvSpPr>
            <a:spLocks xmlns:a="http://schemas.openxmlformats.org/drawingml/2006/main" noGrp="1"/>
          </p:cNvSpPr>
          <p:nvPr/>
        </p:nvSpPr>
        <p:spPr>
          <a:xfrm xmlns:a="http://schemas.openxmlformats.org/drawingml/2006/main">
            <a:off x="5429250" y="4314825"/>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0">
                <a:solidFill>
                  <a:srgbClr val="0A2540"/>
                </a:solidFill>
                <a:latin typeface="Arial"/>
                <a:ea typeface="Arial"/>
                <a:cs typeface="Arial"/>
              </a:defRPr>
            </a:pPr>
            <a:r>
              <a:rPr sz="1125" b="0">
                <a:solidFill>
                  <a:srgbClr val="0A2540"/>
                </a:solidFill>
                <a:latin typeface="Arial"/>
                <a:ea typeface="Arial"/>
                <a:cs typeface="Arial"/>
              </a:rPr>
              <a:t>Round 4</a:t>
            </a:r>
          </a:p>
        </p:txBody>
      </p:sp>
      <p:sp>
        <p:nvSpPr>
          <p:cNvPr id="67" name="">
            <a:extLst xmlns:a="http://schemas.openxmlformats.org/drawingml/2006/main">
              <a:ext uri="{FF2B5EF4-FFF2-40B4-BE49-F238E27FC236}">
                <a16:creationId xmlns:a16="http://schemas.microsoft.com/office/drawing/2014/main" id="{17F6C7C2-C868-486E-B0F9-E36A7322BEF5}"/>
              </a:ext>
            </a:extLst>
          </p:cNvPr>
          <p:cNvSpPr>
            <a:spLocks xmlns:a="http://schemas.openxmlformats.org/drawingml/2006/main" noGrp="1"/>
          </p:cNvSpPr>
          <p:nvPr/>
        </p:nvSpPr>
        <p:spPr>
          <a:xfrm xmlns:a="http://schemas.openxmlformats.org/drawingml/2006/main">
            <a:off x="6572250" y="43148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68" name="">
            <a:extLst xmlns:a="http://schemas.openxmlformats.org/drawingml/2006/main">
              <a:ext uri="{FF2B5EF4-FFF2-40B4-BE49-F238E27FC236}">
                <a16:creationId xmlns:a16="http://schemas.microsoft.com/office/drawing/2014/main" id="{74DCAC5D-CCAA-4C88-A9EC-9F5452D30CDE}"/>
              </a:ext>
            </a:extLst>
          </p:cNvPr>
          <p:cNvSpPr>
            <a:spLocks xmlns:a="http://schemas.openxmlformats.org/drawingml/2006/main" noGrp="1"/>
          </p:cNvSpPr>
          <p:nvPr/>
        </p:nvSpPr>
        <p:spPr>
          <a:xfrm xmlns:a="http://schemas.openxmlformats.org/drawingml/2006/main">
            <a:off x="6705600" y="44100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69" name="">
            <a:extLst xmlns:a="http://schemas.openxmlformats.org/drawingml/2006/main">
              <a:ext uri="{FF2B5EF4-FFF2-40B4-BE49-F238E27FC236}">
                <a16:creationId xmlns:a16="http://schemas.microsoft.com/office/drawing/2014/main" id="{2FCEA8BC-1D59-4A32-B18A-86E1F058D247}"/>
              </a:ext>
            </a:extLst>
          </p:cNvPr>
          <p:cNvSpPr>
            <a:spLocks xmlns:a="http://schemas.openxmlformats.org/drawingml/2006/main" noGrp="1"/>
          </p:cNvSpPr>
          <p:nvPr/>
        </p:nvSpPr>
        <p:spPr>
          <a:xfrm xmlns:a="http://schemas.openxmlformats.org/drawingml/2006/main">
            <a:off x="6705600" y="46386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70" name="">
            <a:extLst xmlns:a="http://schemas.openxmlformats.org/drawingml/2006/main">
              <a:ext uri="{FF2B5EF4-FFF2-40B4-BE49-F238E27FC236}">
                <a16:creationId xmlns:a16="http://schemas.microsoft.com/office/drawing/2014/main" id="{8ABA3811-70BB-4E89-91EA-0343DE9DDC06}"/>
              </a:ext>
            </a:extLst>
          </p:cNvPr>
          <p:cNvSpPr>
            <a:spLocks xmlns:a="http://schemas.openxmlformats.org/drawingml/2006/main" noGrp="1"/>
          </p:cNvSpPr>
          <p:nvPr/>
        </p:nvSpPr>
        <p:spPr>
          <a:xfrm xmlns:a="http://schemas.openxmlformats.org/drawingml/2006/main">
            <a:off x="7429500" y="43148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71" name="">
            <a:extLst xmlns:a="http://schemas.openxmlformats.org/drawingml/2006/main">
              <a:ext uri="{FF2B5EF4-FFF2-40B4-BE49-F238E27FC236}">
                <a16:creationId xmlns:a16="http://schemas.microsoft.com/office/drawing/2014/main" id="{0883E43B-4A3D-4DA1-9290-7CDD7F16B83B}"/>
              </a:ext>
            </a:extLst>
          </p:cNvPr>
          <p:cNvSpPr>
            <a:spLocks xmlns:a="http://schemas.openxmlformats.org/drawingml/2006/main" noGrp="1"/>
          </p:cNvSpPr>
          <p:nvPr/>
        </p:nvSpPr>
        <p:spPr>
          <a:xfrm xmlns:a="http://schemas.openxmlformats.org/drawingml/2006/main">
            <a:off x="7562850" y="44100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72" name="">
            <a:extLst xmlns:a="http://schemas.openxmlformats.org/drawingml/2006/main">
              <a:ext uri="{FF2B5EF4-FFF2-40B4-BE49-F238E27FC236}">
                <a16:creationId xmlns:a16="http://schemas.microsoft.com/office/drawing/2014/main" id="{D2E60F15-FD14-43F4-8C46-DAF6E85E66ED}"/>
              </a:ext>
            </a:extLst>
          </p:cNvPr>
          <p:cNvSpPr>
            <a:spLocks xmlns:a="http://schemas.openxmlformats.org/drawingml/2006/main" noGrp="1"/>
          </p:cNvSpPr>
          <p:nvPr/>
        </p:nvSpPr>
        <p:spPr>
          <a:xfrm xmlns:a="http://schemas.openxmlformats.org/drawingml/2006/main">
            <a:off x="7562850" y="46386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73" name="">
            <a:extLst xmlns:a="http://schemas.openxmlformats.org/drawingml/2006/main">
              <a:ext uri="{FF2B5EF4-FFF2-40B4-BE49-F238E27FC236}">
                <a16:creationId xmlns:a16="http://schemas.microsoft.com/office/drawing/2014/main" id="{98BD189F-4D04-4393-8828-E2F3A9642D84}"/>
              </a:ext>
            </a:extLst>
          </p:cNvPr>
          <p:cNvSpPr>
            <a:spLocks xmlns:a="http://schemas.openxmlformats.org/drawingml/2006/main" noGrp="1"/>
          </p:cNvSpPr>
          <p:nvPr/>
        </p:nvSpPr>
        <p:spPr>
          <a:xfrm xmlns:a="http://schemas.openxmlformats.org/drawingml/2006/main">
            <a:off x="8286750" y="43148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74" name="">
            <a:extLst xmlns:a="http://schemas.openxmlformats.org/drawingml/2006/main">
              <a:ext uri="{FF2B5EF4-FFF2-40B4-BE49-F238E27FC236}">
                <a16:creationId xmlns:a16="http://schemas.microsoft.com/office/drawing/2014/main" id="{8DAA6C13-45F0-45D5-9A65-09E159B9AC6E}"/>
              </a:ext>
            </a:extLst>
          </p:cNvPr>
          <p:cNvSpPr>
            <a:spLocks xmlns:a="http://schemas.openxmlformats.org/drawingml/2006/main" noGrp="1"/>
          </p:cNvSpPr>
          <p:nvPr/>
        </p:nvSpPr>
        <p:spPr>
          <a:xfrm xmlns:a="http://schemas.openxmlformats.org/drawingml/2006/main">
            <a:off x="8420100" y="44100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75" name="">
            <a:extLst xmlns:a="http://schemas.openxmlformats.org/drawingml/2006/main">
              <a:ext uri="{FF2B5EF4-FFF2-40B4-BE49-F238E27FC236}">
                <a16:creationId xmlns:a16="http://schemas.microsoft.com/office/drawing/2014/main" id="{EB24ABBC-DB1A-4EB7-94B0-2CD28A0DDBCE}"/>
              </a:ext>
            </a:extLst>
          </p:cNvPr>
          <p:cNvSpPr>
            <a:spLocks xmlns:a="http://schemas.openxmlformats.org/drawingml/2006/main" noGrp="1"/>
          </p:cNvSpPr>
          <p:nvPr/>
        </p:nvSpPr>
        <p:spPr>
          <a:xfrm xmlns:a="http://schemas.openxmlformats.org/drawingml/2006/main">
            <a:off x="8420100" y="46386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76" name="">
            <a:extLst xmlns:a="http://schemas.openxmlformats.org/drawingml/2006/main">
              <a:ext uri="{FF2B5EF4-FFF2-40B4-BE49-F238E27FC236}">
                <a16:creationId xmlns:a16="http://schemas.microsoft.com/office/drawing/2014/main" id="{A4D12A57-DB13-4F4D-8578-116516FE0898}"/>
              </a:ext>
            </a:extLst>
          </p:cNvPr>
          <p:cNvSpPr>
            <a:spLocks xmlns:a="http://schemas.openxmlformats.org/drawingml/2006/main" noGrp="1"/>
          </p:cNvSpPr>
          <p:nvPr/>
        </p:nvSpPr>
        <p:spPr>
          <a:xfrm xmlns:a="http://schemas.openxmlformats.org/drawingml/2006/main">
            <a:off x="9144000" y="4314825"/>
            <a:ext cx="781050" cy="457200"/>
          </a:xfrm>
          <a:prstGeom xmlns:a="http://schemas.openxmlformats.org/drawingml/2006/main" prst="rect">
            <a:avLst/>
          </a:prstGeom>
          <a:solidFill xmlns:a="http://schemas.openxmlformats.org/drawingml/2006/main">
            <a:srgbClr val="1E5EF3"/>
          </a:solidFill>
          <a:ln xmlns:a="http://schemas.openxmlformats.org/drawingml/2006/main" w="15240">
            <a:solidFill>
              <a:srgbClr val="1E5EF3"/>
            </a:solidFill>
          </a:ln>
        </p:spPr>
        <p:txBody>
          <a:bodyPr xmlns:a="http://schemas.openxmlformats.org/drawingml/2006/main"/>
          <a:lstStyle xmlns:a="http://schemas.openxmlformats.org/drawingml/2006/main"/>
          <a:p xmlns:a="http://schemas.openxmlformats.org/drawingml/2006/main">
            <a:r>
              <a:t/>
            </a:r>
          </a:p>
        </p:txBody>
      </p:sp>
      <p:sp>
        <p:nvSpPr>
          <p:cNvPr id="77" name="">
            <a:extLst xmlns:a="http://schemas.openxmlformats.org/drawingml/2006/main">
              <a:ext uri="{FF2B5EF4-FFF2-40B4-BE49-F238E27FC236}">
                <a16:creationId xmlns:a16="http://schemas.microsoft.com/office/drawing/2014/main" id="{1C903258-E722-4431-B9A5-A13C9E1A2051}"/>
              </a:ext>
            </a:extLst>
          </p:cNvPr>
          <p:cNvSpPr>
            <a:spLocks xmlns:a="http://schemas.openxmlformats.org/drawingml/2006/main" noGrp="1"/>
          </p:cNvSpPr>
          <p:nvPr/>
        </p:nvSpPr>
        <p:spPr>
          <a:xfrm xmlns:a="http://schemas.openxmlformats.org/drawingml/2006/main">
            <a:off x="9277350" y="44100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VALIDATE</a:t>
            </a:r>
          </a:p>
        </p:txBody>
      </p:sp>
      <p:sp>
        <p:nvSpPr>
          <p:cNvPr id="78" name="">
            <a:extLst xmlns:a="http://schemas.openxmlformats.org/drawingml/2006/main">
              <a:ext uri="{FF2B5EF4-FFF2-40B4-BE49-F238E27FC236}">
                <a16:creationId xmlns:a16="http://schemas.microsoft.com/office/drawing/2014/main" id="{B3988417-CA98-4F93-89EF-DC90D51C2413}"/>
              </a:ext>
            </a:extLst>
          </p:cNvPr>
          <p:cNvSpPr>
            <a:spLocks xmlns:a="http://schemas.openxmlformats.org/drawingml/2006/main" noGrp="1"/>
          </p:cNvSpPr>
          <p:nvPr/>
        </p:nvSpPr>
        <p:spPr>
          <a:xfrm xmlns:a="http://schemas.openxmlformats.org/drawingml/2006/main">
            <a:off x="9277350" y="46386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79" name="">
            <a:extLst xmlns:a="http://schemas.openxmlformats.org/drawingml/2006/main">
              <a:ext uri="{FF2B5EF4-FFF2-40B4-BE49-F238E27FC236}">
                <a16:creationId xmlns:a16="http://schemas.microsoft.com/office/drawing/2014/main" id="{332724FB-35B0-45FF-BBC1-8D740F6CDA92}"/>
              </a:ext>
            </a:extLst>
          </p:cNvPr>
          <p:cNvSpPr>
            <a:spLocks xmlns:a="http://schemas.openxmlformats.org/drawingml/2006/main" noGrp="1"/>
          </p:cNvSpPr>
          <p:nvPr/>
        </p:nvSpPr>
        <p:spPr>
          <a:xfrm xmlns:a="http://schemas.openxmlformats.org/drawingml/2006/main">
            <a:off x="10001250" y="43148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80" name="">
            <a:extLst xmlns:a="http://schemas.openxmlformats.org/drawingml/2006/main">
              <a:ext uri="{FF2B5EF4-FFF2-40B4-BE49-F238E27FC236}">
                <a16:creationId xmlns:a16="http://schemas.microsoft.com/office/drawing/2014/main" id="{D3287309-6E43-41DF-A90B-D59CB968BC29}"/>
              </a:ext>
            </a:extLst>
          </p:cNvPr>
          <p:cNvSpPr>
            <a:spLocks xmlns:a="http://schemas.openxmlformats.org/drawingml/2006/main" noGrp="1"/>
          </p:cNvSpPr>
          <p:nvPr/>
        </p:nvSpPr>
        <p:spPr>
          <a:xfrm xmlns:a="http://schemas.openxmlformats.org/drawingml/2006/main">
            <a:off x="10134600" y="44100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81" name="">
            <a:extLst xmlns:a="http://schemas.openxmlformats.org/drawingml/2006/main">
              <a:ext uri="{FF2B5EF4-FFF2-40B4-BE49-F238E27FC236}">
                <a16:creationId xmlns:a16="http://schemas.microsoft.com/office/drawing/2014/main" id="{17839339-13CF-4583-B2B9-F8189AB12544}"/>
              </a:ext>
            </a:extLst>
          </p:cNvPr>
          <p:cNvSpPr>
            <a:spLocks xmlns:a="http://schemas.openxmlformats.org/drawingml/2006/main" noGrp="1"/>
          </p:cNvSpPr>
          <p:nvPr/>
        </p:nvSpPr>
        <p:spPr>
          <a:xfrm xmlns:a="http://schemas.openxmlformats.org/drawingml/2006/main">
            <a:off x="10134600" y="46386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82" name="">
            <a:extLst xmlns:a="http://schemas.openxmlformats.org/drawingml/2006/main">
              <a:ext uri="{FF2B5EF4-FFF2-40B4-BE49-F238E27FC236}">
                <a16:creationId xmlns:a16="http://schemas.microsoft.com/office/drawing/2014/main" id="{1F0D5EFF-E041-46E1-BFA9-312F09EDBE06}"/>
              </a:ext>
            </a:extLst>
          </p:cNvPr>
          <p:cNvSpPr>
            <a:spLocks xmlns:a="http://schemas.openxmlformats.org/drawingml/2006/main" noGrp="1"/>
          </p:cNvSpPr>
          <p:nvPr/>
        </p:nvSpPr>
        <p:spPr>
          <a:xfrm xmlns:a="http://schemas.openxmlformats.org/drawingml/2006/main">
            <a:off x="5429250" y="4848225"/>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0">
                <a:solidFill>
                  <a:srgbClr val="0A2540"/>
                </a:solidFill>
                <a:latin typeface="Arial"/>
                <a:ea typeface="Arial"/>
                <a:cs typeface="Arial"/>
              </a:defRPr>
            </a:pPr>
            <a:r>
              <a:rPr sz="1125" b="0">
                <a:solidFill>
                  <a:srgbClr val="0A2540"/>
                </a:solidFill>
                <a:latin typeface="Arial"/>
                <a:ea typeface="Arial"/>
                <a:cs typeface="Arial"/>
              </a:rPr>
              <a:t>Round 5</a:t>
            </a:r>
          </a:p>
        </p:txBody>
      </p:sp>
      <p:sp>
        <p:nvSpPr>
          <p:cNvPr id="83" name="">
            <a:extLst xmlns:a="http://schemas.openxmlformats.org/drawingml/2006/main">
              <a:ext uri="{FF2B5EF4-FFF2-40B4-BE49-F238E27FC236}">
                <a16:creationId xmlns:a16="http://schemas.microsoft.com/office/drawing/2014/main" id="{6BE9EC45-4747-4EBE-B450-FAFC6DD1BC6E}"/>
              </a:ext>
            </a:extLst>
          </p:cNvPr>
          <p:cNvSpPr>
            <a:spLocks xmlns:a="http://schemas.openxmlformats.org/drawingml/2006/main" noGrp="1"/>
          </p:cNvSpPr>
          <p:nvPr/>
        </p:nvSpPr>
        <p:spPr>
          <a:xfrm xmlns:a="http://schemas.openxmlformats.org/drawingml/2006/main">
            <a:off x="6572250" y="48482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84" name="">
            <a:extLst xmlns:a="http://schemas.openxmlformats.org/drawingml/2006/main">
              <a:ext uri="{FF2B5EF4-FFF2-40B4-BE49-F238E27FC236}">
                <a16:creationId xmlns:a16="http://schemas.microsoft.com/office/drawing/2014/main" id="{CF920FD1-2A91-47BA-A23F-3420EFC26B0B}"/>
              </a:ext>
            </a:extLst>
          </p:cNvPr>
          <p:cNvSpPr>
            <a:spLocks xmlns:a="http://schemas.openxmlformats.org/drawingml/2006/main" noGrp="1"/>
          </p:cNvSpPr>
          <p:nvPr/>
        </p:nvSpPr>
        <p:spPr>
          <a:xfrm xmlns:a="http://schemas.openxmlformats.org/drawingml/2006/main">
            <a:off x="6705600" y="49434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85" name="">
            <a:extLst xmlns:a="http://schemas.openxmlformats.org/drawingml/2006/main">
              <a:ext uri="{FF2B5EF4-FFF2-40B4-BE49-F238E27FC236}">
                <a16:creationId xmlns:a16="http://schemas.microsoft.com/office/drawing/2014/main" id="{4ECF01A6-916F-438D-A2CC-F96DB4BDAA93}"/>
              </a:ext>
            </a:extLst>
          </p:cNvPr>
          <p:cNvSpPr>
            <a:spLocks xmlns:a="http://schemas.openxmlformats.org/drawingml/2006/main" noGrp="1"/>
          </p:cNvSpPr>
          <p:nvPr/>
        </p:nvSpPr>
        <p:spPr>
          <a:xfrm xmlns:a="http://schemas.openxmlformats.org/drawingml/2006/main">
            <a:off x="6705600" y="51720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86" name="">
            <a:extLst xmlns:a="http://schemas.openxmlformats.org/drawingml/2006/main">
              <a:ext uri="{FF2B5EF4-FFF2-40B4-BE49-F238E27FC236}">
                <a16:creationId xmlns:a16="http://schemas.microsoft.com/office/drawing/2014/main" id="{B4455F62-4B32-4C9F-8C87-CE14829C14A2}"/>
              </a:ext>
            </a:extLst>
          </p:cNvPr>
          <p:cNvSpPr>
            <a:spLocks xmlns:a="http://schemas.openxmlformats.org/drawingml/2006/main" noGrp="1"/>
          </p:cNvSpPr>
          <p:nvPr/>
        </p:nvSpPr>
        <p:spPr>
          <a:xfrm xmlns:a="http://schemas.openxmlformats.org/drawingml/2006/main">
            <a:off x="7429500" y="48482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87" name="">
            <a:extLst xmlns:a="http://schemas.openxmlformats.org/drawingml/2006/main">
              <a:ext uri="{FF2B5EF4-FFF2-40B4-BE49-F238E27FC236}">
                <a16:creationId xmlns:a16="http://schemas.microsoft.com/office/drawing/2014/main" id="{BBEA0E09-8476-4194-BB02-386544CF8CE2}"/>
              </a:ext>
            </a:extLst>
          </p:cNvPr>
          <p:cNvSpPr>
            <a:spLocks xmlns:a="http://schemas.openxmlformats.org/drawingml/2006/main" noGrp="1"/>
          </p:cNvSpPr>
          <p:nvPr/>
        </p:nvSpPr>
        <p:spPr>
          <a:xfrm xmlns:a="http://schemas.openxmlformats.org/drawingml/2006/main">
            <a:off x="7562850" y="49434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88" name="">
            <a:extLst xmlns:a="http://schemas.openxmlformats.org/drawingml/2006/main">
              <a:ext uri="{FF2B5EF4-FFF2-40B4-BE49-F238E27FC236}">
                <a16:creationId xmlns:a16="http://schemas.microsoft.com/office/drawing/2014/main" id="{99319369-6034-4A79-9224-CC50E056E62D}"/>
              </a:ext>
            </a:extLst>
          </p:cNvPr>
          <p:cNvSpPr>
            <a:spLocks xmlns:a="http://schemas.openxmlformats.org/drawingml/2006/main" noGrp="1"/>
          </p:cNvSpPr>
          <p:nvPr/>
        </p:nvSpPr>
        <p:spPr>
          <a:xfrm xmlns:a="http://schemas.openxmlformats.org/drawingml/2006/main">
            <a:off x="7562850" y="51720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89" name="">
            <a:extLst xmlns:a="http://schemas.openxmlformats.org/drawingml/2006/main">
              <a:ext uri="{FF2B5EF4-FFF2-40B4-BE49-F238E27FC236}">
                <a16:creationId xmlns:a16="http://schemas.microsoft.com/office/drawing/2014/main" id="{850DD984-D9F8-4CD6-B073-1FA661185A1D}"/>
              </a:ext>
            </a:extLst>
          </p:cNvPr>
          <p:cNvSpPr>
            <a:spLocks xmlns:a="http://schemas.openxmlformats.org/drawingml/2006/main" noGrp="1"/>
          </p:cNvSpPr>
          <p:nvPr/>
        </p:nvSpPr>
        <p:spPr>
          <a:xfrm xmlns:a="http://schemas.openxmlformats.org/drawingml/2006/main">
            <a:off x="8286750" y="48482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90" name="">
            <a:extLst xmlns:a="http://schemas.openxmlformats.org/drawingml/2006/main">
              <a:ext uri="{FF2B5EF4-FFF2-40B4-BE49-F238E27FC236}">
                <a16:creationId xmlns:a16="http://schemas.microsoft.com/office/drawing/2014/main" id="{D0FFB3DD-3EC4-46B4-9774-7FF477EA63C1}"/>
              </a:ext>
            </a:extLst>
          </p:cNvPr>
          <p:cNvSpPr>
            <a:spLocks xmlns:a="http://schemas.openxmlformats.org/drawingml/2006/main" noGrp="1"/>
          </p:cNvSpPr>
          <p:nvPr/>
        </p:nvSpPr>
        <p:spPr>
          <a:xfrm xmlns:a="http://schemas.openxmlformats.org/drawingml/2006/main">
            <a:off x="8420100" y="49434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91" name="">
            <a:extLst xmlns:a="http://schemas.openxmlformats.org/drawingml/2006/main">
              <a:ext uri="{FF2B5EF4-FFF2-40B4-BE49-F238E27FC236}">
                <a16:creationId xmlns:a16="http://schemas.microsoft.com/office/drawing/2014/main" id="{890C6B4B-7DB4-4388-B694-3BD3D16CA349}"/>
              </a:ext>
            </a:extLst>
          </p:cNvPr>
          <p:cNvSpPr>
            <a:spLocks xmlns:a="http://schemas.openxmlformats.org/drawingml/2006/main" noGrp="1"/>
          </p:cNvSpPr>
          <p:nvPr/>
        </p:nvSpPr>
        <p:spPr>
          <a:xfrm xmlns:a="http://schemas.openxmlformats.org/drawingml/2006/main">
            <a:off x="8420100" y="51720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92" name="">
            <a:extLst xmlns:a="http://schemas.openxmlformats.org/drawingml/2006/main">
              <a:ext uri="{FF2B5EF4-FFF2-40B4-BE49-F238E27FC236}">
                <a16:creationId xmlns:a16="http://schemas.microsoft.com/office/drawing/2014/main" id="{5871BEE2-A1EE-4F9B-9E7B-B9B625A577A4}"/>
              </a:ext>
            </a:extLst>
          </p:cNvPr>
          <p:cNvSpPr>
            <a:spLocks xmlns:a="http://schemas.openxmlformats.org/drawingml/2006/main" noGrp="1"/>
          </p:cNvSpPr>
          <p:nvPr/>
        </p:nvSpPr>
        <p:spPr>
          <a:xfrm xmlns:a="http://schemas.openxmlformats.org/drawingml/2006/main">
            <a:off x="9144000" y="4848225"/>
            <a:ext cx="781050" cy="457200"/>
          </a:xfrm>
          <a:prstGeom xmlns:a="http://schemas.openxmlformats.org/drawingml/2006/main" prst="rect">
            <a:avLst/>
          </a:prstGeom>
          <a:solidFill xmlns:a="http://schemas.openxmlformats.org/drawingml/2006/main">
            <a:srgbClr val="EEF4FF"/>
          </a:solidFill>
          <a:ln xmlns:a="http://schemas.openxmlformats.org/drawingml/2006/main" w="10478">
            <a:solidFill>
              <a:srgbClr val="AFC8FF"/>
            </a:solidFill>
          </a:ln>
        </p:spPr>
        <p:txBody>
          <a:bodyPr xmlns:a="http://schemas.openxmlformats.org/drawingml/2006/main"/>
          <a:lstStyle xmlns:a="http://schemas.openxmlformats.org/drawingml/2006/main"/>
          <a:p xmlns:a="http://schemas.openxmlformats.org/drawingml/2006/main">
            <a:r>
              <a:t/>
            </a:r>
          </a:p>
        </p:txBody>
      </p:sp>
      <p:sp>
        <p:nvSpPr>
          <p:cNvPr id="93" name="">
            <a:extLst xmlns:a="http://schemas.openxmlformats.org/drawingml/2006/main">
              <a:ext uri="{FF2B5EF4-FFF2-40B4-BE49-F238E27FC236}">
                <a16:creationId xmlns:a16="http://schemas.microsoft.com/office/drawing/2014/main" id="{25AA1EDC-0388-4D15-9F2E-868225F53F2A}"/>
              </a:ext>
            </a:extLst>
          </p:cNvPr>
          <p:cNvSpPr>
            <a:spLocks xmlns:a="http://schemas.openxmlformats.org/drawingml/2006/main" noGrp="1"/>
          </p:cNvSpPr>
          <p:nvPr/>
        </p:nvSpPr>
        <p:spPr>
          <a:xfrm xmlns:a="http://schemas.openxmlformats.org/drawingml/2006/main">
            <a:off x="9277350" y="49434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0A2540"/>
                </a:solidFill>
                <a:latin typeface="Arial"/>
                <a:ea typeface="Arial"/>
                <a:cs typeface="Arial"/>
              </a:defRPr>
            </a:pPr>
            <a:r>
              <a:rPr sz="825" b="1">
                <a:solidFill>
                  <a:srgbClr val="0A2540"/>
                </a:solidFill>
                <a:latin typeface="Arial"/>
                <a:ea typeface="Arial"/>
                <a:cs typeface="Arial"/>
              </a:rPr>
              <a:t>TRAIN</a:t>
            </a:r>
          </a:p>
        </p:txBody>
      </p:sp>
      <p:sp>
        <p:nvSpPr>
          <p:cNvPr id="94" name="">
            <a:extLst xmlns:a="http://schemas.openxmlformats.org/drawingml/2006/main">
              <a:ext uri="{FF2B5EF4-FFF2-40B4-BE49-F238E27FC236}">
                <a16:creationId xmlns:a16="http://schemas.microsoft.com/office/drawing/2014/main" id="{9A0CF554-DC30-4597-8655-F433C5C8AEE2}"/>
              </a:ext>
            </a:extLst>
          </p:cNvPr>
          <p:cNvSpPr>
            <a:spLocks xmlns:a="http://schemas.openxmlformats.org/drawingml/2006/main" noGrp="1"/>
          </p:cNvSpPr>
          <p:nvPr/>
        </p:nvSpPr>
        <p:spPr>
          <a:xfrm xmlns:a="http://schemas.openxmlformats.org/drawingml/2006/main">
            <a:off x="9277350" y="51720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95" name="">
            <a:extLst xmlns:a="http://schemas.openxmlformats.org/drawingml/2006/main">
              <a:ext uri="{FF2B5EF4-FFF2-40B4-BE49-F238E27FC236}">
                <a16:creationId xmlns:a16="http://schemas.microsoft.com/office/drawing/2014/main" id="{C879CA67-CAFC-4CF4-A6D0-5E6A643384A0}"/>
              </a:ext>
            </a:extLst>
          </p:cNvPr>
          <p:cNvSpPr>
            <a:spLocks xmlns:a="http://schemas.openxmlformats.org/drawingml/2006/main" noGrp="1"/>
          </p:cNvSpPr>
          <p:nvPr/>
        </p:nvSpPr>
        <p:spPr>
          <a:xfrm xmlns:a="http://schemas.openxmlformats.org/drawingml/2006/main">
            <a:off x="10001250" y="4848225"/>
            <a:ext cx="781050" cy="457200"/>
          </a:xfrm>
          <a:prstGeom xmlns:a="http://schemas.openxmlformats.org/drawingml/2006/main" prst="rect">
            <a:avLst/>
          </a:prstGeom>
          <a:solidFill xmlns:a="http://schemas.openxmlformats.org/drawingml/2006/main">
            <a:srgbClr val="1E5EF3"/>
          </a:solidFill>
          <a:ln xmlns:a="http://schemas.openxmlformats.org/drawingml/2006/main" w="15240">
            <a:solidFill>
              <a:srgbClr val="1E5EF3"/>
            </a:solidFill>
          </a:ln>
        </p:spPr>
        <p:txBody>
          <a:bodyPr xmlns:a="http://schemas.openxmlformats.org/drawingml/2006/main"/>
          <a:lstStyle xmlns:a="http://schemas.openxmlformats.org/drawingml/2006/main"/>
          <a:p xmlns:a="http://schemas.openxmlformats.org/drawingml/2006/main">
            <a:r>
              <a:t/>
            </a:r>
          </a:p>
        </p:txBody>
      </p:sp>
      <p:sp>
        <p:nvSpPr>
          <p:cNvPr id="96" name="">
            <a:extLst xmlns:a="http://schemas.openxmlformats.org/drawingml/2006/main">
              <a:ext uri="{FF2B5EF4-FFF2-40B4-BE49-F238E27FC236}">
                <a16:creationId xmlns:a16="http://schemas.microsoft.com/office/drawing/2014/main" id="{FAA869DF-1962-4C15-8238-1246572A2899}"/>
              </a:ext>
            </a:extLst>
          </p:cNvPr>
          <p:cNvSpPr>
            <a:spLocks xmlns:a="http://schemas.openxmlformats.org/drawingml/2006/main" noGrp="1"/>
          </p:cNvSpPr>
          <p:nvPr/>
        </p:nvSpPr>
        <p:spPr>
          <a:xfrm xmlns:a="http://schemas.openxmlformats.org/drawingml/2006/main">
            <a:off x="10134600" y="4943475"/>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VALIDATE</a:t>
            </a:r>
          </a:p>
        </p:txBody>
      </p:sp>
      <p:sp>
        <p:nvSpPr>
          <p:cNvPr id="97" name="">
            <a:extLst xmlns:a="http://schemas.openxmlformats.org/drawingml/2006/main">
              <a:ext uri="{FF2B5EF4-FFF2-40B4-BE49-F238E27FC236}">
                <a16:creationId xmlns:a16="http://schemas.microsoft.com/office/drawing/2014/main" id="{F64C3E8A-C8D6-4D2A-B109-6307053D4402}"/>
              </a:ext>
            </a:extLst>
          </p:cNvPr>
          <p:cNvSpPr>
            <a:spLocks xmlns:a="http://schemas.openxmlformats.org/drawingml/2006/main" noGrp="1"/>
          </p:cNvSpPr>
          <p:nvPr/>
        </p:nvSpPr>
        <p:spPr>
          <a:xfrm xmlns:a="http://schemas.openxmlformats.org/drawingml/2006/main">
            <a:off x="10134600" y="5172075"/>
            <a:ext cx="5143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98" name="">
            <a:extLst xmlns:a="http://schemas.openxmlformats.org/drawingml/2006/main">
              <a:ext uri="{FF2B5EF4-FFF2-40B4-BE49-F238E27FC236}">
                <a16:creationId xmlns:a16="http://schemas.microsoft.com/office/drawing/2014/main" id="{57871720-D5E2-41FC-BFAF-FACCF0E2F3C3}"/>
              </a:ext>
            </a:extLst>
          </p:cNvPr>
          <p:cNvSpPr>
            <a:spLocks xmlns:a="http://schemas.openxmlformats.org/drawingml/2006/main" noGrp="1"/>
          </p:cNvSpPr>
          <p:nvPr/>
        </p:nvSpPr>
        <p:spPr>
          <a:xfrm xmlns:a="http://schemas.openxmlformats.org/drawingml/2006/main">
            <a:off x="6572250" y="55721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a:solidFill>
                  <a:srgbClr val="5B6774"/>
                </a:solidFill>
                <a:latin typeface="Arial"/>
                <a:ea typeface="Arial"/>
                <a:cs typeface="Arial"/>
              </a:defRPr>
            </a:pPr>
            <a:r>
              <a:rPr sz="1200" b="0">
                <a:solidFill>
                  <a:srgbClr val="5B6774"/>
                </a:solidFill>
                <a:latin typeface="Arial"/>
                <a:ea typeface="Arial"/>
                <a:cs typeface="Arial"/>
              </a:rPr>
              <a:t>The 179-row course holdout is outside this loop</a:t>
            </a:r>
          </a:p>
        </p:txBody>
      </p:sp>
    </p:spTree>
    <p:extLst>
      <p:ext uri="{BB962C8B-B14F-4D97-AF65-F5344CB8AC3E}">
        <p14:creationId xmlns:p14="http://schemas.microsoft.com/office/powerpoint/2010/main" val="6228911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57F06D2-E869-482D-A9CE-89BBAB5E5A1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254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4C4CE61-8BF0-4355-89C9-AC2878BBF945}"/>
              </a:ext>
            </a:extLst>
          </p:cNvPr>
          <p:cNvSpPr>
            <a:spLocks xmlns:a="http://schemas.openxmlformats.org/drawingml/2006/main" noGrp="1"/>
          </p:cNvSpPr>
          <p:nvPr/>
        </p:nvSpPr>
        <p:spPr>
          <a:xfrm xmlns:a="http://schemas.openxmlformats.org/drawingml/2006/main">
            <a:off x="822960" y="1463040"/>
            <a:ext cx="365760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0" b="1">
                <a:solidFill>
                  <a:srgbClr val="1E5EF3"/>
                </a:solidFill>
                <a:latin typeface="Arial"/>
                <a:ea typeface="Arial"/>
                <a:cs typeface="Arial"/>
              </a:rPr>
              <a:t>02</a:t>
            </a:r>
          </a:p>
        </p:txBody>
      </p:sp>
      <p:sp>
        <p:nvSpPr>
          <p:cNvPr id="4" name="TextBox 3">
            <a:extLst xmlns:a="http://schemas.openxmlformats.org/drawingml/2006/main">
              <a:ext uri="{FF2B5EF4-FFF2-40B4-BE49-F238E27FC236}">
                <a16:creationId xmlns:a16="http://schemas.microsoft.com/office/drawing/2014/main" id="{A2921C60-375B-4E48-A5A0-78BC91A8557E}"/>
              </a:ext>
            </a:extLst>
          </p:cNvPr>
          <p:cNvSpPr>
            <a:spLocks xmlns:a="http://schemas.openxmlformats.org/drawingml/2006/main" noGrp="1"/>
          </p:cNvSpPr>
          <p:nvPr/>
        </p:nvSpPr>
        <p:spPr>
          <a:xfrm xmlns:a="http://schemas.openxmlformats.org/drawingml/2006/main">
            <a:off x="868680" y="3566160"/>
            <a:ext cx="10424160" cy="128016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2925" b="1">
                <a:solidFill>
                  <a:srgbClr val="FFFFFF"/>
                </a:solidFill>
                <a:latin typeface="Arial"/>
                <a:ea typeface="Arial"/>
                <a:cs typeface="Arial"/>
              </a:rPr>
              <a:t>Part 2: Run the Titanic tournament</a:t>
            </a:r>
          </a:p>
        </p:txBody>
      </p:sp>
      <p:sp>
        <p:nvSpPr>
          <p:cNvPr id="5" name="TextBox 4">
            <a:extLst xmlns:a="http://schemas.openxmlformats.org/drawingml/2006/main">
              <a:ext uri="{FF2B5EF4-FFF2-40B4-BE49-F238E27FC236}">
                <a16:creationId xmlns:a16="http://schemas.microsoft.com/office/drawing/2014/main" id="{7224E47E-C5E8-456B-8D56-EEBCA652BCC2}"/>
              </a:ext>
            </a:extLst>
          </p:cNvPr>
          <p:cNvSpPr>
            <a:spLocks xmlns:a="http://schemas.openxmlformats.org/drawingml/2006/main" noGrp="1"/>
          </p:cNvSpPr>
          <p:nvPr/>
        </p:nvSpPr>
        <p:spPr>
          <a:xfrm xmlns:a="http://schemas.openxmlformats.org/drawingml/2006/main">
            <a:off x="868680" y="4709160"/>
            <a:ext cx="10058400" cy="91440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1650" b="0">
                <a:solidFill>
                  <a:srgbClr val="B9D0FA"/>
                </a:solidFill>
                <a:latin typeface="Arial"/>
                <a:ea typeface="Arial"/>
                <a:cs typeface="Arial"/>
              </a:rPr>
              <a:t>Compare every candidate under the same validation rules.</a:t>
            </a:r>
          </a:p>
        </p:txBody>
      </p:sp>
      <p:sp>
        <p:nvSpPr>
          <p:cNvPr id="6" name="TextBox 5">
            <a:extLst xmlns:a="http://schemas.openxmlformats.org/drawingml/2006/main">
              <a:ext uri="{FF2B5EF4-FFF2-40B4-BE49-F238E27FC236}">
                <a16:creationId xmlns:a16="http://schemas.microsoft.com/office/drawing/2014/main" id="{78E7C70F-AC1A-4D41-9196-940B0B7CB36F}"/>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B9D0FA"/>
                </a:solidFill>
                <a:latin typeface="Arial"/>
                <a:ea typeface="Arial"/>
                <a:cs typeface="Arial"/>
              </a:rPr>
              <a:t>M2 Session 3 - Model Selection and Evaluation</a:t>
            </a:r>
          </a:p>
        </p:txBody>
      </p:sp>
      <p:sp>
        <p:nvSpPr>
          <p:cNvPr id="7" name="TextBox 6">
            <a:extLst xmlns:a="http://schemas.openxmlformats.org/drawingml/2006/main">
              <a:ext uri="{FF2B5EF4-FFF2-40B4-BE49-F238E27FC236}">
                <a16:creationId xmlns:a16="http://schemas.microsoft.com/office/drawing/2014/main" id="{55D7DE66-621D-4D99-9C2D-016266FA2F69}"/>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B9D0FA"/>
                </a:solidFill>
                <a:latin typeface="Arial"/>
                <a:ea typeface="Arial"/>
                <a:cs typeface="Arial"/>
              </a:rPr>
              <a:t>11</a:t>
            </a:r>
          </a:p>
        </p:txBody>
      </p:sp>
    </p:spTree>
    <p:extLst>
      <p:ext uri="{BB962C8B-B14F-4D97-AF65-F5344CB8AC3E}">
        <p14:creationId xmlns:p14="http://schemas.microsoft.com/office/powerpoint/2010/main" val="17606663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C582BCA-494B-443F-8CD4-DEF2A0E65F9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08A9CCC-35FC-4E53-9656-AFACFAA1A180}"/>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0989A9A-7ABD-40A6-8E25-358B9095769C}"/>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THE MODEL ZOO</a:t>
            </a:r>
          </a:p>
        </p:txBody>
      </p:sp>
      <p:sp>
        <p:nvSpPr>
          <p:cNvPr id="5" name="TextBox 4">
            <a:extLst xmlns:a="http://schemas.openxmlformats.org/drawingml/2006/main">
              <a:ext uri="{FF2B5EF4-FFF2-40B4-BE49-F238E27FC236}">
                <a16:creationId xmlns:a16="http://schemas.microsoft.com/office/drawing/2014/main" id="{605065C4-7B93-46D5-8231-67BEF4A2EA86}"/>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Different models, the same evaluation rules</a:t>
            </a:r>
          </a:p>
        </p:txBody>
      </p:sp>
      <p:sp>
        <p:nvSpPr>
          <p:cNvPr id="6" name="Rectangle 5">
            <a:extLst xmlns:a="http://schemas.openxmlformats.org/drawingml/2006/main">
              <a:ext uri="{FF2B5EF4-FFF2-40B4-BE49-F238E27FC236}">
                <a16:creationId xmlns:a16="http://schemas.microsoft.com/office/drawing/2014/main" id="{F2A14916-17D6-44B5-BDD4-8EED0EB816DF}"/>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8" name="Table 6"/>
          <p:cNvGraphicFramePr/>
          <p:nvPr/>
        </p:nvGraphicFramePr>
        <p:xfrm>
          <a:off xmlns:a="http://schemas.openxmlformats.org/drawingml/2006/main" x="548640" y="1874519"/>
          <a:ext xmlns:a="http://schemas.openxmlformats.org/drawingml/2006/main" cx="11091671" cy="3200400"/>
        </p:xfrm>
        <a:graphic xmlns:a="http://schemas.openxmlformats.org/drawingml/2006/main">
          <a:graphicData uri="http://schemas.openxmlformats.org/drawingml/2006/table">
            <a:tbl>
              <a:tblPr firstRow="1" bandRow="1">
                <a:tableStyleId>{5C22544A-7EE6-4342-B048-85BDC9FD1C3A}</a:tableStyleId>
              </a:tblPr>
              <a:tblGrid>
                <a:gridCol w="2033473"/>
                <a:gridCol w="4806391"/>
                <a:gridCol w="1294028"/>
                <a:gridCol w="2957779"/>
              </a:tblGrid>
              <a:tr h="457200">
                <a:tc>
                  <a:txBody>
                    <a:bodyPr wrap="square"/>
                    <a:lstStyle/>
                    <a:p>
                      <a:pPr algn="l">
                        <a:spcAft>
                          <a:spcPts val="0"/>
                        </a:spcAft>
                        <a:buNone/>
                      </a:pPr>
                      <a:r>
                        <a:rPr sz="1300" b="1">
                          <a:solidFill>
                            <a:srgbClr val="FFFFFF"/>
                          </a:solidFill>
                          <a:latin typeface="Arial"/>
                          <a:ea typeface="Arial"/>
                          <a:cs typeface="Arial"/>
                        </a:rPr>
                        <a:t>Model</a:t>
                      </a:r>
                    </a:p>
                  </a:txBody>
                  <a:tcPr marL="91440" marR="91440" marT="45720" marB="45720">
                    <a:solidFill>
                      <a:srgbClr val="0A2540"/>
                    </a:solidFill>
                  </a:tcPr>
                </a:tc>
                <a:tc>
                  <a:txBody>
                    <a:bodyPr wrap="square"/>
                    <a:lstStyle/>
                    <a:p>
                      <a:pPr algn="l">
                        <a:spcAft>
                          <a:spcPts val="0"/>
                        </a:spcAft>
                        <a:buNone/>
                      </a:pPr>
                      <a:r>
                        <a:rPr sz="1300" b="1">
                          <a:solidFill>
                            <a:srgbClr val="FFFFFF"/>
                          </a:solidFill>
                          <a:latin typeface="Arial"/>
                          <a:ea typeface="Arial"/>
                          <a:cs typeface="Arial"/>
                        </a:rPr>
                        <a:t>Intuition in one line</a:t>
                      </a:r>
                    </a:p>
                  </a:txBody>
                  <a:tcPr marL="91440" marR="91440" marT="45720" marB="45720">
                    <a:solidFill>
                      <a:srgbClr val="0A2540"/>
                    </a:solidFill>
                  </a:tcPr>
                </a:tc>
                <a:tc>
                  <a:txBody>
                    <a:bodyPr wrap="square"/>
                    <a:lstStyle/>
                    <a:p>
                      <a:pPr algn="l">
                        <a:spcAft>
                          <a:spcPts val="0"/>
                        </a:spcAft>
                        <a:buNone/>
                      </a:pPr>
                      <a:r>
                        <a:rPr sz="1300" b="1">
                          <a:solidFill>
                            <a:srgbClr val="FFFFFF"/>
                          </a:solidFill>
                          <a:latin typeface="Arial"/>
                          <a:ea typeface="Arial"/>
                          <a:cs typeface="Arial"/>
                        </a:rPr>
                        <a:t>Needs scaling</a:t>
                      </a:r>
                    </a:p>
                  </a:txBody>
                  <a:tcPr marL="91440" marR="91440" marT="45720" marB="45720">
                    <a:solidFill>
                      <a:srgbClr val="0A2540"/>
                    </a:solidFill>
                  </a:tcPr>
                </a:tc>
                <a:tc>
                  <a:txBody>
                    <a:bodyPr wrap="square"/>
                    <a:lstStyle/>
                    <a:p>
                      <a:pPr algn="l">
                        <a:spcAft>
                          <a:spcPts val="0"/>
                        </a:spcAft>
                        <a:buNone/>
                      </a:pPr>
                      <a:r>
                        <a:rPr sz="1300" b="1">
                          <a:solidFill>
                            <a:srgbClr val="FFFFFF"/>
                          </a:solidFill>
                          <a:latin typeface="Arial"/>
                          <a:ea typeface="Arial"/>
                          <a:cs typeface="Arial"/>
                        </a:rPr>
                        <a:t>Interpretability</a:t>
                      </a:r>
                    </a:p>
                  </a:txBody>
                  <a:tcPr marL="91440" marR="91440" marT="45720" marB="45720">
                    <a:solidFill>
                      <a:srgbClr val="0A2540"/>
                    </a:solidFill>
                  </a:tcPr>
                </a:tc>
              </a:tr>
              <a:tr h="457200">
                <a:tc>
                  <a:txBody>
                    <a:bodyPr wrap="square"/>
                    <a:lstStyle/>
                    <a:p>
                      <a:pPr algn="l">
                        <a:spcAft>
                          <a:spcPts val="0"/>
                        </a:spcAft>
                        <a:buNone/>
                      </a:pPr>
                      <a:r>
                        <a:rPr sz="1250" b="0">
                          <a:solidFill>
                            <a:srgbClr val="202B38"/>
                          </a:solidFill>
                          <a:latin typeface="Arial"/>
                          <a:ea typeface="Arial"/>
                          <a:cs typeface="Arial"/>
                        </a:rPr>
                        <a:t>Dummy</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Ignores the data, always predicts "died" - our floor</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No</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Nothing to read</a:t>
                      </a:r>
                    </a:p>
                  </a:txBody>
                  <a:tcPr marL="91440" marR="91440" marT="45720" marB="45720">
                    <a:solidFill>
                      <a:srgbClr val="FFFFFF"/>
                    </a:solidFill>
                  </a:tcPr>
                </a:tc>
              </a:tr>
              <a:tr h="457200">
                <a:tc>
                  <a:txBody>
                    <a:bodyPr wrap="square"/>
                    <a:lstStyle/>
                    <a:p>
                      <a:pPr algn="l">
                        <a:spcAft>
                          <a:spcPts val="0"/>
                        </a:spcAft>
                        <a:buNone/>
                      </a:pPr>
                      <a:r>
                        <a:rPr sz="1250" b="0">
                          <a:solidFill>
                            <a:srgbClr val="202B38"/>
                          </a:solidFill>
                          <a:latin typeface="Arial"/>
                          <a:ea typeface="Arial"/>
                          <a:cs typeface="Arial"/>
                        </a:rPr>
                        <a:t>Logistic Regression</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A weighted scorecard summed into a probability</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Yes</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High - read the weights</a:t>
                      </a:r>
                    </a:p>
                  </a:txBody>
                  <a:tcPr marL="91440" marR="91440" marT="45720" marB="45720">
                    <a:solidFill>
                      <a:srgbClr val="EEF3FD"/>
                    </a:solidFill>
                  </a:tcPr>
                </a:tc>
              </a:tr>
              <a:tr h="457200">
                <a:tc>
                  <a:txBody>
                    <a:bodyPr wrap="square"/>
                    <a:lstStyle/>
                    <a:p>
                      <a:pPr algn="l">
                        <a:spcAft>
                          <a:spcPts val="0"/>
                        </a:spcAft>
                        <a:buNone/>
                      </a:pPr>
                      <a:r>
                        <a:rPr sz="1250" b="0">
                          <a:solidFill>
                            <a:srgbClr val="202B38"/>
                          </a:solidFill>
                          <a:latin typeface="Arial"/>
                          <a:ea typeface="Arial"/>
                          <a:cs typeface="Arial"/>
                        </a:rPr>
                        <a:t>K-Nearest Neighbors</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Ask the 5 most similar passengers, then let them vote</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Yes</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Medium - show the neighbors</a:t>
                      </a:r>
                    </a:p>
                  </a:txBody>
                  <a:tcPr marL="91440" marR="91440" marT="45720" marB="45720">
                    <a:solidFill>
                      <a:srgbClr val="FFFFFF"/>
                    </a:solidFill>
                  </a:tcPr>
                </a:tc>
              </a:tr>
              <a:tr h="457200">
                <a:tc>
                  <a:txBody>
                    <a:bodyPr wrap="square"/>
                    <a:lstStyle/>
                    <a:p>
                      <a:pPr algn="l">
                        <a:spcAft>
                          <a:spcPts val="0"/>
                        </a:spcAft>
                        <a:buNone/>
                      </a:pPr>
                      <a:r>
                        <a:rPr sz="1250" b="0">
                          <a:solidFill>
                            <a:srgbClr val="202B38"/>
                          </a:solidFill>
                          <a:latin typeface="Arial"/>
                          <a:ea typeface="Arial"/>
                          <a:cs typeface="Arial"/>
                        </a:rPr>
                        <a:t>Decision Tree</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A flowchart of yes/no questions</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No</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High - read the flowchart</a:t>
                      </a:r>
                    </a:p>
                  </a:txBody>
                  <a:tcPr marL="91440" marR="91440" marT="45720" marB="45720">
                    <a:solidFill>
                      <a:srgbClr val="EEF3FD"/>
                    </a:solidFill>
                  </a:tcPr>
                </a:tc>
              </a:tr>
              <a:tr h="457200">
                <a:tc>
                  <a:txBody>
                    <a:bodyPr wrap="square"/>
                    <a:lstStyle/>
                    <a:p>
                      <a:pPr algn="l">
                        <a:spcAft>
                          <a:spcPts val="0"/>
                        </a:spcAft>
                        <a:buNone/>
                      </a:pPr>
                      <a:r>
                        <a:rPr sz="1250" b="0">
                          <a:solidFill>
                            <a:srgbClr val="202B38"/>
                          </a:solidFill>
                          <a:latin typeface="Arial"/>
                          <a:ea typeface="Arial"/>
                          <a:cs typeface="Arial"/>
                        </a:rPr>
                        <a:t>Random Forest</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Hundreds of trees voting; the vote averages mistakes away</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No</a:t>
                      </a:r>
                    </a:p>
                  </a:txBody>
                  <a:tcPr marL="91440" marR="91440" marT="45720" marB="45720">
                    <a:solidFill>
                      <a:srgbClr val="FFFFFF"/>
                    </a:solidFill>
                  </a:tcPr>
                </a:tc>
                <a:tc>
                  <a:txBody>
                    <a:bodyPr wrap="square"/>
                    <a:lstStyle/>
                    <a:p>
                      <a:pPr algn="l">
                        <a:spcAft>
                          <a:spcPts val="0"/>
                        </a:spcAft>
                        <a:buNone/>
                      </a:pPr>
                      <a:r>
                        <a:rPr sz="1250" b="0">
                          <a:solidFill>
                            <a:srgbClr val="202B38"/>
                          </a:solidFill>
                          <a:latin typeface="Arial"/>
                          <a:ea typeface="Arial"/>
                          <a:cs typeface="Arial"/>
                        </a:rPr>
                        <a:t>Low - too many trees to read</a:t>
                      </a:r>
                    </a:p>
                  </a:txBody>
                  <a:tcPr marL="91440" marR="91440" marT="45720" marB="45720">
                    <a:solidFill>
                      <a:srgbClr val="FFFFFF"/>
                    </a:solidFill>
                  </a:tcPr>
                </a:tc>
              </a:tr>
              <a:tr h="457200">
                <a:tc>
                  <a:txBody>
                    <a:bodyPr wrap="square"/>
                    <a:lstStyle/>
                    <a:p>
                      <a:pPr algn="l">
                        <a:spcAft>
                          <a:spcPts val="0"/>
                        </a:spcAft>
                        <a:buNone/>
                      </a:pPr>
                      <a:r>
                        <a:rPr sz="1250" b="0">
                          <a:solidFill>
                            <a:srgbClr val="202B38"/>
                          </a:solidFill>
                          <a:latin typeface="Arial"/>
                          <a:ea typeface="Arial"/>
                          <a:cs typeface="Arial"/>
                        </a:rPr>
                        <a:t>Gradient Boosting</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Trees that learn from the previous tree's mistakes</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No</a:t>
                      </a:r>
                    </a:p>
                  </a:txBody>
                  <a:tcPr marL="91440" marR="91440" marT="45720" marB="45720">
                    <a:solidFill>
                      <a:srgbClr val="EEF3FD"/>
                    </a:solidFill>
                  </a:tcPr>
                </a:tc>
                <a:tc>
                  <a:txBody>
                    <a:bodyPr wrap="square"/>
                    <a:lstStyle/>
                    <a:p>
                      <a:pPr algn="l">
                        <a:spcAft>
                          <a:spcPts val="0"/>
                        </a:spcAft>
                        <a:buNone/>
                      </a:pPr>
                      <a:r>
                        <a:rPr sz="1250" b="0">
                          <a:solidFill>
                            <a:srgbClr val="202B38"/>
                          </a:solidFill>
                          <a:latin typeface="Arial"/>
                          <a:ea typeface="Arial"/>
                          <a:cs typeface="Arial"/>
                        </a:rPr>
                        <a:t>Low</a:t>
                      </a:r>
                    </a:p>
                  </a:txBody>
                  <a:tcPr marL="91440" marR="91440" marT="45720" marB="45720">
                    <a:solidFill>
                      <a:srgbClr val="EEF3FD"/>
                    </a:solidFill>
                  </a:tcPr>
                </a:tc>
              </a:tr>
            </a:tbl>
          </a:graphicData>
        </a:graphic>
      </p:graphicFrame>
      <p:sp>
        <p:nvSpPr>
          <p:cNvPr id="8" name="TextBox 7">
            <a:extLst xmlns:a="http://schemas.openxmlformats.org/drawingml/2006/main">
              <a:ext uri="{FF2B5EF4-FFF2-40B4-BE49-F238E27FC236}">
                <a16:creationId xmlns:a16="http://schemas.microsoft.com/office/drawing/2014/main" id="{FC0BE8D7-0ED1-4985-A4CC-22CD68B4FED4}"/>
              </a:ext>
            </a:extLst>
          </p:cNvPr>
          <p:cNvSpPr>
            <a:spLocks xmlns:a="http://schemas.openxmlformats.org/drawingml/2006/main" noGrp="1"/>
          </p:cNvSpPr>
          <p:nvPr/>
        </p:nvSpPr>
        <p:spPr>
          <a:xfrm xmlns:a="http://schemas.openxmlformats.org/drawingml/2006/main">
            <a:off x="548640" y="6053328"/>
            <a:ext cx="11091672"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200" b="0">
                <a:solidFill>
                  <a:srgbClr val="1E5EF3"/>
                </a:solidFill>
                <a:latin typeface="Arial"/>
                <a:ea typeface="Arial"/>
                <a:cs typeface="Arial"/>
              </a:rPr>
              <a:t>A model = a function with adjustable knobs ("parameters"). "Needs scaling" = wants all features on one ruler first: Fare runs 0-512, Age 0-80 - Fare would shout, Age whisper.</a:t>
            </a:r>
          </a:p>
        </p:txBody>
      </p:sp>
      <p:sp>
        <p:nvSpPr>
          <p:cNvPr id="9" name="TextBox 8">
            <a:extLst xmlns:a="http://schemas.openxmlformats.org/drawingml/2006/main">
              <a:ext uri="{FF2B5EF4-FFF2-40B4-BE49-F238E27FC236}">
                <a16:creationId xmlns:a16="http://schemas.microsoft.com/office/drawing/2014/main" id="{2E286817-5F66-495A-8DCA-CD7E0D562207}"/>
              </a:ext>
            </a:extLst>
          </p:cNvPr>
          <p:cNvSpPr>
            <a:spLocks xmlns:a="http://schemas.openxmlformats.org/drawingml/2006/main" noGrp="1"/>
          </p:cNvSpPr>
          <p:nvPr/>
        </p:nvSpPr>
        <p:spPr>
          <a:xfrm xmlns:a="http://schemas.openxmlformats.org/drawingml/2006/main">
            <a:off x="548640" y="5440680"/>
            <a:ext cx="11091672" cy="50292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1200" b="0">
                <a:solidFill>
                  <a:srgbClr val="1E5EF3"/>
                </a:solidFill>
                <a:latin typeface="Arial"/>
                <a:ea typeface="Arial"/>
                <a:cs typeface="Arial"/>
              </a:rPr>
              <a:t>Use the same validation folds and evaluation metric for all six models. Fit preprocessing inside each fold. MIT 6.390, Appendix C.</a:t>
            </a:r>
          </a:p>
        </p:txBody>
      </p:sp>
      <p:sp>
        <p:nvSpPr>
          <p:cNvPr id="10" name="TextBox 9">
            <a:extLst xmlns:a="http://schemas.openxmlformats.org/drawingml/2006/main">
              <a:ext uri="{FF2B5EF4-FFF2-40B4-BE49-F238E27FC236}">
                <a16:creationId xmlns:a16="http://schemas.microsoft.com/office/drawing/2014/main" id="{6BE8C009-3761-48A8-9B24-B3F6D74B0F5B}"/>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318E85A4-BF69-40A2-A867-1EC56D784CF3}"/>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12</a:t>
            </a:r>
          </a:p>
        </p:txBody>
      </p:sp>
    </p:spTree>
    <p:extLst>
      <p:ext uri="{BB962C8B-B14F-4D97-AF65-F5344CB8AC3E}">
        <p14:creationId xmlns:p14="http://schemas.microsoft.com/office/powerpoint/2010/main" val="95861162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FC94006-8C70-4603-BEE5-28A00726ACF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D6096AD-B0C8-4F51-BA9C-C0CF90E3B133}"/>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DA4214A-9E8D-4B14-BBD8-1C9E02E46842}"/>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PART 1'S WARNING, LIVE</a:t>
            </a:r>
          </a:p>
        </p:txBody>
      </p:sp>
      <p:sp>
        <p:nvSpPr>
          <p:cNvPr id="5" name="TextBox 4">
            <a:extLst xmlns:a="http://schemas.openxmlformats.org/drawingml/2006/main">
              <a:ext uri="{FF2B5EF4-FFF2-40B4-BE49-F238E27FC236}">
                <a16:creationId xmlns:a16="http://schemas.microsoft.com/office/drawing/2014/main" id="{0B2939BE-E995-4A9A-ABDF-F2C32DF35A4C}"/>
              </a:ext>
            </a:extLst>
          </p:cNvPr>
          <p:cNvSpPr>
            <a:spLocks xmlns:a="http://schemas.openxmlformats.org/drawingml/2006/main" noGrp="1"/>
          </p:cNvSpPr>
          <p:nvPr/>
        </p:nvSpPr>
        <p:spPr>
          <a:xfrm xmlns:a="http://schemas.openxmlformats.org/drawingml/2006/main">
            <a:off x="548640" y="868680"/>
            <a:ext cx="11091672" cy="9829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The tree scores better on training rows</a:t>
            </a:r>
          </a:p>
        </p:txBody>
      </p:sp>
      <p:sp>
        <p:nvSpPr>
          <p:cNvPr id="6" name="Rectangle 5">
            <a:extLst xmlns:a="http://schemas.openxmlformats.org/drawingml/2006/main">
              <a:ext uri="{FF2B5EF4-FFF2-40B4-BE49-F238E27FC236}">
                <a16:creationId xmlns:a16="http://schemas.microsoft.com/office/drawing/2014/main" id="{846AD9D2-FAF2-473D-B68B-411DF9BE4AB4}"/>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FF9C41B-ECE1-4227-AA4A-6395F3EEA202}"/>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tall bar scores predictions on familiar training rows.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lower bar summarizes predictions on held-back validation rows.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Training accuracy is 0.985, compared with 0.751 in cross-validation.</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This gap warns against selecting a model by training accuracy.</a:t>
            </a:r>
          </a:p>
        </p:txBody>
      </p:sp>
      <p:sp>
        <p:nvSpPr>
          <p:cNvPr id="9" name="TextBox 8">
            <a:extLst xmlns:a="http://schemas.openxmlformats.org/drawingml/2006/main">
              <a:ext uri="{FF2B5EF4-FFF2-40B4-BE49-F238E27FC236}">
                <a16:creationId xmlns:a16="http://schemas.microsoft.com/office/drawing/2014/main" id="{A2730D54-8280-4339-B55C-B2D6F0C94FE9}"/>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Unlimited decision tree, training vs 5-fold CV accuracy. Module 2, notebook 2.</a:t>
            </a:r>
          </a:p>
        </p:txBody>
      </p:sp>
      <p:sp>
        <p:nvSpPr>
          <p:cNvPr id="10" name="TextBox 9">
            <a:extLst xmlns:a="http://schemas.openxmlformats.org/drawingml/2006/main">
              <a:ext uri="{FF2B5EF4-FFF2-40B4-BE49-F238E27FC236}">
                <a16:creationId xmlns:a16="http://schemas.microsoft.com/office/drawing/2014/main" id="{CBE7B6B8-46AC-4477-9BF8-D904224CD53A}"/>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0584CB30-B69F-4633-9933-7D8BEF0BD3AE}"/>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7E5DD66C-32C9-4FCD-BBB0-A33EAF677156}"/>
              </a:ext>
            </a:extLst>
          </p:cNvPr>
          <p:cNvSpPr>
            <a:spLocks xmlns:a="http://schemas.openxmlformats.org/drawingml/2006/main" noGrp="1"/>
          </p:cNvSpPr>
          <p:nvPr/>
        </p:nvSpPr>
        <p:spPr>
          <a:xfrm xmlns:a="http://schemas.openxmlformats.org/drawingml/2006/main">
            <a:off x="5905500" y="195262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0A2540"/>
                </a:solidFill>
                <a:latin typeface="Arial"/>
                <a:ea typeface="Arial"/>
                <a:cs typeface="Arial"/>
              </a:defRPr>
            </a:pPr>
            <a:r>
              <a:rPr sz="1500" b="1">
                <a:solidFill>
                  <a:srgbClr val="0A2540"/>
                </a:solidFill>
                <a:latin typeface="Arial"/>
                <a:ea typeface="Arial"/>
                <a:cs typeface="Arial"/>
              </a:rPr>
              <a:t>One unlimited decision tree, two very different scores</a:t>
            </a:r>
          </a:p>
        </p:txBody>
      </p:sp>
      <p:sp>
        <p:nvSpPr>
          <p:cNvPr id="13" name="">
            <a:extLst xmlns:a="http://schemas.openxmlformats.org/drawingml/2006/main">
              <a:ext uri="{FF2B5EF4-FFF2-40B4-BE49-F238E27FC236}">
                <a16:creationId xmlns:a16="http://schemas.microsoft.com/office/drawing/2014/main" id="{44D3D388-F2E1-40A4-BE64-5067757B5902}"/>
              </a:ext>
            </a:extLst>
          </p:cNvPr>
          <p:cNvSpPr>
            <a:spLocks xmlns:a="http://schemas.openxmlformats.org/drawingml/2006/main" noGrp="1"/>
          </p:cNvSpPr>
          <p:nvPr/>
        </p:nvSpPr>
        <p:spPr>
          <a:xfrm xmlns:a="http://schemas.openxmlformats.org/drawingml/2006/main">
            <a:off x="5905500" y="2476500"/>
            <a:ext cx="14288" cy="27146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0CEF831F-C785-4E7A-8B58-A33F57F8D259}"/>
              </a:ext>
            </a:extLst>
          </p:cNvPr>
          <p:cNvSpPr>
            <a:spLocks xmlns:a="http://schemas.openxmlformats.org/drawingml/2006/main" noGrp="1"/>
          </p:cNvSpPr>
          <p:nvPr/>
        </p:nvSpPr>
        <p:spPr>
          <a:xfrm xmlns:a="http://schemas.openxmlformats.org/drawingml/2006/main">
            <a:off x="5905500" y="5191125"/>
            <a:ext cx="5524500" cy="14288"/>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6657D3E0-D28A-4830-AB4A-2A91E2A040CB}"/>
              </a:ext>
            </a:extLst>
          </p:cNvPr>
          <p:cNvSpPr>
            <a:spLocks xmlns:a="http://schemas.openxmlformats.org/drawingml/2006/main" noGrp="1"/>
          </p:cNvSpPr>
          <p:nvPr/>
        </p:nvSpPr>
        <p:spPr>
          <a:xfrm xmlns:a="http://schemas.openxmlformats.org/drawingml/2006/main">
            <a:off x="5848350" y="5191125"/>
            <a:ext cx="57150" cy="95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5157F9A1-C266-4BA7-8CF3-5CAE248194DE}"/>
              </a:ext>
            </a:extLst>
          </p:cNvPr>
          <p:cNvSpPr>
            <a:spLocks xmlns:a="http://schemas.openxmlformats.org/drawingml/2006/main" noGrp="1"/>
          </p:cNvSpPr>
          <p:nvPr/>
        </p:nvSpPr>
        <p:spPr>
          <a:xfrm xmlns:a="http://schemas.openxmlformats.org/drawingml/2006/main">
            <a:off x="5448300" y="50863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5B6774"/>
                </a:solidFill>
                <a:latin typeface="Arial"/>
                <a:ea typeface="Arial"/>
                <a:cs typeface="Arial"/>
              </a:defRPr>
            </a:pPr>
            <a:r>
              <a:rPr sz="975" b="0">
                <a:solidFill>
                  <a:srgbClr val="5B6774"/>
                </a:solidFill>
                <a:latin typeface="Arial"/>
                <a:ea typeface="Arial"/>
                <a:cs typeface="Arial"/>
              </a:rPr>
              <a:t>0.0</a:t>
            </a:r>
          </a:p>
        </p:txBody>
      </p:sp>
      <p:sp>
        <p:nvSpPr>
          <p:cNvPr id="17" name="">
            <a:extLst xmlns:a="http://schemas.openxmlformats.org/drawingml/2006/main">
              <a:ext uri="{FF2B5EF4-FFF2-40B4-BE49-F238E27FC236}">
                <a16:creationId xmlns:a16="http://schemas.microsoft.com/office/drawing/2014/main" id="{9941B05B-2575-4FCE-8A0F-44B9040F05F4}"/>
              </a:ext>
            </a:extLst>
          </p:cNvPr>
          <p:cNvSpPr>
            <a:spLocks xmlns:a="http://schemas.openxmlformats.org/drawingml/2006/main" noGrp="1"/>
          </p:cNvSpPr>
          <p:nvPr/>
        </p:nvSpPr>
        <p:spPr>
          <a:xfrm xmlns:a="http://schemas.openxmlformats.org/drawingml/2006/main">
            <a:off x="5848350" y="4648200"/>
            <a:ext cx="57150" cy="95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EFD152B2-6652-4872-ABB7-1CAC8F523E05}"/>
              </a:ext>
            </a:extLst>
          </p:cNvPr>
          <p:cNvSpPr>
            <a:spLocks xmlns:a="http://schemas.openxmlformats.org/drawingml/2006/main" noGrp="1"/>
          </p:cNvSpPr>
          <p:nvPr/>
        </p:nvSpPr>
        <p:spPr>
          <a:xfrm xmlns:a="http://schemas.openxmlformats.org/drawingml/2006/main">
            <a:off x="5448300" y="45434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5B6774"/>
                </a:solidFill>
                <a:latin typeface="Arial"/>
                <a:ea typeface="Arial"/>
                <a:cs typeface="Arial"/>
              </a:defRPr>
            </a:pPr>
            <a:r>
              <a:rPr sz="975" b="0">
                <a:solidFill>
                  <a:srgbClr val="5B6774"/>
                </a:solidFill>
                <a:latin typeface="Arial"/>
                <a:ea typeface="Arial"/>
                <a:cs typeface="Arial"/>
              </a:rPr>
              <a:t>0.2</a:t>
            </a:r>
          </a:p>
        </p:txBody>
      </p:sp>
      <p:sp>
        <p:nvSpPr>
          <p:cNvPr id="19" name="">
            <a:extLst xmlns:a="http://schemas.openxmlformats.org/drawingml/2006/main">
              <a:ext uri="{FF2B5EF4-FFF2-40B4-BE49-F238E27FC236}">
                <a16:creationId xmlns:a16="http://schemas.microsoft.com/office/drawing/2014/main" id="{7C978AEF-76D1-46DB-9D15-A9E94BC2EC66}"/>
              </a:ext>
            </a:extLst>
          </p:cNvPr>
          <p:cNvSpPr>
            <a:spLocks xmlns:a="http://schemas.openxmlformats.org/drawingml/2006/main" noGrp="1"/>
          </p:cNvSpPr>
          <p:nvPr/>
        </p:nvSpPr>
        <p:spPr>
          <a:xfrm xmlns:a="http://schemas.openxmlformats.org/drawingml/2006/main">
            <a:off x="5848350" y="4105275"/>
            <a:ext cx="57150" cy="95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2395FAA9-B938-465A-958A-0CCE9A81741A}"/>
              </a:ext>
            </a:extLst>
          </p:cNvPr>
          <p:cNvSpPr>
            <a:spLocks xmlns:a="http://schemas.openxmlformats.org/drawingml/2006/main" noGrp="1"/>
          </p:cNvSpPr>
          <p:nvPr/>
        </p:nvSpPr>
        <p:spPr>
          <a:xfrm xmlns:a="http://schemas.openxmlformats.org/drawingml/2006/main">
            <a:off x="5448300" y="40005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5B6774"/>
                </a:solidFill>
                <a:latin typeface="Arial"/>
                <a:ea typeface="Arial"/>
                <a:cs typeface="Arial"/>
              </a:defRPr>
            </a:pPr>
            <a:r>
              <a:rPr sz="975" b="0">
                <a:solidFill>
                  <a:srgbClr val="5B6774"/>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0A7E6614-4D1E-4FBA-B5D6-421C92867413}"/>
              </a:ext>
            </a:extLst>
          </p:cNvPr>
          <p:cNvSpPr>
            <a:spLocks xmlns:a="http://schemas.openxmlformats.org/drawingml/2006/main" noGrp="1"/>
          </p:cNvSpPr>
          <p:nvPr/>
        </p:nvSpPr>
        <p:spPr>
          <a:xfrm xmlns:a="http://schemas.openxmlformats.org/drawingml/2006/main">
            <a:off x="5848350" y="3562350"/>
            <a:ext cx="57150" cy="95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6F6BC981-9F68-441C-84A2-0C90824474FF}"/>
              </a:ext>
            </a:extLst>
          </p:cNvPr>
          <p:cNvSpPr>
            <a:spLocks xmlns:a="http://schemas.openxmlformats.org/drawingml/2006/main" noGrp="1"/>
          </p:cNvSpPr>
          <p:nvPr/>
        </p:nvSpPr>
        <p:spPr>
          <a:xfrm xmlns:a="http://schemas.openxmlformats.org/drawingml/2006/main">
            <a:off x="5448300" y="34575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5B6774"/>
                </a:solidFill>
                <a:latin typeface="Arial"/>
                <a:ea typeface="Arial"/>
                <a:cs typeface="Arial"/>
              </a:defRPr>
            </a:pPr>
            <a:r>
              <a:rPr sz="975" b="0">
                <a:solidFill>
                  <a:srgbClr val="5B6774"/>
                </a:solidFill>
                <a:latin typeface="Arial"/>
                <a:ea typeface="Arial"/>
                <a:cs typeface="Arial"/>
              </a:rPr>
              <a:t>0.6</a:t>
            </a:r>
          </a:p>
        </p:txBody>
      </p:sp>
      <p:sp>
        <p:nvSpPr>
          <p:cNvPr id="23" name="">
            <a:extLst xmlns:a="http://schemas.openxmlformats.org/drawingml/2006/main">
              <a:ext uri="{FF2B5EF4-FFF2-40B4-BE49-F238E27FC236}">
                <a16:creationId xmlns:a16="http://schemas.microsoft.com/office/drawing/2014/main" id="{9C141A53-5A26-4993-8BF7-8E12D168E232}"/>
              </a:ext>
            </a:extLst>
          </p:cNvPr>
          <p:cNvSpPr>
            <a:spLocks xmlns:a="http://schemas.openxmlformats.org/drawingml/2006/main" noGrp="1"/>
          </p:cNvSpPr>
          <p:nvPr/>
        </p:nvSpPr>
        <p:spPr>
          <a:xfrm xmlns:a="http://schemas.openxmlformats.org/drawingml/2006/main">
            <a:off x="5848350" y="3019425"/>
            <a:ext cx="57150" cy="95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EC870646-A850-46EE-99B2-844DBE9CF3A9}"/>
              </a:ext>
            </a:extLst>
          </p:cNvPr>
          <p:cNvSpPr>
            <a:spLocks xmlns:a="http://schemas.openxmlformats.org/drawingml/2006/main" noGrp="1"/>
          </p:cNvSpPr>
          <p:nvPr/>
        </p:nvSpPr>
        <p:spPr>
          <a:xfrm xmlns:a="http://schemas.openxmlformats.org/drawingml/2006/main">
            <a:off x="5448300" y="29146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5B6774"/>
                </a:solidFill>
                <a:latin typeface="Arial"/>
                <a:ea typeface="Arial"/>
                <a:cs typeface="Arial"/>
              </a:defRPr>
            </a:pPr>
            <a:r>
              <a:rPr sz="975" b="0">
                <a:solidFill>
                  <a:srgbClr val="5B6774"/>
                </a:solidFill>
                <a:latin typeface="Arial"/>
                <a:ea typeface="Arial"/>
                <a:cs typeface="Arial"/>
              </a:rPr>
              <a:t>0.8</a:t>
            </a:r>
          </a:p>
        </p:txBody>
      </p:sp>
      <p:sp>
        <p:nvSpPr>
          <p:cNvPr id="25" name="">
            <a:extLst xmlns:a="http://schemas.openxmlformats.org/drawingml/2006/main">
              <a:ext uri="{FF2B5EF4-FFF2-40B4-BE49-F238E27FC236}">
                <a16:creationId xmlns:a16="http://schemas.microsoft.com/office/drawing/2014/main" id="{0FD0BA06-445F-4635-BE12-9EFB54B532E7}"/>
              </a:ext>
            </a:extLst>
          </p:cNvPr>
          <p:cNvSpPr>
            <a:spLocks xmlns:a="http://schemas.openxmlformats.org/drawingml/2006/main" noGrp="1"/>
          </p:cNvSpPr>
          <p:nvPr/>
        </p:nvSpPr>
        <p:spPr>
          <a:xfrm xmlns:a="http://schemas.openxmlformats.org/drawingml/2006/main">
            <a:off x="5848350" y="2476500"/>
            <a:ext cx="57150" cy="9525"/>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A5446801-DC3A-470A-956A-3C67ED39E03D}"/>
              </a:ext>
            </a:extLst>
          </p:cNvPr>
          <p:cNvSpPr>
            <a:spLocks xmlns:a="http://schemas.openxmlformats.org/drawingml/2006/main" noGrp="1"/>
          </p:cNvSpPr>
          <p:nvPr/>
        </p:nvSpPr>
        <p:spPr>
          <a:xfrm xmlns:a="http://schemas.openxmlformats.org/drawingml/2006/main">
            <a:off x="5448300" y="23717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5B6774"/>
                </a:solidFill>
                <a:latin typeface="Arial"/>
                <a:ea typeface="Arial"/>
                <a:cs typeface="Arial"/>
              </a:defRPr>
            </a:pPr>
            <a:r>
              <a:rPr sz="975" b="0">
                <a:solidFill>
                  <a:srgbClr val="5B6774"/>
                </a:solidFill>
                <a:latin typeface="Arial"/>
                <a:ea typeface="Arial"/>
                <a:cs typeface="Arial"/>
              </a:rPr>
              <a:t>1.0</a:t>
            </a:r>
          </a:p>
        </p:txBody>
      </p:sp>
      <p:sp>
        <p:nvSpPr>
          <p:cNvPr id="27" name="">
            <a:extLst xmlns:a="http://schemas.openxmlformats.org/drawingml/2006/main">
              <a:ext uri="{FF2B5EF4-FFF2-40B4-BE49-F238E27FC236}">
                <a16:creationId xmlns:a16="http://schemas.microsoft.com/office/drawing/2014/main" id="{1CC90F9E-DDCA-4408-88E3-60B9538EBCE9}"/>
              </a:ext>
            </a:extLst>
          </p:cNvPr>
          <p:cNvSpPr>
            <a:spLocks xmlns:a="http://schemas.openxmlformats.org/drawingml/2006/main" noGrp="1"/>
          </p:cNvSpPr>
          <p:nvPr/>
        </p:nvSpPr>
        <p:spPr>
          <a:xfrm xmlns:a="http://schemas.openxmlformats.org/drawingml/2006/main">
            <a:off x="6191250" y="2517219"/>
            <a:ext cx="1762125" cy="2673906"/>
          </a:xfrm>
          <a:prstGeom xmlns:a="http://schemas.openxmlformats.org/drawingml/2006/main" prst="rect">
            <a:avLst/>
          </a:prstGeom>
          <a:solidFill xmlns:a="http://schemas.openxmlformats.org/drawingml/2006/main">
            <a:srgbClr val="B9D0FA"/>
          </a:solidFill>
          <a:ln xmlns:a="http://schemas.openxmlformats.org/drawingml/2006/main" w="0">
            <a:solidFill>
              <a:srgbClr val="B9D0FA"/>
            </a:solidFill>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1C2C9617-0D1A-43BA-9CF3-15D724CA5CB7}"/>
              </a:ext>
            </a:extLst>
          </p:cNvPr>
          <p:cNvSpPr>
            <a:spLocks xmlns:a="http://schemas.openxmlformats.org/drawingml/2006/main" noGrp="1"/>
          </p:cNvSpPr>
          <p:nvPr/>
        </p:nvSpPr>
        <p:spPr>
          <a:xfrm xmlns:a="http://schemas.openxmlformats.org/drawingml/2006/main">
            <a:off x="6191250" y="2288619"/>
            <a:ext cx="1762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0A2540"/>
                </a:solidFill>
                <a:latin typeface="Arial"/>
                <a:ea typeface="Arial"/>
                <a:cs typeface="Arial"/>
              </a:defRPr>
            </a:pPr>
            <a:r>
              <a:rPr sz="1275" b="1">
                <a:solidFill>
                  <a:srgbClr val="0A2540"/>
                </a:solidFill>
                <a:latin typeface="Arial"/>
                <a:ea typeface="Arial"/>
                <a:cs typeface="Arial"/>
              </a:rPr>
              <a:t>0.985</a:t>
            </a:r>
          </a:p>
        </p:txBody>
      </p:sp>
      <p:sp>
        <p:nvSpPr>
          <p:cNvPr id="29" name="">
            <a:extLst xmlns:a="http://schemas.openxmlformats.org/drawingml/2006/main">
              <a:ext uri="{FF2B5EF4-FFF2-40B4-BE49-F238E27FC236}">
                <a16:creationId xmlns:a16="http://schemas.microsoft.com/office/drawing/2014/main" id="{079A00F3-7D24-4415-8230-F2EE7BC494FA}"/>
              </a:ext>
            </a:extLst>
          </p:cNvPr>
          <p:cNvSpPr>
            <a:spLocks xmlns:a="http://schemas.openxmlformats.org/drawingml/2006/main" noGrp="1"/>
          </p:cNvSpPr>
          <p:nvPr/>
        </p:nvSpPr>
        <p:spPr>
          <a:xfrm xmlns:a="http://schemas.openxmlformats.org/drawingml/2006/main">
            <a:off x="6038850" y="5286375"/>
            <a:ext cx="2066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B6774"/>
                </a:solidFill>
                <a:latin typeface="Arial"/>
                <a:ea typeface="Arial"/>
                <a:cs typeface="Arial"/>
              </a:defRPr>
            </a:pPr>
            <a:r>
              <a:rPr sz="1200" b="0">
                <a:solidFill>
                  <a:srgbClr val="5B6774"/>
                </a:solidFill>
                <a:latin typeface="Arial"/>
                <a:ea typeface="Arial"/>
                <a:cs typeface="Arial"/>
              </a:rPr>
              <a:t>Training accuracy</a:t>
            </a:r>
          </a:p>
          <a:p xmlns:a="http://schemas.openxmlformats.org/drawingml/2006/main">
            <a:pPr algn="ctr">
              <a:defRPr sz="1200" b="0">
                <a:solidFill>
                  <a:srgbClr val="5B6774"/>
                </a:solidFill>
                <a:latin typeface="Arial"/>
                <a:ea typeface="Arial"/>
                <a:cs typeface="Arial"/>
              </a:defRPr>
            </a:pPr>
            <a:r>
              <a:rPr sz="1200" b="0">
                <a:solidFill>
                  <a:srgbClr val="5B6774"/>
                </a:solidFill>
                <a:latin typeface="Arial"/>
                <a:ea typeface="Arial"/>
                <a:cs typeface="Arial"/>
              </a:rPr>
              <a:t>(on familiar rows)</a:t>
            </a:r>
          </a:p>
        </p:txBody>
      </p:sp>
      <p:sp>
        <p:nvSpPr>
          <p:cNvPr id="30" name="">
            <a:extLst xmlns:a="http://schemas.openxmlformats.org/drawingml/2006/main">
              <a:ext uri="{FF2B5EF4-FFF2-40B4-BE49-F238E27FC236}">
                <a16:creationId xmlns:a16="http://schemas.microsoft.com/office/drawing/2014/main" id="{CBC93753-C70D-49BD-BB43-DEFFD57FB7FF}"/>
              </a:ext>
            </a:extLst>
          </p:cNvPr>
          <p:cNvSpPr>
            <a:spLocks xmlns:a="http://schemas.openxmlformats.org/drawingml/2006/main" noGrp="1"/>
          </p:cNvSpPr>
          <p:nvPr/>
        </p:nvSpPr>
        <p:spPr>
          <a:xfrm xmlns:a="http://schemas.openxmlformats.org/drawingml/2006/main">
            <a:off x="9620250" y="3152442"/>
            <a:ext cx="1762125" cy="2038683"/>
          </a:xfrm>
          <a:prstGeom xmlns:a="http://schemas.openxmlformats.org/drawingml/2006/main" prst="rect">
            <a:avLst/>
          </a:prstGeom>
          <a:solidFill xmlns:a="http://schemas.openxmlformats.org/drawingml/2006/main">
            <a:srgbClr val="1E5EF3"/>
          </a:solidFill>
          <a:ln xmlns:a="http://schemas.openxmlformats.org/drawingml/2006/main" w="0">
            <a:solidFill>
              <a:srgbClr val="1E5EF3"/>
            </a:solidFill>
          </a:ln>
        </p:spPr>
        <p:txBody>
          <a:bodyPr xmlns:a="http://schemas.openxmlformats.org/drawingml/2006/main"/>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19052995-D198-4B4B-B62F-C5B32B8390D1}"/>
              </a:ext>
            </a:extLst>
          </p:cNvPr>
          <p:cNvSpPr>
            <a:spLocks xmlns:a="http://schemas.openxmlformats.org/drawingml/2006/main" noGrp="1"/>
          </p:cNvSpPr>
          <p:nvPr/>
        </p:nvSpPr>
        <p:spPr>
          <a:xfrm xmlns:a="http://schemas.openxmlformats.org/drawingml/2006/main">
            <a:off x="9620250" y="2923842"/>
            <a:ext cx="1762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0A2540"/>
                </a:solidFill>
                <a:latin typeface="Arial"/>
                <a:ea typeface="Arial"/>
                <a:cs typeface="Arial"/>
              </a:defRPr>
            </a:pPr>
            <a:r>
              <a:rPr sz="1275" b="1">
                <a:solidFill>
                  <a:srgbClr val="0A2540"/>
                </a:solidFill>
                <a:latin typeface="Arial"/>
                <a:ea typeface="Arial"/>
                <a:cs typeface="Arial"/>
              </a:rPr>
              <a:t>0.751</a:t>
            </a:r>
          </a:p>
        </p:txBody>
      </p:sp>
      <p:sp>
        <p:nvSpPr>
          <p:cNvPr id="32" name="">
            <a:extLst xmlns:a="http://schemas.openxmlformats.org/drawingml/2006/main">
              <a:ext uri="{FF2B5EF4-FFF2-40B4-BE49-F238E27FC236}">
                <a16:creationId xmlns:a16="http://schemas.microsoft.com/office/drawing/2014/main" id="{FD04C9AA-111C-4782-9D74-FE648E4BB598}"/>
              </a:ext>
            </a:extLst>
          </p:cNvPr>
          <p:cNvSpPr>
            <a:spLocks xmlns:a="http://schemas.openxmlformats.org/drawingml/2006/main" noGrp="1"/>
          </p:cNvSpPr>
          <p:nvPr/>
        </p:nvSpPr>
        <p:spPr>
          <a:xfrm xmlns:a="http://schemas.openxmlformats.org/drawingml/2006/main">
            <a:off x="9467850" y="5286375"/>
            <a:ext cx="2066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B6774"/>
                </a:solidFill>
                <a:latin typeface="Arial"/>
                <a:ea typeface="Arial"/>
                <a:cs typeface="Arial"/>
              </a:defRPr>
            </a:pPr>
            <a:r>
              <a:rPr sz="1200" b="0">
                <a:solidFill>
                  <a:srgbClr val="5B6774"/>
                </a:solidFill>
                <a:latin typeface="Arial"/>
                <a:ea typeface="Arial"/>
                <a:cs typeface="Arial"/>
              </a:rPr>
              <a:t>5-fold CV accuracy</a:t>
            </a:r>
          </a:p>
          <a:p xmlns:a="http://schemas.openxmlformats.org/drawingml/2006/main">
            <a:pPr algn="ctr">
              <a:defRPr sz="1200" b="0">
                <a:solidFill>
                  <a:srgbClr val="5B6774"/>
                </a:solidFill>
                <a:latin typeface="Arial"/>
                <a:ea typeface="Arial"/>
                <a:cs typeface="Arial"/>
              </a:defRPr>
            </a:pPr>
            <a:r>
              <a:rPr sz="1200" b="0">
                <a:solidFill>
                  <a:srgbClr val="5B6774"/>
                </a:solidFill>
                <a:latin typeface="Arial"/>
                <a:ea typeface="Arial"/>
                <a:cs typeface="Arial"/>
              </a:rPr>
              <a:t>(on held-back folds)</a:t>
            </a:r>
          </a:p>
        </p:txBody>
      </p:sp>
      <p:sp>
        <p:nvSpPr>
          <p:cNvPr id="33" name="">
            <a:extLst xmlns:a="http://schemas.openxmlformats.org/drawingml/2006/main">
              <a:ext uri="{FF2B5EF4-FFF2-40B4-BE49-F238E27FC236}">
                <a16:creationId xmlns:a16="http://schemas.microsoft.com/office/drawing/2014/main" id="{38E2F654-D69B-4E9D-A498-17DAE0AC7038}"/>
              </a:ext>
            </a:extLst>
          </p:cNvPr>
          <p:cNvSpPr>
            <a:spLocks xmlns:a="http://schemas.openxmlformats.org/drawingml/2006/main" noGrp="1"/>
          </p:cNvSpPr>
          <p:nvPr/>
        </p:nvSpPr>
        <p:spPr>
          <a:xfrm xmlns:a="http://schemas.openxmlformats.org/drawingml/2006/main">
            <a:off x="8858250" y="2517219"/>
            <a:ext cx="14288" cy="635222"/>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5E24B39B-D3A1-4926-B2A7-EEA6CA1D896B}"/>
              </a:ext>
            </a:extLst>
          </p:cNvPr>
          <p:cNvSpPr>
            <a:spLocks xmlns:a="http://schemas.openxmlformats.org/drawingml/2006/main" noGrp="1"/>
          </p:cNvSpPr>
          <p:nvPr/>
        </p:nvSpPr>
        <p:spPr>
          <a:xfrm xmlns:a="http://schemas.openxmlformats.org/drawingml/2006/main">
            <a:off x="8801100" y="2517219"/>
            <a:ext cx="123825" cy="14288"/>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52209705-4333-41A8-8EB8-0077C588069B}"/>
              </a:ext>
            </a:extLst>
          </p:cNvPr>
          <p:cNvSpPr>
            <a:spLocks xmlns:a="http://schemas.openxmlformats.org/drawingml/2006/main" noGrp="1"/>
          </p:cNvSpPr>
          <p:nvPr/>
        </p:nvSpPr>
        <p:spPr>
          <a:xfrm xmlns:a="http://schemas.openxmlformats.org/drawingml/2006/main">
            <a:off x="8801100" y="3152442"/>
            <a:ext cx="123825" cy="14288"/>
          </a:xfrm>
          <a:prstGeom xmlns:a="http://schemas.openxmlformats.org/drawingml/2006/main" prst="rect">
            <a:avLst/>
          </a:prstGeom>
          <a:solidFill xmlns:a="http://schemas.openxmlformats.org/drawingml/2006/main">
            <a:srgbClr val="5B6774"/>
          </a:solidFill>
          <a:ln xmlns:a="http://schemas.openxmlformats.org/drawingml/2006/main" w="0">
            <a:solidFill>
              <a:srgbClr val="5B6774"/>
            </a:solidFill>
          </a:ln>
        </p:spPr>
        <p:txBody>
          <a:bodyPr xmlns:a="http://schemas.openxmlformats.org/drawingml/2006/main"/>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D17C1DB1-1C91-4619-8AEE-162EFB27E2BC}"/>
              </a:ext>
            </a:extLst>
          </p:cNvPr>
          <p:cNvSpPr>
            <a:spLocks xmlns:a="http://schemas.openxmlformats.org/drawingml/2006/main" noGrp="1"/>
          </p:cNvSpPr>
          <p:nvPr/>
        </p:nvSpPr>
        <p:spPr>
          <a:xfrm xmlns:a="http://schemas.openxmlformats.org/drawingml/2006/main">
            <a:off x="8001000" y="2701481"/>
            <a:ext cx="74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1">
                <a:solidFill>
                  <a:srgbClr val="5B6774"/>
                </a:solidFill>
                <a:latin typeface="Arial"/>
                <a:ea typeface="Arial"/>
                <a:cs typeface="Arial"/>
              </a:defRPr>
            </a:pPr>
            <a:r>
              <a:rPr sz="1125" b="1">
                <a:solidFill>
                  <a:srgbClr val="5B6774"/>
                </a:solidFill>
                <a:latin typeface="Arial"/>
                <a:ea typeface="Arial"/>
                <a:cs typeface="Arial"/>
              </a:rPr>
              <a:t>0.233 gap</a:t>
            </a:r>
          </a:p>
        </p:txBody>
      </p:sp>
    </p:spTree>
    <p:extLst>
      <p:ext uri="{BB962C8B-B14F-4D97-AF65-F5344CB8AC3E}">
        <p14:creationId xmlns:p14="http://schemas.microsoft.com/office/powerpoint/2010/main" val="87499949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7DBD1AC-9379-4ADC-AF55-CD0473DCE00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269B358B-A490-4302-AC12-D94CFC6E446F}"/>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72D0928-14E4-46BC-BBFE-75553DC01872}"/>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BASELINE FIRST</a:t>
            </a:r>
          </a:p>
        </p:txBody>
      </p:sp>
      <p:sp>
        <p:nvSpPr>
          <p:cNvPr id="5" name="TextBox 4">
            <a:extLst xmlns:a="http://schemas.openxmlformats.org/drawingml/2006/main">
              <a:ext uri="{FF2B5EF4-FFF2-40B4-BE49-F238E27FC236}">
                <a16:creationId xmlns:a16="http://schemas.microsoft.com/office/drawing/2014/main" id="{491B0A14-8158-4FF7-8791-0FD0ECFCB0E1}"/>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How well can a model do without passenger features?</a:t>
            </a:r>
          </a:p>
        </p:txBody>
      </p:sp>
      <p:sp>
        <p:nvSpPr>
          <p:cNvPr id="6" name="Rectangle 5">
            <a:extLst xmlns:a="http://schemas.openxmlformats.org/drawingml/2006/main">
              <a:ext uri="{FF2B5EF4-FFF2-40B4-BE49-F238E27FC236}">
                <a16:creationId xmlns:a16="http://schemas.microsoft.com/office/drawing/2014/main" id="{E1D554F7-2E1F-4D61-905B-D67CE48B7F7B}"/>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C5167A2-C8F4-448D-A838-48C23F82DF12}"/>
              </a:ext>
            </a:extLst>
          </p:cNvPr>
          <p:cNvSpPr>
            <a:spLocks xmlns:a="http://schemas.openxmlformats.org/drawingml/2006/main" noGrp="1"/>
          </p:cNvSpPr>
          <p:nvPr/>
        </p:nvSpPr>
        <p:spPr>
          <a:xfrm xmlns:a="http://schemas.openxmlformats.org/drawingml/2006/main">
            <a:off x="1371600" y="2286000"/>
            <a:ext cx="941832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9600" b="1">
                <a:solidFill>
                  <a:srgbClr val="1E5EF3"/>
                </a:solidFill>
                <a:latin typeface="Arial"/>
                <a:ea typeface="Arial"/>
                <a:cs typeface="Arial"/>
              </a:rPr>
              <a:t>0.617</a:t>
            </a:r>
          </a:p>
        </p:txBody>
      </p:sp>
      <p:sp>
        <p:nvSpPr>
          <p:cNvPr id="8" name="TextBox 7">
            <a:extLst xmlns:a="http://schemas.openxmlformats.org/drawingml/2006/main">
              <a:ext uri="{FF2B5EF4-FFF2-40B4-BE49-F238E27FC236}">
                <a16:creationId xmlns:a16="http://schemas.microsoft.com/office/drawing/2014/main" id="{0A12681D-788B-4BFB-AEA9-389528A3E0CE}"/>
              </a:ext>
            </a:extLst>
          </p:cNvPr>
          <p:cNvSpPr>
            <a:spLocks xmlns:a="http://schemas.openxmlformats.org/drawingml/2006/main" noGrp="1"/>
          </p:cNvSpPr>
          <p:nvPr/>
        </p:nvSpPr>
        <p:spPr>
          <a:xfrm xmlns:a="http://schemas.openxmlformats.org/drawingml/2006/main">
            <a:off x="1371600" y="4434840"/>
            <a:ext cx="9418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800" b="0">
                <a:solidFill>
                  <a:srgbClr val="0A2540"/>
                </a:solidFill>
                <a:latin typeface="Arial"/>
                <a:ea typeface="Arial"/>
                <a:cs typeface="Arial"/>
              </a:rPr>
              <a:t>Dummy baseline, 5-fold CV accuracy (+/- 0.003). It always predicts "died" - and 61.7% of training passengers did die, so it is right 61.7% of the time.</a:t>
            </a:r>
          </a:p>
        </p:txBody>
      </p:sp>
      <p:sp>
        <p:nvSpPr>
          <p:cNvPr id="9" name="TextBox 8">
            <a:extLst xmlns:a="http://schemas.openxmlformats.org/drawingml/2006/main">
              <a:ext uri="{FF2B5EF4-FFF2-40B4-BE49-F238E27FC236}">
                <a16:creationId xmlns:a16="http://schemas.microsoft.com/office/drawing/2014/main" id="{BEA0EF41-81FA-4A10-8F3F-CB801096E1C9}"/>
              </a:ext>
            </a:extLst>
          </p:cNvPr>
          <p:cNvSpPr>
            <a:spLocks xmlns:a="http://schemas.openxmlformats.org/drawingml/2006/main" noGrp="1"/>
          </p:cNvSpPr>
          <p:nvPr/>
        </p:nvSpPr>
        <p:spPr>
          <a:xfrm xmlns:a="http://schemas.openxmlformats.org/drawingml/2006/main">
            <a:off x="1371600" y="5257800"/>
            <a:ext cx="9418320" cy="6400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ctr">
              <a:spcAft>
                <a:spcPts val="600"/>
              </a:spcAft>
              <a:buNone/>
            </a:pPr>
            <a:r>
              <a:rPr sz="1250" b="0">
                <a:solidFill>
                  <a:srgbClr val="5B6774"/>
                </a:solidFill>
                <a:latin typeface="Arial"/>
                <a:ea typeface="Arial"/>
                <a:cs typeface="Arial"/>
              </a:rPr>
              <a:t>On accuracy, a model that does not beat this baseline has not demonstrated an improvement. Build a simple first system, then iterate. Ng, Machine Learning Yearning ch. 13.</a:t>
            </a:r>
          </a:p>
        </p:txBody>
      </p:sp>
      <p:sp>
        <p:nvSpPr>
          <p:cNvPr id="10" name="TextBox 9">
            <a:extLst xmlns:a="http://schemas.openxmlformats.org/drawingml/2006/main">
              <a:ext uri="{FF2B5EF4-FFF2-40B4-BE49-F238E27FC236}">
                <a16:creationId xmlns:a16="http://schemas.microsoft.com/office/drawing/2014/main" id="{47751892-0E38-4D61-B47A-F82D81F22B47}"/>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5AB2A666-0CCB-4E7F-8B33-5A8F0F371A6A}"/>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14</a:t>
            </a:r>
          </a:p>
        </p:txBody>
      </p:sp>
    </p:spTree>
    <p:extLst>
      <p:ext uri="{BB962C8B-B14F-4D97-AF65-F5344CB8AC3E}">
        <p14:creationId xmlns:p14="http://schemas.microsoft.com/office/powerpoint/2010/main" val="84814092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83EA04E-A3B1-476E-BD6C-512A5BE0A19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3EC56D58-04E3-44E3-82E8-68B53094CC42}"/>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49A4058-AC7D-498A-9A0B-FBCC5F812662}"/>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SIX MODELS, ONE REFEREE</a:t>
            </a:r>
          </a:p>
        </p:txBody>
      </p:sp>
      <p:sp>
        <p:nvSpPr>
          <p:cNvPr id="5" name="TextBox 4">
            <a:extLst xmlns:a="http://schemas.openxmlformats.org/drawingml/2006/main">
              <a:ext uri="{FF2B5EF4-FFF2-40B4-BE49-F238E27FC236}">
                <a16:creationId xmlns:a16="http://schemas.microsoft.com/office/drawing/2014/main" id="{BC17BB63-FECE-4D86-AF81-9E185100CD79}"/>
              </a:ext>
            </a:extLst>
          </p:cNvPr>
          <p:cNvSpPr>
            <a:spLocks xmlns:a="http://schemas.openxmlformats.org/drawingml/2006/main" noGrp="1"/>
          </p:cNvSpPr>
          <p:nvPr/>
        </p:nvSpPr>
        <p:spPr>
          <a:xfrm xmlns:a="http://schemas.openxmlformats.org/drawingml/2006/main">
            <a:off x="548640" y="868680"/>
            <a:ext cx="11091672" cy="9829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Logistic Regression leads narrowly</a:t>
            </a:r>
          </a:p>
        </p:txBody>
      </p:sp>
      <p:sp>
        <p:nvSpPr>
          <p:cNvPr id="6" name="Rectangle 5">
            <a:extLst xmlns:a="http://schemas.openxmlformats.org/drawingml/2006/main">
              <a:ext uri="{FF2B5EF4-FFF2-40B4-BE49-F238E27FC236}">
                <a16:creationId xmlns:a16="http://schemas.microsoft.com/office/drawing/2014/main" id="{0F299067-98C7-43EB-A057-ADF7DCEFD5D0}"/>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25CA053B-317F-4EA8-9F5F-40EE024617FA}"/>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Compare each bar with the baseline before comparing candidates.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Logistic Regression reaches 0.819, with Gradient Boosting close at 0.816.</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Whiskers show variation across validation folds.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small lead does not establish a clearly superior model.</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8d2b042dc6cb4cf5"/>
          <a:stretch xmlns:a="http://schemas.openxmlformats.org/drawingml/2006/main">
            <a:fillRect l="0" t="0" r="0" b="0"/>
          </a:stretch>
        </p:blipFill>
        <p:spPr>
          <a:xfrm xmlns:a="http://schemas.openxmlformats.org/drawingml/2006/main">
            <a:off x="4990795" y="1807720"/>
            <a:ext cx="6622085" cy="3406737"/>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EDD75997-DE61-4040-8BFF-25AF02E4780E}"/>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Mean 5-fold CV accuracy, +/- 1 std; axis starts at 0.55 to magnify the differences. Module 2, notebook 2.</a:t>
            </a:r>
          </a:p>
        </p:txBody>
      </p:sp>
      <p:sp>
        <p:nvSpPr>
          <p:cNvPr id="10" name="TextBox 9">
            <a:extLst xmlns:a="http://schemas.openxmlformats.org/drawingml/2006/main">
              <a:ext uri="{FF2B5EF4-FFF2-40B4-BE49-F238E27FC236}">
                <a16:creationId xmlns:a16="http://schemas.microsoft.com/office/drawing/2014/main" id="{1CE3D470-B30B-454A-A3FD-01CBECAE9032}"/>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56CC749E-2324-41A7-801E-4A0F85A13D69}"/>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15</a:t>
            </a:r>
          </a:p>
        </p:txBody>
      </p:sp>
    </p:spTree>
    <p:extLst>
      <p:ext uri="{BB962C8B-B14F-4D97-AF65-F5344CB8AC3E}">
        <p14:creationId xmlns:p14="http://schemas.microsoft.com/office/powerpoint/2010/main" val="52212766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714CDB-2C5F-4D41-9CEE-5A5BA19030F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E924436-2F65-444B-A3C1-D10A5A2CD95F}"/>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5B1ECBB-FAD9-4CEE-B551-D121BD6D6AC2}"/>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THE 99% TRAP</a:t>
            </a:r>
          </a:p>
        </p:txBody>
      </p:sp>
      <p:sp>
        <p:nvSpPr>
          <p:cNvPr id="5" name="TextBox 4">
            <a:extLst xmlns:a="http://schemas.openxmlformats.org/drawingml/2006/main">
              <a:ext uri="{FF2B5EF4-FFF2-40B4-BE49-F238E27FC236}">
                <a16:creationId xmlns:a16="http://schemas.microsoft.com/office/drawing/2014/main" id="{C0FFE964-ACF7-44D5-837C-3C806F363EDD}"/>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Which mistakes does accuracy hide?</a:t>
            </a:r>
          </a:p>
        </p:txBody>
      </p:sp>
      <p:sp>
        <p:nvSpPr>
          <p:cNvPr id="6" name="Rectangle 5">
            <a:extLst xmlns:a="http://schemas.openxmlformats.org/drawingml/2006/main">
              <a:ext uri="{FF2B5EF4-FFF2-40B4-BE49-F238E27FC236}">
                <a16:creationId xmlns:a16="http://schemas.microsoft.com/office/drawing/2014/main" id="{68953DE4-CEEE-4944-AB40-F3DAE96E6DA2}"/>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DC8182E2-3E64-4390-ABB3-EB365A6D490B}"/>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Read actual outcomes by row and predictions by column.</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This confusion matrix counts correct calls and mistakes.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notebook makes the first course evaluation on this 179-row holdout.</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Later reuse is not a fresh estimate.</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f977f6dd912f493b"/>
          <a:stretch xmlns:a="http://schemas.openxmlformats.org/drawingml/2006/main">
            <a:fillRect l="0" t="0" r="0" b="0"/>
          </a:stretch>
        </p:blipFill>
        <p:spPr>
          <a:xfrm xmlns:a="http://schemas.openxmlformats.org/drawingml/2006/main">
            <a:off x="5587654" y="1874519"/>
            <a:ext cx="5558211" cy="4114800"/>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E020E354-45FD-4778-831F-FAF9C631FA8A}"/>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Logistic Regression, confusion matrix on the test set. Module 2, notebook 2. Harvard CS109A, Classification Metrics lecture.</a:t>
            </a:r>
          </a:p>
        </p:txBody>
      </p:sp>
      <p:sp>
        <p:nvSpPr>
          <p:cNvPr id="10" name="TextBox 9">
            <a:extLst xmlns:a="http://schemas.openxmlformats.org/drawingml/2006/main">
              <a:ext uri="{FF2B5EF4-FFF2-40B4-BE49-F238E27FC236}">
                <a16:creationId xmlns:a16="http://schemas.microsoft.com/office/drawing/2014/main" id="{C3F83874-A05E-4F7F-AA52-6DEF10DC116B}"/>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6A7196D6-C346-41DE-88D5-823B73C9AEB5}"/>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16</a:t>
            </a:r>
          </a:p>
        </p:txBody>
      </p:sp>
    </p:spTree>
    <p:extLst>
      <p:ext uri="{BB962C8B-B14F-4D97-AF65-F5344CB8AC3E}">
        <p14:creationId xmlns:p14="http://schemas.microsoft.com/office/powerpoint/2010/main" val="1430537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7AE499-5A43-48FB-93A0-5769A558CE2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260B809-ECF9-43E0-B647-FD4FF4E37C1F}"/>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1ECDF7C-ECDE-4358-95EA-AC6425A8092A}"/>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TWO KINDS OF MISTAKES</a:t>
            </a:r>
          </a:p>
        </p:txBody>
      </p:sp>
      <p:sp>
        <p:nvSpPr>
          <p:cNvPr id="5" name="TextBox 4">
            <a:extLst xmlns:a="http://schemas.openxmlformats.org/drawingml/2006/main">
              <a:ext uri="{FF2B5EF4-FFF2-40B4-BE49-F238E27FC236}">
                <a16:creationId xmlns:a16="http://schemas.microsoft.com/office/drawing/2014/main" id="{DA5A015B-8ECD-4494-A4D1-AC4A31D03B73}"/>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Precision and recall count different groups</a:t>
            </a:r>
          </a:p>
        </p:txBody>
      </p:sp>
      <p:sp>
        <p:nvSpPr>
          <p:cNvPr id="6" name="Rectangle 5">
            <a:extLst xmlns:a="http://schemas.openxmlformats.org/drawingml/2006/main">
              <a:ext uri="{FF2B5EF4-FFF2-40B4-BE49-F238E27FC236}">
                <a16:creationId xmlns:a16="http://schemas.microsoft.com/office/drawing/2014/main" id="{F942DA0A-485A-4FA0-82F9-0857802BDE8E}"/>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AEBCCD44-CC2D-4A44-AFCE-DCFDE9DACB45}"/>
              </a:ext>
            </a:extLst>
          </p:cNvPr>
          <p:cNvSpPr>
            <a:spLocks xmlns:a="http://schemas.openxmlformats.org/drawingml/2006/main" noGrp="1"/>
          </p:cNvSpPr>
          <p:nvPr/>
        </p:nvSpPr>
        <p:spPr>
          <a:xfrm xmlns:a="http://schemas.openxmlformats.org/drawingml/2006/main">
            <a:off x="548640" y="1874519"/>
            <a:ext cx="5394960" cy="3977639"/>
          </a:xfrm>
          <a:prstGeom xmlns:a="http://schemas.openxmlformats.org/drawingml/2006/main" prst="rect">
            <a:avLst/>
          </a:prstGeom>
          <a:solidFill xmlns:a="http://schemas.openxmlformats.org/drawingml/2006/main">
            <a:srgbClr val="EEF3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DC5E86B4-ADD4-43A9-AD41-962727AE4D20}"/>
              </a:ext>
            </a:extLst>
          </p:cNvPr>
          <p:cNvSpPr>
            <a:spLocks xmlns:a="http://schemas.openxmlformats.org/drawingml/2006/main" noGrp="1"/>
          </p:cNvSpPr>
          <p:nvPr/>
        </p:nvSpPr>
        <p:spPr>
          <a:xfrm xmlns:a="http://schemas.openxmlformats.org/drawingml/2006/main">
            <a:off x="777240" y="2039111"/>
            <a:ext cx="493776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500" b="1">
                <a:solidFill>
                  <a:srgbClr val="0A2540"/>
                </a:solidFill>
                <a:latin typeface="Arial"/>
                <a:ea typeface="Arial"/>
                <a:cs typeface="Arial"/>
              </a:rPr>
              <a:t>Precision 0.823 - trust our alarms</a:t>
            </a:r>
          </a:p>
        </p:txBody>
      </p:sp>
      <p:sp>
        <p:nvSpPr>
          <p:cNvPr id="9" name="TextBox 8">
            <a:extLst xmlns:a="http://schemas.openxmlformats.org/drawingml/2006/main">
              <a:ext uri="{FF2B5EF4-FFF2-40B4-BE49-F238E27FC236}">
                <a16:creationId xmlns:a16="http://schemas.microsoft.com/office/drawing/2014/main" id="{434718CF-8F54-4F6B-9C2A-2CB344F0BD13}"/>
              </a:ext>
            </a:extLst>
          </p:cNvPr>
          <p:cNvSpPr>
            <a:spLocks xmlns:a="http://schemas.openxmlformats.org/drawingml/2006/main" noGrp="1"/>
          </p:cNvSpPr>
          <p:nvPr/>
        </p:nvSpPr>
        <p:spPr>
          <a:xfrm xmlns:a="http://schemas.openxmlformats.org/drawingml/2006/main">
            <a:off x="777240" y="2441447"/>
            <a:ext cx="4937760" cy="3246119"/>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Of predicted survivors, how many survived?</a:t>
            </a:r>
          </a:p>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51 / (51 + 11) = 0.823</a:t>
            </a:r>
          </a:p>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High precision means fewer false alarms.</a:t>
            </a:r>
          </a:p>
        </p:txBody>
      </p:sp>
      <p:sp>
        <p:nvSpPr>
          <p:cNvPr id="10" name="Rectangle 9">
            <a:extLst xmlns:a="http://schemas.openxmlformats.org/drawingml/2006/main">
              <a:ext uri="{FF2B5EF4-FFF2-40B4-BE49-F238E27FC236}">
                <a16:creationId xmlns:a16="http://schemas.microsoft.com/office/drawing/2014/main" id="{7729BB3D-6527-4C62-8B37-141FA755CF33}"/>
              </a:ext>
            </a:extLst>
          </p:cNvPr>
          <p:cNvSpPr>
            <a:spLocks xmlns:a="http://schemas.openxmlformats.org/drawingml/2006/main" noGrp="1"/>
          </p:cNvSpPr>
          <p:nvPr/>
        </p:nvSpPr>
        <p:spPr>
          <a:xfrm xmlns:a="http://schemas.openxmlformats.org/drawingml/2006/main">
            <a:off x="6245352" y="1874519"/>
            <a:ext cx="5394960" cy="3977639"/>
          </a:xfrm>
          <a:prstGeom xmlns:a="http://schemas.openxmlformats.org/drawingml/2006/main" prst="rect">
            <a:avLst/>
          </a:prstGeom>
          <a:solidFill xmlns:a="http://schemas.openxmlformats.org/drawingml/2006/main">
            <a:srgbClr val="EEF3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258FA795-ED79-41AD-A61B-6159CCC2549E}"/>
              </a:ext>
            </a:extLst>
          </p:cNvPr>
          <p:cNvSpPr>
            <a:spLocks xmlns:a="http://schemas.openxmlformats.org/drawingml/2006/main" noGrp="1"/>
          </p:cNvSpPr>
          <p:nvPr/>
        </p:nvSpPr>
        <p:spPr>
          <a:xfrm xmlns:a="http://schemas.openxmlformats.org/drawingml/2006/main">
            <a:off x="6473952" y="2039111"/>
            <a:ext cx="493776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500" b="1">
                <a:solidFill>
                  <a:srgbClr val="0A2540"/>
                </a:solidFill>
                <a:latin typeface="Arial"/>
                <a:ea typeface="Arial"/>
                <a:cs typeface="Arial"/>
              </a:rPr>
              <a:t>Recall 0.739 - catch them all</a:t>
            </a:r>
          </a:p>
        </p:txBody>
      </p:sp>
      <p:sp>
        <p:nvSpPr>
          <p:cNvPr id="12" name="TextBox 11">
            <a:extLst xmlns:a="http://schemas.openxmlformats.org/drawingml/2006/main">
              <a:ext uri="{FF2B5EF4-FFF2-40B4-BE49-F238E27FC236}">
                <a16:creationId xmlns:a16="http://schemas.microsoft.com/office/drawing/2014/main" id="{E1301777-0BB3-4A9A-87EE-600AFACA686C}"/>
              </a:ext>
            </a:extLst>
          </p:cNvPr>
          <p:cNvSpPr>
            <a:spLocks xmlns:a="http://schemas.openxmlformats.org/drawingml/2006/main" noGrp="1"/>
          </p:cNvSpPr>
          <p:nvPr/>
        </p:nvSpPr>
        <p:spPr>
          <a:xfrm xmlns:a="http://schemas.openxmlformats.org/drawingml/2006/main">
            <a:off x="6473952" y="2441447"/>
            <a:ext cx="4937760" cy="3246119"/>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Of actual survivors, how many did we find?</a:t>
            </a:r>
          </a:p>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51 / (51 + 18) = 0.739</a:t>
            </a:r>
          </a:p>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High recall means fewer missed cases.</a:t>
            </a:r>
          </a:p>
        </p:txBody>
      </p:sp>
      <p:sp>
        <p:nvSpPr>
          <p:cNvPr id="13" name="TextBox 12">
            <a:extLst xmlns:a="http://schemas.openxmlformats.org/drawingml/2006/main">
              <a:ext uri="{FF2B5EF4-FFF2-40B4-BE49-F238E27FC236}">
                <a16:creationId xmlns:a16="http://schemas.microsoft.com/office/drawing/2014/main" id="{AD70CE48-2432-49D6-B3F5-6C5AD09ADCC4}"/>
              </a:ext>
            </a:extLst>
          </p:cNvPr>
          <p:cNvSpPr>
            <a:spLocks xmlns:a="http://schemas.openxmlformats.org/drawingml/2006/main" noGrp="1"/>
          </p:cNvSpPr>
          <p:nvPr/>
        </p:nvSpPr>
        <p:spPr>
          <a:xfrm xmlns:a="http://schemas.openxmlformats.org/drawingml/2006/main">
            <a:off x="548640" y="6053328"/>
            <a:ext cx="11091672"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200" b="0">
                <a:solidFill>
                  <a:srgbClr val="1E5EF3"/>
                </a:solidFill>
                <a:latin typeface="Arial"/>
                <a:ea typeface="Arial"/>
                <a:cs typeface="Arial"/>
              </a:rPr>
              <a:t>TP, FP, FN are the confusion-matrix cells from the last slide. F1 = a strict average (harmonic mean) of precision and recall = 0.779 - high only when both are decent. Metric pairing after Ng's ML Specialization (C2, W3).</a:t>
            </a:r>
          </a:p>
        </p:txBody>
      </p:sp>
      <p:sp>
        <p:nvSpPr>
          <p:cNvPr id="14" name="TextBox 13">
            <a:extLst xmlns:a="http://schemas.openxmlformats.org/drawingml/2006/main">
              <a:ext uri="{FF2B5EF4-FFF2-40B4-BE49-F238E27FC236}">
                <a16:creationId xmlns:a16="http://schemas.microsoft.com/office/drawing/2014/main" id="{C6F82F9B-E558-4B42-81DF-3D0DE94B4A42}"/>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5" name="TextBox 14">
            <a:extLst xmlns:a="http://schemas.openxmlformats.org/drawingml/2006/main">
              <a:ext uri="{FF2B5EF4-FFF2-40B4-BE49-F238E27FC236}">
                <a16:creationId xmlns:a16="http://schemas.microsoft.com/office/drawing/2014/main" id="{74274767-7762-4129-BEF8-AA23FBC4F211}"/>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17</a:t>
            </a:r>
          </a:p>
        </p:txBody>
      </p:sp>
    </p:spTree>
    <p:extLst>
      <p:ext uri="{BB962C8B-B14F-4D97-AF65-F5344CB8AC3E}">
        <p14:creationId xmlns:p14="http://schemas.microsoft.com/office/powerpoint/2010/main" val="83441007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FA5A8E1-B068-47F3-BE28-756445E1449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2EFCCBF-2F7D-4D09-AD68-765178B8D120}"/>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B4EBCC0-C8B2-40A8-A531-583EC3D6D4CE}"/>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TREE DEPTH AND OVERFITTING</a:t>
            </a:r>
          </a:p>
        </p:txBody>
      </p:sp>
      <p:sp>
        <p:nvSpPr>
          <p:cNvPr id="5" name="TextBox 4">
            <a:extLst xmlns:a="http://schemas.openxmlformats.org/drawingml/2006/main">
              <a:ext uri="{FF2B5EF4-FFF2-40B4-BE49-F238E27FC236}">
                <a16:creationId xmlns:a16="http://schemas.microsoft.com/office/drawing/2014/main" id="{9C7B332B-DB49-49DC-B036-359982C545A7}"/>
              </a:ext>
            </a:extLst>
          </p:cNvPr>
          <p:cNvSpPr>
            <a:spLocks xmlns:a="http://schemas.openxmlformats.org/drawingml/2006/main" noGrp="1"/>
          </p:cNvSpPr>
          <p:nvPr/>
        </p:nvSpPr>
        <p:spPr>
          <a:xfrm xmlns:a="http://schemas.openxmlformats.org/drawingml/2006/main">
            <a:off x="548640" y="868680"/>
            <a:ext cx="11091672" cy="9829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Deeper trees can overfit</a:t>
            </a:r>
          </a:p>
        </p:txBody>
      </p:sp>
      <p:sp>
        <p:nvSpPr>
          <p:cNvPr id="6" name="Rectangle 5">
            <a:extLst xmlns:a="http://schemas.openxmlformats.org/drawingml/2006/main">
              <a:ext uri="{FF2B5EF4-FFF2-40B4-BE49-F238E27FC236}">
                <a16:creationId xmlns:a16="http://schemas.microsoft.com/office/drawing/2014/main" id="{B7153566-6D0A-4040-BF19-6DC3E56EB514}"/>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4E83726-3C04-491A-950E-E5C1BCACBC9F}"/>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Follow the validation curve as tree depth increases.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Its observed peak is 0.815 at depth 3.</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Training accuracy continues upward toward 0.985.</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growing separation is evidence of overfitting, not a reason to prefer deeper trees.</a:t>
            </a:r>
          </a:p>
        </p:txBody>
      </p:sp>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469a07421477468a"/>
          <a:stretch xmlns:a="http://schemas.openxmlformats.org/drawingml/2006/main">
            <a:fillRect l="0" t="0" r="0" b="0"/>
          </a:stretch>
        </p:blipFill>
        <p:spPr>
          <a:xfrm xmlns:a="http://schemas.openxmlformats.org/drawingml/2006/main">
            <a:off x="5120640" y="1874519"/>
            <a:ext cx="6492240" cy="3559401"/>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34E3B479-7330-477E-80FA-2BA8393512A9}"/>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Decision tree, max_depth 1-20, train vs 5-fold CV accuracy. Module 2, notebook 2. MIT 6.390, ch. 2 &amp; ch. 5; Harvard CS109A / ISLR ch. 2.</a:t>
            </a:r>
          </a:p>
        </p:txBody>
      </p:sp>
      <p:sp>
        <p:nvSpPr>
          <p:cNvPr id="10" name="TextBox 9">
            <a:extLst xmlns:a="http://schemas.openxmlformats.org/drawingml/2006/main">
              <a:ext uri="{FF2B5EF4-FFF2-40B4-BE49-F238E27FC236}">
                <a16:creationId xmlns:a16="http://schemas.microsoft.com/office/drawing/2014/main" id="{EC9A5543-CE19-4B7A-A595-CE03F066D81B}"/>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D03EF08C-7C2F-426F-9D82-ACC8035AF228}"/>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18</a:t>
            </a:r>
          </a:p>
        </p:txBody>
      </p:sp>
    </p:spTree>
    <p:extLst>
      <p:ext uri="{BB962C8B-B14F-4D97-AF65-F5344CB8AC3E}">
        <p14:creationId xmlns:p14="http://schemas.microsoft.com/office/powerpoint/2010/main" val="70741176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8AB05CF-73F0-48EE-8064-C5B05B46F0A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B20EE3E-1FC7-4B24-99B4-88F579C30A23}"/>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8D70BB1-74BB-4BF5-A616-23E0E9950922}"/>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WOULD MORE DATA HELP?</a:t>
            </a:r>
          </a:p>
        </p:txBody>
      </p:sp>
      <p:sp>
        <p:nvSpPr>
          <p:cNvPr id="5" name="TextBox 4">
            <a:extLst xmlns:a="http://schemas.openxmlformats.org/drawingml/2006/main">
              <a:ext uri="{FF2B5EF4-FFF2-40B4-BE49-F238E27FC236}">
                <a16:creationId xmlns:a16="http://schemas.microsoft.com/office/drawing/2014/main" id="{3129991A-5C8F-4E93-96F9-CFC1E2A36B60}"/>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What does this curve suggest about adding more data?</a:t>
            </a:r>
          </a:p>
        </p:txBody>
      </p:sp>
      <p:sp>
        <p:nvSpPr>
          <p:cNvPr id="6" name="Rectangle 5">
            <a:extLst xmlns:a="http://schemas.openxmlformats.org/drawingml/2006/main">
              <a:ext uri="{FF2B5EF4-FFF2-40B4-BE49-F238E27FC236}">
                <a16:creationId xmlns:a16="http://schemas.microsoft.com/office/drawing/2014/main" id="{8358D37E-A354-41F2-9BA2-B07754AFF552}"/>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2D7CDDC-739E-485E-987D-39521C9A0D3B}"/>
              </a:ext>
            </a:extLst>
          </p:cNvPr>
          <p:cNvSpPr>
            <a:spLocks xmlns:a="http://schemas.openxmlformats.org/drawingml/2006/main" noGrp="1"/>
          </p:cNvSpPr>
          <p:nvPr/>
        </p:nvSpPr>
        <p:spPr>
          <a:xfrm xmlns:a="http://schemas.openxmlformats.org/drawingml/2006/main">
            <a:off x="548640" y="1874519"/>
            <a:ext cx="429768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The validation score improves, then appears to level off.</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It rises from 0.758 with 56 rows to 0.819 with 569 rows.</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This suggests smaller gains within the observed range.</a:t>
            </a:r>
          </a:p>
          <a:p xmlns:a="http://schemas.openxmlformats.org/drawingml/2006/main">
            <a:pPr marL="203200" indent="-101600">
              <a:lnSpc>
                <a:spcPct val="114000"/>
              </a:lnSpc>
              <a:spcAft>
                <a:spcPts val="1000"/>
              </a:spcAft>
              <a:buNone/>
            </a:pPr>
            <a:r>
              <a:rPr sz="1725">
                <a:solidFill>
                  <a:srgbClr val="0A2540"/>
                </a:solidFill>
                <a:latin typeface="Arial"/>
                <a:ea typeface="Arial"/>
                <a:cs typeface="Arial"/>
              </a:rPr>
              <a:t>It does not prove additional data cannot help.</a:t>
            </a:r>
          </a:p>
        </p:txBody>
      </p:sp>
      <p:pic>
        <p:nvPicPr>
          <p:cNvPr id="21" name="Picture 7"/>
          <p:cNvPicPr>
            <a:picLocks xmlns:a="http://schemas.openxmlformats.org/drawingml/2006/main" noChangeAspect="1"/>
          </p:cNvPicPr>
          <p:nvPr/>
        </p:nvPicPr>
        <p:blipFill>
          <a:blip xmlns:r="http://schemas.openxmlformats.org/officeDocument/2006/relationships" xmlns:a="http://schemas.openxmlformats.org/drawingml/2006/main" r:embed="Rf389a9f2d1704eb9"/>
          <a:stretch xmlns:a="http://schemas.openxmlformats.org/drawingml/2006/main">
            <a:fillRect l="0" t="0" r="0" b="0"/>
          </a:stretch>
        </p:blipFill>
        <p:spPr>
          <a:xfrm xmlns:a="http://schemas.openxmlformats.org/drawingml/2006/main">
            <a:off x="5120640" y="1874519"/>
            <a:ext cx="6492240" cy="3766389"/>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0135853A-B041-46F0-9D6C-028E4E0055E2}"/>
              </a:ext>
            </a:extLst>
          </p:cNvPr>
          <p:cNvSpPr>
            <a:spLocks xmlns:a="http://schemas.openxmlformats.org/drawingml/2006/main" noGrp="1"/>
          </p:cNvSpPr>
          <p:nvPr/>
        </p:nvSpPr>
        <p:spPr>
          <a:xfrm xmlns:a="http://schemas.openxmlformats.org/drawingml/2006/main">
            <a:off x="5120640" y="6062471"/>
            <a:ext cx="64922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600"/>
              </a:spcAft>
              <a:buNone/>
            </a:pPr>
            <a:r>
              <a:rPr sz="1100" b="0">
                <a:solidFill>
                  <a:srgbClr val="5B6774"/>
                </a:solidFill>
                <a:latin typeface="Arial"/>
                <a:ea typeface="Arial"/>
                <a:cs typeface="Arial"/>
              </a:rPr>
              <a:t>Main panel: real curve, Module 2, notebook 2. Insets: regime sketches - illustration. Ng, Machine Learning Yearning chs. 28-32.</a:t>
            </a:r>
          </a:p>
        </p:txBody>
      </p:sp>
      <p:sp>
        <p:nvSpPr>
          <p:cNvPr id="10" name="TextBox 9">
            <a:extLst xmlns:a="http://schemas.openxmlformats.org/drawingml/2006/main">
              <a:ext uri="{FF2B5EF4-FFF2-40B4-BE49-F238E27FC236}">
                <a16:creationId xmlns:a16="http://schemas.microsoft.com/office/drawing/2014/main" id="{44608A20-E375-4943-ABE7-5FB3D0E96F72}"/>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1" name="TextBox 10">
            <a:extLst xmlns:a="http://schemas.openxmlformats.org/drawingml/2006/main">
              <a:ext uri="{FF2B5EF4-FFF2-40B4-BE49-F238E27FC236}">
                <a16:creationId xmlns:a16="http://schemas.microsoft.com/office/drawing/2014/main" id="{A12AA697-1622-4E81-AB00-33374F5EAE45}"/>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19</a:t>
            </a:r>
          </a:p>
        </p:txBody>
      </p:sp>
      <p:sp>
        <p:nvSpPr>
          <p:cNvPr id="13" name="">
            <a:extLst xmlns:a="http://schemas.openxmlformats.org/drawingml/2006/main">
              <a:ext uri="{FF2B5EF4-FFF2-40B4-BE49-F238E27FC236}">
                <a16:creationId xmlns:a16="http://schemas.microsoft.com/office/drawing/2014/main" id="{E6F30949-CB01-4BEB-8AFF-84CD7EDEB415}"/>
              </a:ext>
            </a:extLst>
          </p:cNvPr>
          <p:cNvSpPr>
            <a:spLocks xmlns:a="http://schemas.openxmlformats.org/drawingml/2006/main" noGrp="1"/>
          </p:cNvSpPr>
          <p:nvPr/>
        </p:nvSpPr>
        <p:spPr>
          <a:xfrm xmlns:a="http://schemas.openxmlformats.org/drawingml/2006/main">
            <a:off x="5219700" y="1847850"/>
            <a:ext cx="6448425" cy="476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txBody>
          <a:bodyPr xmlns:a="http://schemas.openxmlformats.org/drawingml/2006/main"/>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1FEE89AE-FA74-436A-84A3-62A86032D16C}"/>
              </a:ext>
            </a:extLst>
          </p:cNvPr>
          <p:cNvSpPr>
            <a:spLocks xmlns:a="http://schemas.openxmlformats.org/drawingml/2006/main" noGrp="1"/>
          </p:cNvSpPr>
          <p:nvPr/>
        </p:nvSpPr>
        <p:spPr>
          <a:xfrm xmlns:a="http://schemas.openxmlformats.org/drawingml/2006/main">
            <a:off x="5219700" y="1847850"/>
            <a:ext cx="644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0A2540"/>
                </a:solidFill>
                <a:latin typeface="Arial"/>
                <a:ea typeface="Arial"/>
                <a:cs typeface="Arial"/>
              </a:defRPr>
            </a:pPr>
            <a:r>
              <a:rPr sz="1350" b="1">
                <a:solidFill>
                  <a:srgbClr val="0A2540"/>
                </a:solidFill>
                <a:latin typeface="Arial"/>
                <a:ea typeface="Arial"/>
                <a:cs typeface="Arial"/>
              </a:rPr>
              <a:t>Logistic Regression learning curve: gains flatten in the observed range</a:t>
            </a:r>
          </a:p>
        </p:txBody>
      </p:sp>
    </p:spTree>
    <p:extLst>
      <p:ext uri="{BB962C8B-B14F-4D97-AF65-F5344CB8AC3E}">
        <p14:creationId xmlns:p14="http://schemas.microsoft.com/office/powerpoint/2010/main" val="186663959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C47915A-FEE1-4B73-851C-5E18F26DDA6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AF270C5-DE09-48CC-AA77-B3E80A8F6E38}"/>
              </a:ext>
            </a:extLst>
          </p:cNvPr>
          <p:cNvSpPr>
            <a:spLocks xmlns:a="http://schemas.openxmlformats.org/drawingml/2006/main" noGrp="1"/>
          </p:cNvSpPr>
          <p:nvPr/>
        </p:nvSpPr>
        <p:spPr>
          <a:xfrm xmlns:a="http://schemas.openxmlformats.org/drawingml/2006/main">
            <a:off x="548640" y="475488"/>
            <a:ext cx="457200" cy="54864"/>
          </a:xfrm>
          <a:prstGeom xmlns:a="http://schemas.openxmlformats.org/drawingml/2006/main" prst="rect">
            <a:avLst/>
          </a:prstGeom>
          <a:solidFill xmlns:a="http://schemas.openxmlformats.org/drawingml/2006/main">
            <a:srgbClr val="1E5E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ECF971C-284E-4D49-A269-035C69EECC83}"/>
              </a:ext>
            </a:extLst>
          </p:cNvPr>
          <p:cNvSpPr>
            <a:spLocks xmlns:a="http://schemas.openxmlformats.org/drawingml/2006/main" noGrp="1"/>
          </p:cNvSpPr>
          <p:nvPr/>
        </p:nvSpPr>
        <p:spPr>
          <a:xfrm xmlns:a="http://schemas.openxmlformats.org/drawingml/2006/main">
            <a:off x="548640" y="603504"/>
            <a:ext cx="11091672"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100" b="1">
                <a:solidFill>
                  <a:srgbClr val="1E5EF3"/>
                </a:solidFill>
                <a:latin typeface="Arial"/>
                <a:ea typeface="Arial"/>
                <a:cs typeface="Arial"/>
              </a:rPr>
              <a:t>DECISION AND NEXT STEP</a:t>
            </a:r>
          </a:p>
        </p:txBody>
      </p:sp>
      <p:sp>
        <p:nvSpPr>
          <p:cNvPr id="5" name="TextBox 4">
            <a:extLst xmlns:a="http://schemas.openxmlformats.org/drawingml/2006/main">
              <a:ext uri="{FF2B5EF4-FFF2-40B4-BE49-F238E27FC236}">
                <a16:creationId xmlns:a16="http://schemas.microsoft.com/office/drawing/2014/main" id="{DB96C310-3060-45A2-9F35-5774D7319833}"/>
              </a:ext>
            </a:extLst>
          </p:cNvPr>
          <p:cNvSpPr>
            <a:spLocks xmlns:a="http://schemas.openxmlformats.org/drawingml/2006/main" noGrp="1"/>
          </p:cNvSpPr>
          <p:nvPr/>
        </p:nvSpPr>
        <p:spPr>
          <a:xfrm xmlns:a="http://schemas.openxmlformats.org/drawingml/2006/main">
            <a:off x="548640" y="868680"/>
            <a:ext cx="11091672"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0"/>
              </a:spcAft>
              <a:buNone/>
            </a:pPr>
            <a:r>
              <a:rPr sz="2925" b="1">
                <a:solidFill>
                  <a:srgbClr val="0A2540"/>
                </a:solidFill>
                <a:latin typeface="Arial"/>
                <a:ea typeface="Arial"/>
                <a:cs typeface="Arial"/>
              </a:rPr>
              <a:t>Carry the result forward, with its limits</a:t>
            </a:r>
          </a:p>
        </p:txBody>
      </p:sp>
      <p:sp>
        <p:nvSpPr>
          <p:cNvPr id="6" name="Rectangle 5">
            <a:extLst xmlns:a="http://schemas.openxmlformats.org/drawingml/2006/main">
              <a:ext uri="{FF2B5EF4-FFF2-40B4-BE49-F238E27FC236}">
                <a16:creationId xmlns:a16="http://schemas.microsoft.com/office/drawing/2014/main" id="{7F657196-0C80-4B70-B8E4-BAE5B7E9600A}"/>
              </a:ext>
            </a:extLst>
          </p:cNvPr>
          <p:cNvSpPr>
            <a:spLocks xmlns:a="http://schemas.openxmlformats.org/drawingml/2006/main" noGrp="1"/>
          </p:cNvSpPr>
          <p:nvPr/>
        </p:nvSpPr>
        <p:spPr>
          <a:xfrm xmlns:a="http://schemas.openxmlformats.org/drawingml/2006/main">
            <a:off x="548640" y="1664208"/>
            <a:ext cx="11091672" cy="12801"/>
          </a:xfrm>
          <a:prstGeom xmlns:a="http://schemas.openxmlformats.org/drawingml/2006/main" prst="rect">
            <a:avLst/>
          </a:prstGeom>
          <a:solidFill xmlns:a="http://schemas.openxmlformats.org/drawingml/2006/main">
            <a:srgbClr val="B9D0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C7E14CED-B1CD-4D93-9C23-55E4870EC1A0}"/>
              </a:ext>
            </a:extLst>
          </p:cNvPr>
          <p:cNvSpPr>
            <a:spLocks xmlns:a="http://schemas.openxmlformats.org/drawingml/2006/main" noGrp="1"/>
          </p:cNvSpPr>
          <p:nvPr/>
        </p:nvSpPr>
        <p:spPr>
          <a:xfrm xmlns:a="http://schemas.openxmlformats.org/drawingml/2006/main">
            <a:off x="548640" y="1874519"/>
            <a:ext cx="5394960" cy="3977639"/>
          </a:xfrm>
          <a:prstGeom xmlns:a="http://schemas.openxmlformats.org/drawingml/2006/main" prst="rect">
            <a:avLst/>
          </a:prstGeom>
          <a:solidFill xmlns:a="http://schemas.openxmlformats.org/drawingml/2006/main">
            <a:srgbClr val="EEF3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42BBA672-1904-4131-9406-D40AE7030984}"/>
              </a:ext>
            </a:extLst>
          </p:cNvPr>
          <p:cNvSpPr>
            <a:spLocks xmlns:a="http://schemas.openxmlformats.org/drawingml/2006/main" noGrp="1"/>
          </p:cNvSpPr>
          <p:nvPr/>
        </p:nvSpPr>
        <p:spPr>
          <a:xfrm xmlns:a="http://schemas.openxmlformats.org/drawingml/2006/main">
            <a:off x="777240" y="2039111"/>
            <a:ext cx="493776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500" b="1">
                <a:solidFill>
                  <a:srgbClr val="0A2540"/>
                </a:solidFill>
                <a:latin typeface="Arial"/>
                <a:ea typeface="Arial"/>
                <a:cs typeface="Arial"/>
              </a:rPr>
              <a:t>The checklist</a:t>
            </a:r>
          </a:p>
        </p:txBody>
      </p:sp>
      <p:sp>
        <p:nvSpPr>
          <p:cNvPr id="9" name="TextBox 8">
            <a:extLst xmlns:a="http://schemas.openxmlformats.org/drawingml/2006/main">
              <a:ext uri="{FF2B5EF4-FFF2-40B4-BE49-F238E27FC236}">
                <a16:creationId xmlns:a16="http://schemas.microsoft.com/office/drawing/2014/main" id="{54AFBB4B-919C-4DF2-8D11-0F049FB145AE}"/>
              </a:ext>
            </a:extLst>
          </p:cNvPr>
          <p:cNvSpPr>
            <a:spLocks xmlns:a="http://schemas.openxmlformats.org/drawingml/2006/main" noGrp="1"/>
          </p:cNvSpPr>
          <p:nvPr/>
        </p:nvSpPr>
        <p:spPr>
          <a:xfrm xmlns:a="http://schemas.openxmlformats.org/drawingml/2006/main">
            <a:off x="777240" y="2441447"/>
            <a:ext cx="4937760" cy="3246119"/>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Beat the 0.617 baseline.</a:t>
            </a:r>
          </a:p>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Choose the metric before ranking.</a:t>
            </a:r>
          </a:p>
          <a:p xmlns:a="http://schemas.openxmlformats.org/drawingml/2006/main">
            <a:pPr marL="203200" indent="-101600">
              <a:lnSpc>
                <a:spcPct val="114000"/>
              </a:lnSpc>
              <a:spcAft>
                <a:spcPts val="1000"/>
              </a:spcAft>
              <a:buNone/>
            </a:pPr>
            <a:r>
              <a:rPr sz="1650">
                <a:solidFill>
                  <a:srgbClr val="0A2540"/>
                </a:solidFill>
                <a:latin typeface="Arial"/>
                <a:ea typeface="Arial"/>
                <a:cs typeface="Arial"/>
              </a:rPr>
              <a:t>Prefer the simpler model when results are close.</a:t>
            </a:r>
          </a:p>
        </p:txBody>
      </p:sp>
      <p:sp>
        <p:nvSpPr>
          <p:cNvPr id="10" name="Rectangle 9">
            <a:extLst xmlns:a="http://schemas.openxmlformats.org/drawingml/2006/main">
              <a:ext uri="{FF2B5EF4-FFF2-40B4-BE49-F238E27FC236}">
                <a16:creationId xmlns:a16="http://schemas.microsoft.com/office/drawing/2014/main" id="{168D4CEC-0204-4BC6-99F5-1CD8D5511EFF}"/>
              </a:ext>
            </a:extLst>
          </p:cNvPr>
          <p:cNvSpPr>
            <a:spLocks xmlns:a="http://schemas.openxmlformats.org/drawingml/2006/main" noGrp="1"/>
          </p:cNvSpPr>
          <p:nvPr/>
        </p:nvSpPr>
        <p:spPr>
          <a:xfrm xmlns:a="http://schemas.openxmlformats.org/drawingml/2006/main">
            <a:off x="6245352" y="1874519"/>
            <a:ext cx="5394960" cy="3977639"/>
          </a:xfrm>
          <a:prstGeom xmlns:a="http://schemas.openxmlformats.org/drawingml/2006/main" prst="rect">
            <a:avLst/>
          </a:prstGeom>
          <a:solidFill xmlns:a="http://schemas.openxmlformats.org/drawingml/2006/main">
            <a:srgbClr val="EEF3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2C830375-1064-42AB-A7C8-28DD28D9B39E}"/>
              </a:ext>
            </a:extLst>
          </p:cNvPr>
          <p:cNvSpPr>
            <a:spLocks xmlns:a="http://schemas.openxmlformats.org/drawingml/2006/main" noGrp="1"/>
          </p:cNvSpPr>
          <p:nvPr/>
        </p:nvSpPr>
        <p:spPr>
          <a:xfrm xmlns:a="http://schemas.openxmlformats.org/drawingml/2006/main">
            <a:off x="6473952" y="2039111"/>
            <a:ext cx="493776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500" b="1">
                <a:solidFill>
                  <a:srgbClr val="0A2540"/>
                </a:solidFill>
                <a:latin typeface="Arial"/>
                <a:ea typeface="Arial"/>
                <a:cs typeface="Arial"/>
              </a:rPr>
              <a:t>Verdict &amp; handoff</a:t>
            </a:r>
          </a:p>
        </p:txBody>
      </p:sp>
      <p:sp>
        <p:nvSpPr>
          <p:cNvPr id="12" name="TextBox 11">
            <a:extLst xmlns:a="http://schemas.openxmlformats.org/drawingml/2006/main">
              <a:ext uri="{FF2B5EF4-FFF2-40B4-BE49-F238E27FC236}">
                <a16:creationId xmlns:a16="http://schemas.microsoft.com/office/drawing/2014/main" id="{45A22358-8039-4479-9C61-3414162F0505}"/>
              </a:ext>
            </a:extLst>
          </p:cNvPr>
          <p:cNvSpPr>
            <a:spLocks xmlns:a="http://schemas.openxmlformats.org/drawingml/2006/main" noGrp="1"/>
          </p:cNvSpPr>
          <p:nvPr/>
        </p:nvSpPr>
        <p:spPr>
          <a:xfrm xmlns:a="http://schemas.openxmlformats.org/drawingml/2006/main">
            <a:off x="6473952" y="2441447"/>
            <a:ext cx="4937760" cy="3246119"/>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defRPr sz="1650">
                <a:solidFill>
                  <a:srgbClr val="0A2540"/>
                </a:solidFill>
                <a:latin typeface="Arial"/>
                <a:ea typeface="Arial"/>
                <a:cs typeface="Arial"/>
              </a:defRPr>
            </a:pPr>
            <a:r>
              <a:rPr sz="1575">
                <a:solidFill>
                  <a:srgbClr val="0A2540"/>
                </a:solidFill>
                <a:latin typeface="Arial"/>
                <a:ea typeface="Arial"/>
                <a:cs typeface="Arial"/>
              </a:rPr>
              <a:t>CV leader: Logistic Regression, 0.819 (+/- 0.020).</a:t>
            </a:r>
          </a:p>
          <a:p xmlns:a="http://schemas.openxmlformats.org/drawingml/2006/main">
            <a:pPr marL="203200" indent="-101600">
              <a:lnSpc>
                <a:spcPct val="114000"/>
              </a:lnSpc>
              <a:spcAft>
                <a:spcPts val="1000"/>
              </a:spcAft>
              <a:buNone/>
              <a:defRPr sz="1650">
                <a:solidFill>
                  <a:srgbClr val="0A2540"/>
                </a:solidFill>
                <a:latin typeface="Arial"/>
                <a:ea typeface="Arial"/>
                <a:cs typeface="Arial"/>
              </a:defRPr>
            </a:pPr>
            <a:r>
              <a:rPr sz="1575">
                <a:solidFill>
                  <a:srgbClr val="0A2540"/>
                </a:solidFill>
                <a:latin typeface="Arial"/>
                <a:ea typeface="Arial"/>
                <a:cs typeface="Arial"/>
              </a:rPr>
              <a:t>Instructional holdout accuracy: 0.838.</a:t>
            </a:r>
          </a:p>
          <a:p xmlns:a="http://schemas.openxmlformats.org/drawingml/2006/main">
            <a:pPr marL="203200" indent="-101600">
              <a:lnSpc>
                <a:spcPct val="114000"/>
              </a:lnSpc>
              <a:spcAft>
                <a:spcPts val="1000"/>
              </a:spcAft>
              <a:buNone/>
              <a:defRPr sz="1650">
                <a:solidFill>
                  <a:srgbClr val="0A2540"/>
                </a:solidFill>
                <a:latin typeface="Arial"/>
                <a:ea typeface="Arial"/>
                <a:cs typeface="Arial"/>
              </a:defRPr>
            </a:pPr>
            <a:r>
              <a:rPr sz="1575">
                <a:solidFill>
                  <a:srgbClr val="0A2540"/>
                </a:solidFill>
                <a:latin typeface="Arial"/>
                <a:ea typeface="Arial"/>
                <a:cs typeface="Arial"/>
              </a:rPr>
              <a:t>Previewed in Session 2, opened here, reused in Session 4.</a:t>
            </a:r>
          </a:p>
          <a:p xmlns:a="http://schemas.openxmlformats.org/drawingml/2006/main">
            <a:pPr marL="203200" indent="-101600">
              <a:lnSpc>
                <a:spcPct val="114000"/>
              </a:lnSpc>
              <a:spcAft>
                <a:spcPts val="1000"/>
              </a:spcAft>
              <a:buNone/>
              <a:defRPr sz="1650">
                <a:solidFill>
                  <a:srgbClr val="0A2540"/>
                </a:solidFill>
                <a:latin typeface="Arial"/>
                <a:ea typeface="Arial"/>
                <a:cs typeface="Arial"/>
              </a:defRPr>
            </a:pPr>
            <a:r>
              <a:rPr sz="1575">
                <a:solidFill>
                  <a:srgbClr val="0A2540"/>
                </a:solidFill>
                <a:latin typeface="Arial"/>
                <a:ea typeface="Arial"/>
                <a:cs typeface="Arial"/>
              </a:rPr>
              <a:t>A real launch needs new external data or a newly reserved holdout.</a:t>
            </a:r>
          </a:p>
        </p:txBody>
      </p:sp>
      <p:sp>
        <p:nvSpPr>
          <p:cNvPr id="13" name="TextBox 12">
            <a:extLst xmlns:a="http://schemas.openxmlformats.org/drawingml/2006/main">
              <a:ext uri="{FF2B5EF4-FFF2-40B4-BE49-F238E27FC236}">
                <a16:creationId xmlns:a16="http://schemas.microsoft.com/office/drawing/2014/main" id="{7DE486DB-9BD7-48B5-95C6-0D946AC0B6FE}"/>
              </a:ext>
            </a:extLst>
          </p:cNvPr>
          <p:cNvSpPr>
            <a:spLocks xmlns:a="http://schemas.openxmlformats.org/drawingml/2006/main" noGrp="1"/>
          </p:cNvSpPr>
          <p:nvPr/>
        </p:nvSpPr>
        <p:spPr>
          <a:xfrm xmlns:a="http://schemas.openxmlformats.org/drawingml/2006/main">
            <a:off x="548640" y="6053328"/>
            <a:ext cx="11091672" cy="50292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1200" b="0">
                <a:solidFill>
                  <a:srgbClr val="1E5EF3"/>
                </a:solidFill>
                <a:latin typeface="Arial"/>
                <a:ea typeface="Arial"/>
                <a:cs typeface="Arial"/>
              </a:rPr>
              <a:t>Why interpretability can matter: a pneumonia model associated asthma with lower risk because those patients received more intensive care. Inspecting the model exposed this potentially dangerous association. Source: Caruana et al., KDD 2015.</a:t>
            </a:r>
          </a:p>
        </p:txBody>
      </p:sp>
      <p:sp>
        <p:nvSpPr>
          <p:cNvPr id="14" name="TextBox 13">
            <a:extLst xmlns:a="http://schemas.openxmlformats.org/drawingml/2006/main">
              <a:ext uri="{FF2B5EF4-FFF2-40B4-BE49-F238E27FC236}">
                <a16:creationId xmlns:a16="http://schemas.microsoft.com/office/drawing/2014/main" id="{1125F780-8948-4654-B7F3-36B2B94CC225}"/>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5B6774"/>
                </a:solidFill>
                <a:latin typeface="Arial"/>
                <a:ea typeface="Arial"/>
                <a:cs typeface="Arial"/>
              </a:rPr>
              <a:t>M2 Session 3 - Model Selection and Evaluation</a:t>
            </a:r>
          </a:p>
        </p:txBody>
      </p:sp>
      <p:sp>
        <p:nvSpPr>
          <p:cNvPr id="15" name="TextBox 14">
            <a:extLst xmlns:a="http://schemas.openxmlformats.org/drawingml/2006/main">
              <a:ext uri="{FF2B5EF4-FFF2-40B4-BE49-F238E27FC236}">
                <a16:creationId xmlns:a16="http://schemas.microsoft.com/office/drawing/2014/main" id="{A57AC053-A11D-4FC2-8AEF-41EDBE569762}"/>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5B6774"/>
                </a:solidFill>
                <a:latin typeface="Arial"/>
                <a:ea typeface="Arial"/>
                <a:cs typeface="Arial"/>
              </a:rPr>
              <a:t>20</a:t>
            </a:r>
          </a:p>
        </p:txBody>
      </p:sp>
    </p:spTree>
    <p:extLst>
      <p:ext uri="{BB962C8B-B14F-4D97-AF65-F5344CB8AC3E}">
        <p14:creationId xmlns:p14="http://schemas.microsoft.com/office/powerpoint/2010/main" val="361045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175BB4E-7043-46B8-A7E7-0A712ECC850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254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72F01AF-F94B-4C0B-AFAB-657E8EB551AE}"/>
              </a:ext>
            </a:extLst>
          </p:cNvPr>
          <p:cNvSpPr>
            <a:spLocks xmlns:a="http://schemas.openxmlformats.org/drawingml/2006/main" noGrp="1"/>
          </p:cNvSpPr>
          <p:nvPr/>
        </p:nvSpPr>
        <p:spPr>
          <a:xfrm xmlns:a="http://schemas.openxmlformats.org/drawingml/2006/main">
            <a:off x="914400" y="1280160"/>
            <a:ext cx="10332720" cy="10972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l">
              <a:spcAft>
                <a:spcPts val="600"/>
              </a:spcAft>
              <a:buNone/>
            </a:pPr>
            <a:r>
              <a:rPr sz="3000" b="1">
                <a:solidFill>
                  <a:srgbClr val="FFFFFF"/>
                </a:solidFill>
                <a:latin typeface="Arial"/>
                <a:ea typeface="Arial"/>
                <a:cs typeface="Arial"/>
              </a:rPr>
              <a:t>Can you explain why this comparison is fair?</a:t>
            </a:r>
          </a:p>
        </p:txBody>
      </p:sp>
      <p:sp>
        <p:nvSpPr>
          <p:cNvPr id="4" name="TextBox 3">
            <a:extLst xmlns:a="http://schemas.openxmlformats.org/drawingml/2006/main">
              <a:ext uri="{FF2B5EF4-FFF2-40B4-BE49-F238E27FC236}">
                <a16:creationId xmlns:a16="http://schemas.microsoft.com/office/drawing/2014/main" id="{0AACBA4C-59CE-4154-A6B9-D3258616EC91}"/>
              </a:ext>
            </a:extLst>
          </p:cNvPr>
          <p:cNvSpPr>
            <a:spLocks xmlns:a="http://schemas.openxmlformats.org/drawingml/2006/main" noGrp="1"/>
          </p:cNvSpPr>
          <p:nvPr/>
        </p:nvSpPr>
        <p:spPr>
          <a:xfrm xmlns:a="http://schemas.openxmlformats.org/drawingml/2006/main">
            <a:off x="914400" y="2651760"/>
            <a:ext cx="10058400" cy="29260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03200" indent="-101600">
              <a:lnSpc>
                <a:spcPct val="114000"/>
              </a:lnSpc>
              <a:spcAft>
                <a:spcPts val="1000"/>
              </a:spcAft>
              <a:buNone/>
            </a:pPr>
            <a:r>
              <a:rPr sz="1650">
                <a:solidFill>
                  <a:srgbClr val="FFFFFF"/>
                </a:solidFill>
                <a:latin typeface="Arial"/>
                <a:ea typeface="Arial"/>
                <a:cs typeface="Arial"/>
              </a:rPr>
              <a:t>Compare candidates on shared validation folds, not training accuracy.</a:t>
            </a:r>
          </a:p>
          <a:p xmlns:a="http://schemas.openxmlformats.org/drawingml/2006/main">
            <a:pPr marL="203200" indent="-101600">
              <a:lnSpc>
                <a:spcPct val="114000"/>
              </a:lnSpc>
              <a:spcAft>
                <a:spcPts val="1000"/>
              </a:spcAft>
              <a:buNone/>
            </a:pPr>
            <a:r>
              <a:rPr sz="1650">
                <a:solidFill>
                  <a:srgbClr val="FFFFFF"/>
                </a:solidFill>
                <a:latin typeface="Arial"/>
                <a:ea typeface="Arial"/>
                <a:cs typeface="Arial"/>
              </a:rPr>
              <a:t>Use the baseline and a metric chosen before ranking.</a:t>
            </a:r>
          </a:p>
          <a:p xmlns:a="http://schemas.openxmlformats.org/drawingml/2006/main">
            <a:pPr marL="203200" indent="-101600">
              <a:lnSpc>
                <a:spcPct val="114000"/>
              </a:lnSpc>
              <a:spcAft>
                <a:spcPts val="1000"/>
              </a:spcAft>
              <a:buNone/>
            </a:pPr>
            <a:r>
              <a:rPr sz="1650">
                <a:solidFill>
                  <a:srgbClr val="FFFFFF"/>
                </a:solidFill>
                <a:latin typeface="Arial"/>
                <a:ea typeface="Arial"/>
                <a:cs typeface="Arial"/>
              </a:rPr>
              <a:t>The holdout has been opened, so reuse is not fresh.</a:t>
            </a:r>
          </a:p>
          <a:p xmlns:a="http://schemas.openxmlformats.org/drawingml/2006/main">
            <a:pPr marL="203200" indent="-101600">
              <a:lnSpc>
                <a:spcPct val="114000"/>
              </a:lnSpc>
              <a:spcAft>
                <a:spcPts val="1000"/>
              </a:spcAft>
              <a:buNone/>
            </a:pPr>
            <a:r>
              <a:rPr sz="1650">
                <a:solidFill>
                  <a:srgbClr val="FFFFFF"/>
                </a:solidFill>
                <a:latin typeface="Arial"/>
                <a:ea typeface="Arial"/>
                <a:cs typeface="Arial"/>
              </a:rPr>
              <a:t>Practice in notebook 02-model-selection in Colab.</a:t>
            </a:r>
          </a:p>
        </p:txBody>
      </p:sp>
      <p:sp>
        <p:nvSpPr>
          <p:cNvPr id="5" name="TextBox 4">
            <a:extLst xmlns:a="http://schemas.openxmlformats.org/drawingml/2006/main">
              <a:ext uri="{FF2B5EF4-FFF2-40B4-BE49-F238E27FC236}">
                <a16:creationId xmlns:a16="http://schemas.microsoft.com/office/drawing/2014/main" id="{28216FBA-048E-4B85-B76B-27688E654078}"/>
              </a:ext>
            </a:extLst>
          </p:cNvPr>
          <p:cNvSpPr>
            <a:spLocks xmlns:a="http://schemas.openxmlformats.org/drawingml/2006/main" noGrp="1"/>
          </p:cNvSpPr>
          <p:nvPr/>
        </p:nvSpPr>
        <p:spPr>
          <a:xfrm xmlns:a="http://schemas.openxmlformats.org/drawingml/2006/main">
            <a:off x="914400" y="6035040"/>
            <a:ext cx="91440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1200" b="0">
                <a:solidFill>
                  <a:srgbClr val="B9D0FA"/>
                </a:solidFill>
                <a:latin typeface="Arial"/>
                <a:ea typeface="Arial"/>
                <a:cs typeface="Arial"/>
              </a:rPr>
              <a:t>Machine Learning - Module 2</a:t>
            </a:r>
          </a:p>
        </p:txBody>
      </p:sp>
      <p:sp>
        <p:nvSpPr>
          <p:cNvPr id="6" name="TextBox 5">
            <a:extLst xmlns:a="http://schemas.openxmlformats.org/drawingml/2006/main">
              <a:ext uri="{FF2B5EF4-FFF2-40B4-BE49-F238E27FC236}">
                <a16:creationId xmlns:a16="http://schemas.microsoft.com/office/drawing/2014/main" id="{7902021E-7F29-42FD-B742-11FF3F012196}"/>
              </a:ext>
            </a:extLst>
          </p:cNvPr>
          <p:cNvSpPr>
            <a:spLocks xmlns:a="http://schemas.openxmlformats.org/drawingml/2006/main" noGrp="1"/>
          </p:cNvSpPr>
          <p:nvPr/>
        </p:nvSpPr>
        <p:spPr>
          <a:xfrm xmlns:a="http://schemas.openxmlformats.org/drawingml/2006/main">
            <a:off x="548640" y="6473952"/>
            <a:ext cx="731520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buNone/>
            </a:pPr>
            <a:r>
              <a:rPr sz="900" b="0">
                <a:solidFill>
                  <a:srgbClr val="B9D0FA"/>
                </a:solidFill>
                <a:latin typeface="Arial"/>
                <a:ea typeface="Arial"/>
                <a:cs typeface="Arial"/>
              </a:rPr>
              <a:t>M2 Session 3 - Model Selection and Evaluation</a:t>
            </a:r>
          </a:p>
        </p:txBody>
      </p:sp>
      <p:sp>
        <p:nvSpPr>
          <p:cNvPr id="7" name="TextBox 6">
            <a:extLst xmlns:a="http://schemas.openxmlformats.org/drawingml/2006/main">
              <a:ext uri="{FF2B5EF4-FFF2-40B4-BE49-F238E27FC236}">
                <a16:creationId xmlns:a16="http://schemas.microsoft.com/office/drawing/2014/main" id="{47270967-CE0F-48FE-AC5C-4E8B5B09ECB6}"/>
              </a:ext>
            </a:extLst>
          </p:cNvPr>
          <p:cNvSpPr>
            <a:spLocks xmlns:a="http://schemas.openxmlformats.org/drawingml/2006/main" noGrp="1"/>
          </p:cNvSpPr>
          <p:nvPr/>
        </p:nvSpPr>
        <p:spPr>
          <a:xfrm xmlns:a="http://schemas.openxmlformats.org/drawingml/2006/main">
            <a:off x="11292840" y="6473952"/>
            <a:ext cx="548640" cy="292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spcAft>
                <a:spcPts val="600"/>
              </a:spcAft>
              <a:buNone/>
            </a:pPr>
            <a:r>
              <a:rPr sz="900" b="0">
                <a:solidFill>
                  <a:srgbClr val="B9D0FA"/>
                </a:solidFill>
                <a:latin typeface="Arial"/>
                <a:ea typeface="Arial"/>
                <a:cs typeface="Arial"/>
              </a:rPr>
              <a:t>21</a:t>
            </a:r>
          </a:p>
        </p:txBody>
      </p:sp>
    </p:spTree>
    <p:extLst>
      <p:ext uri="{BB962C8B-B14F-4D97-AF65-F5344CB8AC3E}">
        <p14:creationId xmlns:p14="http://schemas.microsoft.com/office/powerpoint/2010/main" val="190513541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2026-09-21T02:01:21.3520000Z</dcterms:created>
  <dcterms:modified xsi:type="dcterms:W3CDTF">2026-09-21T02:01:21.3520000Z</dcterms:modified>
</coreProperties>
</file>